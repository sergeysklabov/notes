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notesSlides/notesSlide9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90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6" r:id="rId14"/>
    <p:sldId id="328" r:id="rId15"/>
    <p:sldId id="329" r:id="rId16"/>
    <p:sldId id="331" r:id="rId17"/>
    <p:sldId id="291" r:id="rId18"/>
    <p:sldId id="304" r:id="rId19"/>
    <p:sldId id="306" r:id="rId20"/>
    <p:sldId id="332" r:id="rId21"/>
    <p:sldId id="305" r:id="rId22"/>
    <p:sldId id="333" r:id="rId23"/>
    <p:sldId id="327" r:id="rId24"/>
    <p:sldId id="32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8" autoAdjust="0"/>
    <p:restoredTop sz="95964"/>
  </p:normalViewPr>
  <p:slideViewPr>
    <p:cSldViewPr snapToGrid="0" snapToObjects="1">
      <p:cViewPr varScale="1">
        <p:scale>
          <a:sx n="127" d="100"/>
          <a:sy n="127" d="100"/>
        </p:scale>
        <p:origin x="80" y="16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sergeysklabovskiy\Downloads\&#1055;&#1088;&#1080;&#1083;&#1086;&#1078;&#1077;&#1085;&#1080;&#1103;%20&#1080;&#1079;%20&#1084;&#1072;&#1088;&#1082;&#1077;&#1090;&#1087;&#1083;&#1077;&#1080;&#774;&#1089;&#1072;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sergeysklabovskiy\Downloads\&#1055;&#1088;&#1080;&#1083;&#1086;&#1078;&#1077;&#1085;&#1080;&#1103;%20&#1080;&#1079;%20&#1084;&#1072;&#1088;&#1082;&#1077;&#1090;&#1087;&#1083;&#1077;&#1080;&#774;&#1089;&#107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sergeysklabovskiy\Downloads\&#1055;&#1088;&#1080;&#1083;&#1086;&#1078;&#1077;&#1085;&#1080;&#1103;%20&#1080;&#1079;%20&#1084;&#1072;&#1088;&#1082;&#1077;&#1090;&#1087;&#1083;&#1077;&#1080;&#774;&#1089;&#107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sergeysklabovskiy\Downloads\&#1055;&#1088;&#1080;&#1083;&#1086;&#1078;&#1077;&#1085;&#1080;&#1103;%20&#1080;&#1079;%20&#1084;&#1072;&#1088;&#1082;&#1077;&#1090;&#1087;&#1083;&#1077;&#1080;&#774;&#1089;&#107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2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3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4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5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6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7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8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9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0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1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2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3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4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5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6.xlsb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7.xlsb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8.xlsb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19.xlsb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20.xlsb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21.xlsb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22.xlsb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Microsoft_Excel2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b="0" dirty="0">
                <a:solidFill>
                  <a:schemeClr val="tx1"/>
                </a:solidFill>
                <a:effectLst/>
              </a:rPr>
              <a:t>Российский рынок корпоративной связи и продуктивности</a:t>
            </a:r>
          </a:p>
          <a:p>
            <a:pPr>
              <a:defRPr/>
            </a:pPr>
            <a:r>
              <a:rPr lang="ru-RU" b="0" dirty="0">
                <a:solidFill>
                  <a:schemeClr val="tx1"/>
                </a:solidFill>
                <a:effectLst/>
              </a:rPr>
              <a:t>в 2024-2030 гг., млрд руб.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Рабочее!$B$195</c:f>
              <c:strCache>
                <c:ptCount val="1"/>
                <c:pt idx="0">
                  <c:v>Корп.связь и взаимодейсвтие 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Рабочее!$A$196:$A$202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Рабочее!$B$196:$B$202</c:f>
              <c:numCache>
                <c:formatCode>General</c:formatCode>
                <c:ptCount val="7"/>
                <c:pt idx="0">
                  <c:v>29</c:v>
                </c:pt>
                <c:pt idx="1">
                  <c:v>31</c:v>
                </c:pt>
                <c:pt idx="2">
                  <c:v>35</c:v>
                </c:pt>
                <c:pt idx="3">
                  <c:v>42</c:v>
                </c:pt>
                <c:pt idx="4">
                  <c:v>51</c:v>
                </c:pt>
                <c:pt idx="5">
                  <c:v>61</c:v>
                </c:pt>
                <c:pt idx="6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DD-734F-BAF6-1E9260B36205}"/>
            </c:ext>
          </c:extLst>
        </c:ser>
        <c:ser>
          <c:idx val="1"/>
          <c:order val="1"/>
          <c:tx>
            <c:strRef>
              <c:f>Рабочее!$C$195</c:f>
              <c:strCache>
                <c:ptCount val="1"/>
                <c:pt idx="0">
                  <c:v>Офисное ПО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Рабочее!$A$196:$A$202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Рабочее!$C$196:$C$202</c:f>
              <c:numCache>
                <c:formatCode>General</c:formatCode>
                <c:ptCount val="7"/>
                <c:pt idx="0">
                  <c:v>8</c:v>
                </c:pt>
                <c:pt idx="1">
                  <c:v>11</c:v>
                </c:pt>
                <c:pt idx="2">
                  <c:v>13</c:v>
                </c:pt>
                <c:pt idx="3">
                  <c:v>16</c:v>
                </c:pt>
                <c:pt idx="4">
                  <c:v>23</c:v>
                </c:pt>
                <c:pt idx="5">
                  <c:v>32</c:v>
                </c:pt>
                <c:pt idx="6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DD-734F-BAF6-1E9260B362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19049952"/>
        <c:axId val="1619051600"/>
      </c:barChart>
      <c:catAx>
        <c:axId val="1619049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9051600"/>
        <c:crosses val="autoZero"/>
        <c:auto val="1"/>
        <c:lblAlgn val="ctr"/>
        <c:lblOffset val="100"/>
        <c:noMultiLvlLbl val="0"/>
      </c:catAx>
      <c:valAx>
        <c:axId val="1619051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9049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chemeClr val="tx1"/>
                </a:solidFill>
              </a:rPr>
              <a:t>Российский рынок корпоративной связи и продуктивности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в 2024-2030 гг., млрд руб.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Рабочее!$B$207</c:f>
              <c:strCache>
                <c:ptCount val="1"/>
                <c:pt idx="0">
                  <c:v>Корп.связь и взаимодейсвтие 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Рабочее!$A$208:$A$214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Рабочее!$B$208:$B$214</c:f>
              <c:numCache>
                <c:formatCode>General</c:formatCode>
                <c:ptCount val="7"/>
                <c:pt idx="0">
                  <c:v>29</c:v>
                </c:pt>
                <c:pt idx="1">
                  <c:v>31</c:v>
                </c:pt>
                <c:pt idx="2">
                  <c:v>35</c:v>
                </c:pt>
                <c:pt idx="3">
                  <c:v>42</c:v>
                </c:pt>
                <c:pt idx="4">
                  <c:v>51</c:v>
                </c:pt>
                <c:pt idx="5">
                  <c:v>61</c:v>
                </c:pt>
                <c:pt idx="6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F0-5E4F-BD71-3C423696D3D1}"/>
            </c:ext>
          </c:extLst>
        </c:ser>
        <c:ser>
          <c:idx val="1"/>
          <c:order val="1"/>
          <c:tx>
            <c:strRef>
              <c:f>Рабочее!$C$207</c:f>
              <c:strCache>
                <c:ptCount val="1"/>
                <c:pt idx="0">
                  <c:v>Офисное ПО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Рабочее!$A$208:$A$214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Рабочее!$C$208:$C$214</c:f>
              <c:numCache>
                <c:formatCode>General</c:formatCode>
                <c:ptCount val="7"/>
                <c:pt idx="0">
                  <c:v>8</c:v>
                </c:pt>
                <c:pt idx="1">
                  <c:v>11</c:v>
                </c:pt>
                <c:pt idx="2">
                  <c:v>13</c:v>
                </c:pt>
                <c:pt idx="3">
                  <c:v>16</c:v>
                </c:pt>
                <c:pt idx="4">
                  <c:v>23</c:v>
                </c:pt>
                <c:pt idx="5">
                  <c:v>32</c:v>
                </c:pt>
                <c:pt idx="6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F0-5E4F-BD71-3C423696D3D1}"/>
            </c:ext>
          </c:extLst>
        </c:ser>
        <c:ser>
          <c:idx val="2"/>
          <c:order val="2"/>
          <c:tx>
            <c:strRef>
              <c:f>Рабочее!$D$207</c:f>
              <c:strCache>
                <c:ptCount val="1"/>
                <c:pt idx="0">
                  <c:v>Отложенный спрос</c:v>
                </c:pt>
              </c:strCache>
            </c:strRef>
          </c:tx>
          <c:spPr>
            <a:pattFill prst="dkDnDiag">
              <a:fgClr>
                <a:schemeClr val="bg2">
                  <a:lumMod val="7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Рабочее!$A$208:$A$214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Рабочее!$D$208:$D$214</c:f>
              <c:numCache>
                <c:formatCode>General</c:formatCode>
                <c:ptCount val="7"/>
                <c:pt idx="0">
                  <c:v>61</c:v>
                </c:pt>
                <c:pt idx="1">
                  <c:v>66</c:v>
                </c:pt>
                <c:pt idx="2">
                  <c:v>70</c:v>
                </c:pt>
                <c:pt idx="3">
                  <c:v>72</c:v>
                </c:pt>
                <c:pt idx="4">
                  <c:v>70</c:v>
                </c:pt>
                <c:pt idx="5">
                  <c:v>66</c:v>
                </c:pt>
                <c:pt idx="6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F0-5E4F-BD71-3C423696D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68682608"/>
        <c:axId val="2068450480"/>
      </c:barChart>
      <c:catAx>
        <c:axId val="2068682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68450480"/>
        <c:crosses val="autoZero"/>
        <c:auto val="1"/>
        <c:lblAlgn val="ctr"/>
        <c:lblOffset val="100"/>
        <c:noMultiLvlLbl val="0"/>
      </c:catAx>
      <c:valAx>
        <c:axId val="2068450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68682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>
                <a:solidFill>
                  <a:schemeClr val="tx1"/>
                </a:solidFill>
              </a:rPr>
              <a:t>Корпоративная связь</a:t>
            </a:r>
            <a:r>
              <a:rPr lang="ru-RU" sz="1200" baseline="0" dirty="0">
                <a:solidFill>
                  <a:schemeClr val="tx1"/>
                </a:solidFill>
              </a:rPr>
              <a:t> и</a:t>
            </a:r>
            <a:r>
              <a:rPr lang="ru-RU" sz="1200" dirty="0">
                <a:solidFill>
                  <a:schemeClr val="tx1"/>
                </a:solidFill>
              </a:rPr>
              <a:t> взаимодействие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34-FC4D-86FF-DC170B221DF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34-FC4D-86FF-DC170B221DF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C34-FC4D-86FF-DC170B221DF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C34-FC4D-86FF-DC170B221DF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C34-FC4D-86FF-DC170B221DF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DC34-FC4D-86FF-DC170B221DF9}"/>
              </c:ext>
            </c:extLst>
          </c:dPt>
          <c:dPt>
            <c:idx val="6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DC34-FC4D-86FF-DC170B221D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Рабочее!$A$220:$A$226</c:f>
              <c:strCache>
                <c:ptCount val="7"/>
                <c:pt idx="0">
                  <c:v>Прочее</c:v>
                </c:pt>
                <c:pt idx="1">
                  <c:v>Microsoft</c:v>
                </c:pt>
                <c:pt idx="2">
                  <c:v>Zoom</c:v>
                </c:pt>
                <c:pt idx="3">
                  <c:v>Google Workspace</c:v>
                </c:pt>
                <c:pt idx="4">
                  <c:v>IVA Technologies</c:v>
                </c:pt>
                <c:pt idx="5">
                  <c:v>VK Workspace</c:v>
                </c:pt>
                <c:pt idx="6">
                  <c:v>Нandex 360</c:v>
                </c:pt>
              </c:strCache>
            </c:strRef>
          </c:cat>
          <c:val>
            <c:numRef>
              <c:f>Рабочее!$B$220:$B$226</c:f>
              <c:numCache>
                <c:formatCode>0%</c:formatCode>
                <c:ptCount val="7"/>
                <c:pt idx="0">
                  <c:v>0.28999999999999998</c:v>
                </c:pt>
                <c:pt idx="1">
                  <c:v>0.01</c:v>
                </c:pt>
                <c:pt idx="2">
                  <c:v>0.02</c:v>
                </c:pt>
                <c:pt idx="3">
                  <c:v>0.02</c:v>
                </c:pt>
                <c:pt idx="4">
                  <c:v>0.09</c:v>
                </c:pt>
                <c:pt idx="5">
                  <c:v>0.13</c:v>
                </c:pt>
                <c:pt idx="6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C34-FC4D-86FF-DC170B221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200" dirty="0">
                <a:solidFill>
                  <a:schemeClr val="tx1"/>
                </a:solidFill>
              </a:rPr>
              <a:t>Офисное ПО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62-0343-94DC-AFB059F9E7F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62-0343-94DC-AFB059F9E7F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62-0343-94DC-AFB059F9E7F7}"/>
              </c:ext>
            </c:extLst>
          </c:dPt>
          <c:dPt>
            <c:idx val="3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62-0343-94DC-AFB059F9E7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Рабочее!$A$230:$A$233</c:f>
              <c:strCache>
                <c:ptCount val="4"/>
                <c:pt idx="0">
                  <c:v>Прочее</c:v>
                </c:pt>
                <c:pt idx="1">
                  <c:v>Microsoft</c:v>
                </c:pt>
                <c:pt idx="2">
                  <c:v>МойОфис</c:v>
                </c:pt>
                <c:pt idx="3">
                  <c:v>Р7</c:v>
                </c:pt>
              </c:strCache>
            </c:strRef>
          </c:cat>
          <c:val>
            <c:numRef>
              <c:f>Рабочее!$B$230:$B$233</c:f>
              <c:numCache>
                <c:formatCode>0%</c:formatCode>
                <c:ptCount val="4"/>
                <c:pt idx="0">
                  <c:v>0.35</c:v>
                </c:pt>
                <c:pt idx="1">
                  <c:v>0.11</c:v>
                </c:pt>
                <c:pt idx="2">
                  <c:v>0.22</c:v>
                </c:pt>
                <c:pt idx="3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62-0343-94DC-AFB059F9E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9.1</c:v>
                </c:pt>
                <c:pt idx="1">
                  <c:v>10.166399999999999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55-9640-9517-8FC21EBAC646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4.2999999999999989</c:v>
                </c:pt>
                <c:pt idx="1">
                  <c:v>6.7775999999999996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55-9640-9517-8FC21EBAC6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6050895"/>
        <c:axId val="1"/>
      </c:barChart>
      <c:catAx>
        <c:axId val="16560508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.943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60508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2.7</c:v>
                </c:pt>
                <c:pt idx="1">
                  <c:v>3.87</c:v>
                </c:pt>
                <c:pt idx="2">
                  <c:v>6.35</c:v>
                </c:pt>
                <c:pt idx="3">
                  <c:v>6.93</c:v>
                </c:pt>
                <c:pt idx="4">
                  <c:v>7.52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CA-6741-B0A1-A619387F51BC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6.4000000000000012</c:v>
                </c:pt>
                <c:pt idx="1">
                  <c:v>5.64</c:v>
                </c:pt>
                <c:pt idx="2">
                  <c:v>3.42</c:v>
                </c:pt>
                <c:pt idx="3">
                  <c:v>3.0399999999999991</c:v>
                </c:pt>
                <c:pt idx="4">
                  <c:v>2.6400000000000006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CA-6741-B0A1-A619387F5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5002463"/>
        <c:axId val="1"/>
      </c:barChart>
      <c:catAx>
        <c:axId val="16550024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.1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50024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037735849056604"/>
          <c:y val="0.11060171919770774"/>
          <c:w val="0.47924528301886793"/>
          <c:h val="0.7787965616045845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3C7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8754700045687132"/>
                  <c:y val="-4.5272033981821447E-2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65D65DB-27D2-A24B-AE36-7CCEBC3AC650}" type="VALUE">
                      <a:rPr lang="en-US" smtClean="0"/>
                      <a:pPr>
                        <a:defRPr sz="14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4 (2%)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B827-134C-B177-FBEA63FA0D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3.2000000000000001E-2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27-134C-B177-FBEA63FA0D46}"/>
            </c:ext>
          </c:extLst>
        </c:ser>
        <c:ser>
          <c:idx val="1"/>
          <c:order val="1"/>
          <c:spPr>
            <a:solidFill>
              <a:srgbClr val="CCE4FF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27-134C-B177-FBEA63FA0D46}"/>
            </c:ext>
          </c:extLst>
        </c:ser>
        <c:ser>
          <c:idx val="2"/>
          <c:order val="2"/>
          <c:spPr>
            <a:solidFill>
              <a:srgbClr val="0D3C7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827-134C-B177-FBEA63FA0D46}"/>
              </c:ext>
            </c:extLst>
          </c:dPt>
          <c:dLbls>
            <c:dLbl>
              <c:idx val="0"/>
              <c:layout>
                <c:manualLayout>
                  <c:x val="0.28301893519986576"/>
                  <c:y val="-6.4756278186274066E-2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D34D866-338B-A444-8669-2446AEE21371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(4%</a:t>
                    </a:r>
                    <a:r>
                      <a:rPr lang="en-US" dirty="0">
                        <a:sym typeface="Wingdings" pitchFamily="2" charset="2"/>
                      </a:rPr>
                      <a:t>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9056586909900317"/>
                      <c:h val="9.2080426339449281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827-134C-B177-FBEA63FA0D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0.14000000000000004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27-134C-B177-FBEA63FA0D46}"/>
            </c:ext>
          </c:extLst>
        </c:ser>
        <c:ser>
          <c:idx val="3"/>
          <c:order val="3"/>
          <c:spPr>
            <a:solidFill>
              <a:srgbClr val="1AB0BF"/>
            </a:solidFill>
            <a:ln>
              <a:noFill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827-134C-B177-FBEA63FA0D46}"/>
            </c:ext>
          </c:extLst>
        </c:ser>
        <c:ser>
          <c:idx val="4"/>
          <c:order val="4"/>
          <c:spPr>
            <a:solidFill>
              <a:srgbClr val="99F7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7191977077363897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AAB75C3-7AC5-E84D-B0B6-D7D5CD2C2FCE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</a:t>
                    </a:r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(23%</a:t>
                    </a:r>
                    <a:r>
                      <a:rPr lang="en-US" dirty="0">
                        <a:sym typeface="Wingdings" pitchFamily="2" charset="2"/>
                      </a:rPr>
                      <a:t>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B827-134C-B177-FBEA63FA0D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0.59000000000000008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827-134C-B177-FBEA63FA0D46}"/>
            </c:ext>
          </c:extLst>
        </c:ser>
        <c:ser>
          <c:idx val="5"/>
          <c:order val="5"/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</c:spPr>
          <c:invertIfNegative val="0"/>
          <c:val>
            <c:numRef>
              <c:f>Sheet1!$A$6</c:f>
              <c:numCache>
                <c:formatCode>General</c:formatCode>
                <c:ptCount val="1"/>
                <c:pt idx="0">
                  <c:v>1.6199999999999999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827-134C-B177-FBEA63FA0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05532991"/>
        <c:axId val="1"/>
      </c:barChart>
      <c:catAx>
        <c:axId val="17055329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70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055329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2.29</c:v>
                </c:pt>
                <c:pt idx="1">
                  <c:v>3.13</c:v>
                </c:pt>
                <c:pt idx="2">
                  <c:v>4.07</c:v>
                </c:pt>
                <c:pt idx="3">
                  <c:v>5.17</c:v>
                </c:pt>
                <c:pt idx="4">
                  <c:v>6.44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70-ED4E-A4F9-946F951526C3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1.9799999999999995</c:v>
                </c:pt>
                <c:pt idx="1">
                  <c:v>1.7599999999999998</c:v>
                </c:pt>
                <c:pt idx="2">
                  <c:v>1.4100000000000001</c:v>
                </c:pt>
                <c:pt idx="3">
                  <c:v>0.9399999999999995</c:v>
                </c:pt>
                <c:pt idx="4">
                  <c:v>0.33999999999999986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70-ED4E-A4F9-946F951526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64315519"/>
        <c:axId val="1"/>
      </c:barChart>
      <c:catAx>
        <c:axId val="16643155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7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643155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037735849056604"/>
          <c:y val="0.11060171919770774"/>
          <c:w val="0.47924528301886793"/>
          <c:h val="0.7787965616045845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99C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7191977077363897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D6D5C7D-B1D8-994D-BA38-AB51BC2E36DA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(13%)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3AE-6346-AA21-B1F013DC01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AE-6346-AA21-B1F013DC016A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7191977077363897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3FE78A6-61A9-2641-A198-CE5E455020BB}" type="VALUE">
                      <a:rPr lang="en-US" smtClean="0"/>
                      <a:pPr>
                        <a:defRPr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dirty="0"/>
                  </a:p>
                  <a:p>
                    <a:pPr>
                      <a:defRPr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(23%)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3AE-6346-AA21-B1F013DC01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3AE-6346-AA21-B1F013DC016A}"/>
            </c:ext>
          </c:extLst>
        </c:ser>
        <c:ser>
          <c:idx val="2"/>
          <c:order val="2"/>
          <c:spPr>
            <a:solidFill>
              <a:srgbClr val="F8C24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719017524809697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19EE035-8AA7-F54E-8BC1-99C051D2FD22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</a:t>
                    </a:r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(63%</a:t>
                    </a:r>
                    <a:r>
                      <a:rPr lang="en-US" dirty="0">
                        <a:sym typeface="Wingdings" pitchFamily="2" charset="2"/>
                      </a:rPr>
                      <a:t>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3AE-6346-AA21-B1F013DC01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1.4700000000000002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3AE-6346-AA21-B1F013DC01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78348863"/>
        <c:axId val="1"/>
      </c:barChart>
      <c:catAx>
        <c:axId val="20783488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280000000000000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783488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9.1</c:v>
                </c:pt>
                <c:pt idx="1">
                  <c:v>10.166399999999999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E9-3740-AA38-2998A4DBD610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4.2999999999999989</c:v>
                </c:pt>
                <c:pt idx="1">
                  <c:v>6.7775999999999996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E9-3740-AA38-2998A4DBD6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6050895"/>
        <c:axId val="1"/>
      </c:barChart>
      <c:catAx>
        <c:axId val="16560508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.943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60508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7882037533512063E-2"/>
          <c:w val="0.92441860465116277"/>
          <c:h val="0.9442359249329759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401260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6.8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1A-524E-813B-3B8E9CBA2CAD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0.96</c:v>
                </c:pt>
                <c:pt idx="1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1A-524E-813B-3B8E9CBA2CAD}"/>
            </c:ext>
          </c:extLst>
        </c:ser>
        <c:ser>
          <c:idx val="2"/>
          <c:order val="2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Sheet1!$A$3:$B$3</c:f>
              <c:numCache>
                <c:formatCode>General</c:formatCode>
                <c:ptCount val="2"/>
                <c:pt idx="0">
                  <c:v>4.2999999999999989</c:v>
                </c:pt>
                <c:pt idx="1">
                  <c:v>6.7999999999999989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1A-524E-813B-3B8E9CBA2C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1061423"/>
        <c:axId val="1"/>
      </c:barChart>
      <c:catAx>
        <c:axId val="16810614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7.9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10614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6.0540000000000003</c:v>
                </c:pt>
                <c:pt idx="1">
                  <c:v>6.7779999999999996</c:v>
                </c:pt>
                <c:pt idx="2">
                  <c:v>7.59</c:v>
                </c:pt>
                <c:pt idx="3">
                  <c:v>8.4979999999999993</c:v>
                </c:pt>
                <c:pt idx="4">
                  <c:v>9.516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67-FE40-88E2-D7D7432BAED5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0.78800000000000026</c:v>
                </c:pt>
                <c:pt idx="1">
                  <c:v>0.74699999999999989</c:v>
                </c:pt>
                <c:pt idx="2">
                  <c:v>0.68800000000000061</c:v>
                </c:pt>
                <c:pt idx="3">
                  <c:v>0.60800000000000054</c:v>
                </c:pt>
                <c:pt idx="4">
                  <c:v>0.50099999999999945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67-FE40-88E2-D7D7432BAE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3351183"/>
        <c:axId val="1"/>
      </c:barChart>
      <c:catAx>
        <c:axId val="16533511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.016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33511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217228464419473"/>
          <c:y val="9.8519652884124551E-2"/>
          <c:w val="0.47565543071161048"/>
          <c:h val="0.802960694231750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7030A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75577518277902"/>
                  <c:y val="-2.6033847249103109E-2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3FFB5D6-354C-604A-A40D-E3DC77A35005}" type="VALUE">
                      <a:rPr lang="en-US" smtClean="0">
                        <a:solidFill>
                          <a:srgbClr val="7030A0"/>
                        </a:solidFill>
                      </a:rPr>
                      <a:pPr>
                        <a:defRPr sz="1400" kern="120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>
                        <a:solidFill>
                          <a:srgbClr val="7030A0"/>
                        </a:solidFill>
                      </a:rPr>
                      <a:t>(2%)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D6F-324E-B42D-4C5D963738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6F-324E-B42D-4C5D96373866}"/>
            </c:ext>
          </c:extLst>
        </c:ser>
        <c:ser>
          <c:idx val="1"/>
          <c:order val="1"/>
          <c:spPr>
            <a:solidFill>
              <a:srgbClr val="2677FF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0.14299999999999999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6F-324E-B42D-4C5D96373866}"/>
            </c:ext>
          </c:extLst>
        </c:ser>
        <c:ser>
          <c:idx val="2"/>
          <c:order val="2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6261927718484979"/>
                  <c:y val="-6.0745429212971699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D6F-324E-B42D-4C5D963738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0.42499999999999993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6F-324E-B42D-4C5D96373866}"/>
            </c:ext>
          </c:extLst>
        </c:ser>
        <c:ser>
          <c:idx val="3"/>
          <c:order val="3"/>
          <c:spPr>
            <a:solidFill>
              <a:srgbClr val="CEA0E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2.8263219592419828E-2"/>
                  <c:y val="1.5315540981371504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3ED062B-7C9E-604F-A3CD-CAD0C0224DF5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(8</a:t>
                    </a:r>
                    <a:r>
                      <a:rPr lang="en-US" dirty="0">
                        <a:sym typeface="Wingdings" pitchFamily="2" charset="2"/>
                      </a:rPr>
                      <a:t>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D6F-324E-B42D-4C5D963738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0.48499999999999988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D6F-324E-B42D-4C5D96373866}"/>
            </c:ext>
          </c:extLst>
        </c:ser>
        <c:ser>
          <c:idx val="4"/>
          <c:order val="4"/>
          <c:spPr>
            <a:solidFill>
              <a:srgbClr val="00B0F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12718448816588945"/>
                  <c:y val="-2.5521614270238428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D80345E-7E0E-BA4D-929E-F821EDEFEF2B}" type="VALUE">
                      <a:rPr lang="en-US" smtClean="0"/>
                      <a:pPr>
                        <a:defRPr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(10</a:t>
                    </a:r>
                    <a:r>
                      <a:rPr lang="en-US" dirty="0">
                        <a:sym typeface="Wingdings" pitchFamily="2" charset="2"/>
                      </a:rPr>
                      <a:t>%)</a:t>
                    </a:r>
                  </a:p>
                </c:rich>
              </c:tx>
              <c:numFmt formatCode="#,##0.0;&quot;-&quot;#,##0.0" sourceLinked="0"/>
              <c:spPr>
                <a:solidFill>
                  <a:srgbClr val="00B0F0"/>
                </a:solidFill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D6F-324E-B42D-4C5D96373866}"/>
                </c:ext>
              </c:extLst>
            </c:dLbl>
            <c:spPr>
              <a:solidFill>
                <a:srgbClr val="00B0F0"/>
              </a:solidFill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0.56999999999999984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D6F-324E-B42D-4C5D96373866}"/>
            </c:ext>
          </c:extLst>
        </c:ser>
        <c:ser>
          <c:idx val="5"/>
          <c:order val="5"/>
          <c:spPr>
            <a:solidFill>
              <a:srgbClr val="27EAFF"/>
            </a:solidFill>
            <a:ln>
              <a:noFill/>
            </a:ln>
          </c:spPr>
          <c:invertIfNegative val="0"/>
          <c:val>
            <c:numRef>
              <c:f>Sheet1!$A$6</c:f>
              <c:numCache>
                <c:formatCode>General</c:formatCode>
                <c:ptCount val="1"/>
                <c:pt idx="0">
                  <c:v>1.8140000000000001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D6F-324E-B42D-4C5D96373866}"/>
            </c:ext>
          </c:extLst>
        </c:ser>
        <c:ser>
          <c:idx val="6"/>
          <c:order val="6"/>
          <c:spPr>
            <a:solidFill>
              <a:srgbClr val="99F7FF"/>
            </a:solidFill>
            <a:ln>
              <a:noFill/>
            </a:ln>
          </c:spPr>
          <c:invertIfNegative val="0"/>
          <c:val>
            <c:numRef>
              <c:f>Sheet1!$A$7</c:f>
              <c:numCache>
                <c:formatCode>General</c:formatCode>
                <c:ptCount val="1"/>
                <c:pt idx="0">
                  <c:v>2.5240000000000005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D6F-324E-B42D-4C5D963738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1325039"/>
        <c:axId val="1"/>
      </c:barChart>
      <c:catAx>
        <c:axId val="16813250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051000000000000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13250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2.88</c:v>
                </c:pt>
                <c:pt idx="1">
                  <c:v>3.41</c:v>
                </c:pt>
                <c:pt idx="2">
                  <c:v>4.04</c:v>
                </c:pt>
                <c:pt idx="3">
                  <c:v>4.78</c:v>
                </c:pt>
                <c:pt idx="4">
                  <c:v>5.66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AA-CE43-BBFB-6DCA54986C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1.4500000000000002</c:v>
                </c:pt>
                <c:pt idx="1">
                  <c:v>1.4399999999999995</c:v>
                </c:pt>
                <c:pt idx="2">
                  <c:v>1.3999999999999995</c:v>
                </c:pt>
                <c:pt idx="3">
                  <c:v>1.3099999999999996</c:v>
                </c:pt>
                <c:pt idx="4">
                  <c:v>1.1600000000000001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AA-CE43-BBFB-6DCA54986C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3700815"/>
        <c:axId val="1"/>
      </c:barChart>
      <c:catAx>
        <c:axId val="20937008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8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937008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217228464419473"/>
          <c:y val="9.8519652884124551E-2"/>
          <c:w val="0.47565543071161048"/>
          <c:h val="0.802960694231750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0.30861415939976777"/>
                  <c:y val="-5.9213875114834405E-2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958FB63-17BE-1543-8E83-8A64B88AA6AB}" type="VALUE">
                      <a:rPr lang="en-US" smtClean="0">
                        <a:solidFill>
                          <a:schemeClr val="accent3"/>
                        </a:solidFill>
                      </a:rPr>
                      <a:pPr>
                        <a:defRPr sz="1400" kern="120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>
                        <a:solidFill>
                          <a:schemeClr val="accent3"/>
                        </a:solidFill>
                      </a:rPr>
                      <a:t>2 (1%) 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729-CE4F-902F-27CFD64CD94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accent3"/>
                    </a:solidFill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29-CE4F-902F-27CFD64CD94E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0.29363288952599265"/>
                  <c:y val="-0.11587542802644334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DEE3F7F-31EB-5A46-8FED-4C039611A63A}" type="VALUE">
                      <a:rPr lang="en-US" smtClean="0">
                        <a:solidFill>
                          <a:srgbClr val="C00000"/>
                        </a:solidFill>
                      </a:rPr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>
                        <a:solidFill>
                          <a:srgbClr val="C00000"/>
                        </a:solidFill>
                      </a:rPr>
                      <a:t>3 (1%)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9830704572661049"/>
                      <c:h val="8.202158709906032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729-CE4F-902F-27CFD64CD9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729-CE4F-902F-27CFD64CD94E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4.1999999999999996E-2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29-CE4F-902F-27CFD64CD94E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2397022053844806"/>
                  <c:y val="-2.0418577625806464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042D5CA-E4DC-FD4F-87D9-A29A76B89C0C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(7%)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729-CE4F-902F-27CFD64CD9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29-CE4F-902F-27CFD64CD94E}"/>
            </c:ext>
          </c:extLst>
        </c:ser>
        <c:ser>
          <c:idx val="4"/>
          <c:order val="4"/>
          <c:spPr>
            <a:solidFill>
              <a:srgbClr val="CEA0E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8.3895111293140701E-2"/>
                  <c:y val="1.5315540981370008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 </a:t>
                    </a:r>
                    <a:fld id="{67AF0C1B-CBD1-7940-9783-84DF14B418A9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(10</a:t>
                    </a:r>
                    <a:r>
                      <a:rPr lang="en-US" dirty="0">
                        <a:sym typeface="Wingdings" pitchFamily="2" charset="2"/>
                      </a:rPr>
                      <a:t>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729-CE4F-902F-27CFD64CD9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29-CE4F-902F-27CFD64CD94E}"/>
            </c:ext>
          </c:extLst>
        </c:ser>
        <c:ser>
          <c:idx val="5"/>
          <c:order val="5"/>
          <c:spPr>
            <a:solidFill>
              <a:srgbClr val="F8C24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313935681470138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6261C6B-CD2A-6447-99B8-DDB9F9F21A8F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</a:t>
                    </a:r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(14%)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729-CE4F-902F-27CFD64CD9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</c:f>
              <c:numCache>
                <c:formatCode>General</c:formatCode>
                <c:ptCount val="1"/>
                <c:pt idx="0">
                  <c:v>0.43999999999999995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729-CE4F-902F-27CFD64CD94E}"/>
            </c:ext>
          </c:extLst>
        </c:ser>
        <c:ser>
          <c:idx val="6"/>
          <c:order val="6"/>
          <c:spPr>
            <a:solidFill>
              <a:srgbClr val="1AB0B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0209290454313426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B674986-0501-7B43-AC62-9C09A69C5AF5}" type="VALUE">
                      <a:rPr lang="en-US" smtClean="0"/>
                      <a:pPr>
                        <a:defRPr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dirty="0"/>
                  </a:p>
                  <a:p>
                    <a:pPr>
                      <a:defRPr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(17%)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729-CE4F-902F-27CFD64CD9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</c:f>
              <c:numCache>
                <c:formatCode>General</c:formatCode>
                <c:ptCount val="1"/>
                <c:pt idx="0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729-CE4F-902F-27CFD64CD94E}"/>
            </c:ext>
          </c:extLst>
        </c:ser>
        <c:ser>
          <c:idx val="7"/>
          <c:order val="7"/>
          <c:spPr>
            <a:solidFill>
              <a:srgbClr val="27EA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313935681470138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D1B52C2-A15F-FE4A-8601-5904748C807A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dirty="0"/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(21%)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2729-CE4F-902F-27CFD64CD9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Sheet1!$A$8</c:f>
              <c:numCache>
                <c:formatCode>General</c:formatCode>
                <c:ptCount val="1"/>
                <c:pt idx="0">
                  <c:v>0.60999999999999988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729-CE4F-902F-27CFD64CD94E}"/>
            </c:ext>
          </c:extLst>
        </c:ser>
        <c:ser>
          <c:idx val="8"/>
          <c:order val="8"/>
          <c:spPr>
            <a:solidFill>
              <a:srgbClr val="99F7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313935681470138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B66FA50-6B57-E545-8DA0-BF055A81CB11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dirty="0"/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(28</a:t>
                    </a:r>
                    <a:r>
                      <a:rPr lang="en-US" dirty="0">
                        <a:sym typeface="Wingdings" pitchFamily="2" charset="2"/>
                      </a:rPr>
                      <a:t>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2729-CE4F-902F-27CFD64CD9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Sheet1!$A$9</c:f>
              <c:numCache>
                <c:formatCode>General</c:formatCode>
                <c:ptCount val="1"/>
                <c:pt idx="0">
                  <c:v>0.81999999999999984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729-CE4F-902F-27CFD64CD9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7075439"/>
        <c:axId val="1"/>
      </c:barChart>
      <c:catAx>
        <c:axId val="16870754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881999999999999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70754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7882037533512063E-2"/>
          <c:w val="0.92441860465116277"/>
          <c:h val="0.9442359249329759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401260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6.8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5E-6D42-9AC6-A0C7E4DD99C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0.96</c:v>
                </c:pt>
                <c:pt idx="1">
                  <c:v>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5E-6D42-9AC6-A0C7E4DD99C0}"/>
            </c:ext>
          </c:extLst>
        </c:ser>
        <c:ser>
          <c:idx val="2"/>
          <c:order val="2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Sheet1!$A$3:$B$3</c:f>
              <c:numCache>
                <c:formatCode>General</c:formatCode>
                <c:ptCount val="2"/>
                <c:pt idx="0">
                  <c:v>4.2999999999999989</c:v>
                </c:pt>
                <c:pt idx="1">
                  <c:v>6.7999999999999989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5E-6D42-9AC6-A0C7E4DD99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1061423"/>
        <c:axId val="1"/>
      </c:barChart>
      <c:catAx>
        <c:axId val="16810614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7.9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10614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1.3954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A3-9949-A0E0-16EE3D0C5474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0.81020000000000003</c:v>
                </c:pt>
                <c:pt idx="1">
                  <c:v>1.7000000000000002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A3-9949-A0E0-16EE3D0C5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8047679"/>
        <c:axId val="1"/>
      </c:barChart>
      <c:catAx>
        <c:axId val="16580476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80476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1.4</c:v>
                </c:pt>
                <c:pt idx="1">
                  <c:v>1.53</c:v>
                </c:pt>
                <c:pt idx="2">
                  <c:v>1.69</c:v>
                </c:pt>
                <c:pt idx="3">
                  <c:v>1.86</c:v>
                </c:pt>
                <c:pt idx="4">
                  <c:v>2.04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C3-184E-9841-E914FD918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57401999"/>
        <c:axId val="1"/>
      </c:barChart>
      <c:catAx>
        <c:axId val="17574019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0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574019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1017964071856285"/>
          <c:y val="0.10036401456058243"/>
          <c:w val="0.38023952095808383"/>
          <c:h val="0.799271970878835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8.1785259559372797E-2"/>
                  <c:y val="1.0400417720084305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6748163-D6E2-C840-9742-2FB46BCF3D94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baseline="0" dirty="0"/>
                      <a:t> (10%)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17663266470161801"/>
                      <c:h val="8.3557119749263123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BE7-4E45-BF0D-00E92E5BBB7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E7-4E45-BF0D-00E92E5BBB7C}"/>
            </c:ext>
          </c:extLst>
        </c:ser>
        <c:ser>
          <c:idx val="1"/>
          <c:order val="1"/>
          <c:spPr>
            <a:solidFill>
              <a:srgbClr val="0D3C7F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1.3000000000000012E-2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E7-4E45-BF0D-00E92E5BBB7C}"/>
            </c:ext>
          </c:extLst>
        </c:ser>
        <c:ser>
          <c:idx val="2"/>
          <c:order val="2"/>
          <c:spPr>
            <a:solidFill>
              <a:srgbClr val="99C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3272486743281483"/>
                  <c:y val="2.2360734312075272E-2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0,02 (1</a:t>
                    </a:r>
                    <a:r>
                      <a:rPr lang="en-US" dirty="0">
                        <a:sym typeface="Wingdings" pitchFamily="2" charset="2"/>
                      </a:rPr>
                      <a:t>%)</a:t>
                    </a:r>
                    <a:endParaRPr lang="en-US" dirty="0"/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6425948209561029"/>
                      <c:h val="8.355711974926312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2BE7-4E45-BF0D-00E92E5BBB7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3.3000000000000002E-2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E7-4E45-BF0D-00E92E5BBB7C}"/>
            </c:ext>
          </c:extLst>
        </c:ser>
        <c:ser>
          <c:idx val="3"/>
          <c:order val="3"/>
          <c:spPr>
            <a:solidFill>
              <a:srgbClr val="1AB0B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32372888216699958"/>
                  <c:y val="-5.1985709989838707E-4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D63EB95-E50A-1E4C-A536-D5B99AB07E36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(1%)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BE7-4E45-BF0D-00E92E5BBB7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2.2999999999999993E-2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E7-4E45-BF0D-00E92E5BBB7C}"/>
            </c:ext>
          </c:extLst>
        </c:ser>
        <c:ser>
          <c:idx val="4"/>
          <c:order val="4"/>
          <c:spPr>
            <a:solidFill>
              <a:srgbClr val="27EA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33280527251250225"/>
                  <c:y val="-3.1720946474045622E-2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 </a:t>
                    </a:r>
                    <a:fld id="{D0D8694E-FA36-2E4E-A49F-3893C612656E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 (2%)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9874028975267619"/>
                      <c:h val="7.939695266122939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BE7-4E45-BF0D-00E92E5BBB7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2.6999999999999996E-2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E7-4E45-BF0D-00E92E5BBB7C}"/>
            </c:ext>
          </c:extLst>
        </c:ser>
        <c:ser>
          <c:idx val="5"/>
          <c:order val="5"/>
          <c:spPr>
            <a:solidFill>
              <a:srgbClr val="00B0F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2.9208939131330752E-3"/>
                  <c:y val="1.5598988719068175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3021345-24DB-CE41-B884-5E64BF6AA192}" type="VALUE">
                      <a:rPr lang="en-US" smtClean="0">
                        <a:solidFill>
                          <a:schemeClr val="tx1"/>
                        </a:solidFill>
                      </a:rPr>
                      <a:pPr>
                        <a:defRPr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>
                        <a:solidFill>
                          <a:schemeClr val="tx1"/>
                        </a:solidFill>
                      </a:rPr>
                      <a:t> (10 %)</a:t>
                    </a:r>
                  </a:p>
                </c:rich>
              </c:tx>
              <c:numFmt formatCode="#,##0.00;&quot;-&quot;#,##0.00" sourceLinked="0"/>
              <c:spPr>
                <a:solidFill>
                  <a:srgbClr val="00B0F0"/>
                </a:solidFill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369411662968401"/>
                      <c:h val="5.027578304499335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BE7-4E45-BF0D-00E92E5BBB7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</c:f>
              <c:numCache>
                <c:formatCode>General</c:formatCode>
                <c:ptCount val="1"/>
                <c:pt idx="0">
                  <c:v>0.14299999999999999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BE7-4E45-BF0D-00E92E5BBB7C}"/>
            </c:ext>
          </c:extLst>
        </c:ser>
        <c:ser>
          <c:idx val="6"/>
          <c:order val="6"/>
          <c:spPr>
            <a:solidFill>
              <a:srgbClr val="99F7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717327D-4D37-044B-824A-F9B3F2FB2B79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dirty="0"/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(74%)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BE7-4E45-BF0D-00E92E5BBB7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</c:f>
              <c:numCache>
                <c:formatCode>General</c:formatCode>
                <c:ptCount val="1"/>
                <c:pt idx="0">
                  <c:v>0.99999999999999989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BE7-4E45-BF0D-00E92E5BBB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19524879"/>
        <c:axId val="1"/>
      </c:barChart>
      <c:catAx>
        <c:axId val="19195248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367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195248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0.64</c:v>
                </c:pt>
                <c:pt idx="1">
                  <c:v>0.81</c:v>
                </c:pt>
                <c:pt idx="2">
                  <c:v>1.01</c:v>
                </c:pt>
                <c:pt idx="3">
                  <c:v>1.27</c:v>
                </c:pt>
                <c:pt idx="4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4C-C941-800F-DF0D22159D79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0.17000000000000004</c:v>
                </c:pt>
                <c:pt idx="1">
                  <c:v>0.16000000000000003</c:v>
                </c:pt>
                <c:pt idx="2">
                  <c:v>0.14999999999999991</c:v>
                </c:pt>
                <c:pt idx="3">
                  <c:v>0.12999999999999989</c:v>
                </c:pt>
                <c:pt idx="4">
                  <c:v>8.0000000000000071E-2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4C-C941-800F-DF0D22159D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49465711"/>
        <c:axId val="1"/>
      </c:barChart>
      <c:catAx>
        <c:axId val="17494657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680000000000000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494657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1017964071856285"/>
          <c:y val="0.10036401456058243"/>
          <c:w val="0.38023952095808383"/>
          <c:h val="0.799271970878835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0400416016640667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E621519-673F-7E44-A6F5-C7B1018F61FE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dirty="0"/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(44%)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720-7042-9EC0-CBE595F357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0.28389999999999999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20-7042-9EC0-CBE595F35777}"/>
            </c:ext>
          </c:extLst>
        </c:ser>
        <c:ser>
          <c:idx val="1"/>
          <c:order val="1"/>
          <c:spPr>
            <a:solidFill>
              <a:srgbClr val="0D3C7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7223049693850826"/>
                  <c:y val="0.1045240343007414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C3F1BEA-528E-484F-983A-705D4A36A25E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(2</a:t>
                    </a:r>
                    <a:r>
                      <a:rPr lang="en-US" dirty="0">
                        <a:sym typeface="Wingdings" pitchFamily="2" charset="2"/>
                      </a:rPr>
                      <a:t>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720-7042-9EC0-CBE595F357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1.4000000000000012E-2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20-7042-9EC0-CBE595F35777}"/>
            </c:ext>
          </c:extLst>
        </c:ser>
        <c:ser>
          <c:idx val="2"/>
          <c:order val="2"/>
          <c:spPr>
            <a:solidFill>
              <a:srgbClr val="99C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5948988789791683"/>
                  <c:y val="4.940182038429454E-2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DD0CD6B-D496-014E-946D-3DBE616D391E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(3%)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720-7042-9EC0-CBE595F357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1.5000000000000013E-2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720-7042-9EC0-CBE595F35777}"/>
            </c:ext>
          </c:extLst>
        </c:ser>
        <c:ser>
          <c:idx val="3"/>
          <c:order val="3"/>
          <c:spPr>
            <a:solidFill>
              <a:srgbClr val="1AB0B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5948988789791683"/>
                  <c:y val="1.7680710124143316E-2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A7B8A99-AFEF-6949-9016-D228B700BC30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(3%)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8720-7042-9EC0-CBE595F357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1.7000000000000015E-2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720-7042-9EC0-CBE595F35777}"/>
            </c:ext>
          </c:extLst>
        </c:ser>
        <c:ser>
          <c:idx val="4"/>
          <c:order val="4"/>
          <c:spPr>
            <a:solidFill>
              <a:srgbClr val="27EA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5948988789791683"/>
                  <c:y val="-6.7601077319489698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3D338B1-617D-0142-8C4D-70084078C3AC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/>
                      <a:t>(3%)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8720-7042-9EC0-CBE595F357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2.1000000000000019E-2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720-7042-9EC0-CBE595F35777}"/>
            </c:ext>
          </c:extLst>
        </c:ser>
        <c:ser>
          <c:idx val="5"/>
          <c:order val="5"/>
          <c:spPr>
            <a:solidFill>
              <a:srgbClr val="00B0F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33021317479007606"/>
                  <c:y val="-3.5361420248286632E-2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8B8B525-278C-494D-B020-E132B86FE0CA}" type="VALUE">
                      <a:rPr lang="en-US" smtClean="0">
                        <a:solidFill>
                          <a:srgbClr val="00B0F0"/>
                        </a:solidFill>
                      </a:rPr>
                      <a:pPr>
                        <a:defRPr sz="1400" kern="120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dirty="0">
                        <a:solidFill>
                          <a:srgbClr val="00B0F0"/>
                        </a:solidFill>
                      </a:rPr>
                      <a:t>(5</a:t>
                    </a:r>
                    <a:r>
                      <a:rPr lang="en-US" dirty="0">
                        <a:solidFill>
                          <a:srgbClr val="00B0F0"/>
                        </a:solidFill>
                        <a:sym typeface="Wingdings" pitchFamily="2" charset="2"/>
                      </a:rPr>
                      <a:t>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8720-7042-9EC0-CBE595F357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</c:f>
              <c:numCache>
                <c:formatCode>General</c:formatCode>
                <c:ptCount val="1"/>
                <c:pt idx="0">
                  <c:v>2.9999999999999971E-2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720-7042-9EC0-CBE595F35777}"/>
            </c:ext>
          </c:extLst>
        </c:ser>
        <c:ser>
          <c:idx val="6"/>
          <c:order val="6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Sheet1!$A$7</c:f>
              <c:numCache>
                <c:formatCode>General</c:formatCode>
                <c:ptCount val="1"/>
                <c:pt idx="0">
                  <c:v>3.999999999999998E-2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20-7042-9EC0-CBE595F35777}"/>
            </c:ext>
          </c:extLst>
        </c:ser>
        <c:ser>
          <c:idx val="7"/>
          <c:order val="7"/>
          <c:spPr>
            <a:solidFill>
              <a:srgbClr val="F8C24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659E9C7-E9E7-794B-9D9E-404204B711DE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dirty="0"/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(34%)</a:t>
                    </a:r>
                  </a:p>
                </c:rich>
              </c:tx>
              <c:numFmt formatCode="#,##0.00;&quot;-&quot;#,##0.0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8720-7042-9EC0-CBE595F357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Sheet1!$A$8</c:f>
              <c:numCache>
                <c:formatCode>General</c:formatCode>
                <c:ptCount val="1"/>
                <c:pt idx="0">
                  <c:v>0.22000000000000003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720-7042-9EC0-CBE595F357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95452719"/>
        <c:axId val="1"/>
      </c:barChart>
      <c:catAx>
        <c:axId val="17954527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0.640900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954527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1.3954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7D-C347-81CB-F883F5167814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0.81020000000000003</c:v>
                </c:pt>
                <c:pt idx="1">
                  <c:v>1.7000000000000002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7D-C347-81CB-F883F5167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8047679"/>
        <c:axId val="1"/>
      </c:barChart>
      <c:catAx>
        <c:axId val="16580476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80476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15.1</c:v>
                </c:pt>
                <c:pt idx="1">
                  <c:v>18.260000000000002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0F-7641-9997-DE0478D953C8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9.5000000000000018</c:v>
                </c:pt>
                <c:pt idx="1">
                  <c:v>12.169999999999998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0F-7641-9997-DE0478D953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7997935"/>
        <c:axId val="1"/>
      </c:barChart>
      <c:catAx>
        <c:axId val="16579979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.4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799793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5.1269999999999998</c:v>
                </c:pt>
                <c:pt idx="1">
                  <c:v>6.532</c:v>
                </c:pt>
                <c:pt idx="2">
                  <c:v>8.3230000000000004</c:v>
                </c:pt>
                <c:pt idx="3">
                  <c:v>10.606</c:v>
                </c:pt>
                <c:pt idx="4">
                  <c:v>13.513999999999999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14-B34C-B52E-1A4C61BF85A8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9.9280000000000008</c:v>
                </c:pt>
                <c:pt idx="1">
                  <c:v>9.2669999999999995</c:v>
                </c:pt>
                <c:pt idx="2">
                  <c:v>8.2579999999999991</c:v>
                </c:pt>
                <c:pt idx="3">
                  <c:v>6.7960000000000012</c:v>
                </c:pt>
                <c:pt idx="4">
                  <c:v>4.7480000000000011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14-B34C-B52E-1A4C61BF85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08266639"/>
        <c:axId val="1"/>
      </c:barChart>
      <c:catAx>
        <c:axId val="12082666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.26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2082666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6217228464419473"/>
          <c:y val="0.10036401456058243"/>
          <c:w val="0.47565543071161048"/>
          <c:h val="0.799271970878835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99C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1.0619628065452559E-2"/>
                  <c:y val="-9.8802330479742604E-3"/>
                </c:manualLayout>
              </c:layout>
              <c:tx>
                <c:rich>
                  <a:bodyPr wrap="none"/>
                  <a:lstStyle/>
                  <a:p>
                    <a:pPr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FABAD26-E2E1-5D4A-992F-EAAB4097CD3E}" type="VALUE">
                      <a:rPr lang="en-US" sz="1200" smtClean="0"/>
                      <a:pPr>
                        <a:defRPr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r>
                      <a:rPr lang="en-US" sz="1200" dirty="0"/>
                      <a:t>(8%)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3D3-EC4E-B72F-C71B11A92C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D3-EC4E-B72F-C71B11A92CEA}"/>
            </c:ext>
          </c:extLst>
        </c:ser>
        <c:ser>
          <c:idx val="1"/>
          <c:order val="1"/>
          <c:spPr>
            <a:solidFill>
              <a:srgbClr val="1AB0BF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D3-EC4E-B72F-C71B11A92CEA}"/>
            </c:ext>
          </c:extLst>
        </c:ser>
        <c:ser>
          <c:idx val="2"/>
          <c:order val="2"/>
          <c:spPr>
            <a:solidFill>
              <a:srgbClr val="27EA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70D60CC-D2CE-854A-9432-B05F13E27176}" type="VALUE">
                      <a:rPr lang="en-US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dirty="0"/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(54</a:t>
                    </a:r>
                    <a:r>
                      <a:rPr lang="en-US" sz="1200" dirty="0">
                        <a:sym typeface="Wingdings" pitchFamily="2" charset="2"/>
                      </a:rPr>
                      <a:t>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3D3-EC4E-B72F-C71B11A92C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D3-EC4E-B72F-C71B11A92CEA}"/>
            </c:ext>
          </c:extLst>
        </c:ser>
        <c:ser>
          <c:idx val="3"/>
          <c:order val="3"/>
          <c:spPr>
            <a:solidFill>
              <a:srgbClr val="99F7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tx>
                <c:rich>
                  <a:bodyPr wrap="none"/>
                  <a:lstStyle/>
                  <a:p>
                    <a:pPr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4FEC0D6-04AE-CF45-9254-1B6875812E42}" type="VALUE">
                      <a:rPr lang="en-US" sz="1200" smtClean="0"/>
                      <a:pPr>
                        <a:defRPr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sz="1200" dirty="0"/>
                  </a:p>
                  <a:p>
                    <a:pPr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dirty="0"/>
                      <a:t>(31%)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83D3-EC4E-B72F-C71B11A92C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1.62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3D3-EC4E-B72F-C71B11A92C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82959023"/>
        <c:axId val="1"/>
      </c:barChart>
      <c:catAx>
        <c:axId val="15829590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.1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829590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092140921409214E-2"/>
          <c:y val="2.8430836522689993E-2"/>
          <c:w val="0.9718157181571816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95959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3.4</c:v>
                </c:pt>
                <c:pt idx="1">
                  <c:v>6</c:v>
                </c:pt>
                <c:pt idx="2">
                  <c:v>8.5</c:v>
                </c:pt>
                <c:pt idx="3">
                  <c:v>10.9</c:v>
                </c:pt>
                <c:pt idx="4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0-474D-B8E3-C082AD24528D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6.1</c:v>
                </c:pt>
                <c:pt idx="1">
                  <c:v>4.0999999999999996</c:v>
                </c:pt>
                <c:pt idx="2">
                  <c:v>2.3000000000000007</c:v>
                </c:pt>
                <c:pt idx="3">
                  <c:v>0.5</c:v>
                </c:pt>
                <c:pt idx="4">
                  <c:v>0.59999999999999964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40-474D-B8E3-C082AD2452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43756575"/>
        <c:axId val="1"/>
      </c:barChart>
      <c:catAx>
        <c:axId val="16437565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.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437565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5482625482625482"/>
          <c:y val="0.10036401456058243"/>
          <c:w val="0.49034749034749037"/>
          <c:h val="0.799271970878835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3877787807814457E-17"/>
                  <c:y val="3.6401459465129557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AF340BC-D297-1046-B28B-AB9FD8EAE2DF}" type="VALUE">
                      <a:rPr lang="en-US" sz="1200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sz="1200" dirty="0"/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dirty="0"/>
                      <a:t>(29</a:t>
                    </a:r>
                    <a:r>
                      <a:rPr lang="en-US" sz="1200" dirty="0">
                        <a:sym typeface="Wingdings" pitchFamily="2" charset="2"/>
                      </a:rPr>
                      <a:t>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19999976340978545"/>
                      <c:h val="0.138491962360642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998-FD45-91A7-D2CC79D05DE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0.98839285714285718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98-FD45-91A7-D2CC79D05DE4}"/>
            </c:ext>
          </c:extLst>
        </c:ser>
        <c:ser>
          <c:idx val="1"/>
          <c:order val="1"/>
          <c:spPr>
            <a:solidFill>
              <a:srgbClr val="401260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0.10982142857142863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98-FD45-91A7-D2CC79D05DE4}"/>
            </c:ext>
          </c:extLst>
        </c:ser>
        <c:ser>
          <c:idx val="2"/>
          <c:order val="2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0.10982142857142851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98-FD45-91A7-D2CC79D05DE4}"/>
            </c:ext>
          </c:extLst>
        </c:ser>
        <c:ser>
          <c:idx val="3"/>
          <c:order val="3"/>
          <c:spPr>
            <a:solidFill>
              <a:srgbClr val="F8C24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5600624024960999E-3"/>
                </c:manualLayout>
              </c:layout>
              <c:tx>
                <c:rich>
                  <a:bodyPr wrap="none"/>
                  <a:lstStyle/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8A089E0-115F-B94F-A98B-86645BE9A33C}" type="VALUE">
                      <a:rPr lang="en-US" sz="1200" smtClean="0"/>
                      <a:pPr>
                        <a:defRPr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[ЗНАЧЕНИЕ]</a:t>
                    </a:fld>
                    <a:endParaRPr lang="en-US" sz="1200" dirty="0"/>
                  </a:p>
                  <a:p>
                    <a:pPr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dirty="0"/>
                      <a:t>(65%)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998-FD45-91A7-D2CC79D05DE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2.1964285714285716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98-FD45-91A7-D2CC79D05D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48358144"/>
        <c:axId val="1"/>
      </c:barChart>
      <c:catAx>
        <c:axId val="10483581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404464285714285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483581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7790697674418602E-2"/>
          <c:y val="2.8430836522689993E-2"/>
          <c:w val="0.92441860465116277"/>
          <c:h val="0.943138326954619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15.1</c:v>
                </c:pt>
                <c:pt idx="1">
                  <c:v>18.260000000000002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C1-0F41-93A6-AA547FEF2ECB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9.5000000000000018</c:v>
                </c:pt>
                <c:pt idx="1">
                  <c:v>12.169999999999998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C1-0F41-93A6-AA547FEF2E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7997935"/>
        <c:axId val="1"/>
      </c:barChart>
      <c:catAx>
        <c:axId val="16579979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.4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5799793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0.09556</cdr:x>
      <cdr:y>0.59016</cdr:y>
    </cdr:from>
    <cdr:to>
      <cdr:x>0.18104</cdr:x>
      <cdr:y>0.6666</cdr:y>
    </cdr:to>
    <cdr:sp macro="" textlink="">
      <cdr:nvSpPr>
        <cdr:cNvPr id="2" name="Текст 4">
          <a:extLst xmlns:a="http://schemas.openxmlformats.org/drawingml/2006/main">
            <a:ext uri="{FF2B5EF4-FFF2-40B4-BE49-F238E27FC236}">
              <a16:creationId xmlns:a16="http://schemas.microsoft.com/office/drawing/2014/main" id="{4BE9ADA6-86A5-B071-9710-E393698A7FEF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477342" y="1814106"/>
          <a:ext cx="427038" cy="2349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ru-RU" sz="1100" dirty="0"/>
            <a:t>37</a:t>
          </a:r>
          <a:endParaRPr lang="ru-RU" sz="1400" dirty="0"/>
        </a:p>
      </cdr:txBody>
    </cdr:sp>
  </cdr:relSizeAnchor>
  <cdr:relSizeAnchor xmlns:cdr="http://schemas.openxmlformats.org/drawingml/2006/chartDrawing">
    <cdr:from>
      <cdr:x>0.22326</cdr:x>
      <cdr:y>0.5779</cdr:y>
    </cdr:from>
    <cdr:to>
      <cdr:x>0.30875</cdr:x>
      <cdr:y>0.65433</cdr:y>
    </cdr:to>
    <cdr:sp macro="" textlink="">
      <cdr:nvSpPr>
        <cdr:cNvPr id="3" name="Текст 4">
          <a:extLst xmlns:a="http://schemas.openxmlformats.org/drawingml/2006/main">
            <a:ext uri="{FF2B5EF4-FFF2-40B4-BE49-F238E27FC236}">
              <a16:creationId xmlns:a16="http://schemas.microsoft.com/office/drawing/2014/main" id="{1B75B81E-9D21-E100-864A-3525F58B9178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1115283" y="1776412"/>
          <a:ext cx="427038" cy="2349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ru-RU" sz="1100" dirty="0"/>
            <a:t>42</a:t>
          </a:r>
          <a:endParaRPr lang="ru-RU" sz="1400" dirty="0"/>
        </a:p>
      </cdr:txBody>
    </cdr:sp>
  </cdr:relSizeAnchor>
  <cdr:relSizeAnchor xmlns:cdr="http://schemas.openxmlformats.org/drawingml/2006/chartDrawing">
    <cdr:from>
      <cdr:x>0.35097</cdr:x>
      <cdr:y>0.55301</cdr:y>
    </cdr:from>
    <cdr:to>
      <cdr:x>0.43646</cdr:x>
      <cdr:y>0.62944</cdr:y>
    </cdr:to>
    <cdr:sp macro="" textlink="">
      <cdr:nvSpPr>
        <cdr:cNvPr id="6" name="Текст 4">
          <a:extLst xmlns:a="http://schemas.openxmlformats.org/drawingml/2006/main">
            <a:ext uri="{FF2B5EF4-FFF2-40B4-BE49-F238E27FC236}">
              <a16:creationId xmlns:a16="http://schemas.microsoft.com/office/drawing/2014/main" id="{C2DD46FF-1E06-1128-1DC0-E0EC4C9D502A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1753224" y="1699902"/>
          <a:ext cx="427038" cy="2349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ru-RU" sz="1100" dirty="0"/>
            <a:t>48</a:t>
          </a:r>
          <a:endParaRPr lang="ru-RU" sz="1400" dirty="0"/>
        </a:p>
      </cdr:txBody>
    </cdr:sp>
  </cdr:relSizeAnchor>
  <cdr:relSizeAnchor xmlns:cdr="http://schemas.openxmlformats.org/drawingml/2006/chartDrawing">
    <cdr:from>
      <cdr:x>0.48209</cdr:x>
      <cdr:y>0.51479</cdr:y>
    </cdr:from>
    <cdr:to>
      <cdr:x>0.56758</cdr:x>
      <cdr:y>0.59123</cdr:y>
    </cdr:to>
    <cdr:sp macro="" textlink="">
      <cdr:nvSpPr>
        <cdr:cNvPr id="7" name="Текст 4">
          <a:extLst xmlns:a="http://schemas.openxmlformats.org/drawingml/2006/main">
            <a:ext uri="{FF2B5EF4-FFF2-40B4-BE49-F238E27FC236}">
              <a16:creationId xmlns:a16="http://schemas.microsoft.com/office/drawing/2014/main" id="{293F7C50-C833-CFFB-5829-F77503FC596F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2408209" y="1582426"/>
          <a:ext cx="427038" cy="2349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ru-RU" sz="1100" dirty="0"/>
            <a:t>58</a:t>
          </a:r>
          <a:endParaRPr lang="ru-RU" sz="1400" dirty="0"/>
        </a:p>
      </cdr:txBody>
    </cdr:sp>
  </cdr:relSizeAnchor>
  <cdr:relSizeAnchor xmlns:cdr="http://schemas.openxmlformats.org/drawingml/2006/chartDrawing">
    <cdr:from>
      <cdr:x>0.59786</cdr:x>
      <cdr:y>0.46068</cdr:y>
    </cdr:from>
    <cdr:to>
      <cdr:x>0.68334</cdr:x>
      <cdr:y>0.53712</cdr:y>
    </cdr:to>
    <cdr:sp macro="" textlink="">
      <cdr:nvSpPr>
        <cdr:cNvPr id="8" name="Текст 4">
          <a:extLst xmlns:a="http://schemas.openxmlformats.org/drawingml/2006/main">
            <a:ext uri="{FF2B5EF4-FFF2-40B4-BE49-F238E27FC236}">
              <a16:creationId xmlns:a16="http://schemas.microsoft.com/office/drawing/2014/main" id="{4744C7D2-31DB-0772-A2E9-A52983CB563F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2986508" y="1416102"/>
          <a:ext cx="427038" cy="2349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ru-RU" sz="1100" dirty="0"/>
            <a:t>74</a:t>
          </a:r>
          <a:endParaRPr lang="ru-RU" sz="1400" dirty="0"/>
        </a:p>
      </cdr:txBody>
    </cdr:sp>
  </cdr:relSizeAnchor>
  <cdr:relSizeAnchor xmlns:cdr="http://schemas.openxmlformats.org/drawingml/2006/chartDrawing">
    <cdr:from>
      <cdr:x>0.73824</cdr:x>
      <cdr:y>0.39045</cdr:y>
    </cdr:from>
    <cdr:to>
      <cdr:x>0.82373</cdr:x>
      <cdr:y>0.46688</cdr:y>
    </cdr:to>
    <cdr:sp macro="" textlink="">
      <cdr:nvSpPr>
        <cdr:cNvPr id="9" name="Текст 4">
          <a:extLst xmlns:a="http://schemas.openxmlformats.org/drawingml/2006/main">
            <a:ext uri="{FF2B5EF4-FFF2-40B4-BE49-F238E27FC236}">
              <a16:creationId xmlns:a16="http://schemas.microsoft.com/office/drawing/2014/main" id="{4744C7D2-31DB-0772-A2E9-A52983CB563F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3687763" y="1200202"/>
          <a:ext cx="427038" cy="2349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ru-RU" sz="1100" dirty="0"/>
            <a:t>93</a:t>
          </a:r>
          <a:endParaRPr lang="ru-RU" sz="1400" dirty="0"/>
        </a:p>
      </cdr:txBody>
    </cdr:sp>
  </cdr:relSizeAnchor>
  <cdr:relSizeAnchor xmlns:cdr="http://schemas.openxmlformats.org/drawingml/2006/chartDrawing">
    <cdr:from>
      <cdr:x>0.86127</cdr:x>
      <cdr:y>0.31401</cdr:y>
    </cdr:from>
    <cdr:to>
      <cdr:x>0.94675</cdr:x>
      <cdr:y>0.39045</cdr:y>
    </cdr:to>
    <cdr:sp macro="" textlink="">
      <cdr:nvSpPr>
        <cdr:cNvPr id="10" name="Текст 4">
          <a:extLst xmlns:a="http://schemas.openxmlformats.org/drawingml/2006/main">
            <a:ext uri="{FF2B5EF4-FFF2-40B4-BE49-F238E27FC236}">
              <a16:creationId xmlns:a16="http://schemas.microsoft.com/office/drawing/2014/main" id="{4744C7D2-31DB-0772-A2E9-A52983CB563F}"/>
            </a:ext>
          </a:extLst>
        </cdr:cNvPr>
        <cdr:cNvSpPr>
          <a:spLocks xmlns:a="http://schemas.openxmlformats.org/drawingml/2006/main" noGrp="1"/>
        </cdr:cNvSpPr>
      </cdr:nvSpPr>
      <cdr:spPr bwMode="gray">
        <a:xfrm xmlns:a="http://schemas.openxmlformats.org/drawingml/2006/main">
          <a:off x="4302339" y="965252"/>
          <a:ext cx="427038" cy="2349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cdr:spPr>
      <cdr:txBody>
        <a:bodyPr xmlns:a="http://schemas.openxmlformats.org/drawingml/2006/main" vert="horz" wrap="none" lIns="25400" tIns="0" rIns="25400" bIns="0" rtlCol="0" anchor="b">
          <a:no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lvl="0" algn="ctr">
            <a:spcBef>
              <a:spcPct val="0"/>
            </a:spcBef>
            <a:spcAft>
              <a:spcPct val="0"/>
            </a:spcAft>
          </a:pPr>
          <a:r>
            <a:rPr lang="ru-RU" sz="1100" dirty="0"/>
            <a:t>116</a:t>
          </a:r>
          <a:endParaRPr lang="ru-RU" sz="14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FC8F6-644B-9346-B7F3-69FCC4BD3E2B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271C6-DBD7-434A-BDB2-B4F82FCD04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061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281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Методологический подход к оценке</a:t>
            </a:r>
            <a:r>
              <a:rPr 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Корпоративной связи и взаимодействия</a:t>
            </a:r>
            <a:r>
              <a:rPr 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включает ВКС, корпоративные мессенджеры,</a:t>
            </a:r>
            <a:r>
              <a:rPr 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корпоративную почту, файлохранилища, сервисы</a:t>
            </a:r>
            <a:r>
              <a:rPr 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управления задачами и облачные сервисы работы</a:t>
            </a:r>
            <a:r>
              <a:rPr 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 документами</a:t>
            </a:r>
            <a:r>
              <a:rPr 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включает ПО для работы</a:t>
            </a:r>
            <a:r>
              <a:rPr 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 документами, используемое в формате</a:t>
            </a:r>
            <a:r>
              <a:rPr lang="en-US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" sz="12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On-premise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26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72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394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529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733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36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213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482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636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225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200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273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78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705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70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7078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2860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231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143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Движущие факторы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Сегмент офисного ПО будет расти в среднем на 33% в год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преимущественно за счет реализации «отложенного спроса» на офисное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 с 2024 года (переход компаний с бесплатного </a:t>
            </a:r>
            <a:r>
              <a:rPr lang="en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MS Office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платные решения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от российских вендоров по мере их улучшения)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Рост закупок офисного ПО ускорится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 горизонте 2026-2027 гг. ввиду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устаревания закупленных версий иностранного офисного ПО и необходимости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их замены на актуальные доступные аналоги от российских вендоров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Рынок корпоративной связи и взаимодействия будет расти со средним</a:t>
            </a:r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ru-RU" sz="105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темпом 16% в год </a:t>
            </a:r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 счет повышения уровня проникновения в бизнес,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развития продуктов российских вендоров и появления новых продуктов</a:t>
            </a:r>
          </a:p>
          <a:p>
            <a:r>
              <a:rPr lang="ru-RU" sz="105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 сегменте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271C6-DBD7-434A-BDB2-B4F82FCD04B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005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30.xml"/><Relationship Id="rId21" Type="http://schemas.openxmlformats.org/officeDocument/2006/relationships/tags" Target="../tags/tag25.xml"/><Relationship Id="rId34" Type="http://schemas.openxmlformats.org/officeDocument/2006/relationships/tags" Target="../tags/tag38.xml"/><Relationship Id="rId42" Type="http://schemas.openxmlformats.org/officeDocument/2006/relationships/tags" Target="../tags/tag46.xml"/><Relationship Id="rId47" Type="http://schemas.openxmlformats.org/officeDocument/2006/relationships/tags" Target="../tags/tag51.xml"/><Relationship Id="rId50" Type="http://schemas.openxmlformats.org/officeDocument/2006/relationships/tags" Target="../tags/tag54.xml"/><Relationship Id="rId55" Type="http://schemas.openxmlformats.org/officeDocument/2006/relationships/tags" Target="../tags/tag59.xml"/><Relationship Id="rId63" Type="http://schemas.openxmlformats.org/officeDocument/2006/relationships/notesSlide" Target="../notesSlides/notesSlide6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9" Type="http://schemas.openxmlformats.org/officeDocument/2006/relationships/tags" Target="../tags/tag33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37" Type="http://schemas.openxmlformats.org/officeDocument/2006/relationships/tags" Target="../tags/tag41.xml"/><Relationship Id="rId40" Type="http://schemas.openxmlformats.org/officeDocument/2006/relationships/tags" Target="../tags/tag44.xml"/><Relationship Id="rId45" Type="http://schemas.openxmlformats.org/officeDocument/2006/relationships/tags" Target="../tags/tag49.xml"/><Relationship Id="rId53" Type="http://schemas.openxmlformats.org/officeDocument/2006/relationships/tags" Target="../tags/tag57.xml"/><Relationship Id="rId58" Type="http://schemas.openxmlformats.org/officeDocument/2006/relationships/tags" Target="../tags/tag62.xml"/><Relationship Id="rId66" Type="http://schemas.openxmlformats.org/officeDocument/2006/relationships/chart" Target="../charts/chart7.xml"/><Relationship Id="rId5" Type="http://schemas.openxmlformats.org/officeDocument/2006/relationships/tags" Target="../tags/tag9.xml"/><Relationship Id="rId61" Type="http://schemas.openxmlformats.org/officeDocument/2006/relationships/tags" Target="../tags/tag65.xml"/><Relationship Id="rId19" Type="http://schemas.openxmlformats.org/officeDocument/2006/relationships/tags" Target="../tags/tag2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35" Type="http://schemas.openxmlformats.org/officeDocument/2006/relationships/tags" Target="../tags/tag39.xml"/><Relationship Id="rId43" Type="http://schemas.openxmlformats.org/officeDocument/2006/relationships/tags" Target="../tags/tag47.xml"/><Relationship Id="rId48" Type="http://schemas.openxmlformats.org/officeDocument/2006/relationships/tags" Target="../tags/tag52.xml"/><Relationship Id="rId56" Type="http://schemas.openxmlformats.org/officeDocument/2006/relationships/tags" Target="../tags/tag60.xml"/><Relationship Id="rId64" Type="http://schemas.openxmlformats.org/officeDocument/2006/relationships/chart" Target="../charts/chart5.xml"/><Relationship Id="rId8" Type="http://schemas.openxmlformats.org/officeDocument/2006/relationships/tags" Target="../tags/tag12.xml"/><Relationship Id="rId51" Type="http://schemas.openxmlformats.org/officeDocument/2006/relationships/tags" Target="../tags/tag55.xml"/><Relationship Id="rId3" Type="http://schemas.openxmlformats.org/officeDocument/2006/relationships/tags" Target="../tags/tag7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tags" Target="../tags/tag37.xml"/><Relationship Id="rId38" Type="http://schemas.openxmlformats.org/officeDocument/2006/relationships/tags" Target="../tags/tag42.xml"/><Relationship Id="rId46" Type="http://schemas.openxmlformats.org/officeDocument/2006/relationships/tags" Target="../tags/tag50.xml"/><Relationship Id="rId59" Type="http://schemas.openxmlformats.org/officeDocument/2006/relationships/tags" Target="../tags/tag63.xml"/><Relationship Id="rId20" Type="http://schemas.openxmlformats.org/officeDocument/2006/relationships/tags" Target="../tags/tag24.xml"/><Relationship Id="rId41" Type="http://schemas.openxmlformats.org/officeDocument/2006/relationships/tags" Target="../tags/tag45.xml"/><Relationship Id="rId54" Type="http://schemas.openxmlformats.org/officeDocument/2006/relationships/tags" Target="../tags/tag58.xml"/><Relationship Id="rId6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36" Type="http://schemas.openxmlformats.org/officeDocument/2006/relationships/tags" Target="../tags/tag40.xml"/><Relationship Id="rId49" Type="http://schemas.openxmlformats.org/officeDocument/2006/relationships/tags" Target="../tags/tag53.xml"/><Relationship Id="rId57" Type="http://schemas.openxmlformats.org/officeDocument/2006/relationships/tags" Target="../tags/tag61.xml"/><Relationship Id="rId10" Type="http://schemas.openxmlformats.org/officeDocument/2006/relationships/tags" Target="../tags/tag14.xml"/><Relationship Id="rId31" Type="http://schemas.openxmlformats.org/officeDocument/2006/relationships/tags" Target="../tags/tag35.xml"/><Relationship Id="rId44" Type="http://schemas.openxmlformats.org/officeDocument/2006/relationships/tags" Target="../tags/tag48.xml"/><Relationship Id="rId52" Type="http://schemas.openxmlformats.org/officeDocument/2006/relationships/tags" Target="../tags/tag56.xml"/><Relationship Id="rId60" Type="http://schemas.openxmlformats.org/officeDocument/2006/relationships/tags" Target="../tags/tag64.xml"/><Relationship Id="rId65" Type="http://schemas.openxmlformats.org/officeDocument/2006/relationships/chart" Target="../charts/chart6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39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78.xml"/><Relationship Id="rId18" Type="http://schemas.openxmlformats.org/officeDocument/2006/relationships/tags" Target="../tags/tag83.xml"/><Relationship Id="rId26" Type="http://schemas.openxmlformats.org/officeDocument/2006/relationships/tags" Target="../tags/tag91.xml"/><Relationship Id="rId39" Type="http://schemas.openxmlformats.org/officeDocument/2006/relationships/tags" Target="../tags/tag104.xml"/><Relationship Id="rId21" Type="http://schemas.openxmlformats.org/officeDocument/2006/relationships/tags" Target="../tags/tag86.xml"/><Relationship Id="rId34" Type="http://schemas.openxmlformats.org/officeDocument/2006/relationships/tags" Target="../tags/tag99.xml"/><Relationship Id="rId42" Type="http://schemas.openxmlformats.org/officeDocument/2006/relationships/tags" Target="../tags/tag107.xml"/><Relationship Id="rId47" Type="http://schemas.openxmlformats.org/officeDocument/2006/relationships/tags" Target="../tags/tag112.xml"/><Relationship Id="rId50" Type="http://schemas.openxmlformats.org/officeDocument/2006/relationships/chart" Target="../charts/chart8.xml"/><Relationship Id="rId7" Type="http://schemas.openxmlformats.org/officeDocument/2006/relationships/tags" Target="../tags/tag72.xml"/><Relationship Id="rId2" Type="http://schemas.openxmlformats.org/officeDocument/2006/relationships/tags" Target="../tags/tag67.xml"/><Relationship Id="rId16" Type="http://schemas.openxmlformats.org/officeDocument/2006/relationships/tags" Target="../tags/tag81.xml"/><Relationship Id="rId29" Type="http://schemas.openxmlformats.org/officeDocument/2006/relationships/tags" Target="../tags/tag94.xml"/><Relationship Id="rId11" Type="http://schemas.openxmlformats.org/officeDocument/2006/relationships/tags" Target="../tags/tag76.xml"/><Relationship Id="rId24" Type="http://schemas.openxmlformats.org/officeDocument/2006/relationships/tags" Target="../tags/tag89.xml"/><Relationship Id="rId32" Type="http://schemas.openxmlformats.org/officeDocument/2006/relationships/tags" Target="../tags/tag97.xml"/><Relationship Id="rId37" Type="http://schemas.openxmlformats.org/officeDocument/2006/relationships/tags" Target="../tags/tag102.xml"/><Relationship Id="rId40" Type="http://schemas.openxmlformats.org/officeDocument/2006/relationships/tags" Target="../tags/tag105.xml"/><Relationship Id="rId45" Type="http://schemas.openxmlformats.org/officeDocument/2006/relationships/tags" Target="../tags/tag110.xml"/><Relationship Id="rId5" Type="http://schemas.openxmlformats.org/officeDocument/2006/relationships/tags" Target="../tags/tag70.xml"/><Relationship Id="rId15" Type="http://schemas.openxmlformats.org/officeDocument/2006/relationships/tags" Target="../tags/tag80.xml"/><Relationship Id="rId23" Type="http://schemas.openxmlformats.org/officeDocument/2006/relationships/tags" Target="../tags/tag88.xml"/><Relationship Id="rId28" Type="http://schemas.openxmlformats.org/officeDocument/2006/relationships/tags" Target="../tags/tag93.xml"/><Relationship Id="rId36" Type="http://schemas.openxmlformats.org/officeDocument/2006/relationships/tags" Target="../tags/tag101.xml"/><Relationship Id="rId49" Type="http://schemas.openxmlformats.org/officeDocument/2006/relationships/notesSlide" Target="../notesSlides/notesSlide7.xml"/><Relationship Id="rId10" Type="http://schemas.openxmlformats.org/officeDocument/2006/relationships/tags" Target="../tags/tag75.xml"/><Relationship Id="rId19" Type="http://schemas.openxmlformats.org/officeDocument/2006/relationships/tags" Target="../tags/tag84.xml"/><Relationship Id="rId31" Type="http://schemas.openxmlformats.org/officeDocument/2006/relationships/tags" Target="../tags/tag96.xml"/><Relationship Id="rId44" Type="http://schemas.openxmlformats.org/officeDocument/2006/relationships/tags" Target="../tags/tag109.xml"/><Relationship Id="rId52" Type="http://schemas.openxmlformats.org/officeDocument/2006/relationships/chart" Target="../charts/chart10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Relationship Id="rId22" Type="http://schemas.openxmlformats.org/officeDocument/2006/relationships/tags" Target="../tags/tag87.xml"/><Relationship Id="rId27" Type="http://schemas.openxmlformats.org/officeDocument/2006/relationships/tags" Target="../tags/tag92.xml"/><Relationship Id="rId30" Type="http://schemas.openxmlformats.org/officeDocument/2006/relationships/tags" Target="../tags/tag95.xml"/><Relationship Id="rId35" Type="http://schemas.openxmlformats.org/officeDocument/2006/relationships/tags" Target="../tags/tag100.xml"/><Relationship Id="rId43" Type="http://schemas.openxmlformats.org/officeDocument/2006/relationships/tags" Target="../tags/tag108.xml"/><Relationship Id="rId48" Type="http://schemas.openxmlformats.org/officeDocument/2006/relationships/slideLayout" Target="../slideLayouts/slideLayout2.xml"/><Relationship Id="rId8" Type="http://schemas.openxmlformats.org/officeDocument/2006/relationships/tags" Target="../tags/tag73.xml"/><Relationship Id="rId51" Type="http://schemas.openxmlformats.org/officeDocument/2006/relationships/chart" Target="../charts/chart9.xml"/><Relationship Id="rId3" Type="http://schemas.openxmlformats.org/officeDocument/2006/relationships/tags" Target="../tags/tag68.xml"/><Relationship Id="rId12" Type="http://schemas.openxmlformats.org/officeDocument/2006/relationships/tags" Target="../tags/tag77.xml"/><Relationship Id="rId17" Type="http://schemas.openxmlformats.org/officeDocument/2006/relationships/tags" Target="../tags/tag82.xml"/><Relationship Id="rId25" Type="http://schemas.openxmlformats.org/officeDocument/2006/relationships/tags" Target="../tags/tag90.xml"/><Relationship Id="rId33" Type="http://schemas.openxmlformats.org/officeDocument/2006/relationships/tags" Target="../tags/tag98.xml"/><Relationship Id="rId38" Type="http://schemas.openxmlformats.org/officeDocument/2006/relationships/tags" Target="../tags/tag103.xml"/><Relationship Id="rId46" Type="http://schemas.openxmlformats.org/officeDocument/2006/relationships/tags" Target="../tags/tag111.xml"/><Relationship Id="rId20" Type="http://schemas.openxmlformats.org/officeDocument/2006/relationships/tags" Target="../tags/tag85.xml"/><Relationship Id="rId41" Type="http://schemas.openxmlformats.org/officeDocument/2006/relationships/tags" Target="../tags/tag106.xml"/><Relationship Id="rId1" Type="http://schemas.openxmlformats.org/officeDocument/2006/relationships/tags" Target="../tags/tag66.xml"/><Relationship Id="rId6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138.xml"/><Relationship Id="rId21" Type="http://schemas.openxmlformats.org/officeDocument/2006/relationships/tags" Target="../tags/tag133.xml"/><Relationship Id="rId42" Type="http://schemas.openxmlformats.org/officeDocument/2006/relationships/tags" Target="../tags/tag154.xml"/><Relationship Id="rId47" Type="http://schemas.openxmlformats.org/officeDocument/2006/relationships/tags" Target="../tags/tag159.xml"/><Relationship Id="rId63" Type="http://schemas.openxmlformats.org/officeDocument/2006/relationships/tags" Target="../tags/tag175.xml"/><Relationship Id="rId68" Type="http://schemas.openxmlformats.org/officeDocument/2006/relationships/tags" Target="../tags/tag180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9" Type="http://schemas.openxmlformats.org/officeDocument/2006/relationships/tags" Target="../tags/tag141.xml"/><Relationship Id="rId11" Type="http://schemas.openxmlformats.org/officeDocument/2006/relationships/tags" Target="../tags/tag123.xml"/><Relationship Id="rId24" Type="http://schemas.openxmlformats.org/officeDocument/2006/relationships/tags" Target="../tags/tag136.xml"/><Relationship Id="rId32" Type="http://schemas.openxmlformats.org/officeDocument/2006/relationships/tags" Target="../tags/tag144.xml"/><Relationship Id="rId37" Type="http://schemas.openxmlformats.org/officeDocument/2006/relationships/tags" Target="../tags/tag149.xml"/><Relationship Id="rId40" Type="http://schemas.openxmlformats.org/officeDocument/2006/relationships/tags" Target="../tags/tag152.xml"/><Relationship Id="rId45" Type="http://schemas.openxmlformats.org/officeDocument/2006/relationships/tags" Target="../tags/tag157.xml"/><Relationship Id="rId53" Type="http://schemas.openxmlformats.org/officeDocument/2006/relationships/tags" Target="../tags/tag165.xml"/><Relationship Id="rId58" Type="http://schemas.openxmlformats.org/officeDocument/2006/relationships/tags" Target="../tags/tag170.xml"/><Relationship Id="rId66" Type="http://schemas.openxmlformats.org/officeDocument/2006/relationships/tags" Target="../tags/tag178.xml"/><Relationship Id="rId5" Type="http://schemas.openxmlformats.org/officeDocument/2006/relationships/tags" Target="../tags/tag117.xml"/><Relationship Id="rId61" Type="http://schemas.openxmlformats.org/officeDocument/2006/relationships/tags" Target="../tags/tag173.xml"/><Relationship Id="rId19" Type="http://schemas.openxmlformats.org/officeDocument/2006/relationships/tags" Target="../tags/tag131.xml"/><Relationship Id="rId14" Type="http://schemas.openxmlformats.org/officeDocument/2006/relationships/tags" Target="../tags/tag126.xml"/><Relationship Id="rId22" Type="http://schemas.openxmlformats.org/officeDocument/2006/relationships/tags" Target="../tags/tag134.xml"/><Relationship Id="rId27" Type="http://schemas.openxmlformats.org/officeDocument/2006/relationships/tags" Target="../tags/tag139.xml"/><Relationship Id="rId30" Type="http://schemas.openxmlformats.org/officeDocument/2006/relationships/tags" Target="../tags/tag142.xml"/><Relationship Id="rId35" Type="http://schemas.openxmlformats.org/officeDocument/2006/relationships/tags" Target="../tags/tag147.xml"/><Relationship Id="rId43" Type="http://schemas.openxmlformats.org/officeDocument/2006/relationships/tags" Target="../tags/tag155.xml"/><Relationship Id="rId48" Type="http://schemas.openxmlformats.org/officeDocument/2006/relationships/tags" Target="../tags/tag160.xml"/><Relationship Id="rId56" Type="http://schemas.openxmlformats.org/officeDocument/2006/relationships/tags" Target="../tags/tag168.xml"/><Relationship Id="rId64" Type="http://schemas.openxmlformats.org/officeDocument/2006/relationships/tags" Target="../tags/tag176.xml"/><Relationship Id="rId69" Type="http://schemas.openxmlformats.org/officeDocument/2006/relationships/slideLayout" Target="../slideLayouts/slideLayout2.xml"/><Relationship Id="rId8" Type="http://schemas.openxmlformats.org/officeDocument/2006/relationships/tags" Target="../tags/tag120.xml"/><Relationship Id="rId51" Type="http://schemas.openxmlformats.org/officeDocument/2006/relationships/tags" Target="../tags/tag163.xml"/><Relationship Id="rId72" Type="http://schemas.openxmlformats.org/officeDocument/2006/relationships/chart" Target="../charts/chart12.xml"/><Relationship Id="rId3" Type="http://schemas.openxmlformats.org/officeDocument/2006/relationships/tags" Target="../tags/tag115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5" Type="http://schemas.openxmlformats.org/officeDocument/2006/relationships/tags" Target="../tags/tag137.xml"/><Relationship Id="rId33" Type="http://schemas.openxmlformats.org/officeDocument/2006/relationships/tags" Target="../tags/tag145.xml"/><Relationship Id="rId38" Type="http://schemas.openxmlformats.org/officeDocument/2006/relationships/tags" Target="../tags/tag150.xml"/><Relationship Id="rId46" Type="http://schemas.openxmlformats.org/officeDocument/2006/relationships/tags" Target="../tags/tag158.xml"/><Relationship Id="rId59" Type="http://schemas.openxmlformats.org/officeDocument/2006/relationships/tags" Target="../tags/tag171.xml"/><Relationship Id="rId67" Type="http://schemas.openxmlformats.org/officeDocument/2006/relationships/tags" Target="../tags/tag179.xml"/><Relationship Id="rId20" Type="http://schemas.openxmlformats.org/officeDocument/2006/relationships/tags" Target="../tags/tag132.xml"/><Relationship Id="rId41" Type="http://schemas.openxmlformats.org/officeDocument/2006/relationships/tags" Target="../tags/tag153.xml"/><Relationship Id="rId54" Type="http://schemas.openxmlformats.org/officeDocument/2006/relationships/tags" Target="../tags/tag166.xml"/><Relationship Id="rId62" Type="http://schemas.openxmlformats.org/officeDocument/2006/relationships/tags" Target="../tags/tag174.xml"/><Relationship Id="rId70" Type="http://schemas.openxmlformats.org/officeDocument/2006/relationships/notesSlide" Target="../notesSlides/notesSlide8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5" Type="http://schemas.openxmlformats.org/officeDocument/2006/relationships/tags" Target="../tags/tag127.xml"/><Relationship Id="rId23" Type="http://schemas.openxmlformats.org/officeDocument/2006/relationships/tags" Target="../tags/tag135.xml"/><Relationship Id="rId28" Type="http://schemas.openxmlformats.org/officeDocument/2006/relationships/tags" Target="../tags/tag140.xml"/><Relationship Id="rId36" Type="http://schemas.openxmlformats.org/officeDocument/2006/relationships/tags" Target="../tags/tag148.xml"/><Relationship Id="rId49" Type="http://schemas.openxmlformats.org/officeDocument/2006/relationships/tags" Target="../tags/tag161.xml"/><Relationship Id="rId57" Type="http://schemas.openxmlformats.org/officeDocument/2006/relationships/tags" Target="../tags/tag169.xml"/><Relationship Id="rId10" Type="http://schemas.openxmlformats.org/officeDocument/2006/relationships/tags" Target="../tags/tag122.xml"/><Relationship Id="rId31" Type="http://schemas.openxmlformats.org/officeDocument/2006/relationships/tags" Target="../tags/tag143.xml"/><Relationship Id="rId44" Type="http://schemas.openxmlformats.org/officeDocument/2006/relationships/tags" Target="../tags/tag156.xml"/><Relationship Id="rId52" Type="http://schemas.openxmlformats.org/officeDocument/2006/relationships/tags" Target="../tags/tag164.xml"/><Relationship Id="rId60" Type="http://schemas.openxmlformats.org/officeDocument/2006/relationships/tags" Target="../tags/tag172.xml"/><Relationship Id="rId65" Type="http://schemas.openxmlformats.org/officeDocument/2006/relationships/tags" Target="../tags/tag177.xml"/><Relationship Id="rId73" Type="http://schemas.openxmlformats.org/officeDocument/2006/relationships/chart" Target="../charts/chart13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39" Type="http://schemas.openxmlformats.org/officeDocument/2006/relationships/tags" Target="../tags/tag151.xml"/><Relationship Id="rId34" Type="http://schemas.openxmlformats.org/officeDocument/2006/relationships/tags" Target="../tags/tag146.xml"/><Relationship Id="rId50" Type="http://schemas.openxmlformats.org/officeDocument/2006/relationships/tags" Target="../tags/tag162.xml"/><Relationship Id="rId55" Type="http://schemas.openxmlformats.org/officeDocument/2006/relationships/tags" Target="../tags/tag167.xml"/><Relationship Id="rId7" Type="http://schemas.openxmlformats.org/officeDocument/2006/relationships/tags" Target="../tags/tag119.xml"/><Relationship Id="rId71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206.xml"/><Relationship Id="rId21" Type="http://schemas.openxmlformats.org/officeDocument/2006/relationships/tags" Target="../tags/tag201.xml"/><Relationship Id="rId42" Type="http://schemas.openxmlformats.org/officeDocument/2006/relationships/tags" Target="../tags/tag222.xml"/><Relationship Id="rId47" Type="http://schemas.openxmlformats.org/officeDocument/2006/relationships/tags" Target="../tags/tag227.xml"/><Relationship Id="rId63" Type="http://schemas.openxmlformats.org/officeDocument/2006/relationships/tags" Target="../tags/tag243.xml"/><Relationship Id="rId68" Type="http://schemas.openxmlformats.org/officeDocument/2006/relationships/tags" Target="../tags/tag248.xml"/><Relationship Id="rId2" Type="http://schemas.openxmlformats.org/officeDocument/2006/relationships/tags" Target="../tags/tag182.xml"/><Relationship Id="rId16" Type="http://schemas.openxmlformats.org/officeDocument/2006/relationships/tags" Target="../tags/tag196.xml"/><Relationship Id="rId29" Type="http://schemas.openxmlformats.org/officeDocument/2006/relationships/tags" Target="../tags/tag209.xml"/><Relationship Id="rId11" Type="http://schemas.openxmlformats.org/officeDocument/2006/relationships/tags" Target="../tags/tag191.xml"/><Relationship Id="rId24" Type="http://schemas.openxmlformats.org/officeDocument/2006/relationships/tags" Target="../tags/tag204.xml"/><Relationship Id="rId32" Type="http://schemas.openxmlformats.org/officeDocument/2006/relationships/tags" Target="../tags/tag212.xml"/><Relationship Id="rId37" Type="http://schemas.openxmlformats.org/officeDocument/2006/relationships/tags" Target="../tags/tag217.xml"/><Relationship Id="rId40" Type="http://schemas.openxmlformats.org/officeDocument/2006/relationships/tags" Target="../tags/tag220.xml"/><Relationship Id="rId45" Type="http://schemas.openxmlformats.org/officeDocument/2006/relationships/tags" Target="../tags/tag225.xml"/><Relationship Id="rId53" Type="http://schemas.openxmlformats.org/officeDocument/2006/relationships/tags" Target="../tags/tag233.xml"/><Relationship Id="rId58" Type="http://schemas.openxmlformats.org/officeDocument/2006/relationships/tags" Target="../tags/tag238.xml"/><Relationship Id="rId66" Type="http://schemas.openxmlformats.org/officeDocument/2006/relationships/tags" Target="../tags/tag246.xml"/><Relationship Id="rId74" Type="http://schemas.openxmlformats.org/officeDocument/2006/relationships/chart" Target="../charts/chart14.xml"/><Relationship Id="rId5" Type="http://schemas.openxmlformats.org/officeDocument/2006/relationships/tags" Target="../tags/tag185.xml"/><Relationship Id="rId61" Type="http://schemas.openxmlformats.org/officeDocument/2006/relationships/tags" Target="../tags/tag241.xml"/><Relationship Id="rId19" Type="http://schemas.openxmlformats.org/officeDocument/2006/relationships/tags" Target="../tags/tag199.xml"/><Relationship Id="rId14" Type="http://schemas.openxmlformats.org/officeDocument/2006/relationships/tags" Target="../tags/tag194.xml"/><Relationship Id="rId22" Type="http://schemas.openxmlformats.org/officeDocument/2006/relationships/tags" Target="../tags/tag202.xml"/><Relationship Id="rId27" Type="http://schemas.openxmlformats.org/officeDocument/2006/relationships/tags" Target="../tags/tag207.xml"/><Relationship Id="rId30" Type="http://schemas.openxmlformats.org/officeDocument/2006/relationships/tags" Target="../tags/tag210.xml"/><Relationship Id="rId35" Type="http://schemas.openxmlformats.org/officeDocument/2006/relationships/tags" Target="../tags/tag215.xml"/><Relationship Id="rId43" Type="http://schemas.openxmlformats.org/officeDocument/2006/relationships/tags" Target="../tags/tag223.xml"/><Relationship Id="rId48" Type="http://schemas.openxmlformats.org/officeDocument/2006/relationships/tags" Target="../tags/tag228.xml"/><Relationship Id="rId56" Type="http://schemas.openxmlformats.org/officeDocument/2006/relationships/tags" Target="../tags/tag236.xml"/><Relationship Id="rId64" Type="http://schemas.openxmlformats.org/officeDocument/2006/relationships/tags" Target="../tags/tag244.xml"/><Relationship Id="rId69" Type="http://schemas.openxmlformats.org/officeDocument/2006/relationships/tags" Target="../tags/tag249.xml"/><Relationship Id="rId8" Type="http://schemas.openxmlformats.org/officeDocument/2006/relationships/tags" Target="../tags/tag188.xml"/><Relationship Id="rId51" Type="http://schemas.openxmlformats.org/officeDocument/2006/relationships/tags" Target="../tags/tag231.xml"/><Relationship Id="rId72" Type="http://schemas.openxmlformats.org/officeDocument/2006/relationships/slideLayout" Target="../slideLayouts/slideLayout2.xml"/><Relationship Id="rId3" Type="http://schemas.openxmlformats.org/officeDocument/2006/relationships/tags" Target="../tags/tag183.xml"/><Relationship Id="rId12" Type="http://schemas.openxmlformats.org/officeDocument/2006/relationships/tags" Target="../tags/tag192.xml"/><Relationship Id="rId17" Type="http://schemas.openxmlformats.org/officeDocument/2006/relationships/tags" Target="../tags/tag197.xml"/><Relationship Id="rId25" Type="http://schemas.openxmlformats.org/officeDocument/2006/relationships/tags" Target="../tags/tag205.xml"/><Relationship Id="rId33" Type="http://schemas.openxmlformats.org/officeDocument/2006/relationships/tags" Target="../tags/tag213.xml"/><Relationship Id="rId38" Type="http://schemas.openxmlformats.org/officeDocument/2006/relationships/tags" Target="../tags/tag218.xml"/><Relationship Id="rId46" Type="http://schemas.openxmlformats.org/officeDocument/2006/relationships/tags" Target="../tags/tag226.xml"/><Relationship Id="rId59" Type="http://schemas.openxmlformats.org/officeDocument/2006/relationships/tags" Target="../tags/tag239.xml"/><Relationship Id="rId67" Type="http://schemas.openxmlformats.org/officeDocument/2006/relationships/tags" Target="../tags/tag247.xml"/><Relationship Id="rId20" Type="http://schemas.openxmlformats.org/officeDocument/2006/relationships/tags" Target="../tags/tag200.xml"/><Relationship Id="rId41" Type="http://schemas.openxmlformats.org/officeDocument/2006/relationships/tags" Target="../tags/tag221.xml"/><Relationship Id="rId54" Type="http://schemas.openxmlformats.org/officeDocument/2006/relationships/tags" Target="../tags/tag234.xml"/><Relationship Id="rId62" Type="http://schemas.openxmlformats.org/officeDocument/2006/relationships/tags" Target="../tags/tag242.xml"/><Relationship Id="rId70" Type="http://schemas.openxmlformats.org/officeDocument/2006/relationships/tags" Target="../tags/tag250.xml"/><Relationship Id="rId75" Type="http://schemas.openxmlformats.org/officeDocument/2006/relationships/chart" Target="../charts/chart15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5" Type="http://schemas.openxmlformats.org/officeDocument/2006/relationships/tags" Target="../tags/tag195.xml"/><Relationship Id="rId23" Type="http://schemas.openxmlformats.org/officeDocument/2006/relationships/tags" Target="../tags/tag203.xml"/><Relationship Id="rId28" Type="http://schemas.openxmlformats.org/officeDocument/2006/relationships/tags" Target="../tags/tag208.xml"/><Relationship Id="rId36" Type="http://schemas.openxmlformats.org/officeDocument/2006/relationships/tags" Target="../tags/tag216.xml"/><Relationship Id="rId49" Type="http://schemas.openxmlformats.org/officeDocument/2006/relationships/tags" Target="../tags/tag229.xml"/><Relationship Id="rId57" Type="http://schemas.openxmlformats.org/officeDocument/2006/relationships/tags" Target="../tags/tag237.xml"/><Relationship Id="rId10" Type="http://schemas.openxmlformats.org/officeDocument/2006/relationships/tags" Target="../tags/tag190.xml"/><Relationship Id="rId31" Type="http://schemas.openxmlformats.org/officeDocument/2006/relationships/tags" Target="../tags/tag211.xml"/><Relationship Id="rId44" Type="http://schemas.openxmlformats.org/officeDocument/2006/relationships/tags" Target="../tags/tag224.xml"/><Relationship Id="rId52" Type="http://schemas.openxmlformats.org/officeDocument/2006/relationships/tags" Target="../tags/tag232.xml"/><Relationship Id="rId60" Type="http://schemas.openxmlformats.org/officeDocument/2006/relationships/tags" Target="../tags/tag240.xml"/><Relationship Id="rId65" Type="http://schemas.openxmlformats.org/officeDocument/2006/relationships/tags" Target="../tags/tag245.xml"/><Relationship Id="rId73" Type="http://schemas.openxmlformats.org/officeDocument/2006/relationships/notesSlide" Target="../notesSlides/notesSlide9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3" Type="http://schemas.openxmlformats.org/officeDocument/2006/relationships/tags" Target="../tags/tag193.xml"/><Relationship Id="rId18" Type="http://schemas.openxmlformats.org/officeDocument/2006/relationships/tags" Target="../tags/tag198.xml"/><Relationship Id="rId39" Type="http://schemas.openxmlformats.org/officeDocument/2006/relationships/tags" Target="../tags/tag219.xml"/><Relationship Id="rId34" Type="http://schemas.openxmlformats.org/officeDocument/2006/relationships/tags" Target="../tags/tag214.xml"/><Relationship Id="rId50" Type="http://schemas.openxmlformats.org/officeDocument/2006/relationships/tags" Target="../tags/tag230.xml"/><Relationship Id="rId55" Type="http://schemas.openxmlformats.org/officeDocument/2006/relationships/tags" Target="../tags/tag235.xml"/><Relationship Id="rId76" Type="http://schemas.openxmlformats.org/officeDocument/2006/relationships/chart" Target="../charts/chart16.xml"/><Relationship Id="rId7" Type="http://schemas.openxmlformats.org/officeDocument/2006/relationships/tags" Target="../tags/tag187.xml"/><Relationship Id="rId71" Type="http://schemas.openxmlformats.org/officeDocument/2006/relationships/tags" Target="../tags/tag25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64.xml"/><Relationship Id="rId18" Type="http://schemas.openxmlformats.org/officeDocument/2006/relationships/tags" Target="../tags/tag269.xml"/><Relationship Id="rId26" Type="http://schemas.openxmlformats.org/officeDocument/2006/relationships/tags" Target="../tags/tag277.xml"/><Relationship Id="rId39" Type="http://schemas.openxmlformats.org/officeDocument/2006/relationships/tags" Target="../tags/tag290.xml"/><Relationship Id="rId21" Type="http://schemas.openxmlformats.org/officeDocument/2006/relationships/tags" Target="../tags/tag272.xml"/><Relationship Id="rId34" Type="http://schemas.openxmlformats.org/officeDocument/2006/relationships/tags" Target="../tags/tag285.xml"/><Relationship Id="rId42" Type="http://schemas.openxmlformats.org/officeDocument/2006/relationships/tags" Target="../tags/tag293.xml"/><Relationship Id="rId47" Type="http://schemas.openxmlformats.org/officeDocument/2006/relationships/tags" Target="../tags/tag298.xml"/><Relationship Id="rId50" Type="http://schemas.openxmlformats.org/officeDocument/2006/relationships/tags" Target="../tags/tag301.xml"/><Relationship Id="rId55" Type="http://schemas.openxmlformats.org/officeDocument/2006/relationships/slideLayout" Target="../slideLayouts/slideLayout2.xml"/><Relationship Id="rId7" Type="http://schemas.openxmlformats.org/officeDocument/2006/relationships/tags" Target="../tags/tag258.xml"/><Relationship Id="rId2" Type="http://schemas.openxmlformats.org/officeDocument/2006/relationships/tags" Target="../tags/tag253.xml"/><Relationship Id="rId16" Type="http://schemas.openxmlformats.org/officeDocument/2006/relationships/tags" Target="../tags/tag267.xml"/><Relationship Id="rId29" Type="http://schemas.openxmlformats.org/officeDocument/2006/relationships/tags" Target="../tags/tag280.xml"/><Relationship Id="rId11" Type="http://schemas.openxmlformats.org/officeDocument/2006/relationships/tags" Target="../tags/tag262.xml"/><Relationship Id="rId24" Type="http://schemas.openxmlformats.org/officeDocument/2006/relationships/tags" Target="../tags/tag275.xml"/><Relationship Id="rId32" Type="http://schemas.openxmlformats.org/officeDocument/2006/relationships/tags" Target="../tags/tag283.xml"/><Relationship Id="rId37" Type="http://schemas.openxmlformats.org/officeDocument/2006/relationships/tags" Target="../tags/tag288.xml"/><Relationship Id="rId40" Type="http://schemas.openxmlformats.org/officeDocument/2006/relationships/tags" Target="../tags/tag291.xml"/><Relationship Id="rId45" Type="http://schemas.openxmlformats.org/officeDocument/2006/relationships/tags" Target="../tags/tag296.xml"/><Relationship Id="rId53" Type="http://schemas.openxmlformats.org/officeDocument/2006/relationships/tags" Target="../tags/tag304.xml"/><Relationship Id="rId58" Type="http://schemas.openxmlformats.org/officeDocument/2006/relationships/chart" Target="../charts/chart18.xml"/><Relationship Id="rId5" Type="http://schemas.openxmlformats.org/officeDocument/2006/relationships/tags" Target="../tags/tag256.xml"/><Relationship Id="rId19" Type="http://schemas.openxmlformats.org/officeDocument/2006/relationships/tags" Target="../tags/tag270.xml"/><Relationship Id="rId4" Type="http://schemas.openxmlformats.org/officeDocument/2006/relationships/tags" Target="../tags/tag255.xml"/><Relationship Id="rId9" Type="http://schemas.openxmlformats.org/officeDocument/2006/relationships/tags" Target="../tags/tag260.xml"/><Relationship Id="rId14" Type="http://schemas.openxmlformats.org/officeDocument/2006/relationships/tags" Target="../tags/tag265.xml"/><Relationship Id="rId22" Type="http://schemas.openxmlformats.org/officeDocument/2006/relationships/tags" Target="../tags/tag273.xml"/><Relationship Id="rId27" Type="http://schemas.openxmlformats.org/officeDocument/2006/relationships/tags" Target="../tags/tag278.xml"/><Relationship Id="rId30" Type="http://schemas.openxmlformats.org/officeDocument/2006/relationships/tags" Target="../tags/tag281.xml"/><Relationship Id="rId35" Type="http://schemas.openxmlformats.org/officeDocument/2006/relationships/tags" Target="../tags/tag286.xml"/><Relationship Id="rId43" Type="http://schemas.openxmlformats.org/officeDocument/2006/relationships/tags" Target="../tags/tag294.xml"/><Relationship Id="rId48" Type="http://schemas.openxmlformats.org/officeDocument/2006/relationships/tags" Target="../tags/tag299.xml"/><Relationship Id="rId56" Type="http://schemas.openxmlformats.org/officeDocument/2006/relationships/notesSlide" Target="../notesSlides/notesSlide10.xml"/><Relationship Id="rId8" Type="http://schemas.openxmlformats.org/officeDocument/2006/relationships/tags" Target="../tags/tag259.xml"/><Relationship Id="rId51" Type="http://schemas.openxmlformats.org/officeDocument/2006/relationships/tags" Target="../tags/tag302.xml"/><Relationship Id="rId3" Type="http://schemas.openxmlformats.org/officeDocument/2006/relationships/tags" Target="../tags/tag254.xml"/><Relationship Id="rId12" Type="http://schemas.openxmlformats.org/officeDocument/2006/relationships/tags" Target="../tags/tag263.xml"/><Relationship Id="rId17" Type="http://schemas.openxmlformats.org/officeDocument/2006/relationships/tags" Target="../tags/tag268.xml"/><Relationship Id="rId25" Type="http://schemas.openxmlformats.org/officeDocument/2006/relationships/tags" Target="../tags/tag276.xml"/><Relationship Id="rId33" Type="http://schemas.openxmlformats.org/officeDocument/2006/relationships/tags" Target="../tags/tag284.xml"/><Relationship Id="rId38" Type="http://schemas.openxmlformats.org/officeDocument/2006/relationships/tags" Target="../tags/tag289.xml"/><Relationship Id="rId46" Type="http://schemas.openxmlformats.org/officeDocument/2006/relationships/tags" Target="../tags/tag297.xml"/><Relationship Id="rId59" Type="http://schemas.openxmlformats.org/officeDocument/2006/relationships/chart" Target="../charts/chart19.xml"/><Relationship Id="rId20" Type="http://schemas.openxmlformats.org/officeDocument/2006/relationships/tags" Target="../tags/tag271.xml"/><Relationship Id="rId41" Type="http://schemas.openxmlformats.org/officeDocument/2006/relationships/tags" Target="../tags/tag292.xml"/><Relationship Id="rId54" Type="http://schemas.openxmlformats.org/officeDocument/2006/relationships/tags" Target="../tags/tag305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5" Type="http://schemas.openxmlformats.org/officeDocument/2006/relationships/tags" Target="../tags/tag266.xml"/><Relationship Id="rId23" Type="http://schemas.openxmlformats.org/officeDocument/2006/relationships/tags" Target="../tags/tag274.xml"/><Relationship Id="rId28" Type="http://schemas.openxmlformats.org/officeDocument/2006/relationships/tags" Target="../tags/tag279.xml"/><Relationship Id="rId36" Type="http://schemas.openxmlformats.org/officeDocument/2006/relationships/tags" Target="../tags/tag287.xml"/><Relationship Id="rId49" Type="http://schemas.openxmlformats.org/officeDocument/2006/relationships/tags" Target="../tags/tag300.xml"/><Relationship Id="rId57" Type="http://schemas.openxmlformats.org/officeDocument/2006/relationships/chart" Target="../charts/chart17.xml"/><Relationship Id="rId10" Type="http://schemas.openxmlformats.org/officeDocument/2006/relationships/tags" Target="../tags/tag261.xml"/><Relationship Id="rId31" Type="http://schemas.openxmlformats.org/officeDocument/2006/relationships/tags" Target="../tags/tag282.xml"/><Relationship Id="rId44" Type="http://schemas.openxmlformats.org/officeDocument/2006/relationships/tags" Target="../tags/tag295.xml"/><Relationship Id="rId52" Type="http://schemas.openxmlformats.org/officeDocument/2006/relationships/tags" Target="../tags/tag303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331.xml"/><Relationship Id="rId21" Type="http://schemas.openxmlformats.org/officeDocument/2006/relationships/tags" Target="../tags/tag326.xml"/><Relationship Id="rId42" Type="http://schemas.openxmlformats.org/officeDocument/2006/relationships/tags" Target="../tags/tag347.xml"/><Relationship Id="rId47" Type="http://schemas.openxmlformats.org/officeDocument/2006/relationships/tags" Target="../tags/tag352.xml"/><Relationship Id="rId63" Type="http://schemas.openxmlformats.org/officeDocument/2006/relationships/tags" Target="../tags/tag368.xml"/><Relationship Id="rId68" Type="http://schemas.openxmlformats.org/officeDocument/2006/relationships/slideLayout" Target="../slideLayouts/slideLayout2.xml"/><Relationship Id="rId7" Type="http://schemas.openxmlformats.org/officeDocument/2006/relationships/tags" Target="../tags/tag312.xml"/><Relationship Id="rId71" Type="http://schemas.openxmlformats.org/officeDocument/2006/relationships/chart" Target="../charts/chart21.xml"/><Relationship Id="rId2" Type="http://schemas.openxmlformats.org/officeDocument/2006/relationships/tags" Target="../tags/tag307.xml"/><Relationship Id="rId16" Type="http://schemas.openxmlformats.org/officeDocument/2006/relationships/tags" Target="../tags/tag321.xml"/><Relationship Id="rId29" Type="http://schemas.openxmlformats.org/officeDocument/2006/relationships/tags" Target="../tags/tag334.xml"/><Relationship Id="rId11" Type="http://schemas.openxmlformats.org/officeDocument/2006/relationships/tags" Target="../tags/tag316.xml"/><Relationship Id="rId24" Type="http://schemas.openxmlformats.org/officeDocument/2006/relationships/tags" Target="../tags/tag329.xml"/><Relationship Id="rId32" Type="http://schemas.openxmlformats.org/officeDocument/2006/relationships/tags" Target="../tags/tag337.xml"/><Relationship Id="rId37" Type="http://schemas.openxmlformats.org/officeDocument/2006/relationships/tags" Target="../tags/tag342.xml"/><Relationship Id="rId40" Type="http://schemas.openxmlformats.org/officeDocument/2006/relationships/tags" Target="../tags/tag345.xml"/><Relationship Id="rId45" Type="http://schemas.openxmlformats.org/officeDocument/2006/relationships/tags" Target="../tags/tag350.xml"/><Relationship Id="rId53" Type="http://schemas.openxmlformats.org/officeDocument/2006/relationships/tags" Target="../tags/tag358.xml"/><Relationship Id="rId58" Type="http://schemas.openxmlformats.org/officeDocument/2006/relationships/tags" Target="../tags/tag363.xml"/><Relationship Id="rId66" Type="http://schemas.openxmlformats.org/officeDocument/2006/relationships/tags" Target="../tags/tag371.xml"/><Relationship Id="rId5" Type="http://schemas.openxmlformats.org/officeDocument/2006/relationships/tags" Target="../tags/tag310.xml"/><Relationship Id="rId61" Type="http://schemas.openxmlformats.org/officeDocument/2006/relationships/tags" Target="../tags/tag366.xml"/><Relationship Id="rId19" Type="http://schemas.openxmlformats.org/officeDocument/2006/relationships/tags" Target="../tags/tag324.xml"/><Relationship Id="rId14" Type="http://schemas.openxmlformats.org/officeDocument/2006/relationships/tags" Target="../tags/tag319.xml"/><Relationship Id="rId22" Type="http://schemas.openxmlformats.org/officeDocument/2006/relationships/tags" Target="../tags/tag327.xml"/><Relationship Id="rId27" Type="http://schemas.openxmlformats.org/officeDocument/2006/relationships/tags" Target="../tags/tag332.xml"/><Relationship Id="rId30" Type="http://schemas.openxmlformats.org/officeDocument/2006/relationships/tags" Target="../tags/tag335.xml"/><Relationship Id="rId35" Type="http://schemas.openxmlformats.org/officeDocument/2006/relationships/tags" Target="../tags/tag340.xml"/><Relationship Id="rId43" Type="http://schemas.openxmlformats.org/officeDocument/2006/relationships/tags" Target="../tags/tag348.xml"/><Relationship Id="rId48" Type="http://schemas.openxmlformats.org/officeDocument/2006/relationships/tags" Target="../tags/tag353.xml"/><Relationship Id="rId56" Type="http://schemas.openxmlformats.org/officeDocument/2006/relationships/tags" Target="../tags/tag361.xml"/><Relationship Id="rId64" Type="http://schemas.openxmlformats.org/officeDocument/2006/relationships/tags" Target="../tags/tag369.xml"/><Relationship Id="rId69" Type="http://schemas.openxmlformats.org/officeDocument/2006/relationships/notesSlide" Target="../notesSlides/notesSlide11.xml"/><Relationship Id="rId8" Type="http://schemas.openxmlformats.org/officeDocument/2006/relationships/tags" Target="../tags/tag313.xml"/><Relationship Id="rId51" Type="http://schemas.openxmlformats.org/officeDocument/2006/relationships/tags" Target="../tags/tag356.xml"/><Relationship Id="rId72" Type="http://schemas.openxmlformats.org/officeDocument/2006/relationships/chart" Target="../charts/chart22.xml"/><Relationship Id="rId3" Type="http://schemas.openxmlformats.org/officeDocument/2006/relationships/tags" Target="../tags/tag308.xml"/><Relationship Id="rId12" Type="http://schemas.openxmlformats.org/officeDocument/2006/relationships/tags" Target="../tags/tag317.xml"/><Relationship Id="rId17" Type="http://schemas.openxmlformats.org/officeDocument/2006/relationships/tags" Target="../tags/tag322.xml"/><Relationship Id="rId25" Type="http://schemas.openxmlformats.org/officeDocument/2006/relationships/tags" Target="../tags/tag330.xml"/><Relationship Id="rId33" Type="http://schemas.openxmlformats.org/officeDocument/2006/relationships/tags" Target="../tags/tag338.xml"/><Relationship Id="rId38" Type="http://schemas.openxmlformats.org/officeDocument/2006/relationships/tags" Target="../tags/tag343.xml"/><Relationship Id="rId46" Type="http://schemas.openxmlformats.org/officeDocument/2006/relationships/tags" Target="../tags/tag351.xml"/><Relationship Id="rId59" Type="http://schemas.openxmlformats.org/officeDocument/2006/relationships/tags" Target="../tags/tag364.xml"/><Relationship Id="rId67" Type="http://schemas.openxmlformats.org/officeDocument/2006/relationships/tags" Target="../tags/tag372.xml"/><Relationship Id="rId20" Type="http://schemas.openxmlformats.org/officeDocument/2006/relationships/tags" Target="../tags/tag325.xml"/><Relationship Id="rId41" Type="http://schemas.openxmlformats.org/officeDocument/2006/relationships/tags" Target="../tags/tag346.xml"/><Relationship Id="rId54" Type="http://schemas.openxmlformats.org/officeDocument/2006/relationships/tags" Target="../tags/tag359.xml"/><Relationship Id="rId62" Type="http://schemas.openxmlformats.org/officeDocument/2006/relationships/tags" Target="../tags/tag367.xml"/><Relationship Id="rId70" Type="http://schemas.openxmlformats.org/officeDocument/2006/relationships/chart" Target="../charts/chart20.xml"/><Relationship Id="rId1" Type="http://schemas.openxmlformats.org/officeDocument/2006/relationships/tags" Target="../tags/tag306.xml"/><Relationship Id="rId6" Type="http://schemas.openxmlformats.org/officeDocument/2006/relationships/tags" Target="../tags/tag311.xml"/><Relationship Id="rId15" Type="http://schemas.openxmlformats.org/officeDocument/2006/relationships/tags" Target="../tags/tag320.xml"/><Relationship Id="rId23" Type="http://schemas.openxmlformats.org/officeDocument/2006/relationships/tags" Target="../tags/tag328.xml"/><Relationship Id="rId28" Type="http://schemas.openxmlformats.org/officeDocument/2006/relationships/tags" Target="../tags/tag333.xml"/><Relationship Id="rId36" Type="http://schemas.openxmlformats.org/officeDocument/2006/relationships/tags" Target="../tags/tag341.xml"/><Relationship Id="rId49" Type="http://schemas.openxmlformats.org/officeDocument/2006/relationships/tags" Target="../tags/tag354.xml"/><Relationship Id="rId57" Type="http://schemas.openxmlformats.org/officeDocument/2006/relationships/tags" Target="../tags/tag362.xml"/><Relationship Id="rId10" Type="http://schemas.openxmlformats.org/officeDocument/2006/relationships/tags" Target="../tags/tag315.xml"/><Relationship Id="rId31" Type="http://schemas.openxmlformats.org/officeDocument/2006/relationships/tags" Target="../tags/tag336.xml"/><Relationship Id="rId44" Type="http://schemas.openxmlformats.org/officeDocument/2006/relationships/tags" Target="../tags/tag349.xml"/><Relationship Id="rId52" Type="http://schemas.openxmlformats.org/officeDocument/2006/relationships/tags" Target="../tags/tag357.xml"/><Relationship Id="rId60" Type="http://schemas.openxmlformats.org/officeDocument/2006/relationships/tags" Target="../tags/tag365.xml"/><Relationship Id="rId65" Type="http://schemas.openxmlformats.org/officeDocument/2006/relationships/tags" Target="../tags/tag370.xml"/><Relationship Id="rId4" Type="http://schemas.openxmlformats.org/officeDocument/2006/relationships/tags" Target="../tags/tag309.xml"/><Relationship Id="rId9" Type="http://schemas.openxmlformats.org/officeDocument/2006/relationships/tags" Target="../tags/tag314.xml"/><Relationship Id="rId13" Type="http://schemas.openxmlformats.org/officeDocument/2006/relationships/tags" Target="../tags/tag318.xml"/><Relationship Id="rId18" Type="http://schemas.openxmlformats.org/officeDocument/2006/relationships/tags" Target="../tags/tag323.xml"/><Relationship Id="rId39" Type="http://schemas.openxmlformats.org/officeDocument/2006/relationships/tags" Target="../tags/tag344.xml"/><Relationship Id="rId34" Type="http://schemas.openxmlformats.org/officeDocument/2006/relationships/tags" Target="../tags/tag339.xml"/><Relationship Id="rId50" Type="http://schemas.openxmlformats.org/officeDocument/2006/relationships/tags" Target="../tags/tag355.xml"/><Relationship Id="rId55" Type="http://schemas.openxmlformats.org/officeDocument/2006/relationships/tags" Target="../tags/tag360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385.xml"/><Relationship Id="rId18" Type="http://schemas.openxmlformats.org/officeDocument/2006/relationships/tags" Target="../tags/tag390.xml"/><Relationship Id="rId26" Type="http://schemas.openxmlformats.org/officeDocument/2006/relationships/tags" Target="../tags/tag398.xml"/><Relationship Id="rId39" Type="http://schemas.openxmlformats.org/officeDocument/2006/relationships/tags" Target="../tags/tag411.xml"/><Relationship Id="rId21" Type="http://schemas.openxmlformats.org/officeDocument/2006/relationships/tags" Target="../tags/tag393.xml"/><Relationship Id="rId34" Type="http://schemas.openxmlformats.org/officeDocument/2006/relationships/tags" Target="../tags/tag406.xml"/><Relationship Id="rId42" Type="http://schemas.openxmlformats.org/officeDocument/2006/relationships/tags" Target="../tags/tag414.xml"/><Relationship Id="rId47" Type="http://schemas.openxmlformats.org/officeDocument/2006/relationships/tags" Target="../tags/tag419.xml"/><Relationship Id="rId50" Type="http://schemas.openxmlformats.org/officeDocument/2006/relationships/tags" Target="../tags/tag422.xml"/><Relationship Id="rId55" Type="http://schemas.openxmlformats.org/officeDocument/2006/relationships/chart" Target="../charts/chart25.xml"/><Relationship Id="rId7" Type="http://schemas.openxmlformats.org/officeDocument/2006/relationships/tags" Target="../tags/tag379.xml"/><Relationship Id="rId2" Type="http://schemas.openxmlformats.org/officeDocument/2006/relationships/tags" Target="../tags/tag374.xml"/><Relationship Id="rId16" Type="http://schemas.openxmlformats.org/officeDocument/2006/relationships/tags" Target="../tags/tag388.xml"/><Relationship Id="rId29" Type="http://schemas.openxmlformats.org/officeDocument/2006/relationships/tags" Target="../tags/tag401.xml"/><Relationship Id="rId11" Type="http://schemas.openxmlformats.org/officeDocument/2006/relationships/tags" Target="../tags/tag383.xml"/><Relationship Id="rId24" Type="http://schemas.openxmlformats.org/officeDocument/2006/relationships/tags" Target="../tags/tag396.xml"/><Relationship Id="rId32" Type="http://schemas.openxmlformats.org/officeDocument/2006/relationships/tags" Target="../tags/tag404.xml"/><Relationship Id="rId37" Type="http://schemas.openxmlformats.org/officeDocument/2006/relationships/tags" Target="../tags/tag409.xml"/><Relationship Id="rId40" Type="http://schemas.openxmlformats.org/officeDocument/2006/relationships/tags" Target="../tags/tag412.xml"/><Relationship Id="rId45" Type="http://schemas.openxmlformats.org/officeDocument/2006/relationships/tags" Target="../tags/tag417.xml"/><Relationship Id="rId53" Type="http://schemas.openxmlformats.org/officeDocument/2006/relationships/chart" Target="../charts/chart23.xml"/><Relationship Id="rId5" Type="http://schemas.openxmlformats.org/officeDocument/2006/relationships/tags" Target="../tags/tag377.xml"/><Relationship Id="rId10" Type="http://schemas.openxmlformats.org/officeDocument/2006/relationships/tags" Target="../tags/tag382.xml"/><Relationship Id="rId19" Type="http://schemas.openxmlformats.org/officeDocument/2006/relationships/tags" Target="../tags/tag391.xml"/><Relationship Id="rId31" Type="http://schemas.openxmlformats.org/officeDocument/2006/relationships/tags" Target="../tags/tag403.xml"/><Relationship Id="rId44" Type="http://schemas.openxmlformats.org/officeDocument/2006/relationships/tags" Target="../tags/tag416.xml"/><Relationship Id="rId52" Type="http://schemas.openxmlformats.org/officeDocument/2006/relationships/notesSlide" Target="../notesSlides/notesSlide12.xml"/><Relationship Id="rId4" Type="http://schemas.openxmlformats.org/officeDocument/2006/relationships/tags" Target="../tags/tag376.xml"/><Relationship Id="rId9" Type="http://schemas.openxmlformats.org/officeDocument/2006/relationships/tags" Target="../tags/tag381.xml"/><Relationship Id="rId14" Type="http://schemas.openxmlformats.org/officeDocument/2006/relationships/tags" Target="../tags/tag386.xml"/><Relationship Id="rId22" Type="http://schemas.openxmlformats.org/officeDocument/2006/relationships/tags" Target="../tags/tag394.xml"/><Relationship Id="rId27" Type="http://schemas.openxmlformats.org/officeDocument/2006/relationships/tags" Target="../tags/tag399.xml"/><Relationship Id="rId30" Type="http://schemas.openxmlformats.org/officeDocument/2006/relationships/tags" Target="../tags/tag402.xml"/><Relationship Id="rId35" Type="http://schemas.openxmlformats.org/officeDocument/2006/relationships/tags" Target="../tags/tag407.xml"/><Relationship Id="rId43" Type="http://schemas.openxmlformats.org/officeDocument/2006/relationships/tags" Target="../tags/tag415.xml"/><Relationship Id="rId48" Type="http://schemas.openxmlformats.org/officeDocument/2006/relationships/tags" Target="../tags/tag420.xml"/><Relationship Id="rId8" Type="http://schemas.openxmlformats.org/officeDocument/2006/relationships/tags" Target="../tags/tag380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375.xml"/><Relationship Id="rId12" Type="http://schemas.openxmlformats.org/officeDocument/2006/relationships/tags" Target="../tags/tag384.xml"/><Relationship Id="rId17" Type="http://schemas.openxmlformats.org/officeDocument/2006/relationships/tags" Target="../tags/tag389.xml"/><Relationship Id="rId25" Type="http://schemas.openxmlformats.org/officeDocument/2006/relationships/tags" Target="../tags/tag397.xml"/><Relationship Id="rId33" Type="http://schemas.openxmlformats.org/officeDocument/2006/relationships/tags" Target="../tags/tag405.xml"/><Relationship Id="rId38" Type="http://schemas.openxmlformats.org/officeDocument/2006/relationships/tags" Target="../tags/tag410.xml"/><Relationship Id="rId46" Type="http://schemas.openxmlformats.org/officeDocument/2006/relationships/tags" Target="../tags/tag418.xml"/><Relationship Id="rId20" Type="http://schemas.openxmlformats.org/officeDocument/2006/relationships/tags" Target="../tags/tag392.xml"/><Relationship Id="rId41" Type="http://schemas.openxmlformats.org/officeDocument/2006/relationships/tags" Target="../tags/tag413.xml"/><Relationship Id="rId54" Type="http://schemas.openxmlformats.org/officeDocument/2006/relationships/chart" Target="../charts/chart24.xml"/><Relationship Id="rId1" Type="http://schemas.openxmlformats.org/officeDocument/2006/relationships/tags" Target="../tags/tag373.xml"/><Relationship Id="rId6" Type="http://schemas.openxmlformats.org/officeDocument/2006/relationships/tags" Target="../tags/tag378.xml"/><Relationship Id="rId15" Type="http://schemas.openxmlformats.org/officeDocument/2006/relationships/tags" Target="../tags/tag387.xml"/><Relationship Id="rId23" Type="http://schemas.openxmlformats.org/officeDocument/2006/relationships/tags" Target="../tags/tag395.xml"/><Relationship Id="rId28" Type="http://schemas.openxmlformats.org/officeDocument/2006/relationships/tags" Target="../tags/tag400.xml"/><Relationship Id="rId36" Type="http://schemas.openxmlformats.org/officeDocument/2006/relationships/tags" Target="../tags/tag408.xml"/><Relationship Id="rId49" Type="http://schemas.openxmlformats.org/officeDocument/2006/relationships/tags" Target="../tags/tag421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435.xml"/><Relationship Id="rId18" Type="http://schemas.openxmlformats.org/officeDocument/2006/relationships/tags" Target="../tags/tag440.xml"/><Relationship Id="rId26" Type="http://schemas.openxmlformats.org/officeDocument/2006/relationships/tags" Target="../tags/tag448.xml"/><Relationship Id="rId39" Type="http://schemas.openxmlformats.org/officeDocument/2006/relationships/tags" Target="../tags/tag461.xml"/><Relationship Id="rId21" Type="http://schemas.openxmlformats.org/officeDocument/2006/relationships/tags" Target="../tags/tag443.xml"/><Relationship Id="rId34" Type="http://schemas.openxmlformats.org/officeDocument/2006/relationships/tags" Target="../tags/tag456.xml"/><Relationship Id="rId42" Type="http://schemas.openxmlformats.org/officeDocument/2006/relationships/tags" Target="../tags/tag464.xml"/><Relationship Id="rId47" Type="http://schemas.openxmlformats.org/officeDocument/2006/relationships/tags" Target="../tags/tag469.xml"/><Relationship Id="rId50" Type="http://schemas.openxmlformats.org/officeDocument/2006/relationships/tags" Target="../tags/tag472.xml"/><Relationship Id="rId55" Type="http://schemas.openxmlformats.org/officeDocument/2006/relationships/notesSlide" Target="../notesSlides/notesSlide13.xml"/><Relationship Id="rId7" Type="http://schemas.openxmlformats.org/officeDocument/2006/relationships/tags" Target="../tags/tag429.xml"/><Relationship Id="rId2" Type="http://schemas.openxmlformats.org/officeDocument/2006/relationships/tags" Target="../tags/tag424.xml"/><Relationship Id="rId16" Type="http://schemas.openxmlformats.org/officeDocument/2006/relationships/tags" Target="../tags/tag438.xml"/><Relationship Id="rId29" Type="http://schemas.openxmlformats.org/officeDocument/2006/relationships/tags" Target="../tags/tag451.xml"/><Relationship Id="rId11" Type="http://schemas.openxmlformats.org/officeDocument/2006/relationships/tags" Target="../tags/tag433.xml"/><Relationship Id="rId24" Type="http://schemas.openxmlformats.org/officeDocument/2006/relationships/tags" Target="../tags/tag446.xml"/><Relationship Id="rId32" Type="http://schemas.openxmlformats.org/officeDocument/2006/relationships/tags" Target="../tags/tag454.xml"/><Relationship Id="rId37" Type="http://schemas.openxmlformats.org/officeDocument/2006/relationships/tags" Target="../tags/tag459.xml"/><Relationship Id="rId40" Type="http://schemas.openxmlformats.org/officeDocument/2006/relationships/tags" Target="../tags/tag462.xml"/><Relationship Id="rId45" Type="http://schemas.openxmlformats.org/officeDocument/2006/relationships/tags" Target="../tags/tag467.xml"/><Relationship Id="rId53" Type="http://schemas.openxmlformats.org/officeDocument/2006/relationships/tags" Target="../tags/tag475.xml"/><Relationship Id="rId58" Type="http://schemas.openxmlformats.org/officeDocument/2006/relationships/chart" Target="../charts/chart28.xml"/><Relationship Id="rId5" Type="http://schemas.openxmlformats.org/officeDocument/2006/relationships/tags" Target="../tags/tag427.xml"/><Relationship Id="rId19" Type="http://schemas.openxmlformats.org/officeDocument/2006/relationships/tags" Target="../tags/tag441.xml"/><Relationship Id="rId4" Type="http://schemas.openxmlformats.org/officeDocument/2006/relationships/tags" Target="../tags/tag426.xml"/><Relationship Id="rId9" Type="http://schemas.openxmlformats.org/officeDocument/2006/relationships/tags" Target="../tags/tag431.xml"/><Relationship Id="rId14" Type="http://schemas.openxmlformats.org/officeDocument/2006/relationships/tags" Target="../tags/tag436.xml"/><Relationship Id="rId22" Type="http://schemas.openxmlformats.org/officeDocument/2006/relationships/tags" Target="../tags/tag444.xml"/><Relationship Id="rId27" Type="http://schemas.openxmlformats.org/officeDocument/2006/relationships/tags" Target="../tags/tag449.xml"/><Relationship Id="rId30" Type="http://schemas.openxmlformats.org/officeDocument/2006/relationships/tags" Target="../tags/tag452.xml"/><Relationship Id="rId35" Type="http://schemas.openxmlformats.org/officeDocument/2006/relationships/tags" Target="../tags/tag457.xml"/><Relationship Id="rId43" Type="http://schemas.openxmlformats.org/officeDocument/2006/relationships/tags" Target="../tags/tag465.xml"/><Relationship Id="rId48" Type="http://schemas.openxmlformats.org/officeDocument/2006/relationships/tags" Target="../tags/tag470.xml"/><Relationship Id="rId56" Type="http://schemas.openxmlformats.org/officeDocument/2006/relationships/chart" Target="../charts/chart26.xml"/><Relationship Id="rId8" Type="http://schemas.openxmlformats.org/officeDocument/2006/relationships/tags" Target="../tags/tag430.xml"/><Relationship Id="rId51" Type="http://schemas.openxmlformats.org/officeDocument/2006/relationships/tags" Target="../tags/tag473.xml"/><Relationship Id="rId3" Type="http://schemas.openxmlformats.org/officeDocument/2006/relationships/tags" Target="../tags/tag425.xml"/><Relationship Id="rId12" Type="http://schemas.openxmlformats.org/officeDocument/2006/relationships/tags" Target="../tags/tag434.xml"/><Relationship Id="rId17" Type="http://schemas.openxmlformats.org/officeDocument/2006/relationships/tags" Target="../tags/tag439.xml"/><Relationship Id="rId25" Type="http://schemas.openxmlformats.org/officeDocument/2006/relationships/tags" Target="../tags/tag447.xml"/><Relationship Id="rId33" Type="http://schemas.openxmlformats.org/officeDocument/2006/relationships/tags" Target="../tags/tag455.xml"/><Relationship Id="rId38" Type="http://schemas.openxmlformats.org/officeDocument/2006/relationships/tags" Target="../tags/tag460.xml"/><Relationship Id="rId46" Type="http://schemas.openxmlformats.org/officeDocument/2006/relationships/tags" Target="../tags/tag468.xml"/><Relationship Id="rId20" Type="http://schemas.openxmlformats.org/officeDocument/2006/relationships/tags" Target="../tags/tag442.xml"/><Relationship Id="rId41" Type="http://schemas.openxmlformats.org/officeDocument/2006/relationships/tags" Target="../tags/tag463.xml"/><Relationship Id="rId54" Type="http://schemas.openxmlformats.org/officeDocument/2006/relationships/slideLayout" Target="../slideLayouts/slideLayout2.xml"/><Relationship Id="rId1" Type="http://schemas.openxmlformats.org/officeDocument/2006/relationships/tags" Target="../tags/tag423.xml"/><Relationship Id="rId6" Type="http://schemas.openxmlformats.org/officeDocument/2006/relationships/tags" Target="../tags/tag428.xml"/><Relationship Id="rId15" Type="http://schemas.openxmlformats.org/officeDocument/2006/relationships/tags" Target="../tags/tag437.xml"/><Relationship Id="rId23" Type="http://schemas.openxmlformats.org/officeDocument/2006/relationships/tags" Target="../tags/tag445.xml"/><Relationship Id="rId28" Type="http://schemas.openxmlformats.org/officeDocument/2006/relationships/tags" Target="../tags/tag450.xml"/><Relationship Id="rId36" Type="http://schemas.openxmlformats.org/officeDocument/2006/relationships/tags" Target="../tags/tag458.xml"/><Relationship Id="rId49" Type="http://schemas.openxmlformats.org/officeDocument/2006/relationships/tags" Target="../tags/tag471.xml"/><Relationship Id="rId57" Type="http://schemas.openxmlformats.org/officeDocument/2006/relationships/chart" Target="../charts/chart27.xml"/><Relationship Id="rId10" Type="http://schemas.openxmlformats.org/officeDocument/2006/relationships/tags" Target="../tags/tag432.xml"/><Relationship Id="rId31" Type="http://schemas.openxmlformats.org/officeDocument/2006/relationships/tags" Target="../tags/tag453.xml"/><Relationship Id="rId44" Type="http://schemas.openxmlformats.org/officeDocument/2006/relationships/tags" Target="../tags/tag466.xml"/><Relationship Id="rId52" Type="http://schemas.openxmlformats.org/officeDocument/2006/relationships/tags" Target="../tags/tag47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47545"/>
            <a:ext cx="7772400" cy="1752600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Стратегия</a:t>
            </a:r>
            <a:r>
              <a:rPr dirty="0"/>
              <a:t> </a:t>
            </a:r>
            <a:r>
              <a:rPr lang="ru-RU" dirty="0"/>
              <a:t>направления </a:t>
            </a:r>
            <a:br>
              <a:rPr lang="ru-RU" dirty="0"/>
            </a:br>
            <a:r>
              <a:rPr lang="en-US" dirty="0"/>
              <a:t>Unified Communications</a:t>
            </a:r>
            <a:r>
              <a:rPr lang="ru-RU" dirty="0"/>
              <a:t>  </a:t>
            </a:r>
            <a:br>
              <a:rPr lang="ru-RU" dirty="0"/>
            </a:br>
            <a:r>
              <a:rPr dirty="0"/>
              <a:t>2025</a:t>
            </a:r>
            <a:r>
              <a:rPr lang="ru-RU" dirty="0"/>
              <a:t>-</a:t>
            </a:r>
            <a:r>
              <a:rPr dirty="0"/>
              <a:t>2030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E359CD3-4F21-8DCB-87FC-D1A2D84DA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Драфт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Executive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0363"/>
            <a:ext cx="4114800" cy="38704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00" b="1" dirty="0"/>
              <a:t>Зачем:</a:t>
            </a:r>
            <a:endParaRPr lang="ru-RU" sz="1000" dirty="0"/>
          </a:p>
          <a:p>
            <a:pPr marL="0" indent="0">
              <a:buNone/>
            </a:pPr>
            <a:r>
              <a:rPr lang="en" sz="1000" dirty="0"/>
              <a:t>UC — </a:t>
            </a:r>
            <a:r>
              <a:rPr lang="ru-RU" sz="1000" dirty="0"/>
              <a:t>крупный, понятный и системообразующий рынок для </a:t>
            </a:r>
            <a:r>
              <a:rPr lang="en" sz="1000" dirty="0"/>
              <a:t>enterprise-</a:t>
            </a:r>
            <a:r>
              <a:rPr lang="ru-RU" sz="1000" dirty="0"/>
              <a:t>клиентов (почта, ВКС, мессенджеры, офисное ПО).</a:t>
            </a:r>
          </a:p>
          <a:p>
            <a:pPr marL="0" indent="0">
              <a:buNone/>
            </a:pPr>
            <a:r>
              <a:rPr lang="ru-RU" sz="1000" dirty="0"/>
              <a:t>После ухода глобальных вендоров сформировался отложенный спрос, особенно в сегментах: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000" dirty="0"/>
              <a:t>Enterprise</a:t>
            </a:r>
            <a:r>
              <a:rPr lang="en-US" sz="1000" dirty="0"/>
              <a:t>;</a:t>
            </a:r>
            <a:endParaRPr lang="en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" sz="1000" dirty="0"/>
              <a:t>On-prem;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Регулируемых отраслей.</a:t>
            </a:r>
          </a:p>
          <a:p>
            <a:pPr marL="0" indent="0">
              <a:buNone/>
            </a:pPr>
            <a:endParaRPr lang="en" sz="1000" dirty="0"/>
          </a:p>
          <a:p>
            <a:pPr marL="0" indent="0">
              <a:buNone/>
            </a:pPr>
            <a:r>
              <a:rPr lang="ru-RU" sz="1000" b="1" dirty="0"/>
              <a:t>Что даёт бизнесу:</a:t>
            </a:r>
            <a:endParaRPr lang="ru-RU" sz="1000" dirty="0"/>
          </a:p>
          <a:p>
            <a:pPr marL="0" indent="0">
              <a:buNone/>
            </a:pPr>
            <a:r>
              <a:rPr lang="en" sz="1000" dirty="0"/>
              <a:t>UC — </a:t>
            </a:r>
            <a:r>
              <a:rPr lang="ru-RU" sz="1000" dirty="0"/>
              <a:t>это точка входа в клиента, создающая: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Высокую стоимость переключения на конкурента</a:t>
            </a:r>
            <a:r>
              <a:rPr lang="en-US" sz="1000" dirty="0"/>
              <a:t>;</a:t>
            </a:r>
            <a:endParaRPr lang="en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Высокий </a:t>
            </a:r>
            <a:r>
              <a:rPr lang="en-US" sz="1000" dirty="0"/>
              <a:t>LTV;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Возможности </a:t>
            </a:r>
            <a:r>
              <a:rPr lang="ru-RU" sz="1000" dirty="0" err="1"/>
              <a:t>апселла</a:t>
            </a:r>
            <a:r>
              <a:rPr lang="ru-RU" sz="1000" dirty="0"/>
              <a:t> инфраструктурных и </a:t>
            </a:r>
            <a:r>
              <a:rPr lang="en" sz="1000" dirty="0"/>
              <a:t>SaaS-</a:t>
            </a:r>
            <a:r>
              <a:rPr lang="ru-RU" sz="1000" dirty="0"/>
              <a:t>сервисов</a:t>
            </a:r>
            <a:r>
              <a:rPr lang="en-US" sz="1000" dirty="0"/>
              <a:t> </a:t>
            </a:r>
            <a:r>
              <a:rPr lang="ru-RU" sz="1000" dirty="0"/>
              <a:t>и ИБ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0" indent="0">
              <a:buFont typeface="Arial"/>
              <a:buNone/>
            </a:pPr>
            <a:r>
              <a:rPr lang="ru-RU" sz="1000" b="1" dirty="0"/>
              <a:t>Что именно делаем </a:t>
            </a:r>
            <a:endParaRPr lang="en" sz="1000" b="1" dirty="0"/>
          </a:p>
          <a:p>
            <a:pPr marL="0" indent="0">
              <a:buFont typeface="Arial"/>
              <a:buNone/>
            </a:pPr>
            <a:r>
              <a:rPr lang="ru-RU" sz="1000" dirty="0"/>
              <a:t>Портфель </a:t>
            </a:r>
            <a:r>
              <a:rPr lang="en" sz="1000" dirty="0"/>
              <a:t>UC-</a:t>
            </a:r>
            <a:r>
              <a:rPr lang="ru-RU" sz="1000" dirty="0"/>
              <a:t>решений, а не один продукт: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Почта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ВКС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Корпоративные мессенджеры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Офисное ПО</a:t>
            </a:r>
            <a:r>
              <a:rPr lang="en-US" sz="1000" dirty="0"/>
              <a:t>.</a:t>
            </a:r>
          </a:p>
          <a:p>
            <a:pPr marL="0" indent="0">
              <a:buNone/>
            </a:pPr>
            <a:endParaRPr lang="ru-RU" sz="1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67635A-03B4-81C9-6E53-374D391CDB87}"/>
              </a:ext>
            </a:extLst>
          </p:cNvPr>
          <p:cNvSpPr txBox="1">
            <a:spLocks/>
          </p:cNvSpPr>
          <p:nvPr/>
        </p:nvSpPr>
        <p:spPr>
          <a:xfrm>
            <a:off x="4494882" y="1417638"/>
            <a:ext cx="4649118" cy="4617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b="1" dirty="0"/>
              <a:t>Экономика</a:t>
            </a:r>
          </a:p>
          <a:p>
            <a:pPr marL="0" indent="0">
              <a:buNone/>
            </a:pPr>
            <a:r>
              <a:rPr lang="en" sz="1000" dirty="0"/>
              <a:t>SaaS:</a:t>
            </a:r>
          </a:p>
          <a:p>
            <a:r>
              <a:rPr lang="ru-RU" sz="1000" dirty="0"/>
              <a:t>не </a:t>
            </a:r>
            <a:r>
              <a:rPr lang="ru-RU" sz="1000" dirty="0" err="1"/>
              <a:t>сверхмаржинальная</a:t>
            </a:r>
            <a:r>
              <a:rPr lang="en-US" sz="1000" dirty="0"/>
              <a:t>;</a:t>
            </a:r>
            <a:endParaRPr lang="ru-RU" sz="1000" dirty="0"/>
          </a:p>
          <a:p>
            <a:r>
              <a:rPr lang="ru-RU" sz="1000" dirty="0"/>
              <a:t>его цель </a:t>
            </a:r>
          </a:p>
          <a:p>
            <a:pPr lvl="1"/>
            <a:r>
              <a:rPr lang="ru-RU" sz="1000" dirty="0"/>
              <a:t>Проверка гипотезы </a:t>
            </a:r>
            <a:r>
              <a:rPr lang="en-US" sz="1000" dirty="0"/>
              <a:t>(</a:t>
            </a:r>
            <a:r>
              <a:rPr lang="ru-RU" sz="1000" dirty="0"/>
              <a:t>спроса</a:t>
            </a:r>
            <a:r>
              <a:rPr lang="en-US" sz="1000" dirty="0"/>
              <a:t> </a:t>
            </a:r>
            <a:r>
              <a:rPr lang="ru-RU" sz="1000" dirty="0"/>
              <a:t>и ценности)</a:t>
            </a:r>
            <a:r>
              <a:rPr lang="en-US" sz="1000" dirty="0"/>
              <a:t>;</a:t>
            </a:r>
            <a:endParaRPr lang="ru-RU" sz="1000" dirty="0"/>
          </a:p>
          <a:p>
            <a:pPr lvl="1"/>
            <a:r>
              <a:rPr lang="en" sz="1000" dirty="0"/>
              <a:t>pipeline, </a:t>
            </a:r>
            <a:r>
              <a:rPr lang="ru-RU" sz="1000" dirty="0"/>
              <a:t>снижение </a:t>
            </a:r>
            <a:r>
              <a:rPr lang="en" sz="1000" dirty="0"/>
              <a:t>CAC, </a:t>
            </a:r>
            <a:r>
              <a:rPr lang="ru-RU" sz="1000" dirty="0"/>
              <a:t>рост </a:t>
            </a:r>
            <a:r>
              <a:rPr lang="en" sz="1000" dirty="0"/>
              <a:t>LTV.</a:t>
            </a:r>
          </a:p>
          <a:p>
            <a:pPr marL="0" indent="0">
              <a:buNone/>
            </a:pPr>
            <a:r>
              <a:rPr lang="en" sz="1000" dirty="0"/>
              <a:t>On-prem: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Лицензии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Внедрение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Поддержка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Кастомизация</a:t>
            </a:r>
            <a:r>
              <a:rPr lang="en-US" sz="1000" dirty="0"/>
              <a:t>. </a:t>
            </a:r>
            <a:endParaRPr lang="ru-RU" sz="1000" dirty="0"/>
          </a:p>
          <a:p>
            <a:pPr marL="0" indent="0">
              <a:buNone/>
            </a:pPr>
            <a:r>
              <a:rPr lang="ru-RU" sz="1000" dirty="0"/>
              <a:t>Горизонт: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2026-2027 — запуск и проверка модели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2028-2030 — масштабирование до </a:t>
            </a:r>
            <a:r>
              <a:rPr lang="en" sz="1000" dirty="0"/>
              <a:t>on-prem.</a:t>
            </a:r>
          </a:p>
          <a:p>
            <a:pPr marL="0" indent="0">
              <a:buFont typeface="Arial"/>
              <a:buNone/>
            </a:pPr>
            <a:endParaRPr lang="ru-RU" sz="1000" b="1" dirty="0"/>
          </a:p>
          <a:p>
            <a:pPr marL="0" indent="0">
              <a:buFont typeface="Arial"/>
              <a:buNone/>
            </a:pPr>
            <a:r>
              <a:rPr lang="ru-RU" sz="1000" b="1" dirty="0"/>
              <a:t>Как мы выходим на рынок</a:t>
            </a:r>
          </a:p>
          <a:p>
            <a:pPr marL="0" indent="0">
              <a:buFont typeface="Arial"/>
              <a:buNone/>
            </a:pPr>
            <a:r>
              <a:rPr lang="ru-RU" sz="1000" dirty="0"/>
              <a:t>Не пишем сами всё с нуля: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Базируемся на партнёрских решениях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дополнять </a:t>
            </a:r>
            <a:r>
              <a:rPr lang="en" sz="1000" dirty="0"/>
              <a:t>enterprise-</a:t>
            </a:r>
            <a:r>
              <a:rPr lang="ru-RU" sz="1000" dirty="0"/>
              <a:t>функционалом облака.</a:t>
            </a:r>
          </a:p>
          <a:p>
            <a:pPr marL="0" indent="0">
              <a:buFont typeface="Arial"/>
              <a:buNone/>
            </a:pPr>
            <a:r>
              <a:rPr lang="ru-RU" sz="1000" dirty="0"/>
              <a:t>Основные модели: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совместные решения с вендорами</a:t>
            </a:r>
            <a:r>
              <a:rPr lang="en-US" sz="1000" dirty="0"/>
              <a:t>;</a:t>
            </a:r>
            <a:endParaRPr lang="ru-R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" sz="1000" dirty="0"/>
              <a:t>white-label;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000" dirty="0"/>
              <a:t>СП / </a:t>
            </a:r>
            <a:r>
              <a:rPr lang="en" sz="1000" dirty="0"/>
              <a:t>M&amp;A.</a:t>
            </a:r>
            <a:endParaRPr lang="ru-RU" sz="1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38D795-1EE6-C7D2-0A4B-6E938F304237}"/>
              </a:ext>
            </a:extLst>
          </p:cNvPr>
          <p:cNvSpPr txBox="1">
            <a:spLocks/>
          </p:cNvSpPr>
          <p:nvPr/>
        </p:nvSpPr>
        <p:spPr>
          <a:xfrm>
            <a:off x="457199" y="5492947"/>
            <a:ext cx="8367311" cy="1263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000" b="1" dirty="0"/>
              <a:t>Ключевая ставка стратегии:</a:t>
            </a:r>
            <a:endParaRPr lang="ru-RU" sz="1000" dirty="0"/>
          </a:p>
          <a:p>
            <a:pPr marL="0" indent="0">
              <a:buFont typeface="Arial"/>
              <a:buNone/>
            </a:pPr>
            <a:r>
              <a:rPr lang="ru-RU" sz="1000" dirty="0"/>
              <a:t>Вход в </a:t>
            </a:r>
            <a:r>
              <a:rPr lang="en" sz="1000" dirty="0"/>
              <a:t>UC </a:t>
            </a:r>
            <a:r>
              <a:rPr lang="ru-RU" sz="1000" dirty="0"/>
              <a:t>сначала через </a:t>
            </a:r>
            <a:r>
              <a:rPr lang="en-US" sz="1000" dirty="0"/>
              <a:t>SaaS</a:t>
            </a:r>
            <a:r>
              <a:rPr lang="ru-RU" sz="1000" dirty="0"/>
              <a:t> далее через </a:t>
            </a:r>
            <a:r>
              <a:rPr lang="en-US" sz="1000" dirty="0"/>
              <a:t>On-prem </a:t>
            </a:r>
            <a:r>
              <a:rPr lang="ru-RU" sz="1000" dirty="0"/>
              <a:t>и гибрид</a:t>
            </a:r>
            <a:r>
              <a:rPr lang="en" sz="1000" dirty="0"/>
              <a:t> </a:t>
            </a:r>
            <a:r>
              <a:rPr lang="ru-RU" sz="1000" dirty="0"/>
              <a:t>решения для </a:t>
            </a:r>
            <a:r>
              <a:rPr lang="en" sz="1000" dirty="0"/>
              <a:t>enterprise </a:t>
            </a:r>
            <a:r>
              <a:rPr lang="ru-RU" sz="1000" dirty="0"/>
              <a:t>и </a:t>
            </a:r>
            <a:r>
              <a:rPr lang="ru-RU" sz="1000" dirty="0" err="1"/>
              <a:t>госсегмента</a:t>
            </a:r>
            <a:r>
              <a:rPr lang="ru-RU" sz="1000" dirty="0"/>
              <a:t> с последующим расширением портфеля и </a:t>
            </a:r>
            <a:r>
              <a:rPr lang="ru-RU" sz="1000" dirty="0" err="1"/>
              <a:t>апселлом</a:t>
            </a:r>
            <a:r>
              <a:rPr lang="ru-RU" sz="1000" dirty="0"/>
              <a:t> облачных сервисов </a:t>
            </a:r>
            <a:r>
              <a:rPr lang="ru-RU" sz="1000" dirty="0" err="1"/>
              <a:t>Трубо</a:t>
            </a:r>
            <a:r>
              <a:rPr lang="ru-RU" sz="1000" dirty="0"/>
              <a:t>.</a:t>
            </a:r>
            <a:endParaRPr lang="ru-RU" sz="1000" b="1" dirty="0"/>
          </a:p>
          <a:p>
            <a:pPr marL="0" indent="0">
              <a:buFont typeface="Arial"/>
              <a:buNone/>
            </a:pPr>
            <a:r>
              <a:rPr lang="en" sz="1000" dirty="0"/>
              <a:t>SaaS — </a:t>
            </a:r>
            <a:r>
              <a:rPr lang="ru-RU" sz="1000" dirty="0"/>
              <a:t>это инструмент входа, проверки </a:t>
            </a:r>
            <a:r>
              <a:rPr lang="ru-RU" sz="1000" dirty="0" err="1"/>
              <a:t>гипозеы</a:t>
            </a:r>
            <a:r>
              <a:rPr lang="ru-RU" sz="1000" dirty="0"/>
              <a:t>  обучения рынку.</a:t>
            </a:r>
          </a:p>
          <a:p>
            <a:pPr marL="0" indent="0">
              <a:buFont typeface="Arial"/>
              <a:buNone/>
            </a:pPr>
            <a:r>
              <a:rPr lang="en" sz="1000" dirty="0"/>
              <a:t>On-prem — </a:t>
            </a:r>
            <a:r>
              <a:rPr lang="ru-RU" sz="1000" dirty="0"/>
              <a:t>ключевая модель масштабирования и монетизации</a:t>
            </a:r>
          </a:p>
          <a:p>
            <a:pPr marL="0" indent="0">
              <a:buFont typeface="Arial"/>
              <a:buNone/>
            </a:pPr>
            <a:r>
              <a:rPr lang="ru-RU" sz="1000" dirty="0"/>
              <a:t>Все вместе устойчивый </a:t>
            </a:r>
            <a:r>
              <a:rPr lang="en" sz="1000" dirty="0"/>
              <a:t>UC-</a:t>
            </a:r>
            <a:r>
              <a:rPr lang="ru-RU" sz="1000" dirty="0"/>
              <a:t>бизнес на горизонте 2025-2030.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Тренды и тенденции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3513"/>
            <a:ext cx="8229600" cy="5254487"/>
          </a:xfrm>
        </p:spPr>
        <p:txBody>
          <a:bodyPr>
            <a:noAutofit/>
          </a:bodyPr>
          <a:lstStyle/>
          <a:p>
            <a:r>
              <a:rPr lang="ru-RU" sz="1200" dirty="0"/>
              <a:t>Рынок корпоративной связи</a:t>
            </a:r>
            <a:r>
              <a:rPr lang="en-US" sz="1200" dirty="0"/>
              <a:t> </a:t>
            </a:r>
            <a:r>
              <a:rPr lang="ru-RU" sz="1200" dirty="0"/>
              <a:t>и продуктивности постепенно</a:t>
            </a:r>
            <a:r>
              <a:rPr lang="en-US" sz="1200" dirty="0"/>
              <a:t> </a:t>
            </a:r>
            <a:r>
              <a:rPr lang="ru-RU" sz="1200" dirty="0"/>
              <a:t>восстанавливается после падения в 2022</a:t>
            </a:r>
            <a:r>
              <a:rPr lang="en-US" sz="1200" dirty="0"/>
              <a:t> </a:t>
            </a:r>
            <a:r>
              <a:rPr lang="ru-RU" sz="1200" dirty="0"/>
              <a:t>и 2023 годах (после ухода международных решений) и по прогнозам превысит объем 2021 года не</a:t>
            </a:r>
            <a:r>
              <a:rPr lang="en-US" sz="1200" dirty="0"/>
              <a:t> </a:t>
            </a:r>
            <a:r>
              <a:rPr lang="ru-RU" sz="1200" dirty="0"/>
              <a:t>ранее 2028 года</a:t>
            </a:r>
            <a:r>
              <a:rPr lang="en-US" sz="1200" dirty="0"/>
              <a:t>;</a:t>
            </a:r>
          </a:p>
          <a:p>
            <a:r>
              <a:rPr lang="ru-RU" sz="1200" dirty="0"/>
              <a:t>Тем не менее конкуренция с иностранным ПО сохраняется - продолжается эксплуатация ранее</a:t>
            </a:r>
            <a:r>
              <a:rPr lang="en-US" sz="1200" dirty="0"/>
              <a:t> </a:t>
            </a:r>
            <a:r>
              <a:rPr lang="ru-RU" sz="1200" dirty="0"/>
              <a:t>приобретенных иностранных лицензий.</a:t>
            </a:r>
            <a:r>
              <a:rPr lang="en-US" sz="1200" dirty="0"/>
              <a:t> </a:t>
            </a:r>
            <a:r>
              <a:rPr lang="ru-RU" sz="1200" dirty="0"/>
              <a:t>Компании постепенно переходят на</a:t>
            </a:r>
            <a:r>
              <a:rPr lang="en-US" sz="1200" dirty="0"/>
              <a:t> </a:t>
            </a:r>
            <a:r>
              <a:rPr lang="ru-RU" sz="1200" dirty="0"/>
              <a:t>отечественные продукты, понимая риски</a:t>
            </a:r>
            <a:r>
              <a:rPr lang="en-US" sz="1200" dirty="0"/>
              <a:t> </a:t>
            </a:r>
            <a:r>
              <a:rPr lang="ru-RU" sz="1200" dirty="0"/>
              <a:t>использования не обновляемого</a:t>
            </a:r>
            <a:r>
              <a:rPr lang="en-US" sz="1200" dirty="0"/>
              <a:t> </a:t>
            </a:r>
            <a:r>
              <a:rPr lang="ru-RU" sz="1200" dirty="0"/>
              <a:t>иностранного ПО</a:t>
            </a:r>
            <a:r>
              <a:rPr lang="en-US" sz="1200" dirty="0"/>
              <a:t>;</a:t>
            </a:r>
          </a:p>
          <a:p>
            <a:r>
              <a:rPr lang="ru-RU" sz="1200" dirty="0"/>
              <a:t>Сервисы развивают ИИ-функционал.</a:t>
            </a:r>
            <a:r>
              <a:rPr lang="en-US" sz="1200" dirty="0"/>
              <a:t> </a:t>
            </a:r>
            <a:r>
              <a:rPr lang="ru-RU" sz="1200" dirty="0"/>
              <a:t>Наибольший интерес пользователей вызывают</a:t>
            </a:r>
            <a:r>
              <a:rPr lang="en-US" sz="1200" dirty="0"/>
              <a:t> </a:t>
            </a:r>
            <a:r>
              <a:rPr lang="ru-RU" sz="1200" dirty="0"/>
              <a:t>инструменты для </a:t>
            </a:r>
            <a:r>
              <a:rPr lang="ru-RU" sz="1200" dirty="0" err="1"/>
              <a:t>транскрибации</a:t>
            </a:r>
            <a:r>
              <a:rPr lang="ru-RU" sz="1200" dirty="0"/>
              <a:t>,</a:t>
            </a:r>
            <a:r>
              <a:rPr lang="en-US" sz="1200" dirty="0"/>
              <a:t> </a:t>
            </a:r>
            <a:r>
              <a:rPr lang="ru-RU" sz="1200" dirty="0"/>
              <a:t>интеллектуального антиспама, а также</a:t>
            </a:r>
            <a:r>
              <a:rPr lang="en-US" sz="1200" dirty="0"/>
              <a:t> </a:t>
            </a:r>
            <a:r>
              <a:rPr lang="ru-RU" sz="1200" dirty="0"/>
              <a:t>автоматической сортировки писем</a:t>
            </a:r>
            <a:r>
              <a:rPr lang="en-US" sz="1200" dirty="0"/>
              <a:t>;</a:t>
            </a:r>
          </a:p>
          <a:p>
            <a:r>
              <a:rPr lang="ru-RU" sz="1200" dirty="0"/>
              <a:t>Доля российского ПО в общих продажах</a:t>
            </a:r>
            <a:r>
              <a:rPr lang="en-US" sz="1200" dirty="0"/>
              <a:t> </a:t>
            </a:r>
            <a:r>
              <a:rPr lang="ru-RU" sz="1200" dirty="0"/>
              <a:t>на рынке в 2024 году составила 89% в</a:t>
            </a:r>
            <a:r>
              <a:rPr lang="en-US" sz="1200" dirty="0"/>
              <a:t> </a:t>
            </a:r>
            <a:r>
              <a:rPr lang="ru-RU" sz="1200" dirty="0"/>
              <a:t>денежном выражении, при этом, доля</a:t>
            </a:r>
            <a:r>
              <a:rPr lang="en-US" sz="1200" dirty="0"/>
              <a:t> </a:t>
            </a:r>
            <a:r>
              <a:rPr lang="ru-RU" sz="1200" dirty="0"/>
              <a:t>использования российского ПО в сегменте</a:t>
            </a:r>
            <a:r>
              <a:rPr lang="en-US" sz="1200" dirty="0"/>
              <a:t> </a:t>
            </a:r>
            <a:r>
              <a:rPr lang="ru-RU" sz="1200" dirty="0"/>
              <a:t>офисных пакетов существенно ниже. Большое</a:t>
            </a:r>
            <a:r>
              <a:rPr lang="en-US" sz="1200" dirty="0"/>
              <a:t> </a:t>
            </a:r>
            <a:r>
              <a:rPr lang="ru-RU" sz="1200" dirty="0"/>
              <a:t>количество компаний продолжает использовать</a:t>
            </a:r>
            <a:r>
              <a:rPr lang="en-US" sz="1200" dirty="0"/>
              <a:t> </a:t>
            </a:r>
            <a:r>
              <a:rPr lang="ru-RU" sz="1200" dirty="0"/>
              <a:t>иностранное ПО без оплаты (эффект</a:t>
            </a:r>
            <a:r>
              <a:rPr lang="en-US" sz="1200" dirty="0"/>
              <a:t> </a:t>
            </a:r>
            <a:r>
              <a:rPr lang="ru-RU" sz="1200" dirty="0"/>
              <a:t>«отложенного спроса»)</a:t>
            </a:r>
            <a:r>
              <a:rPr lang="en-US" sz="1200" dirty="0"/>
              <a:t>;</a:t>
            </a:r>
          </a:p>
          <a:p>
            <a:r>
              <a:rPr lang="ru-RU" sz="1200" dirty="0"/>
              <a:t>Лидирующим форматом развертывания ПО</a:t>
            </a:r>
            <a:r>
              <a:rPr lang="en-US" sz="1200" dirty="0"/>
              <a:t> </a:t>
            </a:r>
            <a:r>
              <a:rPr lang="ru-RU" sz="1200" dirty="0"/>
              <a:t>на рынке в 2024 году является </a:t>
            </a:r>
            <a:r>
              <a:rPr lang="en" sz="1200" dirty="0"/>
              <a:t>On-premise - </a:t>
            </a:r>
            <a:r>
              <a:rPr lang="ru-RU" sz="1200" dirty="0"/>
              <a:t>его доля составила примерно 63%. Такой спрос</a:t>
            </a:r>
            <a:r>
              <a:rPr lang="en-US" sz="1200" dirty="0"/>
              <a:t> </a:t>
            </a:r>
            <a:r>
              <a:rPr lang="ru-RU" sz="1200" dirty="0"/>
              <a:t>на необлачные решения объясняется</a:t>
            </a:r>
            <a:r>
              <a:rPr lang="en-US" sz="1200" dirty="0"/>
              <a:t> </a:t>
            </a:r>
            <a:r>
              <a:rPr lang="ru-RU" sz="1200" dirty="0"/>
              <a:t>усиливающимся трендом на кибербезопасность</a:t>
            </a:r>
            <a:r>
              <a:rPr lang="en-US" sz="1200" dirty="0"/>
              <a:t> </a:t>
            </a:r>
            <a:r>
              <a:rPr lang="ru-RU" sz="1200" dirty="0"/>
              <a:t>и опасениями бизнеса на фоне атак на</a:t>
            </a:r>
            <a:r>
              <a:rPr lang="en-US" sz="1200" dirty="0"/>
              <a:t> </a:t>
            </a:r>
            <a:r>
              <a:rPr lang="ru-RU" sz="1200" dirty="0"/>
              <a:t>корпоративную инфраструктуру данных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Интеграция ПО с оборудованием в сегменте ВКС: возрастает значение комплексных решений, где софт для видеоконференцсвязи интегрирован с оборудованием (камеры, терминалы, системы звукопередачи)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Консолидация рынка: крупнейшие игроки в сегменте «корпоративная связь и взаимодействие» наращивают доли рынка, в 2023 г. топ-5 компаний занимали 62% рынка, в 2024 г. на топ-5 игроков пришлось 69%. В сегменте «офисное ПО» доли российских компаний-лидеров не изменились, доля </a:t>
            </a:r>
            <a:r>
              <a:rPr lang="en" sz="1200" dirty="0"/>
              <a:t>Microsoft </a:t>
            </a:r>
            <a:r>
              <a:rPr lang="ru-RU" sz="1200" dirty="0"/>
              <a:t>снизилась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Появление российского национального мессенджера </a:t>
            </a:r>
            <a:r>
              <a:rPr lang="en" sz="1200" dirty="0"/>
              <a:t>Max </a:t>
            </a:r>
            <a:r>
              <a:rPr lang="ru-RU" sz="1200" dirty="0"/>
              <a:t>приводит к росту спроса на его интеграцию с различными бизнес-приложениями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В условиях высокой ключевой ставки проекты по внедрению в сегменте дробятся на более мелкие, при этом общий объем в деньгах сохраняется</a:t>
            </a:r>
            <a:r>
              <a:rPr lang="en-US" sz="1200" dirty="0"/>
              <a:t>.</a:t>
            </a:r>
            <a:endParaRPr lang="ru-RU" sz="1200" dirty="0"/>
          </a:p>
          <a:p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en-US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ru-RU" sz="105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Объем рынка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79" name="Rectangle 102">
            <a:extLst>
              <a:ext uri="{FF2B5EF4-FFF2-40B4-BE49-F238E27FC236}">
                <a16:creationId xmlns:a16="http://schemas.microsoft.com/office/drawing/2014/main" id="{4B9114F1-A8D5-A598-286E-BAEC0A1630E0}"/>
              </a:ext>
            </a:extLst>
          </p:cNvPr>
          <p:cNvSpPr/>
          <p:nvPr/>
        </p:nvSpPr>
        <p:spPr>
          <a:xfrm>
            <a:off x="144521" y="6488668"/>
            <a:ext cx="862329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</a:rPr>
              <a:t>Офисное ПО здесь и далее - редакторы документов и облачное хранилище (диск)</a:t>
            </a:r>
          </a:p>
          <a:p>
            <a:r>
              <a:rPr lang="ru-RU" sz="1200" dirty="0">
                <a:solidFill>
                  <a:schemeClr val="tx1"/>
                </a:solidFill>
              </a:rPr>
              <a:t>Источник: анализ </a:t>
            </a:r>
            <a:r>
              <a:rPr lang="en" sz="1200" dirty="0">
                <a:solidFill>
                  <a:schemeClr val="tx1"/>
                </a:solidFill>
              </a:rPr>
              <a:t>Strategy Partners</a:t>
            </a:r>
          </a:p>
        </p:txBody>
      </p:sp>
      <p:graphicFrame>
        <p:nvGraphicFramePr>
          <p:cNvPr id="89" name="Диаграмма 88">
            <a:extLst>
              <a:ext uri="{FF2B5EF4-FFF2-40B4-BE49-F238E27FC236}">
                <a16:creationId xmlns:a16="http://schemas.microsoft.com/office/drawing/2014/main" id="{2AFBF1FD-D0D1-9D75-9E19-767D1BF011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0458012"/>
              </p:ext>
            </p:extLst>
          </p:nvPr>
        </p:nvGraphicFramePr>
        <p:xfrm>
          <a:off x="269661" y="1729098"/>
          <a:ext cx="4995357" cy="307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90" name="Straight Connector 120">
            <a:extLst>
              <a:ext uri="{FF2B5EF4-FFF2-40B4-BE49-F238E27FC236}">
                <a16:creationId xmlns:a16="http://schemas.microsoft.com/office/drawing/2014/main" id="{5917B72E-6651-8DC7-C280-A4C1910B7532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auto">
          <a:xfrm flipV="1">
            <a:off x="897952" y="2676349"/>
            <a:ext cx="3861735" cy="666024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Текст 4">
            <a:extLst>
              <a:ext uri="{FF2B5EF4-FFF2-40B4-BE49-F238E27FC236}">
                <a16:creationId xmlns:a16="http://schemas.microsoft.com/office/drawing/2014/main" id="{800671B7-0971-2D70-3C9E-7FF21FCEBBB7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2498619" y="2842673"/>
            <a:ext cx="660400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ru-RU" b="1" dirty="0">
                <a:latin typeface="+mn-lt"/>
              </a:rPr>
              <a:t>+23%</a:t>
            </a:r>
          </a:p>
        </p:txBody>
      </p: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AC4791C6-128C-BD9F-28C4-227CF8E7DC3B}"/>
              </a:ext>
            </a:extLst>
          </p:cNvPr>
          <p:cNvSpPr txBox="1">
            <a:spLocks/>
          </p:cNvSpPr>
          <p:nvPr/>
        </p:nvSpPr>
        <p:spPr>
          <a:xfrm>
            <a:off x="5513117" y="1536192"/>
            <a:ext cx="3630883" cy="4120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Основные движущие факторы</a:t>
            </a:r>
          </a:p>
          <a:p>
            <a:r>
              <a:rPr lang="ru-RU" sz="1200" dirty="0"/>
              <a:t>Сегмент офисного ПО будет расти в среднем на 33% в год преимущественно за счет реализации «отложенного спроса» на офисное ПО с 2024 года (переход компаний с бесплатного </a:t>
            </a:r>
            <a:r>
              <a:rPr lang="en" sz="1200" dirty="0"/>
              <a:t>MS Office </a:t>
            </a:r>
            <a:r>
              <a:rPr lang="ru-RU" sz="1200" dirty="0"/>
              <a:t>на платные решения от российских вендоров по мере их улучшения)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Рост закупок офисного ПО ускорится на горизонте 2026-2027 гг. ввиду устаревания закупленных версий иностранного офисного ПО и необходимости их замены на актуальные доступные аналоги от российских вендоров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Рынок корпоративной связи и взаимодействия будет расти со средним темпом 16% в год за счет повышения уровня проникновения в бизнес, развития продуктов российских вендоров и появления новых продуктов в сегменте</a:t>
            </a:r>
            <a:r>
              <a:rPr lang="en-US" sz="1200" dirty="0"/>
              <a:t>.</a:t>
            </a:r>
            <a:endParaRPr lang="ru-RU" sz="1200" dirty="0"/>
          </a:p>
          <a:p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5667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Объем рынка с учетом отложенного спроса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79" name="Rectangle 102">
            <a:extLst>
              <a:ext uri="{FF2B5EF4-FFF2-40B4-BE49-F238E27FC236}">
                <a16:creationId xmlns:a16="http://schemas.microsoft.com/office/drawing/2014/main" id="{4B9114F1-A8D5-A598-286E-BAEC0A1630E0}"/>
              </a:ext>
            </a:extLst>
          </p:cNvPr>
          <p:cNvSpPr/>
          <p:nvPr/>
        </p:nvSpPr>
        <p:spPr>
          <a:xfrm>
            <a:off x="144521" y="6451735"/>
            <a:ext cx="862329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Bef>
                <a:spcPct val="20000"/>
              </a:spcBef>
              <a:buFont typeface="Arial"/>
            </a:pPr>
            <a:r>
              <a:rPr lang="ru-RU" sz="1200" dirty="0">
                <a:solidFill>
                  <a:schemeClr val="tx1"/>
                </a:solidFill>
              </a:rPr>
              <a:t>Источник: СПАРК, интервью с экспертами, открытые источники, анализ </a:t>
            </a:r>
            <a:r>
              <a:rPr lang="en" sz="1200" dirty="0">
                <a:solidFill>
                  <a:schemeClr val="tx1"/>
                </a:solidFill>
              </a:rPr>
              <a:t>Strategy Partners</a:t>
            </a:r>
            <a:r>
              <a:rPr lang="ru-RU" sz="1200" dirty="0">
                <a:solidFill>
                  <a:schemeClr val="tx1"/>
                </a:solidFill>
              </a:rPr>
              <a:t> - оценка отложенного спроса проведена на основании интервью с отраслевыми экспертами и интеграторами</a:t>
            </a:r>
          </a:p>
        </p:txBody>
      </p: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AC4791C6-128C-BD9F-28C4-227CF8E7DC3B}"/>
              </a:ext>
            </a:extLst>
          </p:cNvPr>
          <p:cNvSpPr txBox="1">
            <a:spLocks/>
          </p:cNvSpPr>
          <p:nvPr/>
        </p:nvSpPr>
        <p:spPr>
          <a:xfrm>
            <a:off x="5513117" y="1536192"/>
            <a:ext cx="3630883" cy="45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Особенности роста</a:t>
            </a:r>
          </a:p>
          <a:p>
            <a:r>
              <a:rPr lang="ru-RU" sz="1200" dirty="0"/>
              <a:t>Часть пользователей офисного ПО с 2022 года перешла в отложенный спрос из-за ухода ключевого вендора корпоративного ПО - </a:t>
            </a:r>
            <a:r>
              <a:rPr lang="en" sz="1200" dirty="0"/>
              <a:t>Microsoft</a:t>
            </a:r>
            <a:r>
              <a:rPr lang="ru-RU" sz="1200" dirty="0"/>
              <a:t> в сегменте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Сегмент офисного ПО будет долго восстанавливаться после ухода зарубежных вендоров из-за значительной доли бессрочных лицензий </a:t>
            </a:r>
            <a:r>
              <a:rPr lang="en" sz="1200" dirty="0"/>
              <a:t>Microsoft </a:t>
            </a:r>
            <a:r>
              <a:rPr lang="ru-RU" sz="1200" dirty="0"/>
              <a:t>у бизнеса, рынок превысит объем 2021 г. Лишь в 2030 г.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Реализация отложенного спроса начнет ускоряться после 2025 года, так как крупный и средний бизнес начинает целенаправленно переходить на офисное ПО от российских вендоров ввиду требований по кибербезопасности и необходимости в получении поддержки от вендоров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Отложенный спрос формируется из клиентов, которые продолжают использовать зарубежные продукты по бессрочным лицензиям или без лицензий, не оплачивая техподдержку и временно не переходя на новое ПО</a:t>
            </a:r>
            <a:r>
              <a:rPr lang="en-US" sz="1200" dirty="0"/>
              <a:t>.</a:t>
            </a:r>
            <a:endParaRPr lang="ru-RU" sz="1200" dirty="0"/>
          </a:p>
          <a:p>
            <a:endParaRPr lang="ru-RU" sz="9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ru-RU" sz="1200" b="1" dirty="0"/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AE342B58-A48C-DEA9-9565-9BA897D83E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2549193"/>
              </p:ext>
            </p:extLst>
          </p:nvPr>
        </p:nvGraphicFramePr>
        <p:xfrm>
          <a:off x="386949" y="1454464"/>
          <a:ext cx="4572000" cy="318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5" name="Straight Connector 120">
            <a:extLst>
              <a:ext uri="{FF2B5EF4-FFF2-40B4-BE49-F238E27FC236}">
                <a16:creationId xmlns:a16="http://schemas.microsoft.com/office/drawing/2014/main" id="{94E9B4E6-F848-AD73-BDDA-5807CAA657D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auto">
          <a:xfrm flipV="1">
            <a:off x="806517" y="2168879"/>
            <a:ext cx="3861735" cy="666024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Текст 4">
            <a:extLst>
              <a:ext uri="{FF2B5EF4-FFF2-40B4-BE49-F238E27FC236}">
                <a16:creationId xmlns:a16="http://schemas.microsoft.com/office/drawing/2014/main" id="{EB7D6FAD-F0D8-6E1D-E8A6-18C40E3E2686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2407184" y="2335203"/>
            <a:ext cx="660400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ru-RU" b="1" dirty="0">
                <a:latin typeface="+mn-lt"/>
              </a:rPr>
              <a:t>+14%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1623FA37-E45F-42E4-8D94-21B27C2DBE42}"/>
              </a:ext>
            </a:extLst>
          </p:cNvPr>
          <p:cNvSpPr>
            <a:spLocks noGrp="1"/>
          </p:cNvSpPr>
          <p:nvPr/>
        </p:nvSpPr>
        <p:spPr bwMode="gray">
          <a:xfrm>
            <a:off x="4299063" y="2316123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ru-RU" sz="1100" dirty="0"/>
              <a:t>175</a:t>
            </a:r>
            <a:endParaRPr lang="ru-RU" sz="1400" dirty="0"/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FB8CBF5-A317-42CE-982A-F2B414ADD290}"/>
              </a:ext>
            </a:extLst>
          </p:cNvPr>
          <p:cNvSpPr>
            <a:spLocks noGrp="1"/>
          </p:cNvSpPr>
          <p:nvPr/>
        </p:nvSpPr>
        <p:spPr bwMode="gray">
          <a:xfrm>
            <a:off x="3738897" y="2433608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ru-RU" sz="1100" dirty="0"/>
              <a:t>159</a:t>
            </a:r>
            <a:endParaRPr lang="ru-RU" sz="1400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28E903DD-F9CC-41C6-8C34-45B97FB92C18}"/>
              </a:ext>
            </a:extLst>
          </p:cNvPr>
          <p:cNvSpPr>
            <a:spLocks noGrp="1"/>
          </p:cNvSpPr>
          <p:nvPr/>
        </p:nvSpPr>
        <p:spPr bwMode="gray">
          <a:xfrm>
            <a:off x="3131166" y="2551093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ru-RU" sz="1100" dirty="0"/>
              <a:t>144</a:t>
            </a:r>
            <a:endParaRPr lang="ru-RU" sz="1400" dirty="0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CA52F9AD-E6A9-49C1-B184-CD6EDCD54E48}"/>
              </a:ext>
            </a:extLst>
          </p:cNvPr>
          <p:cNvSpPr>
            <a:spLocks noGrp="1"/>
          </p:cNvSpPr>
          <p:nvPr/>
        </p:nvSpPr>
        <p:spPr bwMode="gray">
          <a:xfrm>
            <a:off x="2564468" y="2634560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ru-RU" sz="1100" dirty="0"/>
              <a:t>130</a:t>
            </a:r>
            <a:endParaRPr lang="ru-RU" sz="1400" dirty="0"/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5F3869F4-D15E-4C7B-A828-8F778FE4F511}"/>
              </a:ext>
            </a:extLst>
          </p:cNvPr>
          <p:cNvSpPr>
            <a:spLocks noGrp="1"/>
          </p:cNvSpPr>
          <p:nvPr/>
        </p:nvSpPr>
        <p:spPr bwMode="gray">
          <a:xfrm>
            <a:off x="1977636" y="2722623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ru-RU" sz="1100" dirty="0"/>
              <a:t>118</a:t>
            </a:r>
            <a:endParaRPr lang="ru-RU" sz="1400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E02AEA05-4C60-47A4-8687-60733493B119}"/>
              </a:ext>
            </a:extLst>
          </p:cNvPr>
          <p:cNvSpPr>
            <a:spLocks noGrp="1"/>
          </p:cNvSpPr>
          <p:nvPr/>
        </p:nvSpPr>
        <p:spPr bwMode="gray">
          <a:xfrm>
            <a:off x="1400922" y="2805700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ru-RU" sz="1100" dirty="0"/>
              <a:t>108</a:t>
            </a:r>
            <a:endParaRPr lang="ru-RU" sz="1400" dirty="0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424EC495-2930-4347-8B08-541AAC7E77B2}"/>
              </a:ext>
            </a:extLst>
          </p:cNvPr>
          <p:cNvSpPr>
            <a:spLocks noGrp="1"/>
          </p:cNvSpPr>
          <p:nvPr/>
        </p:nvSpPr>
        <p:spPr bwMode="gray">
          <a:xfrm>
            <a:off x="839700" y="2866769"/>
            <a:ext cx="427003" cy="23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ru-RU" sz="1100" dirty="0"/>
              <a:t>98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564814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Конкуренты 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AC4791C6-128C-BD9F-28C4-227CF8E7DC3B}"/>
              </a:ext>
            </a:extLst>
          </p:cNvPr>
          <p:cNvSpPr txBox="1">
            <a:spLocks/>
          </p:cNvSpPr>
          <p:nvPr/>
        </p:nvSpPr>
        <p:spPr>
          <a:xfrm>
            <a:off x="213419" y="5935170"/>
            <a:ext cx="9144000" cy="421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В сегменте наблюдается высокий уровень концентрации - 64% рынка занимают 5 крупнейших игроков</a:t>
            </a:r>
            <a:r>
              <a:rPr lang="en-US" sz="1200" dirty="0"/>
              <a:t>.</a:t>
            </a:r>
            <a:endParaRPr lang="ru-RU" sz="1200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A6D62612-F03B-1CD9-252C-C424944FAD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4464591"/>
              </p:ext>
            </p:extLst>
          </p:nvPr>
        </p:nvGraphicFramePr>
        <p:xfrm>
          <a:off x="457201" y="1613597"/>
          <a:ext cx="4114800" cy="3288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29FD5D91-B39D-7E59-4159-E9013EC6EF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0658603"/>
              </p:ext>
            </p:extLst>
          </p:nvPr>
        </p:nvGraphicFramePr>
        <p:xfrm>
          <a:off x="4329629" y="1755887"/>
          <a:ext cx="4692467" cy="2926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102">
            <a:extLst>
              <a:ext uri="{FF2B5EF4-FFF2-40B4-BE49-F238E27FC236}">
                <a16:creationId xmlns:a16="http://schemas.microsoft.com/office/drawing/2014/main" id="{9682636D-0E83-4518-BBEB-F7337DD29FF7}"/>
              </a:ext>
            </a:extLst>
          </p:cNvPr>
          <p:cNvSpPr/>
          <p:nvPr/>
        </p:nvSpPr>
        <p:spPr>
          <a:xfrm>
            <a:off x="144521" y="6629142"/>
            <a:ext cx="862329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Bef>
                <a:spcPct val="20000"/>
              </a:spcBef>
              <a:buFont typeface="Arial"/>
            </a:pPr>
            <a:r>
              <a:rPr lang="ru-RU" sz="1200" dirty="0">
                <a:solidFill>
                  <a:schemeClr val="tx1"/>
                </a:solidFill>
              </a:rPr>
              <a:t>Источник: анализ </a:t>
            </a:r>
            <a:r>
              <a:rPr lang="en" sz="1200" dirty="0">
                <a:solidFill>
                  <a:schemeClr val="tx1"/>
                </a:solidFill>
              </a:rPr>
              <a:t>Strategy Partners</a:t>
            </a:r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107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Рынок Почтовых сервисов </a:t>
            </a:r>
            <a:r>
              <a:rPr lang="en" dirty="0"/>
              <a:t>on-prem</a:t>
            </a:r>
            <a:r>
              <a:rPr lang="ru-RU" dirty="0"/>
              <a:t> 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B8D9BE6-645B-BD6A-E690-19957D428558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6C2F445D-E0AB-4D86-A5E2-75185CC8751D}" type="slidenum">
              <a:rPr lang="ru-RU" sz="800" smtClean="0">
                <a:solidFill>
                  <a:srgbClr val="000000">
                    <a:tint val="75000"/>
                  </a:srgbClr>
                </a:solidFill>
                <a:latin typeface="SF Pro Text Light" panose="020B0603020202020204"/>
              </a:rPr>
              <a:pPr algn="r" defTabSz="914400">
                <a:defRPr/>
              </a:pPr>
              <a:t>7</a:t>
            </a:fld>
            <a:endParaRPr lang="ru-RU" sz="800">
              <a:solidFill>
                <a:srgbClr val="000000">
                  <a:tint val="75000"/>
                </a:srgbClr>
              </a:solidFill>
              <a:latin typeface="SF Pro Text Light" panose="020B0603020202020204"/>
            </a:endParaRPr>
          </a:p>
        </p:txBody>
      </p:sp>
      <p:sp>
        <p:nvSpPr>
          <p:cNvPr id="6" name="Rectangle 114">
            <a:extLst>
              <a:ext uri="{FF2B5EF4-FFF2-40B4-BE49-F238E27FC236}">
                <a16:creationId xmlns:a16="http://schemas.microsoft.com/office/drawing/2014/main" id="{9C389AB5-5FF8-89E0-96A7-C971F68F59CE}"/>
              </a:ext>
            </a:extLst>
          </p:cNvPr>
          <p:cNvSpPr/>
          <p:nvPr/>
        </p:nvSpPr>
        <p:spPr>
          <a:xfrm>
            <a:off x="627275" y="1557607"/>
            <a:ext cx="1754717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</a:rPr>
              <a:t>Рынок Почт с разными моделями поставки, млрд руб.</a:t>
            </a:r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52427EAE-562F-0F6B-4102-C1605C17CF2D}"/>
              </a:ext>
            </a:extLst>
          </p:cNvPr>
          <p:cNvSpPr/>
          <p:nvPr/>
        </p:nvSpPr>
        <p:spPr>
          <a:xfrm>
            <a:off x="279274" y="6084334"/>
            <a:ext cx="8693800" cy="777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</a:rPr>
              <a:t>Источники: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</a:rPr>
              <a:t>Рынок Почт с разными моделями поставки - оценка </a:t>
            </a:r>
            <a:r>
              <a:rPr lang="en-US" sz="1200" dirty="0">
                <a:solidFill>
                  <a:schemeClr val="tx1"/>
                </a:solidFill>
              </a:rPr>
              <a:t>Bottom-Up </a:t>
            </a:r>
            <a:r>
              <a:rPr lang="ru-RU" sz="1200" dirty="0">
                <a:solidFill>
                  <a:schemeClr val="tx1"/>
                </a:solidFill>
              </a:rPr>
              <a:t>от количества рабочих мест, использующих почтовые сервисы. Распределение </a:t>
            </a:r>
            <a:r>
              <a:rPr lang="en-US" sz="1200" dirty="0">
                <a:solidFill>
                  <a:schemeClr val="tx1"/>
                </a:solidFill>
              </a:rPr>
              <a:t>SaaS/On-Prem </a:t>
            </a:r>
            <a:r>
              <a:rPr lang="ru-RU" sz="1200" dirty="0">
                <a:solidFill>
                  <a:schemeClr val="tx1"/>
                </a:solidFill>
              </a:rPr>
              <a:t>на основе отчета ККС </a:t>
            </a:r>
            <a:r>
              <a:rPr lang="en-US" sz="1200" dirty="0">
                <a:solidFill>
                  <a:schemeClr val="tx1"/>
                </a:solidFill>
              </a:rPr>
              <a:t>SPEKTR, 2023</a:t>
            </a:r>
            <a:r>
              <a:rPr lang="ru-RU" sz="1200" dirty="0">
                <a:solidFill>
                  <a:schemeClr val="tx1"/>
                </a:solidFill>
              </a:rPr>
              <a:t>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Прогноз проникновения РФ-решений в рынок </a:t>
            </a:r>
            <a:r>
              <a:rPr lang="en-US" sz="1200" dirty="0">
                <a:solidFill>
                  <a:schemeClr val="tx1"/>
                </a:solidFill>
              </a:rPr>
              <a:t>On-Prem </a:t>
            </a:r>
            <a:r>
              <a:rPr lang="ru-RU" sz="1200" dirty="0">
                <a:solidFill>
                  <a:schemeClr val="tx1"/>
                </a:solidFill>
              </a:rPr>
              <a:t>почты на основе отчета </a:t>
            </a:r>
            <a:r>
              <a:rPr lang="en-US" sz="1200" dirty="0" err="1">
                <a:solidFill>
                  <a:schemeClr val="tx1"/>
                </a:solidFill>
              </a:rPr>
              <a:t>J’son</a:t>
            </a:r>
            <a:r>
              <a:rPr lang="en-US" sz="1200" dirty="0">
                <a:solidFill>
                  <a:schemeClr val="tx1"/>
                </a:solidFill>
              </a:rPr>
              <a:t> &amp; Partners, 2024</a:t>
            </a:r>
          </a:p>
        </p:txBody>
      </p:sp>
      <p:sp>
        <p:nvSpPr>
          <p:cNvPr id="19" name="Rectangle 114">
            <a:extLst>
              <a:ext uri="{FF2B5EF4-FFF2-40B4-BE49-F238E27FC236}">
                <a16:creationId xmlns:a16="http://schemas.microsoft.com/office/drawing/2014/main" id="{31C5C35E-C48D-5848-A866-B3D598FEB334}"/>
              </a:ext>
            </a:extLst>
          </p:cNvPr>
          <p:cNvSpPr/>
          <p:nvPr/>
        </p:nvSpPr>
        <p:spPr>
          <a:xfrm>
            <a:off x="4776631" y="1504626"/>
            <a:ext cx="431021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</a:rPr>
              <a:t>Рынок </a:t>
            </a:r>
            <a:r>
              <a:rPr lang="en-US" sz="1200" dirty="0">
                <a:solidFill>
                  <a:schemeClr val="tx1"/>
                </a:solidFill>
              </a:rPr>
              <a:t>On-prem </a:t>
            </a:r>
            <a:r>
              <a:rPr lang="ru-RU" sz="1200" dirty="0">
                <a:solidFill>
                  <a:schemeClr val="tx1"/>
                </a:solidFill>
              </a:rPr>
              <a:t>Почт по типу игроков, млрд руб.</a:t>
            </a: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DFDE54F8-785D-DDB6-A7FB-3B19C4C896E0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1948424"/>
              </p:ext>
            </p:extLst>
          </p:nvPr>
        </p:nvGraphicFramePr>
        <p:xfrm>
          <a:off x="595313" y="2263775"/>
          <a:ext cx="1722437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4"/>
          </a:graphicData>
        </a:graphic>
      </p:graphicFrame>
      <p:sp useBgFill="1">
        <p:nvSpPr>
          <p:cNvPr id="21" name="Полилиния 20">
            <a:extLst>
              <a:ext uri="{FF2B5EF4-FFF2-40B4-BE49-F238E27FC236}">
                <a16:creationId xmlns:a16="http://schemas.microsoft.com/office/drawing/2014/main" id="{C66615F6-FE05-4B4B-1740-92FCFC7BDFC3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428873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DAFCA7E-C8C2-765C-6B6E-73A2290684B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86023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0F9A38A5-724B-0A15-0621-895B7858DAB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428873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460C4EA1-B8B9-16E8-05CD-37DDF74034F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1639888" y="2659063"/>
            <a:ext cx="433390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532DD9B-DD7D-4BC8-8E65-6A7EE4B1D647}" type="datetime'''''''''''''''''''''''''''''6'''''''''''''''',''''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62EE5B54-E26D-419E-8ECA-8F32353463B1}" type="datetime'4''''''''''''''''''''''0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9B380731-9EBE-B5B4-E481-4A0A1C4C4F5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1637506" y="4002934"/>
            <a:ext cx="433390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7DA24D2-F00F-4869-8672-C1F850ED5FCB}" type="datetime'''''''''''1''''''0'''''''''''''''''''''''''''',2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10,2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0840EA7-0FD9-44CB-851A-958CE6D8D9B2}" type="datetime'''''''''''60''''''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4A9E2649-578F-B2F6-46BA-CAEE851CC0D3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1658284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2DAA01D1-F297-D595-2C2B-B5938D3290C9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799782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FC1B37A7-E326-F56F-5DA3-4F9D9AEF7D4F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831851" y="4114800"/>
            <a:ext cx="407987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E12D2A-7947-4A11-8054-2051B09BEB95}" type="datetime'''''''''''''''''''''''''''''''''''9,''''''1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06A1E7-BA5D-489B-92A0-BAC3B0146547}" type="datetime'''''68''''''''%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68%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543F74B3-BA70-F0DC-65B1-9F60B03FB4F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836613" y="3032125"/>
            <a:ext cx="403225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793F416-57F3-4C2E-BD1C-65A37EB9102C}" type="datetime'4'''''''''''''''''''''''''',''''''3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C421E9F-AFBD-44D2-A800-43BE714DA2A8}" type="datetime'''''''''''''3''''''''2''''%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32%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0A7036A6-1F5A-7F07-39FF-A39785E4FB2C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764381" y="2670175"/>
            <a:ext cx="5429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0148FFC-6846-4220-8366-25A13BB86519}" type="datetime'''''''''''''''''1''''3'''''''',''''''''''''''''''4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13,4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F3250290-129D-EC7C-503F-E8A922615DD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1547022" y="2094046"/>
            <a:ext cx="5619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0AAD4EB-E8E7-49A6-8ECE-C05733FF6FFD}" type="datetime'''''''''''''''1''''6'''''',''''''''''''''''9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16,9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FD18A263-CE8D-5905-D72D-2023C52B59D5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D80E9CAC-7B5C-DB6B-4709-A7972B5706BC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6D164F3C-7D5F-AE6B-BFD8-A2CCA602AE41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89741E5F-EBBC-DAC1-C1B9-37F3504CAF44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36" name="Chart 3">
            <a:extLst>
              <a:ext uri="{FF2B5EF4-FFF2-40B4-BE49-F238E27FC236}">
                <a16:creationId xmlns:a16="http://schemas.microsoft.com/office/drawing/2014/main" id="{75F5890B-1E99-1801-38DF-10BD9A98F972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52217832"/>
              </p:ext>
            </p:extLst>
          </p:nvPr>
        </p:nvGraphicFramePr>
        <p:xfrm>
          <a:off x="4550413" y="2280872"/>
          <a:ext cx="4691990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5"/>
          </a:graphicData>
        </a:graphic>
      </p:graphicFrame>
      <p:sp>
        <p:nvSpPr>
          <p:cNvPr id="37" name="Текст 4">
            <a:extLst>
              <a:ext uri="{FF2B5EF4-FFF2-40B4-BE49-F238E27FC236}">
                <a16:creationId xmlns:a16="http://schemas.microsoft.com/office/drawing/2014/main" id="{D5ED3085-8BD0-2C78-82A0-12C54CEA89D2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4805826" y="4489131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3255E20-1905-4976-AF70-503A497055AB}" type="datetime'''''''''''''''''2'''''''',''''''''''''''''''''''''7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2,7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C5EC856-E1E1-4708-B41F-A7FCA167B8E9}" type="datetime'3''''''''''''''0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E2CE5D7A-6872-3F2A-8ED5-433347FC7FBE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4776631" y="5204942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C0217416-8E5D-63E6-A61E-2A2523400459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5691024" y="3033120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E775BCA-6683-4E27-AF04-7A3A2DFA78EF}" type="datetime'5,''''''''''6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5,6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609F9AB2-157F-4ACC-99DE-8758313128FA}" type="datetime'''''''''5''''''9%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59%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BAED1221-1731-B6E6-4371-B8A86BE06C26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5705163" y="4373257"/>
            <a:ext cx="514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D2F72F-A2CE-46CF-9AED-FB49CEF19E35}" type="datetime'''3'''''''''',''''''''''''''''''''''''''''''''''9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3,9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9E8C1C0-76C6-4573-A427-4B529C9BA4D8}" type="datetime'''''''''4''''''''''''''''1''''''''''''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41%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1D74FFC5-5658-5DD5-AF60-6116DF51582D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5715096" y="5178672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7F894D94-C9DB-2199-121C-0A4F22E66ADD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6619862" y="2724590"/>
            <a:ext cx="5397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E2664E6-75BA-493E-B0CE-EE026CB842CD}" type="datetime'''''''''3'',''''''''''''''''''''''4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3,4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C76394F-9945-4B61-A05D-2B94B39B6CFA}" type="datetime'''''''''''''''''''''''''''''''''''''''''''35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35%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F59886F8-4F77-1724-8931-EE75CC3167E9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6608059" y="4084639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D56C9C-0375-48F2-9E64-0613CEB81987}" type="datetime'''''''''''''''''6'''''''',''''''''''4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6,4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D82D54A-8F0E-4255-8E34-1D62F9C2331F}" type="datetime'''''''''''6''''''''''''''''''''''''''''5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65%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7D3FFE87-593B-533E-D97E-321551A7A5B2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6663316" y="5176535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5" name="Текст 4">
            <a:extLst>
              <a:ext uri="{FF2B5EF4-FFF2-40B4-BE49-F238E27FC236}">
                <a16:creationId xmlns:a16="http://schemas.microsoft.com/office/drawing/2014/main" id="{431118DD-BDED-688E-AE3C-B5F0406EB3A2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7562669" y="2531759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478783D-2D40-4E94-A2C3-D3A343422664}" type="datetime'''''''''''''''''''''''''3'''''''''''''''',''''''''''0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3,0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DB25301-DF92-4792-8408-BAD1A6DCF57E}" type="datetime'''''''''''''''3''''''''''''''''''''''''''''''''''''''''0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EFDAC264-323E-F27D-6078-D094A77742F4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4825843" y="3336406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A7C30FF-9D9D-47A2-A5F3-3D364E9C41F6}" type="datetime'''''6'''''',''''''''''''''''4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6,4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FF53A5D-5894-46E6-AF87-41D10C2348B0}" type="datetime'7''''''''''''''''''0''''''''%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7" name="Текст 4">
            <a:extLst>
              <a:ext uri="{FF2B5EF4-FFF2-40B4-BE49-F238E27FC236}">
                <a16:creationId xmlns:a16="http://schemas.microsoft.com/office/drawing/2014/main" id="{68079804-CE2E-D247-05FB-891143EE1B16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7566604" y="5145881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6A9EE33E-9623-08F3-9783-5254328D1056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8463034" y="2501008"/>
            <a:ext cx="5381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0289A30-9C4E-4C96-AF30-C753DF62CD0D}" type="datetime'2'''',''''''''''6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2,6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8EF27F4C-8A4A-4BCF-8099-FBD6FEA43328}" type="datetime'''''''''''''''''26''''''''''''''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26%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9" name="Текст 4">
            <a:extLst>
              <a:ext uri="{FF2B5EF4-FFF2-40B4-BE49-F238E27FC236}">
                <a16:creationId xmlns:a16="http://schemas.microsoft.com/office/drawing/2014/main" id="{1DA7E153-1AC9-E657-8A0D-23BC6A14B3FA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8507936" y="3829157"/>
            <a:ext cx="465138" cy="4699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4D48B2D-9B00-43F5-BE6E-46EAA29A91D0}" type="datetime'''''''''''''''''''''7'',''''''''5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FD495D-AEC6-455D-A1AE-15DB935E9661}" type="datetime'''''''''''''''''''7''''''''''4''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74%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41FD7630-E445-E3F4-E836-27D32EF93764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8525706" y="5147301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1" name="Текст 4">
            <a:extLst>
              <a:ext uri="{FF2B5EF4-FFF2-40B4-BE49-F238E27FC236}">
                <a16:creationId xmlns:a16="http://schemas.microsoft.com/office/drawing/2014/main" id="{3C22BCB7-DF44-4EB0-2E1B-048BCE21C939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4883267" y="2387874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6F15AE-9222-43C5-B100-95FD2047CE7A}" type="datetime'9'''''',''''''''''''''''''''''''''''1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0AD3627C-3BE3-FD59-FE40-389801C70FB4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5832891" y="2233637"/>
            <a:ext cx="3222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A19D00B-1377-4849-A1B7-4823FFC1FF43}" type="datetime'''''''''''''''''''''''''''9'',''''''''5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3780E705-CDC6-E9BF-0255-D559672FBEE0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gray">
          <a:xfrm>
            <a:off x="6716009" y="2133294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BFE8365-821E-4554-BB61-E78C057940CE}" type="datetime'''''''''9'''''''''''''''''''''''',''''8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4" name="Текст 4">
            <a:extLst>
              <a:ext uri="{FF2B5EF4-FFF2-40B4-BE49-F238E27FC236}">
                <a16:creationId xmlns:a16="http://schemas.microsoft.com/office/drawing/2014/main" id="{74906B78-4F7A-54E9-0094-EB2645285D01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gray">
          <a:xfrm>
            <a:off x="7602881" y="2137221"/>
            <a:ext cx="403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2DD9B22-6540-4A92-9ECE-DF81AB210021}" type="datetime'''10'''''''''''''''''''''''''''',''''''0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10,0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DCBD58C2-918F-7350-B292-49F9CEEF484A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gray">
          <a:xfrm>
            <a:off x="8521935" y="2042953"/>
            <a:ext cx="3984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D94578D-30CA-47A3-8AA4-EF397E215ED4}" type="datetime'''''1''''''''''0,''''''''''''''''''2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10,2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F32E67E5-CA2A-0CCC-F513-81E720F313CF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541468" y="3886688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CC21724-273A-406B-97F8-E65BCDDA4C46}" type="datetime'''''''''6'',''''''''''''''''''''''''''9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6,9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C51DCBB-39DF-43EA-B756-74DD03B6F373}" type="datetime'''''''''''''''''''''''''''7''''''''0''''''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70%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57" name="Rectangle 109">
            <a:extLst>
              <a:ext uri="{FF2B5EF4-FFF2-40B4-BE49-F238E27FC236}">
                <a16:creationId xmlns:a16="http://schemas.microsoft.com/office/drawing/2014/main" id="{8D0AAFB5-E537-524F-552A-30F1C928F851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461387" y="5585849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8" name="Rectangle 119">
            <a:extLst>
              <a:ext uri="{FF2B5EF4-FFF2-40B4-BE49-F238E27FC236}">
                <a16:creationId xmlns:a16="http://schemas.microsoft.com/office/drawing/2014/main" id="{EC485A63-E3C6-AA74-389B-313A56DFB1A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461387" y="5871599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3DCE0019-0923-C134-B379-102E57189FF6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auto">
          <a:xfrm>
            <a:off x="3763012" y="5565212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854F57-2A82-4674-AA7C-964B8C1CE76F}" type="datetime'З''''''''''''''''''''''''ар''убеж''''''ные ''и''''''гроки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2F064A9F-60DB-6C75-F6EC-9913786D2764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auto">
          <a:xfrm>
            <a:off x="3763012" y="5850962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2" name="Connector: Elbow 27">
            <a:extLst>
              <a:ext uri="{FF2B5EF4-FFF2-40B4-BE49-F238E27FC236}">
                <a16:creationId xmlns:a16="http://schemas.microsoft.com/office/drawing/2014/main" id="{AD09CC8D-E8D3-4947-C53B-E5F87B34B0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82010" y="1279100"/>
            <a:ext cx="7004840" cy="2161880"/>
          </a:xfrm>
          <a:prstGeom prst="bentConnector3">
            <a:avLst>
              <a:gd name="adj1" fmla="val 88019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Chart 3">
            <a:extLst>
              <a:ext uri="{FF2B5EF4-FFF2-40B4-BE49-F238E27FC236}">
                <a16:creationId xmlns:a16="http://schemas.microsoft.com/office/drawing/2014/main" id="{60EFE4F3-AAE8-5DF0-E12A-DD425D4E86C5}"/>
              </a:ext>
            </a:extLst>
          </p:cNvPr>
          <p:cNvGraphicFramePr/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229662803"/>
              </p:ext>
            </p:extLst>
          </p:nvPr>
        </p:nvGraphicFramePr>
        <p:xfrm>
          <a:off x="2896238" y="2637696"/>
          <a:ext cx="2103437" cy="2770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6"/>
          </a:graphicData>
        </a:graphic>
      </p:graphicFrame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062AFD60-BD5E-4A36-47EB-AF52214D5B99}"/>
              </a:ext>
            </a:extLst>
          </p:cNvPr>
          <p:cNvCxnSpPr/>
          <p:nvPr>
            <p:custDataLst>
              <p:tags r:id="rId43"/>
            </p:custDataLst>
          </p:nvPr>
        </p:nvCxnSpPr>
        <p:spPr bwMode="auto">
          <a:xfrm flipH="1">
            <a:off x="4156713" y="4723671"/>
            <a:ext cx="93662" cy="1841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2BBFD4AD-3DB2-1E8D-1F8C-5749EB4DFA3A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 flipH="1">
            <a:off x="4156713" y="4958621"/>
            <a:ext cx="93662" cy="130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Текст 4">
            <a:extLst>
              <a:ext uri="{FF2B5EF4-FFF2-40B4-BE49-F238E27FC236}">
                <a16:creationId xmlns:a16="http://schemas.microsoft.com/office/drawing/2014/main" id="{BBAA8B5D-E782-B4FC-8C31-D00F89DEDE47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gray">
          <a:xfrm>
            <a:off x="3793176" y="2683733"/>
            <a:ext cx="3079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903E4BD-EE79-4328-9087-41DF3F8001B8}" type="datetime'''''''''''''''2'''''''''''''''',''''''''''''''7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7" name="Текст 4">
            <a:extLst>
              <a:ext uri="{FF2B5EF4-FFF2-40B4-BE49-F238E27FC236}">
                <a16:creationId xmlns:a16="http://schemas.microsoft.com/office/drawing/2014/main" id="{DCF17A57-AF8C-901A-4822-A3D6ABE6F26D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gray">
          <a:xfrm>
            <a:off x="3675700" y="3355246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A0DF531-B817-4305-A587-1480B957FC48}" type="datetime'''''''''''''''''1'''''''''''''''''''''',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1,6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EF49CB8-AE76-491D-BA70-6F7BB2251FE7}" type="datetime'''''''6''''''''''''''''0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8" name="Текст 4">
            <a:extLst>
              <a:ext uri="{FF2B5EF4-FFF2-40B4-BE49-F238E27FC236}">
                <a16:creationId xmlns:a16="http://schemas.microsoft.com/office/drawing/2014/main" id="{70FD7040-082B-7DDE-97F0-628C994034C4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gray">
          <a:xfrm>
            <a:off x="3210277" y="4922060"/>
            <a:ext cx="706982" cy="160707"/>
          </a:xfrm>
          <a:prstGeom prst="rect">
            <a:avLst/>
          </a:prstGeom>
          <a:solidFill>
            <a:srgbClr val="CCE4F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D4CA467-A329-4096-9588-2194683653EC}" type="datetime'''''''''''0'''',1''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(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4%)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22E14E6B-BF88-2991-D27C-58707CE892C4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3724913" y="5195158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CCCC307E-045D-E22F-3F61-F07CCB74C2F7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3275313" y="4703602"/>
            <a:ext cx="813704" cy="174292"/>
          </a:xfrm>
          <a:prstGeom prst="rect">
            <a:avLst/>
          </a:prstGeom>
          <a:solidFill>
            <a:srgbClr val="1AB0B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A525BB0-96A8-449B-B0B0-1A719EDF4264}" type="datetime'''''''''''''''''''''''''''''''''''''''0'',2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0,2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 (8%)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71" name="Straight Connector 237">
            <a:extLst>
              <a:ext uri="{FF2B5EF4-FFF2-40B4-BE49-F238E27FC236}">
                <a16:creationId xmlns:a16="http://schemas.microsoft.com/office/drawing/2014/main" id="{31713F55-1A61-188D-270C-F4311BBA55A5}"/>
              </a:ext>
            </a:extLst>
          </p:cNvPr>
          <p:cNvCxnSpPr>
            <a:cxnSpLocks/>
          </p:cNvCxnSpPr>
          <p:nvPr/>
        </p:nvCxnSpPr>
        <p:spPr>
          <a:xfrm>
            <a:off x="4227466" y="2943953"/>
            <a:ext cx="605360" cy="14459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114">
            <a:extLst>
              <a:ext uri="{FF2B5EF4-FFF2-40B4-BE49-F238E27FC236}">
                <a16:creationId xmlns:a16="http://schemas.microsoft.com/office/drawing/2014/main" id="{E5CF4028-F603-C559-9910-069B7891CA05}"/>
              </a:ext>
            </a:extLst>
          </p:cNvPr>
          <p:cNvSpPr/>
          <p:nvPr/>
        </p:nvSpPr>
        <p:spPr>
          <a:xfrm>
            <a:off x="3039516" y="1475110"/>
            <a:ext cx="1555201" cy="777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defTabSz="914400">
              <a:spcAft>
                <a:spcPts val="300"/>
              </a:spcAft>
              <a:defRPr/>
            </a:pPr>
            <a:r>
              <a:rPr lang="ru-RU" sz="1200" dirty="0">
                <a:solidFill>
                  <a:schemeClr val="tx1"/>
                </a:solidFill>
              </a:rPr>
              <a:t>Выручка Российских игроков </a:t>
            </a:r>
            <a:r>
              <a:rPr lang="en-US" sz="1200" dirty="0">
                <a:solidFill>
                  <a:schemeClr val="tx1"/>
                </a:solidFill>
              </a:rPr>
              <a:t>On-prem </a:t>
            </a:r>
            <a:endParaRPr lang="ru-RU" sz="1200" dirty="0">
              <a:solidFill>
                <a:schemeClr val="tx1"/>
              </a:solidFill>
            </a:endParaRPr>
          </a:p>
          <a:p>
            <a:pPr defTabSz="914400">
              <a:spcAft>
                <a:spcPts val="300"/>
              </a:spcAft>
              <a:defRPr/>
            </a:pPr>
            <a:r>
              <a:rPr lang="ru-RU" sz="1200" dirty="0">
                <a:solidFill>
                  <a:schemeClr val="tx1"/>
                </a:solidFill>
              </a:rPr>
              <a:t>Почт в 2023 г., млрд руб.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5EC56FF2-16A5-11D1-A8C0-5835CE8ED551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2432051" y="4805057"/>
            <a:ext cx="214312" cy="160338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A8E424E7-270B-407F-3B8A-6AEFBCB24892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2432051" y="3542995"/>
            <a:ext cx="214313" cy="16033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3F8C2C4F-8769-3051-3908-1C1B52ADC272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2432051" y="4552645"/>
            <a:ext cx="214313" cy="160338"/>
          </a:xfrm>
          <a:prstGeom prst="rect">
            <a:avLst/>
          </a:prstGeom>
          <a:solidFill>
            <a:srgbClr val="CCE4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DD4A20A2-DE07-D564-B834-EE6676179E2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2432051" y="3795407"/>
            <a:ext cx="214313" cy="160338"/>
          </a:xfrm>
          <a:prstGeom prst="rect">
            <a:avLst/>
          </a:prstGeom>
          <a:solidFill>
            <a:srgbClr val="99F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27F90B9A-A91F-08CC-C38D-054B5C2137B0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2432051" y="4300232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E5700FB7-ED02-DFC1-9C26-01E31F66D703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2432051" y="4047820"/>
            <a:ext cx="214313" cy="160338"/>
          </a:xfrm>
          <a:prstGeom prst="rect">
            <a:avLst/>
          </a:prstGeom>
          <a:solidFill>
            <a:srgbClr val="1AB0B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0" name="Текст 4">
            <a:extLst>
              <a:ext uri="{FF2B5EF4-FFF2-40B4-BE49-F238E27FC236}">
                <a16:creationId xmlns:a16="http://schemas.microsoft.com/office/drawing/2014/main" id="{CF2BFBE5-D6FA-82C5-E2B0-F440A36A330F}"/>
              </a:ext>
            </a:extLst>
          </p:cNvPr>
          <p:cNvSpPr>
            <a:spLocks noGrp="1"/>
          </p:cNvSpPr>
          <p:nvPr>
            <p:custDataLst>
              <p:tags r:id="rId56"/>
            </p:custDataLst>
          </p:nvPr>
        </p:nvSpPr>
        <p:spPr bwMode="auto">
          <a:xfrm>
            <a:off x="2697163" y="3523945"/>
            <a:ext cx="1984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F256E2A-A456-4401-81B4-C2FDEF187412}" type="datetime'''''''''''''''''''''V''''''''''''''''''''''K''''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1" name="Текст 4">
            <a:extLst>
              <a:ext uri="{FF2B5EF4-FFF2-40B4-BE49-F238E27FC236}">
                <a16:creationId xmlns:a16="http://schemas.microsoft.com/office/drawing/2014/main" id="{3E846A3B-929E-E5D7-6753-E34C6B9B2A39}"/>
              </a:ext>
            </a:extLst>
          </p:cNvPr>
          <p:cNvSpPr>
            <a:spLocks noGrp="1"/>
          </p:cNvSpPr>
          <p:nvPr>
            <p:custDataLst>
              <p:tags r:id="rId57"/>
            </p:custDataLst>
          </p:nvPr>
        </p:nvSpPr>
        <p:spPr bwMode="auto">
          <a:xfrm>
            <a:off x="2697163" y="4028770"/>
            <a:ext cx="766763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FCA4CBD-6BB6-41E8-9A63-E124C15016CF}" type="datetime'''''''''''''''''''''''Мо''''''''й'''''' ''О''''''ф''''ис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Мой Офис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2" name="Текст 4">
            <a:extLst>
              <a:ext uri="{FF2B5EF4-FFF2-40B4-BE49-F238E27FC236}">
                <a16:creationId xmlns:a16="http://schemas.microsoft.com/office/drawing/2014/main" id="{03106920-E0CE-26B4-D932-05534CFCD77C}"/>
              </a:ext>
            </a:extLst>
          </p:cNvPr>
          <p:cNvSpPr>
            <a:spLocks noGrp="1"/>
          </p:cNvSpPr>
          <p:nvPr>
            <p:custDataLst>
              <p:tags r:id="rId58"/>
            </p:custDataLst>
          </p:nvPr>
        </p:nvSpPr>
        <p:spPr bwMode="auto">
          <a:xfrm>
            <a:off x="2697163" y="4533595"/>
            <a:ext cx="5048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0E521DD-3844-4D0C-9C76-016CAEE72DBE}" type="datetime'R''''u''''''P''''''''''''o''''''''''s''t''''''''''''''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RuPost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3" name="Текст 4">
            <a:extLst>
              <a:ext uri="{FF2B5EF4-FFF2-40B4-BE49-F238E27FC236}">
                <a16:creationId xmlns:a16="http://schemas.microsoft.com/office/drawing/2014/main" id="{C7072879-AE94-1401-D3DB-5A64790BF6F1}"/>
              </a:ext>
            </a:extLst>
          </p:cNvPr>
          <p:cNvSpPr>
            <a:spLocks noGrp="1"/>
          </p:cNvSpPr>
          <p:nvPr>
            <p:custDataLst>
              <p:tags r:id="rId59"/>
            </p:custDataLst>
          </p:nvPr>
        </p:nvSpPr>
        <p:spPr bwMode="auto">
          <a:xfrm>
            <a:off x="2697163" y="3776357"/>
            <a:ext cx="9937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0261C62-0D18-4794-B458-7FCD650AD6BA}" type="datetime'''''''''C''''''''o''m''mun''ig''''''''a''t''''''e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Communigate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4" name="Текст 4">
            <a:extLst>
              <a:ext uri="{FF2B5EF4-FFF2-40B4-BE49-F238E27FC236}">
                <a16:creationId xmlns:a16="http://schemas.microsoft.com/office/drawing/2014/main" id="{68916A7A-EA93-0D55-A072-C56EABC069B3}"/>
              </a:ext>
            </a:extLst>
          </p:cNvPr>
          <p:cNvSpPr>
            <a:spLocks noGrp="1"/>
          </p:cNvSpPr>
          <p:nvPr>
            <p:custDataLst>
              <p:tags r:id="rId60"/>
            </p:custDataLst>
          </p:nvPr>
        </p:nvSpPr>
        <p:spPr bwMode="auto">
          <a:xfrm>
            <a:off x="2697163" y="4786007"/>
            <a:ext cx="3635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DD3B9D5-2AB7-4476-B39B-8D8EA0C7C500}" type="datetime'''''''''T''''''''''''e''''g''''''''''''''''''''u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Tegu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5" name="Текст 4">
            <a:extLst>
              <a:ext uri="{FF2B5EF4-FFF2-40B4-BE49-F238E27FC236}">
                <a16:creationId xmlns:a16="http://schemas.microsoft.com/office/drawing/2014/main" id="{01856AE7-8E7B-2B19-F5D5-5E748B2C610D}"/>
              </a:ext>
            </a:extLst>
          </p:cNvPr>
          <p:cNvSpPr>
            <a:spLocks noGrp="1"/>
          </p:cNvSpPr>
          <p:nvPr>
            <p:custDataLst>
              <p:tags r:id="rId61"/>
            </p:custDataLst>
          </p:nvPr>
        </p:nvSpPr>
        <p:spPr bwMode="auto">
          <a:xfrm>
            <a:off x="2697163" y="4281182"/>
            <a:ext cx="2555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066F05-5007-4BCE-9006-E0F676964A71}" type="datetime'Р''''''''''''''''''-''''''''''''''''''''7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Р-7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6" name="Speech Bubble: Rectangle with Corners Rounded 241">
            <a:extLst>
              <a:ext uri="{FF2B5EF4-FFF2-40B4-BE49-F238E27FC236}">
                <a16:creationId xmlns:a16="http://schemas.microsoft.com/office/drawing/2014/main" id="{D5079960-802C-57B7-A694-39B87DDF7F89}"/>
              </a:ext>
            </a:extLst>
          </p:cNvPr>
          <p:cNvSpPr/>
          <p:nvPr/>
        </p:nvSpPr>
        <p:spPr>
          <a:xfrm>
            <a:off x="6822667" y="5403126"/>
            <a:ext cx="2212368" cy="688974"/>
          </a:xfrm>
          <a:prstGeom prst="wedgeRoundRectCallout">
            <a:avLst>
              <a:gd name="adj1" fmla="val -39645"/>
              <a:gd name="adj2" fmla="val -6408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Переход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MS Exchange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на облачную модель. Вступление в силу Указа Президента РФ 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279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Рынок Почтовых сервисов </a:t>
            </a:r>
            <a:r>
              <a:rPr lang="en" dirty="0"/>
              <a:t>SaaS</a:t>
            </a:r>
            <a:endParaRPr lang="ru-RU"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2101C7-F055-634F-55F2-90CFE1FAD348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6C2F445D-E0AB-4D86-A5E2-75185CC8751D}" type="slidenum">
              <a:rPr lang="ru-RU" sz="800" smtClean="0">
                <a:solidFill>
                  <a:srgbClr val="000000">
                    <a:tint val="75000"/>
                  </a:srgbClr>
                </a:solidFill>
                <a:latin typeface="SF Pro Text Light" panose="020B0603020202020204"/>
              </a:rPr>
              <a:pPr algn="r" defTabSz="914400">
                <a:defRPr/>
              </a:pPr>
              <a:t>8</a:t>
            </a:fld>
            <a:endParaRPr lang="ru-RU" sz="800">
              <a:solidFill>
                <a:srgbClr val="000000">
                  <a:tint val="75000"/>
                </a:srgbClr>
              </a:solidFill>
              <a:latin typeface="SF Pro Text Light" panose="020B0603020202020204"/>
            </a:endParaRPr>
          </a:p>
        </p:txBody>
      </p:sp>
      <p:sp>
        <p:nvSpPr>
          <p:cNvPr id="16" name="Rectangle 114">
            <a:extLst>
              <a:ext uri="{FF2B5EF4-FFF2-40B4-BE49-F238E27FC236}">
                <a16:creationId xmlns:a16="http://schemas.microsoft.com/office/drawing/2014/main" id="{7276D1C3-4DA1-4256-DA7E-FEFC2E150CD3}"/>
              </a:ext>
            </a:extLst>
          </p:cNvPr>
          <p:cNvSpPr/>
          <p:nvPr/>
        </p:nvSpPr>
        <p:spPr>
          <a:xfrm>
            <a:off x="4553330" y="1595719"/>
            <a:ext cx="4221307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Почт по типу игроков, млрд руб.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6518D431-AB71-A3C7-C580-F1E27899FD08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C6FC0375-E1D0-7E5A-17E3-A7C548F8C78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7BBE61F9-1B83-140E-FB55-FA36815A594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200" b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2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9C8A3F85-DA9E-2C35-2CEC-D4FFFEE7B68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200" b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2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33" name="Chart 3">
            <a:extLst>
              <a:ext uri="{FF2B5EF4-FFF2-40B4-BE49-F238E27FC236}">
                <a16:creationId xmlns:a16="http://schemas.microsoft.com/office/drawing/2014/main" id="{282C730F-5877-617A-50E0-A8A4EDE42EEC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286532355"/>
              </p:ext>
            </p:extLst>
          </p:nvPr>
        </p:nvGraphicFramePr>
        <p:xfrm>
          <a:off x="4483626" y="2245788"/>
          <a:ext cx="462597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34" name="Текст 4">
            <a:extLst>
              <a:ext uri="{FF2B5EF4-FFF2-40B4-BE49-F238E27FC236}">
                <a16:creationId xmlns:a16="http://schemas.microsoft.com/office/drawing/2014/main" id="{D7DB6425-3054-55A9-86AA-CEF0FA099CE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4728087" y="4383509"/>
            <a:ext cx="5445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2E011C-9569-43B0-B868-FF7EE3848F21}" type="datetime'2'''',''3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2,3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B787C81-3E07-4301-A67C-60DA74B95137}" type="datetime'''''''''''''''''''''''''''5''4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54%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C73E1DE4-F0AD-D660-D6A9-6B76D33F40C3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759240" y="5141426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2B5CB7B0-27F4-12AD-D75E-B81AF2EC0E6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5643979" y="3242738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972DB1-81A3-4C10-97AA-37D7AD3DF6B7}" type="datetime'''1'',''''''''''''''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820BACB6-2387-484C-B926-80D9AFCD3303}" type="datetime'''''''''''''''''''''''''''''''''''''''''''3''''''''6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18C44C94-AB5A-C9D6-7A19-A169491DAE8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5594851" y="4244451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0213DD1-AB3E-4948-9E3C-486648BBC539}" type="datetime'''3'''''''''',''1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02BD6287-8834-4DAF-B544-E5F53902EEF6}" type="datetime'''6''''''''''''4''''''''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64%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6BD3DD46-5BA6-7EC5-4FB9-1A699A1163B7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5642476" y="5141426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57454D20-8B40-67CC-5CE9-09C0428D2D32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6567662" y="2902187"/>
            <a:ext cx="5381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A9D9288-F614-48B9-B6C8-A9B6EC5E0E22}" type="datetime'''''1'''''''''',''''''''''4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ED5B7B8-5707-4455-A004-165B073CA2C3}" type="datetime'''''''''''''''''26''''''''''''''''''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26%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0F22E9E2-81EB-4ACE-B4D4-04FAEE74B5F1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6529119" y="4040206"/>
            <a:ext cx="5349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9CA2D6D-FD2F-497E-9757-DF18C613C088}" type="datetime'''''''''''''''''''4,''''''''''''''''''''''''''''''''''1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39877D2-E20C-45D7-9D2D-10D8F9102A33}" type="datetime'''''''''''''''''''7''''''''''''''4''%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74%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8305A0C5-4158-5C30-47FE-9AF4BC4C6CD3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561497" y="5125513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7CBC05D0-274E-9F9B-5B52-3BE77EDCA1CF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7441206" y="2596626"/>
            <a:ext cx="506368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A51A82C-A324-49FF-8A69-84BFD736B718}" type="datetime'''''''''0'',''9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0,9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2478AD6-4CA5-404B-B52A-74F808456E82}" type="datetime'''''1''''''''''''''''''5''''''''''''''''''''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A9F88447-A327-E55E-2C24-2386315E069D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4694749" y="3535936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1307376-7632-4FAB-945F-1778FFC44BF1}" type="datetime'''''''''2,''''''''''''''''''''''''''''''0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CBF08E4-039B-48FE-B8F3-8B4A4BF4EDB9}" type="datetime'4''''''''''''''''6''''''''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C264656F-4988-9434-56E4-3A2EA5BEDB92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7441206" y="5141426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5" name="Текст 4">
            <a:extLst>
              <a:ext uri="{FF2B5EF4-FFF2-40B4-BE49-F238E27FC236}">
                <a16:creationId xmlns:a16="http://schemas.microsoft.com/office/drawing/2014/main" id="{A9E1E960-8CC8-8471-F95D-FAFE1A002C88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8335692" y="2327293"/>
            <a:ext cx="506368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D9B9B2B-A8F6-4188-8FE3-C87449A92FBD}" type="datetime'''0'''''''''',''3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0,3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D90866C-BF75-4B73-9486-B082A373CD9E}" type="datetime'''''''''''''''''''''5''''''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24C5DA87-F66C-D26E-8B4D-5E59ABB7F188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8342068" y="3697557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608F1E4-F6E4-476F-A06E-28E01E5EDDD4}" type="datetime'''6'''''''''''''''''''''''''',''''''4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6,4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676412D-51C0-4BC7-A250-B1FE9270CFE8}" type="datetime'9''''''''''''''''5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95%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7" name="Текст 4">
            <a:extLst>
              <a:ext uri="{FF2B5EF4-FFF2-40B4-BE49-F238E27FC236}">
                <a16:creationId xmlns:a16="http://schemas.microsoft.com/office/drawing/2014/main" id="{CD36DA91-3C10-02D8-C949-F9E4A80B9864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8342068" y="5156218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A3C2E3F6-C2B9-B279-B3D3-A3680C921931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4824077" y="3079236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EE92695-E076-4BA1-A34F-63EC3D3ADA58}" type="datetime'''''''''''''''''4'''''''''''''''''''''',''''''''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9" name="Текст 4">
            <a:extLst>
              <a:ext uri="{FF2B5EF4-FFF2-40B4-BE49-F238E27FC236}">
                <a16:creationId xmlns:a16="http://schemas.microsoft.com/office/drawing/2014/main" id="{C2176EB5-BC2B-BA40-7898-B937407EEA5C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5720287" y="2831576"/>
            <a:ext cx="3270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668F547-1C6D-4BD9-88FD-FB9D2035FBBF}" type="datetime'4,''''''''''''''''''''9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4,9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954D46BB-2C0C-19A3-ABC0-E563B31D3129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6648975" y="2592928"/>
            <a:ext cx="320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7A5850A-2EC1-4F0D-B52E-8425331C1E1A}" type="datetime'''''5'''''''''''''''''''''''''''''''''''',''5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1" name="Текст 4">
            <a:extLst>
              <a:ext uri="{FF2B5EF4-FFF2-40B4-BE49-F238E27FC236}">
                <a16:creationId xmlns:a16="http://schemas.microsoft.com/office/drawing/2014/main" id="{2C1D618F-C7C3-8E5B-378C-5324332B820E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7493672" y="2333721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017270-6F3C-4B74-8004-9064037B5ED5}" type="datetime'''''''''''''''''''''''''''''''''''6'''''''''',''''''''''''1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BF6195F2-A0AA-4932-B6F3-1A58CBF6BDD8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8449199" y="2079368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9042658-5B61-4700-893B-9C2EFE697983}" type="datetime'''''''''''''''''''''''''''''''''''''6'',''8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199D5C39-BC2E-E9FB-9383-0FF3FF0B4CF5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7424538" y="3846573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B51F193-628D-4332-9498-C503C446003B}" type="datetime'''''''5'',''''''''''''''''2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5,2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43B6ACD8-14D0-4078-8D6E-DDD43834FD18}" type="datetime'''8''''''''''5''''''''''''''''''''%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85%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cxnSp>
        <p:nvCxnSpPr>
          <p:cNvPr id="59" name="Connector: Elbow 27">
            <a:extLst>
              <a:ext uri="{FF2B5EF4-FFF2-40B4-BE49-F238E27FC236}">
                <a16:creationId xmlns:a16="http://schemas.microsoft.com/office/drawing/2014/main" id="{63A9CF69-6170-8EB6-F7DC-436E0AD82B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70898" y="1314449"/>
            <a:ext cx="7073102" cy="1071563"/>
          </a:xfrm>
          <a:prstGeom prst="bentConnector3">
            <a:avLst>
              <a:gd name="adj1" fmla="val 93934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Chart 3">
            <a:extLst>
              <a:ext uri="{FF2B5EF4-FFF2-40B4-BE49-F238E27FC236}">
                <a16:creationId xmlns:a16="http://schemas.microsoft.com/office/drawing/2014/main" id="{61F63C5C-EB78-A76C-735E-4F9B78CA91CE}"/>
              </a:ext>
            </a:extLst>
          </p:cNvPr>
          <p:cNvGraphicFramePr/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776980786"/>
              </p:ext>
            </p:extLst>
          </p:nvPr>
        </p:nvGraphicFramePr>
        <p:xfrm>
          <a:off x="2571568" y="2605339"/>
          <a:ext cx="2103437" cy="2770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1"/>
          </a:graphicData>
        </a:graphic>
      </p:graphicFrame>
      <p:sp>
        <p:nvSpPr>
          <p:cNvPr id="61" name="Текст 4">
            <a:extLst>
              <a:ext uri="{FF2B5EF4-FFF2-40B4-BE49-F238E27FC236}">
                <a16:creationId xmlns:a16="http://schemas.microsoft.com/office/drawing/2014/main" id="{F74A4F53-9905-5DE2-AA18-64CDD8FB17C5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3400243" y="5127876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2" name="Текст 4">
            <a:extLst>
              <a:ext uri="{FF2B5EF4-FFF2-40B4-BE49-F238E27FC236}">
                <a16:creationId xmlns:a16="http://schemas.microsoft.com/office/drawing/2014/main" id="{D8072F22-4D1D-ED79-B117-604CCA7B3E20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2568393" y="3489576"/>
            <a:ext cx="631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46F79F5-FE06-4931-9EDE-D84AA1C59131}" type="datetime'''''''''''''Я''н''''д''''е''''''''''к''''''''с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Яндекс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680BBC32-821F-487D-892F-067EF296274E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gray">
          <a:xfrm>
            <a:off x="3463742" y="2651376"/>
            <a:ext cx="3175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EBFBE01-06CE-4A53-8EB9-64C51B024B16}" type="datetime'''''''''''2'',''''''''''''''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4" name="Текст 4">
            <a:extLst>
              <a:ext uri="{FF2B5EF4-FFF2-40B4-BE49-F238E27FC236}">
                <a16:creationId xmlns:a16="http://schemas.microsoft.com/office/drawing/2014/main" id="{6170D1A0-6179-A2EA-8D56-2B841E82D4AA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2966855" y="4450014"/>
            <a:ext cx="2333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DC758AC-5594-4782-8AB3-E1DF6256BAA7}" type="datetime'V''''''''''''''''''K'''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410AEFB2-AFE5-18CE-25F4-2B54606CA564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2655705" y="4808789"/>
            <a:ext cx="5445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B6CDDEE-7A4F-43D2-B3BB-4322ADC3ABD0}" type="datetime'''''R''e''''g.''''''''''r''''u'''''''''''''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Reg.ru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66" name="Straight Connector 237">
            <a:extLst>
              <a:ext uri="{FF2B5EF4-FFF2-40B4-BE49-F238E27FC236}">
                <a16:creationId xmlns:a16="http://schemas.microsoft.com/office/drawing/2014/main" id="{47843B7E-670C-B099-9A04-469EA9A4C1B2}"/>
              </a:ext>
            </a:extLst>
          </p:cNvPr>
          <p:cNvCxnSpPr>
            <a:cxnSpLocks/>
          </p:cNvCxnSpPr>
          <p:nvPr/>
        </p:nvCxnSpPr>
        <p:spPr>
          <a:xfrm>
            <a:off x="3903909" y="2911969"/>
            <a:ext cx="834255" cy="12554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114">
            <a:extLst>
              <a:ext uri="{FF2B5EF4-FFF2-40B4-BE49-F238E27FC236}">
                <a16:creationId xmlns:a16="http://schemas.microsoft.com/office/drawing/2014/main" id="{D55542E6-6003-2DF1-2A4B-1F8A671E2F7D}"/>
              </a:ext>
            </a:extLst>
          </p:cNvPr>
          <p:cNvSpPr/>
          <p:nvPr/>
        </p:nvSpPr>
        <p:spPr>
          <a:xfrm>
            <a:off x="2568394" y="1503910"/>
            <a:ext cx="1743548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Выручка игроков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Почт в 2023 г., млрд руб.</a:t>
            </a:r>
          </a:p>
        </p:txBody>
      </p:sp>
      <p:cxnSp>
        <p:nvCxnSpPr>
          <p:cNvPr id="68" name="Connector: Elbow 130">
            <a:extLst>
              <a:ext uri="{FF2B5EF4-FFF2-40B4-BE49-F238E27FC236}">
                <a16:creationId xmlns:a16="http://schemas.microsoft.com/office/drawing/2014/main" id="{ED914E70-395B-BE3C-949F-1ADCA9E95843}"/>
              </a:ext>
            </a:extLst>
          </p:cNvPr>
          <p:cNvCxnSpPr>
            <a:cxnSpLocks/>
          </p:cNvCxnSpPr>
          <p:nvPr/>
        </p:nvCxnSpPr>
        <p:spPr>
          <a:xfrm rot="10800000">
            <a:off x="2070896" y="3429000"/>
            <a:ext cx="7073104" cy="2793208"/>
          </a:xfrm>
          <a:prstGeom prst="bentConnector3">
            <a:avLst>
              <a:gd name="adj1" fmla="val 96156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114">
            <a:extLst>
              <a:ext uri="{FF2B5EF4-FFF2-40B4-BE49-F238E27FC236}">
                <a16:creationId xmlns:a16="http://schemas.microsoft.com/office/drawing/2014/main" id="{DEBE3D26-E9C5-4E2F-02A4-F4CA06DBC409}"/>
              </a:ext>
            </a:extLst>
          </p:cNvPr>
          <p:cNvSpPr/>
          <p:nvPr/>
        </p:nvSpPr>
        <p:spPr>
          <a:xfrm>
            <a:off x="627275" y="1557607"/>
            <a:ext cx="1754717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</a:rPr>
              <a:t>Рынок Почт с разными моделями поставки, млрд руб.</a:t>
            </a:r>
          </a:p>
        </p:txBody>
      </p:sp>
      <p:graphicFrame>
        <p:nvGraphicFramePr>
          <p:cNvPr id="72" name="Chart 3">
            <a:extLst>
              <a:ext uri="{FF2B5EF4-FFF2-40B4-BE49-F238E27FC236}">
                <a16:creationId xmlns:a16="http://schemas.microsoft.com/office/drawing/2014/main" id="{0ABD2AA4-2DB3-357B-749D-424A52C57943}"/>
              </a:ext>
            </a:extLst>
          </p:cNvPr>
          <p:cNvGraphicFramePr/>
          <p:nvPr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3663347722"/>
              </p:ext>
            </p:extLst>
          </p:nvPr>
        </p:nvGraphicFramePr>
        <p:xfrm>
          <a:off x="595313" y="2263775"/>
          <a:ext cx="1722437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2"/>
          </a:graphicData>
        </a:graphic>
      </p:graphicFrame>
      <p:sp useBgFill="1">
        <p:nvSpPr>
          <p:cNvPr id="73" name="Полилиния 72">
            <a:extLst>
              <a:ext uri="{FF2B5EF4-FFF2-40B4-BE49-F238E27FC236}">
                <a16:creationId xmlns:a16="http://schemas.microsoft.com/office/drawing/2014/main" id="{8B3C78CA-5A9A-3656-227E-1D9B6AB06815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428873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64E222CE-DBF8-EAED-A5B7-4EE47F0B72A8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1486023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5" name="Полилиния 74">
            <a:extLst>
              <a:ext uri="{FF2B5EF4-FFF2-40B4-BE49-F238E27FC236}">
                <a16:creationId xmlns:a16="http://schemas.microsoft.com/office/drawing/2014/main" id="{8E90C42D-7CC9-F2B2-6AA2-E39BF962827F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1428873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6" name="Текст 4">
            <a:extLst>
              <a:ext uri="{FF2B5EF4-FFF2-40B4-BE49-F238E27FC236}">
                <a16:creationId xmlns:a16="http://schemas.microsoft.com/office/drawing/2014/main" id="{38801F68-BDFF-0E3B-382F-D7E310C0441D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1639888" y="2659063"/>
            <a:ext cx="433390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532DD9B-DD7D-4BC8-8E65-6A7EE4B1D647}" type="datetime'''''''''''''''''''''''''''''6'''''''''''''''',''''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62EE5B54-E26D-419E-8ECA-8F32353463B1}" type="datetime'4''''''''''''''''''''''0''''%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7" name="Текст 4">
            <a:extLst>
              <a:ext uri="{FF2B5EF4-FFF2-40B4-BE49-F238E27FC236}">
                <a16:creationId xmlns:a16="http://schemas.microsoft.com/office/drawing/2014/main" id="{BFDC51EC-973D-3AA7-86D2-215FFF2B221F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1637506" y="4002934"/>
            <a:ext cx="433390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7DA24D2-F00F-4869-8672-C1F850ED5FCB}" type="datetime'''''''''''1''''''0'''''''''''''''''''''''''''',2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10,2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0840EA7-0FD9-44CB-851A-958CE6D8D9B2}" type="datetime'''''''''''60''''''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8" name="Текст 4">
            <a:extLst>
              <a:ext uri="{FF2B5EF4-FFF2-40B4-BE49-F238E27FC236}">
                <a16:creationId xmlns:a16="http://schemas.microsoft.com/office/drawing/2014/main" id="{678AC94B-DA36-F785-C216-C9E2C74C9105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auto">
          <a:xfrm>
            <a:off x="1658284" y="514350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9" name="Текст 4">
            <a:extLst>
              <a:ext uri="{FF2B5EF4-FFF2-40B4-BE49-F238E27FC236}">
                <a16:creationId xmlns:a16="http://schemas.microsoft.com/office/drawing/2014/main" id="{EB125AA1-C98A-70DE-CFB7-A4C576919165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799782" y="514350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0" name="Текст 4">
            <a:extLst>
              <a:ext uri="{FF2B5EF4-FFF2-40B4-BE49-F238E27FC236}">
                <a16:creationId xmlns:a16="http://schemas.microsoft.com/office/drawing/2014/main" id="{10276FA1-2D53-BED8-84ED-D935D6476190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831851" y="4114800"/>
            <a:ext cx="407987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E12D2A-7947-4A11-8054-2051B09BEB95}" type="datetime'''''''''''''''''''''''''''''''''''9,''''''1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06A1E7-BA5D-489B-92A0-BAC3B0146547}" type="datetime'''''68''''''''%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68%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1" name="Текст 4">
            <a:extLst>
              <a:ext uri="{FF2B5EF4-FFF2-40B4-BE49-F238E27FC236}">
                <a16:creationId xmlns:a16="http://schemas.microsoft.com/office/drawing/2014/main" id="{205D4E8A-ED3A-28DC-F05C-BE2C5F7BEE0F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836613" y="3032125"/>
            <a:ext cx="403225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793F416-57F3-4C2E-BD1C-65A37EB9102C}" type="datetime'4'''''''''''''''''''''''''',''''''3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C421E9F-AFBD-44D2-A800-43BE714DA2A8}" type="datetime'''''''''''''3''''''''2''''%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32%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2" name="Текст 4">
            <a:extLst>
              <a:ext uri="{FF2B5EF4-FFF2-40B4-BE49-F238E27FC236}">
                <a16:creationId xmlns:a16="http://schemas.microsoft.com/office/drawing/2014/main" id="{39E6A744-21C2-6294-C8F7-3F388614F675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764381" y="2670175"/>
            <a:ext cx="5429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0148FFC-6846-4220-8366-25A13BB86519}" type="datetime'''''''''''''''''1''''3'''''''',''''''''''''''''''4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13,4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3" name="Текст 4">
            <a:extLst>
              <a:ext uri="{FF2B5EF4-FFF2-40B4-BE49-F238E27FC236}">
                <a16:creationId xmlns:a16="http://schemas.microsoft.com/office/drawing/2014/main" id="{282BC088-2EC2-F842-B9DD-C8AE26888748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1547022" y="2094046"/>
            <a:ext cx="5619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0AAD4EB-E8E7-49A6-8ECE-C05733FF6FFD}" type="datetime'''''''''''''''1''''6'''''',''''''''''''''''9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16,9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3" name="Rectangle 109">
            <a:extLst>
              <a:ext uri="{FF2B5EF4-FFF2-40B4-BE49-F238E27FC236}">
                <a16:creationId xmlns:a16="http://schemas.microsoft.com/office/drawing/2014/main" id="{BB8DF4BE-E722-86AD-52EA-DE93A619844E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461387" y="5585849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4" name="Rectangle 119">
            <a:extLst>
              <a:ext uri="{FF2B5EF4-FFF2-40B4-BE49-F238E27FC236}">
                <a16:creationId xmlns:a16="http://schemas.microsoft.com/office/drawing/2014/main" id="{C4D0C845-2B67-2157-C764-B128E27D9747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3461387" y="5871599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5" name="Текст 4">
            <a:extLst>
              <a:ext uri="{FF2B5EF4-FFF2-40B4-BE49-F238E27FC236}">
                <a16:creationId xmlns:a16="http://schemas.microsoft.com/office/drawing/2014/main" id="{0C216D3A-429D-0B91-975E-7E8E7D5A52F1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auto">
          <a:xfrm>
            <a:off x="3763012" y="5565212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854F57-2A82-4674-AA7C-964B8C1CE76F}" type="datetime'З''''''''''''''''''''''''ар''убеж''''''ные ''и''''''гроки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6" name="Текст 4">
            <a:extLst>
              <a:ext uri="{FF2B5EF4-FFF2-40B4-BE49-F238E27FC236}">
                <a16:creationId xmlns:a16="http://schemas.microsoft.com/office/drawing/2014/main" id="{1CB018FA-30B6-4AF2-943B-F2C8A0F1DD69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auto">
          <a:xfrm>
            <a:off x="3763012" y="5850962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7" name="Rectangle 66">
            <a:extLst>
              <a:ext uri="{FF2B5EF4-FFF2-40B4-BE49-F238E27FC236}">
                <a16:creationId xmlns:a16="http://schemas.microsoft.com/office/drawing/2014/main" id="{D65FEA31-BF20-0638-9AD2-641F621511BC}"/>
              </a:ext>
            </a:extLst>
          </p:cNvPr>
          <p:cNvSpPr/>
          <p:nvPr/>
        </p:nvSpPr>
        <p:spPr>
          <a:xfrm>
            <a:off x="279274" y="6084334"/>
            <a:ext cx="8693800" cy="777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</a:rPr>
              <a:t>Источники: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</a:rPr>
              <a:t>Рынок Почт с разными моделями поставки - оценка </a:t>
            </a:r>
            <a:r>
              <a:rPr lang="en-US" sz="1200" dirty="0">
                <a:solidFill>
                  <a:schemeClr val="tx1"/>
                </a:solidFill>
              </a:rPr>
              <a:t>Bottom-Up </a:t>
            </a:r>
            <a:r>
              <a:rPr lang="ru-RU" sz="1200" dirty="0">
                <a:solidFill>
                  <a:schemeClr val="tx1"/>
                </a:solidFill>
              </a:rPr>
              <a:t>от количества рабочих мест, использующих почтовые сервисы. Распределение </a:t>
            </a:r>
            <a:r>
              <a:rPr lang="en-US" sz="1200" dirty="0">
                <a:solidFill>
                  <a:schemeClr val="tx1"/>
                </a:solidFill>
              </a:rPr>
              <a:t>SaaS/On-Prem </a:t>
            </a:r>
            <a:r>
              <a:rPr lang="ru-RU" sz="1200" dirty="0">
                <a:solidFill>
                  <a:schemeClr val="tx1"/>
                </a:solidFill>
              </a:rPr>
              <a:t>на основе отчета ККС </a:t>
            </a:r>
            <a:r>
              <a:rPr lang="en-US" sz="1200" dirty="0">
                <a:solidFill>
                  <a:schemeClr val="tx1"/>
                </a:solidFill>
              </a:rPr>
              <a:t>SPEKTR, 2023</a:t>
            </a:r>
            <a:r>
              <a:rPr lang="ru-RU" sz="1200" dirty="0">
                <a:solidFill>
                  <a:schemeClr val="tx1"/>
                </a:solidFill>
              </a:rPr>
              <a:t>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Прогноз проникновения РФ-решений в рынок </a:t>
            </a:r>
            <a:r>
              <a:rPr lang="en-US" sz="1200" dirty="0">
                <a:solidFill>
                  <a:schemeClr val="tx1"/>
                </a:solidFill>
              </a:rPr>
              <a:t>On-Prem </a:t>
            </a:r>
            <a:r>
              <a:rPr lang="ru-RU" sz="1200" dirty="0">
                <a:solidFill>
                  <a:schemeClr val="tx1"/>
                </a:solidFill>
              </a:rPr>
              <a:t>почты на основе отчета </a:t>
            </a:r>
            <a:r>
              <a:rPr lang="en-US" sz="1200" dirty="0" err="1">
                <a:solidFill>
                  <a:schemeClr val="tx1"/>
                </a:solidFill>
              </a:rPr>
              <a:t>J’son</a:t>
            </a:r>
            <a:r>
              <a:rPr lang="en-US" sz="1200" dirty="0">
                <a:solidFill>
                  <a:schemeClr val="tx1"/>
                </a:solidFill>
              </a:rPr>
              <a:t> &amp; Partners, 2024</a:t>
            </a:r>
          </a:p>
        </p:txBody>
      </p:sp>
    </p:spTree>
    <p:extLst>
      <p:ext uri="{BB962C8B-B14F-4D97-AF65-F5344CB8AC3E}">
        <p14:creationId xmlns:p14="http://schemas.microsoft.com/office/powerpoint/2010/main" val="3514852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Рынок ВКС сервисов </a:t>
            </a:r>
            <a:r>
              <a:rPr lang="en" dirty="0"/>
              <a:t>on-prem</a:t>
            </a:r>
            <a:r>
              <a:rPr lang="ru-RU" dirty="0"/>
              <a:t> 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DF21E6-B5A5-7168-98D1-CF3E32E3A2FD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6C2F445D-E0AB-4D86-A5E2-75185CC8751D}" type="slidenum">
              <a:rPr lang="ru-RU" sz="800" smtClean="0">
                <a:solidFill>
                  <a:srgbClr val="000000">
                    <a:tint val="75000"/>
                  </a:srgbClr>
                </a:solidFill>
                <a:latin typeface="SF Pro Text Light" panose="020B0603020202020204"/>
              </a:rPr>
              <a:pPr algn="r" defTabSz="914400">
                <a:defRPr/>
              </a:pPr>
              <a:t>9</a:t>
            </a:fld>
            <a:endParaRPr lang="ru-RU" sz="800" dirty="0">
              <a:solidFill>
                <a:srgbClr val="000000">
                  <a:tint val="75000"/>
                </a:srgbClr>
              </a:solidFill>
              <a:latin typeface="SF Pro Text Light" panose="020B0603020202020204"/>
            </a:endParaRPr>
          </a:p>
        </p:txBody>
      </p:sp>
      <p:sp>
        <p:nvSpPr>
          <p:cNvPr id="4" name="Rectangle 114">
            <a:extLst>
              <a:ext uri="{FF2B5EF4-FFF2-40B4-BE49-F238E27FC236}">
                <a16:creationId xmlns:a16="http://schemas.microsoft.com/office/drawing/2014/main" id="{3E819C5A-BF10-9D17-1627-563DB5E379AD}"/>
              </a:ext>
            </a:extLst>
          </p:cNvPr>
          <p:cNvSpPr/>
          <p:nvPr/>
        </p:nvSpPr>
        <p:spPr>
          <a:xfrm>
            <a:off x="677335" y="1534760"/>
            <a:ext cx="1554138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ВКС </a:t>
            </a:r>
            <a:r>
              <a:rPr lang="ru-RU" sz="1200" dirty="0">
                <a:solidFill>
                  <a:schemeClr val="tx1"/>
                </a:solidFill>
              </a:rPr>
              <a:t>с разными моделями поставки, млрд руб.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млрд руб.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8DABF5F8-12C5-BE58-A47D-CA58B015D0CA}"/>
              </a:ext>
            </a:extLst>
          </p:cNvPr>
          <p:cNvSpPr/>
          <p:nvPr/>
        </p:nvSpPr>
        <p:spPr>
          <a:xfrm>
            <a:off x="413187" y="5830676"/>
            <a:ext cx="8377219" cy="1038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Источники: </a:t>
            </a:r>
          </a:p>
          <a:p>
            <a:pPr defTabSz="914400">
              <a:spcAft>
                <a:spcPts val="300"/>
              </a:spcAft>
              <a:defRPr/>
            </a:pP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Рынок, распределение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SaaS/On-prem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/Оборудование - оценка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Bottom-Up 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рыночных игроков. Динамика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</a:t>
            </a:r>
            <a:r>
              <a:rPr kumimoji="0" lang="en-US" sz="1200" b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J’son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&amp; Partners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2024. Прогноз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On-Prem, 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Оборудования - </a:t>
            </a:r>
            <a:r>
              <a:rPr kumimoji="0" lang="ru-RU" sz="1200" b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экспертно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 </a:t>
            </a:r>
            <a:endParaRPr lang="ru-RU" sz="1200" dirty="0">
              <a:solidFill>
                <a:srgbClr val="000000"/>
              </a:solidFill>
            </a:endParaRPr>
          </a:p>
          <a:p>
            <a:pPr defTabSz="914400">
              <a:spcAft>
                <a:spcPts val="300"/>
              </a:spcAft>
              <a:defRPr/>
            </a:pP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Прогноз проникновения РФ-решений - отчет </a:t>
            </a:r>
            <a:r>
              <a:rPr kumimoji="0" lang="en-US" sz="1200" b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J’son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&amp; Partners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2024. </a:t>
            </a:r>
            <a:endParaRPr lang="ru-RU" sz="1200" dirty="0">
              <a:solidFill>
                <a:srgbClr val="000000"/>
              </a:solidFill>
            </a:endParaRPr>
          </a:p>
          <a:p>
            <a:pPr defTabSz="914400">
              <a:spcAft>
                <a:spcPts val="300"/>
              </a:spcAft>
              <a:defRPr/>
            </a:pP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Оценка распределения выручки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IVA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на основе отчета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SBER CIB. 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Оценка на основе данных о закупках</a:t>
            </a:r>
            <a:endParaRPr kumimoji="0" lang="en-US" sz="12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Rectangle 114">
            <a:extLst>
              <a:ext uri="{FF2B5EF4-FFF2-40B4-BE49-F238E27FC236}">
                <a16:creationId xmlns:a16="http://schemas.microsoft.com/office/drawing/2014/main" id="{C36FEF53-F23A-8865-1401-9BCDFC0CCBC9}"/>
              </a:ext>
            </a:extLst>
          </p:cNvPr>
          <p:cNvSpPr/>
          <p:nvPr/>
        </p:nvSpPr>
        <p:spPr>
          <a:xfrm>
            <a:off x="5792893" y="1519525"/>
            <a:ext cx="5742415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ВКС по типу игроков, млрд руб.</a:t>
            </a:r>
          </a:p>
        </p:txBody>
      </p:sp>
      <p:graphicFrame>
        <p:nvGraphicFramePr>
          <p:cNvPr id="17" name="Chart 3">
            <a:extLst>
              <a:ext uri="{FF2B5EF4-FFF2-40B4-BE49-F238E27FC236}">
                <a16:creationId xmlns:a16="http://schemas.microsoft.com/office/drawing/2014/main" id="{B9CAEE18-AC03-F7A6-B4F2-189FDE5430AA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3647729"/>
              </p:ext>
            </p:extLst>
          </p:nvPr>
        </p:nvGraphicFramePr>
        <p:xfrm>
          <a:off x="595313" y="2206625"/>
          <a:ext cx="1741488" cy="2960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1"/>
          </a:graphicData>
        </a:graphic>
      </p:graphicFrame>
      <p:sp useBgFill="1">
        <p:nvSpPr>
          <p:cNvPr id="18" name="Полилиния 17">
            <a:extLst>
              <a:ext uri="{FF2B5EF4-FFF2-40B4-BE49-F238E27FC236}">
                <a16:creationId xmlns:a16="http://schemas.microsoft.com/office/drawing/2014/main" id="{E0C9537F-97E1-AD88-18CB-46B4FCDA227E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438552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03755274-3614-FE37-4DC4-C511FE5E7A5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95702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90D9A46F-78E0-23B8-0CC2-CFC5429A66D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438552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05E6FEEC-5551-65A0-B8E3-11D6CC286EE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1667021" y="2574547"/>
            <a:ext cx="424547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5F96F1-3180-4EC9-A70A-B8611FD6C25D}" type="datetime'''''''''''''''''''''''''6'''',''''8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BE1203C-86CD-4C0D-99D5-53141A5BACE6}" type="datetime'''''''''''''''''''''''''3''''''''''''''''''''''''8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38%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A434DF95-B895-60FE-9ED9-5921A1A8799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1694733" y="3194050"/>
            <a:ext cx="360362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B50D352-5024-46FB-91D9-F6739975D199}" type="datetime'''''1'''''''''''''''''''',''2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1,2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FB508D-9F0C-40A9-BC76-A7938496B093}" type="datetime'''''''''''''''''''''''''''''7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3C8965F5-C0D2-8959-CE59-37670738136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1667021" y="4076012"/>
            <a:ext cx="388074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0126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C7BC2F-B704-49D0-BF44-C5697396E60C}" type="datetime'''''''''''''1''''''''0'''''''''''''',''''''''''''0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10,0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D0470D6-5F96-4366-BBA8-5319CA3CA887}" type="datetime'5''''''''''''''6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DC283B89-5720-BC88-74A6-9DCE08063B7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831029" y="3241468"/>
            <a:ext cx="444500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4B2A3E2-5815-4D7D-B26A-6198E7F9E6A8}" type="datetime'4'''''''''''''''''''''',''''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2546813D-EA78-419B-99EC-8D99BACBA368}" type="datetime'3''''''''''''''''''''''''''''''''''''''''6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113A3DBA-356E-EC7D-B80B-D5343EC37A2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866781" y="2945780"/>
            <a:ext cx="3667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7D7916-CBFA-4FD6-9C12-32E762F0F9F0}" type="datetime'''''''1''''''''''''''2'''''',''''''''''''''1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12,1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DD4AD2BA-CEF4-31BE-7D5B-8B5FB32323A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1639888" y="2061691"/>
            <a:ext cx="4048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84FA36C-1E70-4F9D-AA6F-417BEABCE545}" type="datetime'''''''''''''''''''18'''',''''''0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18,0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573A9CE7-465D-BD7D-55B7-E57A5130541E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826391" y="5152336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2DF5F6C4-E0BE-1598-BB8C-45F4E23C03A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38544" y="4329217"/>
            <a:ext cx="46214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1D62F0A-A2C6-407D-B2B1-C1BC74A7122A}" type="datetime'''''''''''''''''''''6'''''''''''',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E9EE839-18AF-4975-8194-BC38EFDB6597}" type="datetime'''''''''''5''''''''''6''''''''''''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0F6AEF26-55CD-92C3-DBC3-AE5484903DB0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925945" y="3792745"/>
            <a:ext cx="271802" cy="3780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ABB8A6D-604D-4D08-BDD1-9DD2A48C8443}" type="datetime'''''''''''''1'',''''''''''''''''''''''''''''''''0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1,0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D963BBC-93C7-47D1-AC9C-430F6D7BA2A5}" type="datetime'''8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78B55E02-826C-E3CD-020A-93825DDD72FE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1672528" y="5142912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6538565E-DF5C-9C27-2FC3-9454894C5D03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46125" y="537405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C669F0A-8692-3D60-589F-808289460DC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746125" y="565980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E0238D0E-3C8B-2BE0-40C4-D51AA25152A6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1438043" y="5389533"/>
            <a:ext cx="250825" cy="187325"/>
          </a:xfrm>
          <a:prstGeom prst="rect">
            <a:avLst/>
          </a:prstGeom>
          <a:solidFill>
            <a:srgbClr val="40126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14DD1CDA-21F8-CF45-CE54-EFDF7009246D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47750" y="535342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F8475A59-1EA7-39DE-8ED9-305934ED7E80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auto">
          <a:xfrm>
            <a:off x="1047750" y="5639170"/>
            <a:ext cx="1282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7ADF918-54B8-4FFB-93AC-607A8D537447}" type="datetime'''''''Обо''''''р''''''у''''д''о''''в''а''''''ни''''е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Оборудование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60E0B819-DE18-7D40-2796-334B637B214A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1739668" y="5368895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37" name="Chart 3">
            <a:extLst>
              <a:ext uri="{FF2B5EF4-FFF2-40B4-BE49-F238E27FC236}">
                <a16:creationId xmlns:a16="http://schemas.microsoft.com/office/drawing/2014/main" id="{3AD2D808-3A2D-02C4-D397-6770A44F36C2}"/>
              </a:ext>
            </a:extLst>
          </p:cNvPr>
          <p:cNvGraphicFramePr/>
          <p:nvPr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486003468"/>
              </p:ext>
            </p:extLst>
          </p:nvPr>
        </p:nvGraphicFramePr>
        <p:xfrm>
          <a:off x="4495507" y="2263775"/>
          <a:ext cx="4798395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sp>
        <p:nvSpPr>
          <p:cNvPr id="38" name="Текст 4">
            <a:extLst>
              <a:ext uri="{FF2B5EF4-FFF2-40B4-BE49-F238E27FC236}">
                <a16:creationId xmlns:a16="http://schemas.microsoft.com/office/drawing/2014/main" id="{BBD0319D-2208-0832-1440-2EA331C586AB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4781516" y="4065224"/>
            <a:ext cx="44733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0942A58-603F-4D11-B0BD-7BDD2032178C}" type="datetime'''''''''''''''''''''''''6'''''''',''''''''''''''''''1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3D8FEDA0-A9E2-408B-9571-6C012359A4AC}" type="datetime'''''''''''''''8''''''''''''''8''''''''''''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88%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F6D750BB-A9DF-20DC-F2F2-D8B8E0EB7AEE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4857316" y="5150109"/>
            <a:ext cx="365407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6A56D2F0-85CE-2800-12B6-08E43E1E2967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5744492" y="2908562"/>
            <a:ext cx="418722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3FA009-8D62-4100-89D3-7C21EB893EE8}" type="datetime'''''''''''''''''''''0'''''''',''7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0,7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3E95BA55-18A1-437A-BC17-0EFA210077F9}" type="datetime'''''''''''''''''''1''0''''''''''''''''''''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79286CAB-F82E-FDD9-DF3E-E3368A9901AC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5744492" y="3995843"/>
            <a:ext cx="444729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B1B517C-7366-401E-BD2A-57FD5D6FFFB4}" type="datetime'''''''''''''''6'''''''''',''''8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8E6BE897-0719-4C10-9C72-C0A7E1D11541}" type="datetime'''''''''''''''''''''9''''''''''''''''0%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90%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51204016-91EF-413A-F4E0-01D5B6E30E9A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5793907" y="5155342"/>
            <a:ext cx="369307" cy="19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F7AE63EA-CEBD-D8B9-8664-4122AFBD77A2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6697428" y="2710830"/>
            <a:ext cx="355004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58AE38-6953-4313-903C-AB291F08A5DC}" type="datetime'''''''''''''''''''''''''''''''''''0'''',''''7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0,7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068AD057-7275-4573-89EF-09442DD62788}" type="datetime'''''''''''''''8''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1DB1D0E3-6E35-3966-EA05-E53A82B6C062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6646624" y="3901076"/>
            <a:ext cx="440829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FCE9C76-F3D0-411A-9989-AECE4B395683}" type="datetime'''''''''7'''''''''''''''''''''''''''''''''',6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7,6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4C58B5C-20E8-47BC-92F4-17DE34B59981}" type="datetime'''''9''''2''''''''''''''''%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92%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5" name="Текст 4">
            <a:extLst>
              <a:ext uri="{FF2B5EF4-FFF2-40B4-BE49-F238E27FC236}">
                <a16:creationId xmlns:a16="http://schemas.microsoft.com/office/drawing/2014/main" id="{B5F22C22-33D3-E7B0-00B4-C31034B4E6BC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6734398" y="5174458"/>
            <a:ext cx="365407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45793F51-2C3B-E077-D9C0-5406F8B4AD66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7649969" y="2475880"/>
            <a:ext cx="344601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82CA316-28C5-46C8-A733-49A2B522DEA1}" type="datetime'''''''''''''''''''''''''''''''''0'',''''''6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0,6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7262C54-A6FA-44C6-B241-B24D64665D91}" type="datetime'''7''''''''''''''''''''%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7" name="Текст 4">
            <a:extLst>
              <a:ext uri="{FF2B5EF4-FFF2-40B4-BE49-F238E27FC236}">
                <a16:creationId xmlns:a16="http://schemas.microsoft.com/office/drawing/2014/main" id="{8AE41799-7AF3-87C6-90DA-DE583290D260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gray">
          <a:xfrm>
            <a:off x="4862514" y="3086100"/>
            <a:ext cx="340118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BE8ED9-2EE8-4EFC-AF32-E1B9E812ABC6}" type="datetime'''''''''0'''''''''',''''''''''''''''''''8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F230657-1D52-4DAF-896E-6013383778D7}" type="datetime'''''''''''''''1''''2''''''''%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82493960-F17B-0D5E-617B-452D4CB84336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auto">
          <a:xfrm>
            <a:off x="7639741" y="5164448"/>
            <a:ext cx="366707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9" name="Текст 4">
            <a:extLst>
              <a:ext uri="{FF2B5EF4-FFF2-40B4-BE49-F238E27FC236}">
                <a16:creationId xmlns:a16="http://schemas.microsoft.com/office/drawing/2014/main" id="{66E31432-604D-8919-9651-1EA6958AE21D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8614205" y="2223879"/>
            <a:ext cx="35240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EA32DF3-7F12-41E3-BC8B-A61E64FE549D}" type="datetime'''''0'''''''''''''''''',''''''''''''''''''''''''''''''''''5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FD09C33-EDAE-45D9-9E1D-E404D74B1C07}" type="datetime'''''''''5''''''%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E997759A-7324-CDBE-AFFC-A38D3F43BE00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8548687" y="3712164"/>
            <a:ext cx="417921" cy="4699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244FAB7-2B93-4785-9DE2-851867C53F50}" type="datetime'''''''''''''''''''''''9'''''''''''''''''''''''''''''''''''',5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BE7D72C-2E80-4D1F-8C98-B23E58943CC8}" type="datetime'''''''''''''''''95''''''''''''''''''''''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95%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1" name="Текст 4">
            <a:extLst>
              <a:ext uri="{FF2B5EF4-FFF2-40B4-BE49-F238E27FC236}">
                <a16:creationId xmlns:a16="http://schemas.microsoft.com/office/drawing/2014/main" id="{5AD49C93-4467-50E5-9253-E5F659283893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auto">
          <a:xfrm>
            <a:off x="8597098" y="5177787"/>
            <a:ext cx="357604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92F06ED2-5947-0D86-594B-6C0505D6B929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4911477" y="2868354"/>
            <a:ext cx="26657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DDD8016-4B20-47CE-881C-754F6A4D5980}" type="datetime'''''''''''''''''''6,''''''''''''8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112FE568-86C1-CACA-B78B-2A8FDA536DC9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5799152" y="2658685"/>
            <a:ext cx="254874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9F3D735-DF09-4BDB-8BD6-3914FE3FEE15}" type="datetime'''7,''''''''''''''''''''5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7,5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4" name="Текст 4">
            <a:extLst>
              <a:ext uri="{FF2B5EF4-FFF2-40B4-BE49-F238E27FC236}">
                <a16:creationId xmlns:a16="http://schemas.microsoft.com/office/drawing/2014/main" id="{88562F26-F171-56E9-E60B-8AE7EB2AA3FE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gray">
          <a:xfrm>
            <a:off x="6766254" y="2458829"/>
            <a:ext cx="265277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72FD529-C2A7-405C-989F-CB539DEFBD79}" type="datetime'''''''8'''''''''''',''''''''''''''''''3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F2086F4E-7C83-3DC6-CEA2-86D58E9B2AA9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gray">
          <a:xfrm>
            <a:off x="7739968" y="2223879"/>
            <a:ext cx="23927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4C9A34-4A8A-458E-8217-30BADAA2AC35}" type="datetime'9'',''''''''''''''''''''''''''1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77358F03-BA0D-24B2-CDA8-1CC8263A5E58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gray">
          <a:xfrm>
            <a:off x="8583420" y="2005811"/>
            <a:ext cx="330296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83F65F7-0FE4-4208-95A4-977B00F55C49}" type="datetime'''1''''''0'',''''''''''''''0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10,0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7" name="Текст 4">
            <a:extLst>
              <a:ext uri="{FF2B5EF4-FFF2-40B4-BE49-F238E27FC236}">
                <a16:creationId xmlns:a16="http://schemas.microsoft.com/office/drawing/2014/main" id="{260BEF05-FA6F-177E-6937-FD75BF2582FE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7603749" y="3762895"/>
            <a:ext cx="443429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F5E4059-CD0A-4046-AB61-53E8CE74315A}" type="datetime'8'''''''''',''''''''''''''''''''''''''''''''''5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DD4E2F1-4296-4C63-B7F9-EB367A79F4EB}" type="datetime'''''93''''''%''''''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93%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cxnSp>
        <p:nvCxnSpPr>
          <p:cNvPr id="63" name="Connector: Elbow 27">
            <a:extLst>
              <a:ext uri="{FF2B5EF4-FFF2-40B4-BE49-F238E27FC236}">
                <a16:creationId xmlns:a16="http://schemas.microsoft.com/office/drawing/2014/main" id="{621120AC-9ADF-4F21-C0CD-0EF2C976D2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44702" y="1358487"/>
            <a:ext cx="7099298" cy="2174187"/>
          </a:xfrm>
          <a:prstGeom prst="bentConnector3">
            <a:avLst>
              <a:gd name="adj1" fmla="val 91831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Chart 3">
            <a:extLst>
              <a:ext uri="{FF2B5EF4-FFF2-40B4-BE49-F238E27FC236}">
                <a16:creationId xmlns:a16="http://schemas.microsoft.com/office/drawing/2014/main" id="{6035ADB9-77AD-660A-817E-69BD42EB12CD}"/>
              </a:ext>
            </a:extLst>
          </p:cNvPr>
          <p:cNvGraphicFramePr/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258630225"/>
              </p:ext>
            </p:extLst>
          </p:nvPr>
        </p:nvGraphicFramePr>
        <p:xfrm>
          <a:off x="3065125" y="2279076"/>
          <a:ext cx="1797389" cy="3109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89A6AD16-ED49-16F7-3467-51C05AAE042C}"/>
              </a:ext>
            </a:extLst>
          </p:cNvPr>
          <p:cNvCxnSpPr>
            <a:cxnSpLocks/>
          </p:cNvCxnSpPr>
          <p:nvPr>
            <p:custDataLst>
              <p:tags r:id="rId43"/>
            </p:custDataLst>
          </p:nvPr>
        </p:nvCxnSpPr>
        <p:spPr bwMode="auto">
          <a:xfrm>
            <a:off x="3626996" y="4887446"/>
            <a:ext cx="287441" cy="12848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1D171731-B640-AAAD-D6E5-8ADEC65F1996}"/>
              </a:ext>
            </a:extLst>
          </p:cNvPr>
          <p:cNvCxnSpPr>
            <a:cxnSpLocks/>
          </p:cNvCxnSpPr>
          <p:nvPr>
            <p:custDataLst>
              <p:tags r:id="rId44"/>
            </p:custDataLst>
          </p:nvPr>
        </p:nvCxnSpPr>
        <p:spPr bwMode="auto">
          <a:xfrm flipH="1">
            <a:off x="4084514" y="4817489"/>
            <a:ext cx="212955" cy="8665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C6A061F5-7EF7-BAF7-8AF3-63A35D028200}"/>
              </a:ext>
            </a:extLst>
          </p:cNvPr>
          <p:cNvCxnSpPr>
            <a:cxnSpLocks/>
          </p:cNvCxnSpPr>
          <p:nvPr>
            <p:custDataLst>
              <p:tags r:id="rId45"/>
            </p:custDataLst>
          </p:nvPr>
        </p:nvCxnSpPr>
        <p:spPr bwMode="auto">
          <a:xfrm flipH="1">
            <a:off x="4133056" y="5011738"/>
            <a:ext cx="201851" cy="70069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Текст 4">
            <a:extLst>
              <a:ext uri="{FF2B5EF4-FFF2-40B4-BE49-F238E27FC236}">
                <a16:creationId xmlns:a16="http://schemas.microsoft.com/office/drawing/2014/main" id="{C463E701-8A53-0852-9835-06E35E3274C8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gray">
          <a:xfrm>
            <a:off x="3770570" y="3882503"/>
            <a:ext cx="38640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DE39D96-CB63-431D-A915-BB6F0B47A9AA}" type="datetime'''''''''1'''',''''''8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1,8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SF Pro Text Light" panose="020B0603020202020204"/>
              </a:rPr>
              <a:t>(30%)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69" name="Текст 4">
            <a:extLst>
              <a:ext uri="{FF2B5EF4-FFF2-40B4-BE49-F238E27FC236}">
                <a16:creationId xmlns:a16="http://schemas.microsoft.com/office/drawing/2014/main" id="{5EEE911F-42BE-0E6F-B6CE-758D8AEF1195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gray">
          <a:xfrm>
            <a:off x="3093582" y="4863921"/>
            <a:ext cx="545298" cy="195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D4F65E4-93E2-41D6-B9AE-64454895794B}" type="datetime'''''''''''''''''''''''''''''''''''''0,''1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r>
              <a:rPr lang="en-US" altLang="en-US" sz="1400" dirty="0">
                <a:solidFill>
                  <a:srgbClr val="0077FF"/>
                </a:solidFill>
                <a:latin typeface="SF Pro Text Light" panose="020B0603020202020204"/>
              </a:rPr>
              <a:t> </a:t>
            </a: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04523DFD-C224-41B2-9707-3D2F223692C7}" type="datetime'''''''''''''''''''''''''''''''''''2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D4EDE6EA-731C-821D-5529-B7CD953C4DD2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3763591" y="5156423"/>
            <a:ext cx="378327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1" name="Текст 4">
            <a:extLst>
              <a:ext uri="{FF2B5EF4-FFF2-40B4-BE49-F238E27FC236}">
                <a16:creationId xmlns:a16="http://schemas.microsoft.com/office/drawing/2014/main" id="{19128D71-9B09-DBA3-F5AB-44FBAA36886F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gray">
          <a:xfrm>
            <a:off x="3827307" y="2325835"/>
            <a:ext cx="24773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DA143D2-681B-4E8B-B2BD-5C3F56793C72}" type="datetime'''''''''''6'''''''''''''''''''''''''''''''''''''''',''''1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2" name="Текст 4">
            <a:extLst>
              <a:ext uri="{FF2B5EF4-FFF2-40B4-BE49-F238E27FC236}">
                <a16:creationId xmlns:a16="http://schemas.microsoft.com/office/drawing/2014/main" id="{DA7ECF4F-40CB-A9A5-C4CB-AC48B213C33D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3763591" y="3012344"/>
            <a:ext cx="40390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67396B-0AC2-4A49-810E-22F558E19432}" type="datetime'''''''2'''''''''',''''''''''''''''''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2,5</a:t>
            </a:fld>
            <a:endParaRPr kumimoji="0" lang="ru-RU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solidFill>
                  <a:srgbClr val="000000"/>
                </a:solidFill>
                <a:latin typeface="SF Pro Text Light" panose="020B0603020202020204"/>
              </a:rPr>
              <a:t>(42</a:t>
            </a:r>
            <a:r>
              <a:rPr lang="en-US" sz="1400" dirty="0">
                <a:solidFill>
                  <a:srgbClr val="000000"/>
                </a:solidFill>
                <a:latin typeface="SF Pro Text Light" panose="020B0603020202020204"/>
                <a:sym typeface="Wingdings" pitchFamily="2" charset="2"/>
              </a:rPr>
              <a:t>%)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73" name="Straight Connector 237">
            <a:extLst>
              <a:ext uri="{FF2B5EF4-FFF2-40B4-BE49-F238E27FC236}">
                <a16:creationId xmlns:a16="http://schemas.microsoft.com/office/drawing/2014/main" id="{018A7CDB-148B-87DA-902A-C0051475D3EA}"/>
              </a:ext>
            </a:extLst>
          </p:cNvPr>
          <p:cNvCxnSpPr>
            <a:cxnSpLocks/>
          </p:cNvCxnSpPr>
          <p:nvPr/>
        </p:nvCxnSpPr>
        <p:spPr>
          <a:xfrm>
            <a:off x="4202193" y="2615342"/>
            <a:ext cx="579323" cy="85232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114">
            <a:extLst>
              <a:ext uri="{FF2B5EF4-FFF2-40B4-BE49-F238E27FC236}">
                <a16:creationId xmlns:a16="http://schemas.microsoft.com/office/drawing/2014/main" id="{7B1CE7C3-8501-8C5F-4717-888CE9BE5223}"/>
              </a:ext>
            </a:extLst>
          </p:cNvPr>
          <p:cNvSpPr/>
          <p:nvPr/>
        </p:nvSpPr>
        <p:spPr>
          <a:xfrm>
            <a:off x="2995212" y="1503910"/>
            <a:ext cx="238603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Выручка игроков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ВКС в 2023 г., млрд руб.</a:t>
            </a:r>
          </a:p>
        </p:txBody>
      </p:sp>
      <p:sp>
        <p:nvSpPr>
          <p:cNvPr id="75" name="Rectangle 12">
            <a:extLst>
              <a:ext uri="{FF2B5EF4-FFF2-40B4-BE49-F238E27FC236}">
                <a16:creationId xmlns:a16="http://schemas.microsoft.com/office/drawing/2014/main" id="{B091585A-3443-A361-98EA-AB6829970417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2411413" y="4454527"/>
            <a:ext cx="214313" cy="160338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6" name="Rectangle 8">
            <a:extLst>
              <a:ext uri="{FF2B5EF4-FFF2-40B4-BE49-F238E27FC236}">
                <a16:creationId xmlns:a16="http://schemas.microsoft.com/office/drawing/2014/main" id="{872A5997-84D8-C5E4-2963-93BED2444178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2411413" y="3697288"/>
            <a:ext cx="214313" cy="160338"/>
          </a:xfrm>
          <a:prstGeom prst="rect">
            <a:avLst/>
          </a:prstGeom>
          <a:solidFill>
            <a:srgbClr val="99F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7" name="Rectangle 14">
            <a:extLst>
              <a:ext uri="{FF2B5EF4-FFF2-40B4-BE49-F238E27FC236}">
                <a16:creationId xmlns:a16="http://schemas.microsoft.com/office/drawing/2014/main" id="{58457443-583A-50BF-27D8-CC52306DD246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2411413" y="4959352"/>
            <a:ext cx="214313" cy="160338"/>
          </a:xfrm>
          <a:prstGeom prst="rect">
            <a:avLst/>
          </a:prstGeom>
          <a:solidFill>
            <a:srgbClr val="267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8" name="Rectangle 9">
            <a:extLst>
              <a:ext uri="{FF2B5EF4-FFF2-40B4-BE49-F238E27FC236}">
                <a16:creationId xmlns:a16="http://schemas.microsoft.com/office/drawing/2014/main" id="{ACBFE1EB-FCEC-7A29-1B72-F9A2BC275180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2411413" y="3949702"/>
            <a:ext cx="214313" cy="160338"/>
          </a:xfrm>
          <a:prstGeom prst="rect">
            <a:avLst/>
          </a:prstGeom>
          <a:solidFill>
            <a:srgbClr val="27EA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9" name="Rectangle 13">
            <a:extLst>
              <a:ext uri="{FF2B5EF4-FFF2-40B4-BE49-F238E27FC236}">
                <a16:creationId xmlns:a16="http://schemas.microsoft.com/office/drawing/2014/main" id="{56FC786B-AEA7-BA7C-9753-3DC312CFD959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2411413" y="4706939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0" name="Rectangle 10">
            <a:extLst>
              <a:ext uri="{FF2B5EF4-FFF2-40B4-BE49-F238E27FC236}">
                <a16:creationId xmlns:a16="http://schemas.microsoft.com/office/drawing/2014/main" id="{18AC5547-2112-9A7F-BE5A-FF4E202380D3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2411413" y="4202114"/>
            <a:ext cx="214313" cy="160338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1" name="Rectangle 15">
            <a:extLst>
              <a:ext uri="{FF2B5EF4-FFF2-40B4-BE49-F238E27FC236}">
                <a16:creationId xmlns:a16="http://schemas.microsoft.com/office/drawing/2014/main" id="{61ABDBA1-EE41-9397-5867-D55F451337E6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411413" y="5211764"/>
            <a:ext cx="214313" cy="160338"/>
          </a:xfrm>
          <a:prstGeom prst="rect">
            <a:avLst/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2" name="Текст 4">
            <a:extLst>
              <a:ext uri="{FF2B5EF4-FFF2-40B4-BE49-F238E27FC236}">
                <a16:creationId xmlns:a16="http://schemas.microsoft.com/office/drawing/2014/main" id="{55752033-9467-D80E-25CC-1E4B361789D7}"/>
              </a:ext>
            </a:extLst>
          </p:cNvPr>
          <p:cNvSpPr>
            <a:spLocks noGrp="1"/>
          </p:cNvSpPr>
          <p:nvPr>
            <p:custDataLst>
              <p:tags r:id="rId58"/>
            </p:custDataLst>
          </p:nvPr>
        </p:nvSpPr>
        <p:spPr bwMode="auto">
          <a:xfrm>
            <a:off x="2676525" y="4435477"/>
            <a:ext cx="4587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95936F-B8F4-4AE5-95F2-59F98953A8FC}" type="datetime'''''''''''''''''V''i''''''''''''''''''nt''''e''''''''o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Vinteo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3" name="Текст 4">
            <a:extLst>
              <a:ext uri="{FF2B5EF4-FFF2-40B4-BE49-F238E27FC236}">
                <a16:creationId xmlns:a16="http://schemas.microsoft.com/office/drawing/2014/main" id="{3BED0D5E-FBCA-5ABF-B836-E886425092B9}"/>
              </a:ext>
            </a:extLst>
          </p:cNvPr>
          <p:cNvSpPr>
            <a:spLocks noGrp="1"/>
          </p:cNvSpPr>
          <p:nvPr>
            <p:custDataLst>
              <p:tags r:id="rId59"/>
            </p:custDataLst>
          </p:nvPr>
        </p:nvSpPr>
        <p:spPr bwMode="auto">
          <a:xfrm>
            <a:off x="2676525" y="4687889"/>
            <a:ext cx="4476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32992A7-60B6-45BA-9E19-0EDCCCFAF2EC}" type="datetime'''''''''''''''С''''ат''''''е''''''''''''''л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Сател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4" name="Текст 4">
            <a:extLst>
              <a:ext uri="{FF2B5EF4-FFF2-40B4-BE49-F238E27FC236}">
                <a16:creationId xmlns:a16="http://schemas.microsoft.com/office/drawing/2014/main" id="{1A6C9AC5-00CE-AA7A-7E4F-B7A2EEBCE129}"/>
              </a:ext>
            </a:extLst>
          </p:cNvPr>
          <p:cNvSpPr>
            <a:spLocks noGrp="1"/>
          </p:cNvSpPr>
          <p:nvPr>
            <p:custDataLst>
              <p:tags r:id="rId60"/>
            </p:custDataLst>
          </p:nvPr>
        </p:nvSpPr>
        <p:spPr bwMode="auto">
          <a:xfrm>
            <a:off x="2676525" y="4183064"/>
            <a:ext cx="92075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8035136-4CF4-4829-8AFD-B8AD53EB07BC}" type="datetime'''''''''Н''''''''''''''ТЦ'''' П''''''р''''''''''''''от''''ей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НТЦ Протей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5" name="Текст 4">
            <a:extLst>
              <a:ext uri="{FF2B5EF4-FFF2-40B4-BE49-F238E27FC236}">
                <a16:creationId xmlns:a16="http://schemas.microsoft.com/office/drawing/2014/main" id="{CA918BBC-5348-DD22-EC02-189D129680EC}"/>
              </a:ext>
            </a:extLst>
          </p:cNvPr>
          <p:cNvSpPr>
            <a:spLocks noGrp="1"/>
          </p:cNvSpPr>
          <p:nvPr>
            <p:custDataLst>
              <p:tags r:id="rId61"/>
            </p:custDataLst>
          </p:nvPr>
        </p:nvSpPr>
        <p:spPr bwMode="auto">
          <a:xfrm>
            <a:off x="2676525" y="4940302"/>
            <a:ext cx="1984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38E8A0F-8290-44B1-B0D7-23B81725DD61}" type="datetime'V''K''''''''''''''''''''''''''''''''''''''''''''''''''''''''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6" name="Текст 4">
            <a:extLst>
              <a:ext uri="{FF2B5EF4-FFF2-40B4-BE49-F238E27FC236}">
                <a16:creationId xmlns:a16="http://schemas.microsoft.com/office/drawing/2014/main" id="{D8DBC570-68EC-2BF4-2E50-078856F0AA2B}"/>
              </a:ext>
            </a:extLst>
          </p:cNvPr>
          <p:cNvSpPr>
            <a:spLocks noGrp="1"/>
          </p:cNvSpPr>
          <p:nvPr>
            <p:custDataLst>
              <p:tags r:id="rId62"/>
            </p:custDataLst>
          </p:nvPr>
        </p:nvSpPr>
        <p:spPr bwMode="auto">
          <a:xfrm>
            <a:off x="2676525" y="3930652"/>
            <a:ext cx="1243013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813623C-59A9-4400-BFB3-56A57DBEDE89}" type="datetime'I''''''''''VA'''' ''''T''e''''''''''c''hno''''''''l''ogies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IVA Technologies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7" name="Текст 4">
            <a:extLst>
              <a:ext uri="{FF2B5EF4-FFF2-40B4-BE49-F238E27FC236}">
                <a16:creationId xmlns:a16="http://schemas.microsoft.com/office/drawing/2014/main" id="{B47E43CE-FFB2-0509-CB78-4931E630CDAE}"/>
              </a:ext>
            </a:extLst>
          </p:cNvPr>
          <p:cNvSpPr>
            <a:spLocks noGrp="1"/>
          </p:cNvSpPr>
          <p:nvPr>
            <p:custDataLst>
              <p:tags r:id="rId63"/>
            </p:custDataLst>
          </p:nvPr>
        </p:nvSpPr>
        <p:spPr bwMode="auto">
          <a:xfrm>
            <a:off x="2676525" y="5192714"/>
            <a:ext cx="3841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FF2F069-A845-49B0-86E9-A92127018458}" type="datetime'''''''''''Д''''''''''''''''''''''''''''ио''''''''н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Дион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8" name="Текст 4">
            <a:extLst>
              <a:ext uri="{FF2B5EF4-FFF2-40B4-BE49-F238E27FC236}">
                <a16:creationId xmlns:a16="http://schemas.microsoft.com/office/drawing/2014/main" id="{0FF9547D-B206-BD4A-2D9E-07AA48165AD1}"/>
              </a:ext>
            </a:extLst>
          </p:cNvPr>
          <p:cNvSpPr>
            <a:spLocks noGrp="1"/>
          </p:cNvSpPr>
          <p:nvPr>
            <p:custDataLst>
              <p:tags r:id="rId64"/>
            </p:custDataLst>
          </p:nvPr>
        </p:nvSpPr>
        <p:spPr bwMode="auto">
          <a:xfrm>
            <a:off x="2676525" y="3678239"/>
            <a:ext cx="6699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2FC9A82-C5A0-4D4B-A7AF-6ADB183AD431}" type="datetime'T''''''rue''C''''''''''''''o''n''''''f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TrueConf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2" name="Rectangle 109">
            <a:extLst>
              <a:ext uri="{FF2B5EF4-FFF2-40B4-BE49-F238E27FC236}">
                <a16:creationId xmlns:a16="http://schemas.microsoft.com/office/drawing/2014/main" id="{F11DDD37-81E6-F9B0-5609-50EF2CD0B4B8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3814762" y="5382356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3" name="Rectangle 119">
            <a:extLst>
              <a:ext uri="{FF2B5EF4-FFF2-40B4-BE49-F238E27FC236}">
                <a16:creationId xmlns:a16="http://schemas.microsoft.com/office/drawing/2014/main" id="{B710EC9A-75E7-7DD9-1B59-5A93A2846AF3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3814762" y="5668106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4" name="Текст 4">
            <a:extLst>
              <a:ext uri="{FF2B5EF4-FFF2-40B4-BE49-F238E27FC236}">
                <a16:creationId xmlns:a16="http://schemas.microsoft.com/office/drawing/2014/main" id="{9E3E3A06-3A06-EC2A-2C4A-7EBFC51B8C5E}"/>
              </a:ext>
            </a:extLst>
          </p:cNvPr>
          <p:cNvSpPr txBox="1">
            <a:spLocks/>
          </p:cNvSpPr>
          <p:nvPr>
            <p:custDataLst>
              <p:tags r:id="rId67"/>
            </p:custDataLst>
          </p:nvPr>
        </p:nvSpPr>
        <p:spPr bwMode="auto">
          <a:xfrm>
            <a:off x="4116387" y="5361719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854F57-2A82-4674-AA7C-964B8C1CE76F}" type="datetime'З''''''''''''''''''''''''ар''убеж''''''ные ''и''''''гроки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5" name="Текст 4">
            <a:extLst>
              <a:ext uri="{FF2B5EF4-FFF2-40B4-BE49-F238E27FC236}">
                <a16:creationId xmlns:a16="http://schemas.microsoft.com/office/drawing/2014/main" id="{2781BF4E-A610-7252-EA79-3C6D7536F8FD}"/>
              </a:ext>
            </a:extLst>
          </p:cNvPr>
          <p:cNvSpPr txBox="1">
            <a:spLocks/>
          </p:cNvSpPr>
          <p:nvPr>
            <p:custDataLst>
              <p:tags r:id="rId68"/>
            </p:custDataLst>
          </p:nvPr>
        </p:nvSpPr>
        <p:spPr bwMode="auto">
          <a:xfrm>
            <a:off x="4116387" y="5647469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12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Рынок ВКС сервисов </a:t>
            </a:r>
            <a:r>
              <a:rPr lang="en" dirty="0"/>
              <a:t>SaaS</a:t>
            </a:r>
            <a:endParaRPr lang="ru-RU"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9BD09-0117-29C1-1336-76D9C816101C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6C2F445D-E0AB-4D86-A5E2-75185CC8751D}" type="slidenum">
              <a:rPr lang="ru-RU" sz="800" smtClean="0">
                <a:solidFill>
                  <a:srgbClr val="000000">
                    <a:tint val="75000"/>
                  </a:srgbClr>
                </a:solidFill>
                <a:latin typeface="SF Pro Text Light" panose="020B0603020202020204"/>
              </a:rPr>
              <a:pPr algn="r" defTabSz="914400">
                <a:defRPr/>
              </a:pPr>
              <a:t>10</a:t>
            </a:fld>
            <a:endParaRPr lang="ru-RU" sz="800" dirty="0">
              <a:solidFill>
                <a:srgbClr val="000000">
                  <a:tint val="75000"/>
                </a:srgbClr>
              </a:solidFill>
              <a:latin typeface="SF Pro Text Light" panose="020B0603020202020204"/>
            </a:endParaRP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3402DEDF-6B81-D57C-8995-B694389079E6}"/>
              </a:ext>
            </a:extLst>
          </p:cNvPr>
          <p:cNvSpPr/>
          <p:nvPr/>
        </p:nvSpPr>
        <p:spPr>
          <a:xfrm>
            <a:off x="611954" y="6042392"/>
            <a:ext cx="8305534" cy="815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Источники: </a:t>
            </a:r>
          </a:p>
          <a:p>
            <a:pPr defTabSz="914400">
              <a:spcAft>
                <a:spcPts val="300"/>
              </a:spcAft>
              <a:defRPr/>
            </a:pP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Рынок, распределение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SaaS/On-prem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/Оборудование - оценка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Bottom-Up 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рыночных игроков. Динамика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</a:t>
            </a:r>
            <a:r>
              <a:rPr kumimoji="0" lang="en-US" sz="1200" b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J’son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&amp; Partners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2024. Прогноз 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On-Prem, 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Оборудования - </a:t>
            </a:r>
            <a:r>
              <a:rPr kumimoji="0" lang="ru-RU" sz="1200" b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экспертно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 </a:t>
            </a:r>
            <a:endParaRPr lang="ru-RU" sz="1200" dirty="0">
              <a:solidFill>
                <a:srgbClr val="000000"/>
              </a:solidFill>
            </a:endParaRPr>
          </a:p>
          <a:p>
            <a:pPr defTabSz="914400">
              <a:spcAft>
                <a:spcPts val="300"/>
              </a:spcAft>
              <a:defRPr/>
            </a:pP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Прогноз проникновения РФ-решений - отчет </a:t>
            </a:r>
            <a:r>
              <a:rPr kumimoji="0" lang="en-US" sz="1200" b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J’son</a:t>
            </a:r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&amp; Partners</a:t>
            </a:r>
            <a:r>
              <a:rPr kumimoji="0" lang="ru-RU" sz="1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2024. </a:t>
            </a:r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16" name="Rectangle 114">
            <a:extLst>
              <a:ext uri="{FF2B5EF4-FFF2-40B4-BE49-F238E27FC236}">
                <a16:creationId xmlns:a16="http://schemas.microsoft.com/office/drawing/2014/main" id="{A7DC270C-D785-ED9D-D2CE-FD033737375A}"/>
              </a:ext>
            </a:extLst>
          </p:cNvPr>
          <p:cNvSpPr/>
          <p:nvPr/>
        </p:nvSpPr>
        <p:spPr>
          <a:xfrm>
            <a:off x="5187931" y="1484345"/>
            <a:ext cx="385049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ВКС по типу игроков, млрд руб.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B32C47AF-417E-7AD2-71AB-FB355EC0A669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gray">
          <a:xfrm>
            <a:off x="1912938" y="4071938"/>
            <a:ext cx="5603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0126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C7BC2F-B704-49D0-BF44-C5697396E60C}" type="datetime'''''''''''''1''''''''0'''''''''''''',''''''''''''0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10,0</a:t>
            </a:fld>
            <a:r>
              <a:rPr kumimoji="0" lang="ru-RU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(2)</a:t>
            </a:r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D0470D6-5F96-4366-BBA8-5319CA3CA887}" type="datetime'5''''''''''''''6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graphicFrame>
        <p:nvGraphicFramePr>
          <p:cNvPr id="37" name="Chart 3">
            <a:extLst>
              <a:ext uri="{FF2B5EF4-FFF2-40B4-BE49-F238E27FC236}">
                <a16:creationId xmlns:a16="http://schemas.microsoft.com/office/drawing/2014/main" id="{DB9A8A39-CB54-3570-C783-923ABC0875BF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6226657"/>
              </p:ext>
            </p:extLst>
          </p:nvPr>
        </p:nvGraphicFramePr>
        <p:xfrm>
          <a:off x="4994115" y="2292899"/>
          <a:ext cx="4331654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4"/>
          </a:graphicData>
        </a:graphic>
      </p:graphicFrame>
      <p:sp>
        <p:nvSpPr>
          <p:cNvPr id="38" name="Текст 4">
            <a:extLst>
              <a:ext uri="{FF2B5EF4-FFF2-40B4-BE49-F238E27FC236}">
                <a16:creationId xmlns:a16="http://schemas.microsoft.com/office/drawing/2014/main" id="{21D35D4C-BAB2-B47E-7D9D-7C544831F71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5187931" y="4302002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81BE6D4-9859-496B-AAC3-ACB0BCDC4093}" type="datetime'''''''''''''2'''''''''''',''''''''''''''''''''''''9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2,9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234FF00F-E42A-4ECA-BCD2-717E43470026}" type="datetime'''''6''7''''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67%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7001870D-797C-95BF-A41C-E88B2ADE0476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5244489" y="5127938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5F6086CB-F17B-FBD1-A8C7-DE7B4A0B264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6011660" y="3223295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DF54342-A252-446E-B1C8-D95016789871}" type="datetime'''''''1'''',''''''''''''''''''''''''4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3A8836A6-9317-4F22-A70C-47709B4F5F32}" type="datetime'''''''''''''''''3''''''''0''''%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8CC30F38-C02E-B435-A268-1491CA34910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6007226" y="4194893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137DDB-B352-4C62-A8C8-F0B9344B1AFD}" type="datetime'''''''''''''''''''''''''''''''''''3,''''''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3,4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C5D9D6C1-6604-407B-BE68-193674A6076D}" type="datetime'''''''''''''''''''''''''''''''''''7''''''''0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70%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722CD36E-A9AC-BD6C-7485-E0568ECD6146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6091317" y="5141682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1C6E16CA-8081-8685-A3B9-3DA10A4108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6873698" y="2958149"/>
            <a:ext cx="5381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8606B8B-02D2-45A7-9744-94886E0CCD63}" type="datetime'''1'''''''''''''',''''''''''''4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DF1851B-E609-4AE0-BD71-8DAC6F43C331}" type="datetime'''''''2''''''''''''''''''''''''''''6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26%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8182D121-8B9E-3206-2F75-9977DAED53F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6876873" y="4097400"/>
            <a:ext cx="5349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301567A-4A34-42C3-8302-7E411FE3AF88}" type="datetime'''''''''''''''''''''''''''''''4'''''''''',''''''''''''''0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4,0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D283D764-B906-4BD9-B77D-A7AD54E26156}" type="datetime'''''74''''%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74%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5" name="Текст 4">
            <a:extLst>
              <a:ext uri="{FF2B5EF4-FFF2-40B4-BE49-F238E27FC236}">
                <a16:creationId xmlns:a16="http://schemas.microsoft.com/office/drawing/2014/main" id="{C8B81514-563E-41A0-BF12-72E1D3D76E0E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6950709" y="515858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BA4C02B7-F3FC-6938-0B20-208F1B94FDF3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7760156" y="2636194"/>
            <a:ext cx="533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6DF19-6413-403C-BD31-E92F41F3F1BF}" type="datetime'''''''1'''''''''''''''''''''''''''''''''''''''''''''',''''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1,3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35577C0C-6871-40C9-9B63-1E473A3AB4B3}" type="datetime'''''''''''''''''''''''''''''''22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22%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7" name="Текст 4">
            <a:extLst>
              <a:ext uri="{FF2B5EF4-FFF2-40B4-BE49-F238E27FC236}">
                <a16:creationId xmlns:a16="http://schemas.microsoft.com/office/drawing/2014/main" id="{2CB58970-4D8B-78F3-7AD8-2457E8FEA2D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5207296" y="3423848"/>
            <a:ext cx="5397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0284BF1-CEBD-442C-82E2-0A34F052D21A}" type="datetime'1'''''''''''''''''''''''''''',''''''''''''''''''5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1,5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6654D44-A8D9-4A78-B3A8-3A65435925D6}" type="datetime'''''''''''''''''''''''''''''''''''3''''''''''''3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33%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084A51B7-9604-ED6C-A5D2-EEE8A485F284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7786606" y="515858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49" name="Текст 4">
            <a:extLst>
              <a:ext uri="{FF2B5EF4-FFF2-40B4-BE49-F238E27FC236}">
                <a16:creationId xmlns:a16="http://schemas.microsoft.com/office/drawing/2014/main" id="{88734F34-1A8D-EBA4-9902-947EA1944CD6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8625528" y="2372670"/>
            <a:ext cx="5000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0D57C7D-788B-4AD6-8184-1F9EA729E792}" type="datetime'''''''''''''1'''''''''''''''''',''''''''''''''''''''''2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1,2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FD05679-C035-4E8B-A9F0-395BB5F99E95}" type="datetime'''''''''''1''''''''''''''''''''7''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17%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65E18F79-3FBF-7F55-3C0C-D786DF827822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8548687" y="3907540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CB86DE0-A0F4-4076-A4EE-9F52A5E39294}" type="datetime'''''''''''''''''''5'''''''''''''''''''',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5,7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8FCB9DFD-0558-41B0-A266-1007B0592616}" type="datetime'''''''''''''''''''''''''''''''''''''''8''3''%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83%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1" name="Текст 4">
            <a:extLst>
              <a:ext uri="{FF2B5EF4-FFF2-40B4-BE49-F238E27FC236}">
                <a16:creationId xmlns:a16="http://schemas.microsoft.com/office/drawing/2014/main" id="{EC1DA3BF-E79F-9603-67BA-21F50BB59760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8601867" y="5173844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9D39F87D-DD16-303C-A2DE-A2C3BA7DA153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5305425" y="3100889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2A48AE3-56AD-4F90-B612-EF5947C9BD4D}" type="datetime'''4'''''''''''''''''',''''''''''3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AB1A0895-7621-FCB3-2EDD-7F23C03EB44E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6109619" y="2892406"/>
            <a:ext cx="3270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3E8E117-57FB-49DA-8525-C16EE474DB1B}" type="datetime'''''''4'''''''''''''''''''',''9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4,9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4" name="Текст 4">
            <a:extLst>
              <a:ext uri="{FF2B5EF4-FFF2-40B4-BE49-F238E27FC236}">
                <a16:creationId xmlns:a16="http://schemas.microsoft.com/office/drawing/2014/main" id="{5AE8A898-72FA-5C01-2B47-56F4DC4827C3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6950709" y="2627391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1C5CBEA-D860-4AB4-85C7-8017BE6CA5C2}" type="datetime'''''''''''5'''',''4''''''''''''''''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5,4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5C6DFD5C-57E2-6400-30FE-E3FCBEB54387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7851546" y="2377745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96E5D7A-FBCD-43C9-BC20-3378013378D1}" type="datetime'''6'''''''''''''''',''''''1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F3D5EE02-4F4E-E3CA-88E4-B140E5ECDE1B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8657430" y="2055486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97828A2-FD12-4B63-BB24-E0176F229F98}" type="datetime'6'''''',''''''''8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57" name="Текст 4">
            <a:extLst>
              <a:ext uri="{FF2B5EF4-FFF2-40B4-BE49-F238E27FC236}">
                <a16:creationId xmlns:a16="http://schemas.microsoft.com/office/drawing/2014/main" id="{B4C45849-7A15-554E-F45C-55CB6A89B98C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7730896" y="3967671"/>
            <a:ext cx="533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82C304B-C76D-4323-9978-4EA0B434AC89}" type="datetime'4'''''''',''''''''''''''''8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4,8</a:t>
            </a:fld>
            <a:b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55A369EA-4765-4E86-8FAE-DC9BFDFA713A}" type="datetime'''''''''''''''''''7''''''''''''''''''''''''''''''''''8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78%</a:t>
            </a:fld>
            <a:r>
              <a:rPr kumimoji="0" lang="ru-RU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63" name="Connector: Elbow 27">
            <a:extLst>
              <a:ext uri="{FF2B5EF4-FFF2-40B4-BE49-F238E27FC236}">
                <a16:creationId xmlns:a16="http://schemas.microsoft.com/office/drawing/2014/main" id="{039B445A-FCFD-BD9C-C4EA-A1AF2CD87A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35634" y="1353671"/>
            <a:ext cx="7108367" cy="941710"/>
          </a:xfrm>
          <a:prstGeom prst="bentConnector3">
            <a:avLst>
              <a:gd name="adj1" fmla="val 9527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Chart 3">
            <a:extLst>
              <a:ext uri="{FF2B5EF4-FFF2-40B4-BE49-F238E27FC236}">
                <a16:creationId xmlns:a16="http://schemas.microsoft.com/office/drawing/2014/main" id="{968F46EA-6E0F-F2CA-268C-B249243D3F9F}"/>
              </a:ext>
            </a:extLst>
          </p:cNvPr>
          <p:cNvGraphicFramePr/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201309682"/>
              </p:ext>
            </p:extLst>
          </p:nvPr>
        </p:nvGraphicFramePr>
        <p:xfrm>
          <a:off x="3363119" y="2311581"/>
          <a:ext cx="2119313" cy="3109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5"/>
          </a:graphicData>
        </a:graphic>
      </p:graphicFrame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0ADA22FF-E589-EF50-F464-42A679FB0A5B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 bwMode="auto">
          <a:xfrm>
            <a:off x="4120357" y="4619806"/>
            <a:ext cx="92075" cy="4587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50D6BEBB-008A-747B-4F46-87967B650D1E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4120357" y="4972232"/>
            <a:ext cx="92075" cy="1381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52BCEFFB-AFB7-EECD-437C-46C3EC27AB1F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4120357" y="4854756"/>
            <a:ext cx="92075" cy="2476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Текст 4">
            <a:extLst>
              <a:ext uri="{FF2B5EF4-FFF2-40B4-BE49-F238E27FC236}">
                <a16:creationId xmlns:a16="http://schemas.microsoft.com/office/drawing/2014/main" id="{F3E4E5B7-1E8B-AD6E-71DD-50F96CB33105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4199732" y="5173844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D4CF2123-7A66-54B6-3901-358CD08AC95D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gray">
          <a:xfrm>
            <a:off x="3476562" y="4355799"/>
            <a:ext cx="686594" cy="24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4160BA8-767A-4547-94A5-799B11FD7453}" type="datetime'''''''''''''''''''''0'''''''''''',''''''''''''''0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0,0</a:t>
            </a:fld>
            <a:r>
              <a:rPr lang="ru-RU" altLang="en-US" sz="1400" dirty="0">
                <a:solidFill>
                  <a:srgbClr val="0077FF"/>
                </a:solidFill>
                <a:latin typeface="SF Pro Text Light" panose="020B0603020202020204"/>
              </a:rPr>
              <a:t>4</a:t>
            </a: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1DBF6E9-5E68-4AEF-A710-5C3B10EBC471}" type="datetime'''''1''''''''''''''''''''''''''''''''''''''''''''''''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7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1" name="Текст 4">
            <a:extLst>
              <a:ext uri="{FF2B5EF4-FFF2-40B4-BE49-F238E27FC236}">
                <a16:creationId xmlns:a16="http://schemas.microsoft.com/office/drawing/2014/main" id="{06242FF0-809F-D30C-2124-083B6DDE58F4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gray">
          <a:xfrm>
            <a:off x="4263232" y="2357619"/>
            <a:ext cx="319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1318875-A099-4C4C-B67D-30BA6E9812D5}" type="datetime'''''''''''''''''''''''''''''''''''''''''2'''''''''',9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2,9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cxnSp>
        <p:nvCxnSpPr>
          <p:cNvPr id="72" name="Straight Connector 237">
            <a:extLst>
              <a:ext uri="{FF2B5EF4-FFF2-40B4-BE49-F238E27FC236}">
                <a16:creationId xmlns:a16="http://schemas.microsoft.com/office/drawing/2014/main" id="{C388242E-A819-A43E-3EAD-21AF65137214}"/>
              </a:ext>
            </a:extLst>
          </p:cNvPr>
          <p:cNvCxnSpPr>
            <a:cxnSpLocks/>
          </p:cNvCxnSpPr>
          <p:nvPr/>
        </p:nvCxnSpPr>
        <p:spPr>
          <a:xfrm>
            <a:off x="4705915" y="2627391"/>
            <a:ext cx="547122" cy="132532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114">
            <a:extLst>
              <a:ext uri="{FF2B5EF4-FFF2-40B4-BE49-F238E27FC236}">
                <a16:creationId xmlns:a16="http://schemas.microsoft.com/office/drawing/2014/main" id="{184FB437-9C74-7EA2-BE23-BF849F5890FF}"/>
              </a:ext>
            </a:extLst>
          </p:cNvPr>
          <p:cNvSpPr/>
          <p:nvPr/>
        </p:nvSpPr>
        <p:spPr>
          <a:xfrm>
            <a:off x="3598863" y="1453703"/>
            <a:ext cx="174588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Выручка игроков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b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ВКС в 2023 г., млрд руб.</a:t>
            </a:r>
          </a:p>
        </p:txBody>
      </p:sp>
      <p:cxnSp>
        <p:nvCxnSpPr>
          <p:cNvPr id="74" name="Connector: Elbow 85">
            <a:extLst>
              <a:ext uri="{FF2B5EF4-FFF2-40B4-BE49-F238E27FC236}">
                <a16:creationId xmlns:a16="http://schemas.microsoft.com/office/drawing/2014/main" id="{34DA5CEF-6F0A-5C79-82D8-7390859CFE47}"/>
              </a:ext>
            </a:extLst>
          </p:cNvPr>
          <p:cNvCxnSpPr>
            <a:cxnSpLocks/>
          </p:cNvCxnSpPr>
          <p:nvPr/>
        </p:nvCxnSpPr>
        <p:spPr>
          <a:xfrm rot="10800000">
            <a:off x="2091568" y="3522163"/>
            <a:ext cx="7052432" cy="2484193"/>
          </a:xfrm>
          <a:prstGeom prst="bentConnector3">
            <a:avLst>
              <a:gd name="adj1" fmla="val 96397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33">
            <a:extLst>
              <a:ext uri="{FF2B5EF4-FFF2-40B4-BE49-F238E27FC236}">
                <a16:creationId xmlns:a16="http://schemas.microsoft.com/office/drawing/2014/main" id="{7125F90B-23CD-A0E7-A68C-E860EE14F3B6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2498726" y="4709195"/>
            <a:ext cx="214313" cy="160338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6" name="Rectangle 28">
            <a:extLst>
              <a:ext uri="{FF2B5EF4-FFF2-40B4-BE49-F238E27FC236}">
                <a16:creationId xmlns:a16="http://schemas.microsoft.com/office/drawing/2014/main" id="{37C6B9FE-8B72-1E35-0323-E4E79D264DC2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2498726" y="3699545"/>
            <a:ext cx="214313" cy="160338"/>
          </a:xfrm>
          <a:prstGeom prst="rect">
            <a:avLst/>
          </a:prstGeom>
          <a:solidFill>
            <a:srgbClr val="99F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2ECE61A2-3DAC-06AB-3662-EA064092D146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2498726" y="5466433"/>
            <a:ext cx="214312" cy="160337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8" name="Rectangle 29">
            <a:extLst>
              <a:ext uri="{FF2B5EF4-FFF2-40B4-BE49-F238E27FC236}">
                <a16:creationId xmlns:a16="http://schemas.microsoft.com/office/drawing/2014/main" id="{89840B78-9823-4ED6-523A-7578E0C417A0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2498726" y="3951958"/>
            <a:ext cx="214313" cy="160338"/>
          </a:xfrm>
          <a:prstGeom prst="rect">
            <a:avLst/>
          </a:prstGeom>
          <a:solidFill>
            <a:srgbClr val="27EA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79" name="Rectangle 35">
            <a:extLst>
              <a:ext uri="{FF2B5EF4-FFF2-40B4-BE49-F238E27FC236}">
                <a16:creationId xmlns:a16="http://schemas.microsoft.com/office/drawing/2014/main" id="{022DF892-8A8D-B804-040B-78B2EAFEA5DB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2498726" y="521402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0" name="Rectangle 31">
            <a:extLst>
              <a:ext uri="{FF2B5EF4-FFF2-40B4-BE49-F238E27FC236}">
                <a16:creationId xmlns:a16="http://schemas.microsoft.com/office/drawing/2014/main" id="{2C152FD0-A201-0EC4-ACB0-5420A7973CED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498726" y="4204370"/>
            <a:ext cx="214313" cy="160338"/>
          </a:xfrm>
          <a:prstGeom prst="rect">
            <a:avLst/>
          </a:prstGeom>
          <a:solidFill>
            <a:srgbClr val="1AB0B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1" name="Rectangle 34">
            <a:extLst>
              <a:ext uri="{FF2B5EF4-FFF2-40B4-BE49-F238E27FC236}">
                <a16:creationId xmlns:a16="http://schemas.microsoft.com/office/drawing/2014/main" id="{263B40FF-F2C1-E576-728E-F5069323B74D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498726" y="4961608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2" name="Rectangle 32">
            <a:extLst>
              <a:ext uri="{FF2B5EF4-FFF2-40B4-BE49-F238E27FC236}">
                <a16:creationId xmlns:a16="http://schemas.microsoft.com/office/drawing/2014/main" id="{1A132CDB-1FE8-9C50-B86E-2ACEF84BAAF8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498726" y="4456783"/>
            <a:ext cx="214313" cy="160338"/>
          </a:xfrm>
          <a:prstGeom prst="rect">
            <a:avLst/>
          </a:prstGeom>
          <a:solidFill>
            <a:srgbClr val="F8C24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CC65EF3A-9526-7373-0012-E4034493BF76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98726" y="5718845"/>
            <a:ext cx="214312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4" name="Текст 4">
            <a:extLst>
              <a:ext uri="{FF2B5EF4-FFF2-40B4-BE49-F238E27FC236}">
                <a16:creationId xmlns:a16="http://schemas.microsoft.com/office/drawing/2014/main" id="{AD53F73F-D63E-FE27-E997-6287DB56AE04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2763838" y="4690145"/>
            <a:ext cx="6699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CF3D8A9-AE9E-4262-A474-ED2574601895}" type="datetime'''''''''Tr''''''''''u''''''''e''''C''o''''n''''''''f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TrueConf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5" name="Текст 4">
            <a:extLst>
              <a:ext uri="{FF2B5EF4-FFF2-40B4-BE49-F238E27FC236}">
                <a16:creationId xmlns:a16="http://schemas.microsoft.com/office/drawing/2014/main" id="{EB60B40A-1E55-EDE4-4636-987A91664C92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auto">
          <a:xfrm>
            <a:off x="2763838" y="4942558"/>
            <a:ext cx="1243013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C430736-D5CF-40A7-9F97-3C3963DB6E9C}" type="datetime'I''''VA ''''''''T''''e''chn''ol''''''''''o''''''gi''e''''s'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IVA Technologies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6" name="Текст 4">
            <a:extLst>
              <a:ext uri="{FF2B5EF4-FFF2-40B4-BE49-F238E27FC236}">
                <a16:creationId xmlns:a16="http://schemas.microsoft.com/office/drawing/2014/main" id="{42122078-3796-4F6C-0F01-77220B9FB1B4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auto">
          <a:xfrm>
            <a:off x="2763838" y="4437733"/>
            <a:ext cx="8667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B12D4F0-FF71-4796-8FAC-53098EE2819F}" type="datetime'''''''Ян''''''д''е''''''''''к''с'' 3''6''0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Яндекс 360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7" name="Текст 4">
            <a:extLst>
              <a:ext uri="{FF2B5EF4-FFF2-40B4-BE49-F238E27FC236}">
                <a16:creationId xmlns:a16="http://schemas.microsoft.com/office/drawing/2014/main" id="{296F3158-54EF-0610-C207-D0C8B4B68697}"/>
              </a:ext>
            </a:extLst>
          </p:cNvPr>
          <p:cNvSpPr>
            <a:spLocks noGrp="1"/>
          </p:cNvSpPr>
          <p:nvPr>
            <p:custDataLst>
              <p:tags r:id="rId42"/>
            </p:custDataLst>
          </p:nvPr>
        </p:nvSpPr>
        <p:spPr bwMode="auto">
          <a:xfrm>
            <a:off x="2763838" y="5194970"/>
            <a:ext cx="1984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C1A152-B1B0-4BED-B646-C617FEA6A01E}" type="datetime'''''''''''''V''''''''''''''''''''K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8" name="Текст 4">
            <a:extLst>
              <a:ext uri="{FF2B5EF4-FFF2-40B4-BE49-F238E27FC236}">
                <a16:creationId xmlns:a16="http://schemas.microsoft.com/office/drawing/2014/main" id="{C5B888BA-2386-72A3-8AA6-24B1123DE171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2763838" y="4185320"/>
            <a:ext cx="96520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B1B77DF-A5E1-4303-A199-6E3BA407E29D}" type="datetime'К''о''''''н''тур''''''''''''-''''''''''''Т''о''''''лк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Контур-Толк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9" name="Текст 4">
            <a:extLst>
              <a:ext uri="{FF2B5EF4-FFF2-40B4-BE49-F238E27FC236}">
                <a16:creationId xmlns:a16="http://schemas.microsoft.com/office/drawing/2014/main" id="{D7312E6C-9443-0EBA-78B6-CD473AF959FB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auto">
          <a:xfrm>
            <a:off x="2763838" y="5447383"/>
            <a:ext cx="3841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6E03CAF-4446-4494-923D-AE9A7A8122A2}" type="datetime'''''Д''''''''и''''''о''''''''''''''''''''н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Дион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0" name="Текст 4">
            <a:extLst>
              <a:ext uri="{FF2B5EF4-FFF2-40B4-BE49-F238E27FC236}">
                <a16:creationId xmlns:a16="http://schemas.microsoft.com/office/drawing/2014/main" id="{B78304C7-4AEC-39AA-F44D-4C20CF54CCDE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2763838" y="5699795"/>
            <a:ext cx="8350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F16D856-11BF-41F6-A39D-2D1EE62D4C57}" type="datetime'''''''''''Вид''''''''ео''м''''о''с''''''''т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Видеомост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1" name="Текст 4">
            <a:extLst>
              <a:ext uri="{FF2B5EF4-FFF2-40B4-BE49-F238E27FC236}">
                <a16:creationId xmlns:a16="http://schemas.microsoft.com/office/drawing/2014/main" id="{DC733C85-EB80-7215-DC4C-7587249EF633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auto">
          <a:xfrm>
            <a:off x="2763838" y="3932908"/>
            <a:ext cx="7524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AA34A4C-C285-4145-B684-BA02FB846E9B}" type="datetime'''''''С''б''''''''''е''''''р J''a''''''''''''z''''''''z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Сбер Jazz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2" name="Текст 4">
            <a:extLst>
              <a:ext uri="{FF2B5EF4-FFF2-40B4-BE49-F238E27FC236}">
                <a16:creationId xmlns:a16="http://schemas.microsoft.com/office/drawing/2014/main" id="{4CAC1A9F-D475-9097-3C03-8C008B9F6C5B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auto">
          <a:xfrm>
            <a:off x="2763838" y="3680495"/>
            <a:ext cx="7461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79EA32-11FA-4752-B9C1-0755CAC646A0}" type="datetime'''''М''Т''С'''' ''''''''''Л''''''''и''''нк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МТС Линк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4" name="Rectangle 114">
            <a:extLst>
              <a:ext uri="{FF2B5EF4-FFF2-40B4-BE49-F238E27FC236}">
                <a16:creationId xmlns:a16="http://schemas.microsoft.com/office/drawing/2014/main" id="{2EF52935-E99C-2E8C-0C31-0DA5F07B14A0}"/>
              </a:ext>
            </a:extLst>
          </p:cNvPr>
          <p:cNvSpPr/>
          <p:nvPr/>
        </p:nvSpPr>
        <p:spPr>
          <a:xfrm>
            <a:off x="677335" y="1534760"/>
            <a:ext cx="1554138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ВКС </a:t>
            </a:r>
            <a:r>
              <a:rPr lang="ru-RU" sz="1200" dirty="0">
                <a:solidFill>
                  <a:schemeClr val="tx1"/>
                </a:solidFill>
              </a:rPr>
              <a:t>с разными моделями поставки, млрд руб.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млрд руб.</a:t>
            </a:r>
          </a:p>
        </p:txBody>
      </p:sp>
      <p:graphicFrame>
        <p:nvGraphicFramePr>
          <p:cNvPr id="95" name="Chart 3">
            <a:extLst>
              <a:ext uri="{FF2B5EF4-FFF2-40B4-BE49-F238E27FC236}">
                <a16:creationId xmlns:a16="http://schemas.microsoft.com/office/drawing/2014/main" id="{F610EFD1-B504-0848-D59B-65032EDA2614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3879634360"/>
              </p:ext>
            </p:extLst>
          </p:nvPr>
        </p:nvGraphicFramePr>
        <p:xfrm>
          <a:off x="595313" y="2206625"/>
          <a:ext cx="1741488" cy="2960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6"/>
          </a:graphicData>
        </a:graphic>
      </p:graphicFrame>
      <p:sp useBgFill="1">
        <p:nvSpPr>
          <p:cNvPr id="96" name="Полилиния 95">
            <a:extLst>
              <a:ext uri="{FF2B5EF4-FFF2-40B4-BE49-F238E27FC236}">
                <a16:creationId xmlns:a16="http://schemas.microsoft.com/office/drawing/2014/main" id="{D1779DAE-B94D-B3E1-3FB6-3A1990BB1FE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1438552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3AAFF1BB-AF2E-7E6C-53EC-BBCF8FF381CD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1495702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82026D24-D7B1-C031-B874-A078ACFB1102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1438552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99" name="Текст 4">
            <a:extLst>
              <a:ext uri="{FF2B5EF4-FFF2-40B4-BE49-F238E27FC236}">
                <a16:creationId xmlns:a16="http://schemas.microsoft.com/office/drawing/2014/main" id="{A04A8E38-794F-E411-0B60-EABEF39C3753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gray">
          <a:xfrm>
            <a:off x="1667021" y="2574547"/>
            <a:ext cx="424547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5F96F1-3180-4EC9-A70A-B8611FD6C25D}" type="datetime'''''''''''''''''''''''''6'''',''''8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9BE1203C-86CD-4C0D-99D5-53141A5BACE6}" type="datetime'''''''''''''''''''''''''3''''''''''''''''''''''''8''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38%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0" name="Текст 4">
            <a:extLst>
              <a:ext uri="{FF2B5EF4-FFF2-40B4-BE49-F238E27FC236}">
                <a16:creationId xmlns:a16="http://schemas.microsoft.com/office/drawing/2014/main" id="{2152D8A7-B7E2-F16C-38F1-7A26368B6D92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1694733" y="3194050"/>
            <a:ext cx="360362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B50D352-5024-46FB-91D9-F6739975D199}" type="datetime'''''1'''''''''''''''''''',''2''''''''''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1,2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A7FB508D-9F0C-40A9-BC76-A7938496B093}" type="datetime'''''''''''''''''''''''''''''7''''''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9CC58104-E361-7218-D706-821BE778A60F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1667021" y="4076012"/>
            <a:ext cx="388074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01260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C7BC2F-B704-49D0-BF44-C5697396E60C}" type="datetime'''''''''''''1''''''''0'''''''''''''',''''''''''''0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10,0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FD0470D6-5F96-4366-BBA8-5319CA3CA887}" type="datetime'5''''''''''''''6''%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2" name="Текст 4">
            <a:extLst>
              <a:ext uri="{FF2B5EF4-FFF2-40B4-BE49-F238E27FC236}">
                <a16:creationId xmlns:a16="http://schemas.microsoft.com/office/drawing/2014/main" id="{5EC08472-79BB-BB7E-375A-54A61E9E675C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gray">
          <a:xfrm>
            <a:off x="831029" y="3241468"/>
            <a:ext cx="444500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4B2A3E2-5815-4D7D-B26A-6198E7F9E6A8}" type="datetime'4'''''''''''''''''''''',''''''''3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4,3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2546813D-EA78-419B-99EC-8D99BACBA368}" type="datetime'3''''''''''''''''''''''''''''''''''''''''6''''''''%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3" name="Текст 4">
            <a:extLst>
              <a:ext uri="{FF2B5EF4-FFF2-40B4-BE49-F238E27FC236}">
                <a16:creationId xmlns:a16="http://schemas.microsoft.com/office/drawing/2014/main" id="{2F3177B8-D6B5-0008-DE66-20FB6BDFDD47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866781" y="2945780"/>
            <a:ext cx="3667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7D7916-CBFA-4FD6-9C12-32E762F0F9F0}" type="datetime'''''''1''''''''''''''2'''''',''''''''''''''1''''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12,1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4" name="Текст 4">
            <a:extLst>
              <a:ext uri="{FF2B5EF4-FFF2-40B4-BE49-F238E27FC236}">
                <a16:creationId xmlns:a16="http://schemas.microsoft.com/office/drawing/2014/main" id="{3CFA2358-BAE3-798D-DDDC-606518CE1F9B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gray">
          <a:xfrm>
            <a:off x="1639888" y="2061691"/>
            <a:ext cx="4048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84FA36C-1E70-4F9D-AA6F-417BEABCE545}" type="datetime'''''''''''''''''''18'''',''''''0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18,0</a:t>
            </a:fld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5" name="Текст 4">
            <a:extLst>
              <a:ext uri="{FF2B5EF4-FFF2-40B4-BE49-F238E27FC236}">
                <a16:creationId xmlns:a16="http://schemas.microsoft.com/office/drawing/2014/main" id="{A5FE4F3A-5DCC-3E22-5D43-C0C7B23D9E5D}"/>
              </a:ext>
            </a:extLst>
          </p:cNvPr>
          <p:cNvSpPr>
            <a:spLocks noGrp="1"/>
          </p:cNvSpPr>
          <p:nvPr>
            <p:custDataLst>
              <p:tags r:id="rId58"/>
            </p:custDataLst>
          </p:nvPr>
        </p:nvSpPr>
        <p:spPr bwMode="auto">
          <a:xfrm>
            <a:off x="826391" y="5152336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6" name="Текст 4">
            <a:extLst>
              <a:ext uri="{FF2B5EF4-FFF2-40B4-BE49-F238E27FC236}">
                <a16:creationId xmlns:a16="http://schemas.microsoft.com/office/drawing/2014/main" id="{5A48F328-24B3-3651-7ECD-006C4AB65D4C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838544" y="4329217"/>
            <a:ext cx="46214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1D62F0A-A2C6-407D-B2B1-C1BC74A7122A}" type="datetime'''''''''''''''''''''6'''''''''''',8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7E9EE839-18AF-4975-8194-BC38EFDB6597}" type="datetime'''''''''''5''''''''''6''''''''''''''''''''%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56%</a:t>
            </a:fld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7" name="Текст 4">
            <a:extLst>
              <a:ext uri="{FF2B5EF4-FFF2-40B4-BE49-F238E27FC236}">
                <a16:creationId xmlns:a16="http://schemas.microsoft.com/office/drawing/2014/main" id="{298F2210-807A-B0AC-5AA1-B5239C44AC1D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gray">
          <a:xfrm>
            <a:off x="925945" y="3792745"/>
            <a:ext cx="271802" cy="3780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ABB8A6D-604D-4D08-BDD1-9DD2A48C8443}" type="datetime'''''''''''''1'',''''''''''''''''''''''''''''''''0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1,0</a:t>
            </a:fld>
            <a:b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1D963BBC-93C7-47D1-AC9C-430F6D7BA2A5}" type="datetime'''8''''''''%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8%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</a:p>
        </p:txBody>
      </p:sp>
      <p:sp>
        <p:nvSpPr>
          <p:cNvPr id="108" name="Текст 4">
            <a:extLst>
              <a:ext uri="{FF2B5EF4-FFF2-40B4-BE49-F238E27FC236}">
                <a16:creationId xmlns:a16="http://schemas.microsoft.com/office/drawing/2014/main" id="{F730BEB0-57B4-897D-F490-95B1030A94C2}"/>
              </a:ext>
            </a:extLst>
          </p:cNvPr>
          <p:cNvSpPr>
            <a:spLocks noGrp="1"/>
          </p:cNvSpPr>
          <p:nvPr>
            <p:custDataLst>
              <p:tags r:id="rId61"/>
            </p:custDataLst>
          </p:nvPr>
        </p:nvSpPr>
        <p:spPr bwMode="auto">
          <a:xfrm>
            <a:off x="1672528" y="5142912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09" name="Rectangle 5">
            <a:extLst>
              <a:ext uri="{FF2B5EF4-FFF2-40B4-BE49-F238E27FC236}">
                <a16:creationId xmlns:a16="http://schemas.microsoft.com/office/drawing/2014/main" id="{B27D1AB0-8644-51FB-47C0-5F0CB52095F5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746125" y="537405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BF84305C-39B8-7437-C3F2-AD4A7DF59932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746125" y="565980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1" name="Rectangle 7">
            <a:extLst>
              <a:ext uri="{FF2B5EF4-FFF2-40B4-BE49-F238E27FC236}">
                <a16:creationId xmlns:a16="http://schemas.microsoft.com/office/drawing/2014/main" id="{EC0ACB2B-BFDB-2CC8-9239-0AFD11F0936B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438043" y="5389533"/>
            <a:ext cx="250825" cy="187325"/>
          </a:xfrm>
          <a:prstGeom prst="rect">
            <a:avLst/>
          </a:prstGeom>
          <a:solidFill>
            <a:srgbClr val="40126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12" name="Текст 4">
            <a:extLst>
              <a:ext uri="{FF2B5EF4-FFF2-40B4-BE49-F238E27FC236}">
                <a16:creationId xmlns:a16="http://schemas.microsoft.com/office/drawing/2014/main" id="{7EC9D497-6A3A-4660-05B9-1742DDFB696C}"/>
              </a:ext>
            </a:extLst>
          </p:cNvPr>
          <p:cNvSpPr txBox="1">
            <a:spLocks/>
          </p:cNvSpPr>
          <p:nvPr>
            <p:custDataLst>
              <p:tags r:id="rId65"/>
            </p:custDataLst>
          </p:nvPr>
        </p:nvSpPr>
        <p:spPr bwMode="auto">
          <a:xfrm>
            <a:off x="1047750" y="535342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3" name="Текст 4">
            <a:extLst>
              <a:ext uri="{FF2B5EF4-FFF2-40B4-BE49-F238E27FC236}">
                <a16:creationId xmlns:a16="http://schemas.microsoft.com/office/drawing/2014/main" id="{10C3F855-9146-7E86-2C63-F459F79DF303}"/>
              </a:ext>
            </a:extLst>
          </p:cNvPr>
          <p:cNvSpPr txBox="1">
            <a:spLocks/>
          </p:cNvSpPr>
          <p:nvPr>
            <p:custDataLst>
              <p:tags r:id="rId66"/>
            </p:custDataLst>
          </p:nvPr>
        </p:nvSpPr>
        <p:spPr bwMode="auto">
          <a:xfrm>
            <a:off x="1047750" y="5639170"/>
            <a:ext cx="1282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7ADF918-54B8-4FFB-93AC-607A8D537447}" type="datetime'''''''Обо''''''р''''''у''''д''о''''в''а''''''ни''''е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Оборудование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0" name="Текст 4">
            <a:extLst>
              <a:ext uri="{FF2B5EF4-FFF2-40B4-BE49-F238E27FC236}">
                <a16:creationId xmlns:a16="http://schemas.microsoft.com/office/drawing/2014/main" id="{EB883076-C412-AAA3-E3F5-783A7BC6737C}"/>
              </a:ext>
            </a:extLst>
          </p:cNvPr>
          <p:cNvSpPr txBox="1">
            <a:spLocks/>
          </p:cNvSpPr>
          <p:nvPr>
            <p:custDataLst>
              <p:tags r:id="rId67"/>
            </p:custDataLst>
          </p:nvPr>
        </p:nvSpPr>
        <p:spPr bwMode="auto">
          <a:xfrm>
            <a:off x="1739668" y="5368895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1" name="Rectangle 109">
            <a:extLst>
              <a:ext uri="{FF2B5EF4-FFF2-40B4-BE49-F238E27FC236}">
                <a16:creationId xmlns:a16="http://schemas.microsoft.com/office/drawing/2014/main" id="{EEAE732E-F136-CD80-40FA-CA4EDE76B022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3814762" y="5382356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2" name="Rectangle 119">
            <a:extLst>
              <a:ext uri="{FF2B5EF4-FFF2-40B4-BE49-F238E27FC236}">
                <a16:creationId xmlns:a16="http://schemas.microsoft.com/office/drawing/2014/main" id="{5F2DEC07-01D4-79E2-943B-9F2BC4F1A0B3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3814762" y="5668106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123" name="Текст 4">
            <a:extLst>
              <a:ext uri="{FF2B5EF4-FFF2-40B4-BE49-F238E27FC236}">
                <a16:creationId xmlns:a16="http://schemas.microsoft.com/office/drawing/2014/main" id="{23925CB3-E854-4533-E057-801911F9B897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auto">
          <a:xfrm>
            <a:off x="4116387" y="5361719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854F57-2A82-4674-AA7C-964B8C1CE76F}" type="datetime'З''''''''''''''''''''''''ар''убеж''''''ные ''и''''''гроки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4" name="Текст 4">
            <a:extLst>
              <a:ext uri="{FF2B5EF4-FFF2-40B4-BE49-F238E27FC236}">
                <a16:creationId xmlns:a16="http://schemas.microsoft.com/office/drawing/2014/main" id="{D001778B-DA77-269E-179A-E6910140EA3B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auto">
          <a:xfrm>
            <a:off x="4116387" y="5647469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301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Рынок Мессенджеров </a:t>
            </a:r>
            <a:r>
              <a:rPr lang="en" dirty="0"/>
              <a:t>on-prem</a:t>
            </a:r>
            <a:r>
              <a:rPr lang="ru-RU" dirty="0"/>
              <a:t> 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z="1200" smtClean="0"/>
              <a:pPr/>
              <a:t>11</a:t>
            </a:fld>
            <a:endParaRPr lang="ru-RU" sz="1200" dirty="0"/>
          </a:p>
        </p:txBody>
      </p:sp>
      <p:sp>
        <p:nvSpPr>
          <p:cNvPr id="66" name="Slide Number Placeholder 2">
            <a:extLst>
              <a:ext uri="{FF2B5EF4-FFF2-40B4-BE49-F238E27FC236}">
                <a16:creationId xmlns:a16="http://schemas.microsoft.com/office/drawing/2014/main" id="{68C423E3-730B-83B6-1408-614BFC310DBE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6C2F445D-E0AB-4D86-A5E2-75185CC8751D}" type="slidenum">
              <a:rPr lang="ru-RU" sz="1200" smtClean="0">
                <a:solidFill>
                  <a:srgbClr val="000000">
                    <a:tint val="75000"/>
                  </a:srgbClr>
                </a:solidFill>
              </a:rPr>
              <a:pPr algn="r" defTabSz="914400">
                <a:defRPr/>
              </a:pPr>
              <a:t>11</a:t>
            </a:fld>
            <a:endParaRPr lang="ru-RU" sz="1200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7" name="Rectangle 114">
            <a:extLst>
              <a:ext uri="{FF2B5EF4-FFF2-40B4-BE49-F238E27FC236}">
                <a16:creationId xmlns:a16="http://schemas.microsoft.com/office/drawing/2014/main" id="{C6815DC1-4B9B-D25C-7716-5087BE4A98AA}"/>
              </a:ext>
            </a:extLst>
          </p:cNvPr>
          <p:cNvSpPr/>
          <p:nvPr/>
        </p:nvSpPr>
        <p:spPr>
          <a:xfrm>
            <a:off x="672584" y="1389507"/>
            <a:ext cx="1371003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Мессенджеров по разным моделям поставки, млрд руб.</a:t>
            </a:r>
          </a:p>
        </p:txBody>
      </p:sp>
      <p:sp>
        <p:nvSpPr>
          <p:cNvPr id="68" name="Rectangle 114">
            <a:extLst>
              <a:ext uri="{FF2B5EF4-FFF2-40B4-BE49-F238E27FC236}">
                <a16:creationId xmlns:a16="http://schemas.microsoft.com/office/drawing/2014/main" id="{DDC88297-2AC1-F76F-BF98-313EA735CE63}"/>
              </a:ext>
            </a:extLst>
          </p:cNvPr>
          <p:cNvSpPr/>
          <p:nvPr/>
        </p:nvSpPr>
        <p:spPr>
          <a:xfrm>
            <a:off x="4592905" y="1656040"/>
            <a:ext cx="4486065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Мессенджеров по типу игроков, млрд руб.</a:t>
            </a:r>
          </a:p>
        </p:txBody>
      </p:sp>
      <p:graphicFrame>
        <p:nvGraphicFramePr>
          <p:cNvPr id="69" name="Chart 3">
            <a:extLst>
              <a:ext uri="{FF2B5EF4-FFF2-40B4-BE49-F238E27FC236}">
                <a16:creationId xmlns:a16="http://schemas.microsoft.com/office/drawing/2014/main" id="{DF080589-2457-3A3E-1C44-6B3A60279A3E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3616970"/>
              </p:ext>
            </p:extLst>
          </p:nvPr>
        </p:nvGraphicFramePr>
        <p:xfrm>
          <a:off x="595313" y="2263775"/>
          <a:ext cx="1668463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7"/>
          </a:graphicData>
        </a:graphic>
      </p:graphicFrame>
      <p:sp useBgFill="1">
        <p:nvSpPr>
          <p:cNvPr id="70" name="Полилиния 69">
            <a:extLst>
              <a:ext uri="{FF2B5EF4-FFF2-40B4-BE49-F238E27FC236}">
                <a16:creationId xmlns:a16="http://schemas.microsoft.com/office/drawing/2014/main" id="{11E575BF-3668-C460-1D96-2B38D055319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423964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3FC28CD4-0780-A2DA-A52B-8DA21CC5B4F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81114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C7BA037A-E6C3-23DD-A789-922D99CD2CC1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423964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3" name="Текст 4">
            <a:extLst>
              <a:ext uri="{FF2B5EF4-FFF2-40B4-BE49-F238E27FC236}">
                <a16:creationId xmlns:a16="http://schemas.microsoft.com/office/drawing/2014/main" id="{4354E8C5-943D-01F4-9218-671B5B20ECC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1551506" y="2786208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3A9DD76-BB96-4F99-87D5-383B81FD2B0E}" type="datetime'''''''''''''''1'''',''''''''''''7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0A89AA7B-3090-4CD2-A563-C1FA341E51F1}" type="datetime'''4''6''''''''''''''''''''''''''''''''''%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46%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4" name="Текст 4">
            <a:extLst>
              <a:ext uri="{FF2B5EF4-FFF2-40B4-BE49-F238E27FC236}">
                <a16:creationId xmlns:a16="http://schemas.microsoft.com/office/drawing/2014/main" id="{B4F5A56B-C12E-1E35-C9E4-536A641B0F3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1550947" y="4114893"/>
            <a:ext cx="5445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0D8A3D9-6807-48F6-AD9F-DF0DF65BAD94}" type="datetime'''''''''''2'''''''''''',''''''''''0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BB234B21-DD00-4326-AEBD-50090E95A1D7}" type="datetime'''''''5''''''4''''''%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54%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5" name="Текст 4">
            <a:extLst>
              <a:ext uri="{FF2B5EF4-FFF2-40B4-BE49-F238E27FC236}">
                <a16:creationId xmlns:a16="http://schemas.microsoft.com/office/drawing/2014/main" id="{647D9BDF-BD8F-9C6D-3A4F-173D80AE73D1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1611774" y="5130006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6" name="Текст 4">
            <a:extLst>
              <a:ext uri="{FF2B5EF4-FFF2-40B4-BE49-F238E27FC236}">
                <a16:creationId xmlns:a16="http://schemas.microsoft.com/office/drawing/2014/main" id="{3A3C3C65-EC4E-1FD5-C96C-5EA65AA0E72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786595" y="5136799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7" name="Текст 4">
            <a:extLst>
              <a:ext uri="{FF2B5EF4-FFF2-40B4-BE49-F238E27FC236}">
                <a16:creationId xmlns:a16="http://schemas.microsoft.com/office/drawing/2014/main" id="{17AD4786-D9BB-E765-112A-58CDB9743A29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760392" y="4332449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1FFEE9-277D-49C7-AB2F-CF46318FF0F9}" type="datetime'''''''''''''''''''1,''''''''''''4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5FF1C5B9-EECA-4347-B81F-6B0B2BE27B56}" type="datetime'''''''''6''''''''''''''3''''''''''''''''''''''''''''''''%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63%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8" name="Текст 4">
            <a:extLst>
              <a:ext uri="{FF2B5EF4-FFF2-40B4-BE49-F238E27FC236}">
                <a16:creationId xmlns:a16="http://schemas.microsoft.com/office/drawing/2014/main" id="{9D2802E5-9B07-D451-EA0F-284BAFCCDBDD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766391" y="3520190"/>
            <a:ext cx="5302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556A47F-2F38-4279-A40F-9EF83DFC9E67}" type="datetime'''''''''''''0'''''''',8''''''''''''''''''''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84FCFB5D-A341-419B-B089-7477F0685F49}" type="datetime'''''''''''''''''3''''''''''''''7''''''''''''''''%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37%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9" name="Текст 4">
            <a:extLst>
              <a:ext uri="{FF2B5EF4-FFF2-40B4-BE49-F238E27FC236}">
                <a16:creationId xmlns:a16="http://schemas.microsoft.com/office/drawing/2014/main" id="{4FA933F9-0A38-0C08-C446-17F1CC798251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808037" y="3198603"/>
            <a:ext cx="452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D18168-50A4-40B7-875A-3F498EC91C25}" type="datetime'''2'''''''''''''''''''''''''',''2''''''''''''''''''''''''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2,2</a:t>
            </a:fld>
            <a:endParaRPr kumimoji="0" lang="ru-RU" sz="120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0" name="Текст 4">
            <a:extLst>
              <a:ext uri="{FF2B5EF4-FFF2-40B4-BE49-F238E27FC236}">
                <a16:creationId xmlns:a16="http://schemas.microsoft.com/office/drawing/2014/main" id="{663829D2-90ED-2CE8-D442-4D0AC1D55FB2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1667628" y="2095328"/>
            <a:ext cx="311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F556666-EEBF-47E2-A84D-1DEC8103139C}" type="datetime'3'''''''',''''''7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4C716DFF-3135-EB00-CB9A-E72CF5279842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2" name="Rectangle 7">
            <a:extLst>
              <a:ext uri="{FF2B5EF4-FFF2-40B4-BE49-F238E27FC236}">
                <a16:creationId xmlns:a16="http://schemas.microsoft.com/office/drawing/2014/main" id="{EE639C23-48CD-42B9-957D-636AD5EB2F51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3" name="Текст 4">
            <a:extLst>
              <a:ext uri="{FF2B5EF4-FFF2-40B4-BE49-F238E27FC236}">
                <a16:creationId xmlns:a16="http://schemas.microsoft.com/office/drawing/2014/main" id="{A9D47C6C-7524-3F4D-10AE-0CCA4AD4D64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4" name="Текст 4">
            <a:extLst>
              <a:ext uri="{FF2B5EF4-FFF2-40B4-BE49-F238E27FC236}">
                <a16:creationId xmlns:a16="http://schemas.microsoft.com/office/drawing/2014/main" id="{A6357A9A-9E72-06D0-1C29-5875DEFB31E0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1E66E8B3-0994-608E-249E-DCEBB06A9337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741220426"/>
              </p:ext>
            </p:extLst>
          </p:nvPr>
        </p:nvGraphicFramePr>
        <p:xfrm>
          <a:off x="4437105" y="2291205"/>
          <a:ext cx="4875212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8"/>
          </a:graphicData>
        </a:graphic>
      </p:graphicFrame>
      <p:sp>
        <p:nvSpPr>
          <p:cNvPr id="86" name="Текст 4">
            <a:extLst>
              <a:ext uri="{FF2B5EF4-FFF2-40B4-BE49-F238E27FC236}">
                <a16:creationId xmlns:a16="http://schemas.microsoft.com/office/drawing/2014/main" id="{0CFC88DA-1895-8A28-86D4-8FACB786FD74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4733151" y="5152194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7" name="Текст 4">
            <a:extLst>
              <a:ext uri="{FF2B5EF4-FFF2-40B4-BE49-F238E27FC236}">
                <a16:creationId xmlns:a16="http://schemas.microsoft.com/office/drawing/2014/main" id="{0D66F535-FCA4-2F90-0F6A-DA6A5ED3E7A5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624532" y="3843429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943769-D82B-4592-B24A-CBD60D18F12E}" type="datetime'''''''''''''1'''',''''''5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1,5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B2BF3DA3-64F0-4E4F-BF4C-D752D2E620CD}" type="datetime'''1''''''''''''''''''''''00''''''%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8" name="Текст 4">
            <a:extLst>
              <a:ext uri="{FF2B5EF4-FFF2-40B4-BE49-F238E27FC236}">
                <a16:creationId xmlns:a16="http://schemas.microsoft.com/office/drawing/2014/main" id="{81A6D17D-9B8E-FD91-4222-B3CA4EAD345B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auto">
          <a:xfrm>
            <a:off x="5692025" y="5164859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9" name="Текст 4">
            <a:extLst>
              <a:ext uri="{FF2B5EF4-FFF2-40B4-BE49-F238E27FC236}">
                <a16:creationId xmlns:a16="http://schemas.microsoft.com/office/drawing/2014/main" id="{51B4B259-E48D-DB32-EED5-FD3D919E99BA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6575075" y="3751263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14F83BB-54B8-4666-B12A-067F862C6BC9}" type="datetime'''''''1'''''''''''''''''''''''',''''7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0C095EE6-3FB5-483F-BB95-D8077808134A}" type="datetime'1''0''''''''''''''''0''''''''''''''''''''%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90" name="Текст 4">
            <a:extLst>
              <a:ext uri="{FF2B5EF4-FFF2-40B4-BE49-F238E27FC236}">
                <a16:creationId xmlns:a16="http://schemas.microsoft.com/office/drawing/2014/main" id="{2244BA42-BB84-5B76-A617-071832A0604C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6648471" y="516452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1" name="Текст 4">
            <a:extLst>
              <a:ext uri="{FF2B5EF4-FFF2-40B4-BE49-F238E27FC236}">
                <a16:creationId xmlns:a16="http://schemas.microsoft.com/office/drawing/2014/main" id="{8757E47F-B4AB-48DA-CB52-52A6BC810BB0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7525618" y="3621722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6960B87-2529-4E07-BC28-519F915ADC5F}" type="datetime'''''''''''''''''''''''1,''''''''''''''''''''''9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1,9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7EBC0DE9-2A00-4D6A-8BAD-429C54C3B946}" type="datetime'''''''1''''''''''''''0''''''''''''''''''''''''0''''''%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92" name="Текст 4">
            <a:extLst>
              <a:ext uri="{FF2B5EF4-FFF2-40B4-BE49-F238E27FC236}">
                <a16:creationId xmlns:a16="http://schemas.microsoft.com/office/drawing/2014/main" id="{9C8C13ED-AE41-4566-7C15-69D56D12DE5A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7569738" y="5152194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3" name="Текст 4">
            <a:extLst>
              <a:ext uri="{FF2B5EF4-FFF2-40B4-BE49-F238E27FC236}">
                <a16:creationId xmlns:a16="http://schemas.microsoft.com/office/drawing/2014/main" id="{67483065-C1E3-618D-7208-9A51B617F6E9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4671171" y="3936474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34D087-8DD4-4380-83F5-95C930E0A0C6}" type="datetime'''''''''''''1'''''''',''''''''''''''''4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C0109721-7F17-461E-9448-CBBE88847FB7}" type="datetime'''1''''''''''0''''''''''''''''0''''''''''''%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4" name="Текст 4">
            <a:extLst>
              <a:ext uri="{FF2B5EF4-FFF2-40B4-BE49-F238E27FC236}">
                <a16:creationId xmlns:a16="http://schemas.microsoft.com/office/drawing/2014/main" id="{2846FCBD-8ED5-278C-E72D-1F6FF2C01F1A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8543710" y="516452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5" name="Текст 4">
            <a:extLst>
              <a:ext uri="{FF2B5EF4-FFF2-40B4-BE49-F238E27FC236}">
                <a16:creationId xmlns:a16="http://schemas.microsoft.com/office/drawing/2014/main" id="{DAC0100D-C7CF-AFE6-D332-5C03C7BED044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4842662" y="2971254"/>
            <a:ext cx="2952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F58148E-19AE-4298-8ACF-5491A56D8D97}" type="datetime'1'''''''''''''''''''',''''''''4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6" name="Текст 4">
            <a:extLst>
              <a:ext uri="{FF2B5EF4-FFF2-40B4-BE49-F238E27FC236}">
                <a16:creationId xmlns:a16="http://schemas.microsoft.com/office/drawing/2014/main" id="{ABA189D2-25CB-4C2C-EB79-D336709C84F0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5772194" y="2790932"/>
            <a:ext cx="2905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0684B42-D40D-4EAC-BBD8-ADE86AC647B6}" type="datetime'''''1'''''''''''''''''''''''''',''''5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1,5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7" name="Текст 4">
            <a:extLst>
              <a:ext uri="{FF2B5EF4-FFF2-40B4-BE49-F238E27FC236}">
                <a16:creationId xmlns:a16="http://schemas.microsoft.com/office/drawing/2014/main" id="{33E1B4DD-9329-74CF-4E9F-9772CE3DA839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gray">
          <a:xfrm>
            <a:off x="6734217" y="2582954"/>
            <a:ext cx="2809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1B3D4D-C01A-496B-BBFC-5BB6A05050BE}" type="datetime'1'''''''''''''',''''''''''''''''''''''''7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8" name="Текст 4">
            <a:extLst>
              <a:ext uri="{FF2B5EF4-FFF2-40B4-BE49-F238E27FC236}">
                <a16:creationId xmlns:a16="http://schemas.microsoft.com/office/drawing/2014/main" id="{64F1BB91-C2C5-7D20-DA39-F289D8419DC8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gray">
          <a:xfrm>
            <a:off x="7647526" y="2356126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2883A0A-7092-47CA-99B4-CB1D5EB2DF28}" type="datetime'''''''''''''''''''''''''''''1'',''''9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1,9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9" name="Текст 4">
            <a:extLst>
              <a:ext uri="{FF2B5EF4-FFF2-40B4-BE49-F238E27FC236}">
                <a16:creationId xmlns:a16="http://schemas.microsoft.com/office/drawing/2014/main" id="{160EF5EF-F1DB-EFEC-7A24-F77533D41793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gray">
          <a:xfrm>
            <a:off x="8608276" y="2114642"/>
            <a:ext cx="319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0755A6D-3CD9-44B4-8D2D-812699997BD3}" type="datetime'''2'''''''''''''',''''''''''''''''0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0" name="Текст 4">
            <a:extLst>
              <a:ext uri="{FF2B5EF4-FFF2-40B4-BE49-F238E27FC236}">
                <a16:creationId xmlns:a16="http://schemas.microsoft.com/office/drawing/2014/main" id="{3D8F9158-E8A1-D72D-CDA6-B2FF29B8F268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8456670" y="3488850"/>
            <a:ext cx="6223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AB30077-D702-448D-9A40-A1658183C45B}" type="datetime'''''2'''''''''''''''''''''''''''''''''''''',''''''''''''0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r>
              <a:rPr kumimoji="0" lang="en-US" altLang="en-US" sz="120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(2)</a:t>
            </a:r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7C8F35A5-5E0E-420E-84FB-BA2427222A91}" type="datetime'1''''''''''0''''''''0''%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101" name="Rectangle 119">
            <a:extLst>
              <a:ext uri="{FF2B5EF4-FFF2-40B4-BE49-F238E27FC236}">
                <a16:creationId xmlns:a16="http://schemas.microsoft.com/office/drawing/2014/main" id="{001C12A6-B493-A8A5-EE46-CBB01890032F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3590435" y="5586985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2" name="Текст 4">
            <a:extLst>
              <a:ext uri="{FF2B5EF4-FFF2-40B4-BE49-F238E27FC236}">
                <a16:creationId xmlns:a16="http://schemas.microsoft.com/office/drawing/2014/main" id="{58B93802-2F3E-2577-AC8E-609D10C34043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auto">
          <a:xfrm>
            <a:off x="3892060" y="5566347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03" name="Connector: Elbow 27">
            <a:extLst>
              <a:ext uri="{FF2B5EF4-FFF2-40B4-BE49-F238E27FC236}">
                <a16:creationId xmlns:a16="http://schemas.microsoft.com/office/drawing/2014/main" id="{12DA45E5-0C40-6063-729B-11B679DB0A3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69602" y="1381466"/>
            <a:ext cx="7174399" cy="2236537"/>
          </a:xfrm>
          <a:prstGeom prst="bentConnector3">
            <a:avLst>
              <a:gd name="adj1" fmla="val 92631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Chart 3">
            <a:extLst>
              <a:ext uri="{FF2B5EF4-FFF2-40B4-BE49-F238E27FC236}">
                <a16:creationId xmlns:a16="http://schemas.microsoft.com/office/drawing/2014/main" id="{462F5E17-8C75-7F06-0108-C77939A1B768}"/>
              </a:ext>
            </a:extLst>
          </p:cNvPr>
          <p:cNvGraphicFramePr/>
          <p:nvPr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3017287037"/>
              </p:ext>
            </p:extLst>
          </p:nvPr>
        </p:nvGraphicFramePr>
        <p:xfrm>
          <a:off x="2702810" y="2350862"/>
          <a:ext cx="2173992" cy="30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9"/>
          </a:graphicData>
        </a:graphic>
      </p:graphicFrame>
      <p:cxnSp>
        <p:nvCxnSpPr>
          <p:cNvPr id="105" name="Прямая соединительная линия 104">
            <a:extLst>
              <a:ext uri="{FF2B5EF4-FFF2-40B4-BE49-F238E27FC236}">
                <a16:creationId xmlns:a16="http://schemas.microsoft.com/office/drawing/2014/main" id="{992B2E69-AFB8-AF9C-C28D-99078FE764C1}"/>
              </a:ext>
            </a:extLst>
          </p:cNvPr>
          <p:cNvCxnSpPr>
            <a:cxnSpLocks/>
          </p:cNvCxnSpPr>
          <p:nvPr>
            <p:custDataLst>
              <p:tags r:id="rId36"/>
            </p:custDataLst>
          </p:nvPr>
        </p:nvCxnSpPr>
        <p:spPr bwMode="auto">
          <a:xfrm flipH="1">
            <a:off x="3963900" y="4668546"/>
            <a:ext cx="212070" cy="50866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Прямая соединительная линия 105">
            <a:extLst>
              <a:ext uri="{FF2B5EF4-FFF2-40B4-BE49-F238E27FC236}">
                <a16:creationId xmlns:a16="http://schemas.microsoft.com/office/drawing/2014/main" id="{0F4E73F6-884F-88EC-68D5-650AD684225E}"/>
              </a:ext>
            </a:extLst>
          </p:cNvPr>
          <p:cNvCxnSpPr>
            <a:cxnSpLocks/>
          </p:cNvCxnSpPr>
          <p:nvPr>
            <p:custDataLst>
              <p:tags r:id="rId37"/>
            </p:custDataLst>
          </p:nvPr>
        </p:nvCxnSpPr>
        <p:spPr bwMode="auto">
          <a:xfrm flipH="1" flipV="1">
            <a:off x="3980279" y="4774623"/>
            <a:ext cx="181257" cy="4446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Прямая соединительная линия 106">
            <a:extLst>
              <a:ext uri="{FF2B5EF4-FFF2-40B4-BE49-F238E27FC236}">
                <a16:creationId xmlns:a16="http://schemas.microsoft.com/office/drawing/2014/main" id="{5ED4F57D-5383-F223-0BE7-64990932EFD7}"/>
              </a:ext>
            </a:extLst>
          </p:cNvPr>
          <p:cNvCxnSpPr>
            <a:cxnSpLocks/>
          </p:cNvCxnSpPr>
          <p:nvPr>
            <p:custDataLst>
              <p:tags r:id="rId38"/>
            </p:custDataLst>
          </p:nvPr>
        </p:nvCxnSpPr>
        <p:spPr bwMode="auto">
          <a:xfrm flipH="1" flipV="1">
            <a:off x="3980279" y="4806475"/>
            <a:ext cx="181257" cy="104724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Текст 4">
            <a:extLst>
              <a:ext uri="{FF2B5EF4-FFF2-40B4-BE49-F238E27FC236}">
                <a16:creationId xmlns:a16="http://schemas.microsoft.com/office/drawing/2014/main" id="{B18D4659-67CF-7AFE-2496-5117E4B62A24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3806122" y="5155974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9" name="Текст 4">
            <a:extLst>
              <a:ext uri="{FF2B5EF4-FFF2-40B4-BE49-F238E27FC236}">
                <a16:creationId xmlns:a16="http://schemas.microsoft.com/office/drawing/2014/main" id="{190EDD90-A680-2CF9-5869-EFB4100D2704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3590435" y="2396314"/>
            <a:ext cx="3905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DBD9224-6EA6-42E6-B057-AD15BBE64102}" type="datetime'''''''1'''''''''',''3''''''''''''''''''''''''''7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1,37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10" name="Straight Connector 237">
            <a:extLst>
              <a:ext uri="{FF2B5EF4-FFF2-40B4-BE49-F238E27FC236}">
                <a16:creationId xmlns:a16="http://schemas.microsoft.com/office/drawing/2014/main" id="{515A9BCF-A07A-D2D1-CE05-1A5AD8978A41}"/>
              </a:ext>
            </a:extLst>
          </p:cNvPr>
          <p:cNvCxnSpPr>
            <a:cxnSpLocks/>
          </p:cNvCxnSpPr>
          <p:nvPr/>
        </p:nvCxnSpPr>
        <p:spPr>
          <a:xfrm>
            <a:off x="4027110" y="2682580"/>
            <a:ext cx="691341" cy="56213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4">
            <a:extLst>
              <a:ext uri="{FF2B5EF4-FFF2-40B4-BE49-F238E27FC236}">
                <a16:creationId xmlns:a16="http://schemas.microsoft.com/office/drawing/2014/main" id="{6A9093AB-1CFD-817F-A035-8E8046ACE5FD}"/>
              </a:ext>
            </a:extLst>
          </p:cNvPr>
          <p:cNvSpPr/>
          <p:nvPr/>
        </p:nvSpPr>
        <p:spPr>
          <a:xfrm>
            <a:off x="2745455" y="1654734"/>
            <a:ext cx="1847450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Выручка игроков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Мессенджеров в 2023 г., млрд руб.</a:t>
            </a: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357AB96C-DFC2-1D29-6B51-5CC089E89B6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2179127" y="4304773"/>
            <a:ext cx="179388" cy="133350"/>
          </a:xfrm>
          <a:prstGeom prst="rect">
            <a:avLst/>
          </a:prstGeom>
          <a:solidFill>
            <a:srgbClr val="1AB0B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B7CB1BEE-3CAC-8A39-11DE-1A7236217A84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2179127" y="3691090"/>
            <a:ext cx="179388" cy="133350"/>
          </a:xfrm>
          <a:prstGeom prst="rect">
            <a:avLst/>
          </a:prstGeom>
          <a:solidFill>
            <a:srgbClr val="99F7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8D8BB772-3024-AED9-DA30-2695D69112E5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179127" y="4713895"/>
            <a:ext cx="179388" cy="133350"/>
          </a:xfrm>
          <a:prstGeom prst="rect">
            <a:avLst/>
          </a:prstGeom>
          <a:solidFill>
            <a:srgbClr val="0D3C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3435534D-ECB0-FEEE-DC1E-113133BC935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2179127" y="3895651"/>
            <a:ext cx="179387" cy="133350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2F2D462C-5029-DAE4-95C3-1497DC08A2AF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2179127" y="4509334"/>
            <a:ext cx="179387" cy="133350"/>
          </a:xfrm>
          <a:prstGeom prst="rect">
            <a:avLst/>
          </a:prstGeom>
          <a:solidFill>
            <a:srgbClr val="99C9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9D1A3519-FB99-1F1C-C096-10CB4C7BE69A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2179127" y="4100212"/>
            <a:ext cx="179387" cy="133350"/>
          </a:xfrm>
          <a:prstGeom prst="rect">
            <a:avLst/>
          </a:prstGeom>
          <a:solidFill>
            <a:srgbClr val="27EA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EA5B8B32-7A82-E7C7-C695-4F7BF94541CD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2179127" y="4911199"/>
            <a:ext cx="179388" cy="13335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9" name="Текст 4">
            <a:extLst>
              <a:ext uri="{FF2B5EF4-FFF2-40B4-BE49-F238E27FC236}">
                <a16:creationId xmlns:a16="http://schemas.microsoft.com/office/drawing/2014/main" id="{F4FAC1A2-F8D3-A2DE-129F-079A63C46794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2409314" y="4288898"/>
            <a:ext cx="5524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CBEDF01-B49E-444C-9812-7EDFB33DC6F1}" type="datetime'''Р''''''7-О''фи''''''''''''''''с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Р7-Офис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0" name="Текст 4">
            <a:extLst>
              <a:ext uri="{FF2B5EF4-FFF2-40B4-BE49-F238E27FC236}">
                <a16:creationId xmlns:a16="http://schemas.microsoft.com/office/drawing/2014/main" id="{82420267-E4D7-B4C8-B1A9-92214AA21812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2409314" y="4493459"/>
            <a:ext cx="9001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10C5E79-688B-4DA2-AC68-11FC911C8EF9}" type="datetime'''''''П''''''ер''вая'''''''' ф''''''''''ор''м''''''''''а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Первая форма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1" name="Текст 4">
            <a:extLst>
              <a:ext uri="{FF2B5EF4-FFF2-40B4-BE49-F238E27FC236}">
                <a16:creationId xmlns:a16="http://schemas.microsoft.com/office/drawing/2014/main" id="{B25C1242-93AD-E1EB-D3EA-803CA61FCF69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2409314" y="4084337"/>
            <a:ext cx="5588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D9B8EC-3F8B-476E-8294-68E705BE3AED}" type="datetime'''''''''T''r''''''u''eC''o''n''''''''''''f'''''''''''''''''''">
              <a:rPr kumimoji="0" lang="en-GB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TrueConf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2" name="Текст 4">
            <a:extLst>
              <a:ext uri="{FF2B5EF4-FFF2-40B4-BE49-F238E27FC236}">
                <a16:creationId xmlns:a16="http://schemas.microsoft.com/office/drawing/2014/main" id="{1C5D577A-42EF-5296-D49A-70113DD56190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auto">
          <a:xfrm>
            <a:off x="2409314" y="4698020"/>
            <a:ext cx="8826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F5B6FC1-3A80-4677-B6D5-695F53C9FEDB}" type="datetime'''''МТ''С'''''''' ''''''''Л''''''ин''к'''' Ч''''а''''''''''т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МТС Линк Чат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3" name="Текст 4">
            <a:extLst>
              <a:ext uri="{FF2B5EF4-FFF2-40B4-BE49-F238E27FC236}">
                <a16:creationId xmlns:a16="http://schemas.microsoft.com/office/drawing/2014/main" id="{A1B3245B-DA02-0852-70AC-BC2973AB10A0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auto">
          <a:xfrm>
            <a:off x="2409314" y="3879776"/>
            <a:ext cx="1651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7971A2-3912-4947-8328-E0C807FDF1FE}" type="datetime'''''''''''''''''''''''''V''K'''''''''''''''''''''">
              <a:rPr kumimoji="0" lang="en-GB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4" name="Текст 4">
            <a:extLst>
              <a:ext uri="{FF2B5EF4-FFF2-40B4-BE49-F238E27FC236}">
                <a16:creationId xmlns:a16="http://schemas.microsoft.com/office/drawing/2014/main" id="{CB97FC46-DDA5-3D65-0805-C8737722701E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auto">
          <a:xfrm>
            <a:off x="2409314" y="4895324"/>
            <a:ext cx="103346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AF26AD-5D02-4541-A5C1-3C22F60C15E2}" type="datetime'Др''''у''''''''''''г''ие ''''''''р''''''еш''е''ни''''я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Другие решения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5" name="Текст 4">
            <a:extLst>
              <a:ext uri="{FF2B5EF4-FFF2-40B4-BE49-F238E27FC236}">
                <a16:creationId xmlns:a16="http://schemas.microsoft.com/office/drawing/2014/main" id="{1AB9E6C3-0209-6FE1-3964-049B778D1D04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auto">
          <a:xfrm>
            <a:off x="2409314" y="3675215"/>
            <a:ext cx="48577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66BE242-8FEB-4F98-8308-F0B8938DA037}" type="datetime'''eXp''''''''''''r''e''''s''''''''''''''''''''''''s'''''">
              <a:rPr kumimoji="0" lang="en-GB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eXpress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6" name="Rectangle 66">
            <a:extLst>
              <a:ext uri="{FF2B5EF4-FFF2-40B4-BE49-F238E27FC236}">
                <a16:creationId xmlns:a16="http://schemas.microsoft.com/office/drawing/2014/main" id="{14A54454-B272-D611-5221-C8139D863483}"/>
              </a:ext>
            </a:extLst>
          </p:cNvPr>
          <p:cNvSpPr/>
          <p:nvPr/>
        </p:nvSpPr>
        <p:spPr>
          <a:xfrm>
            <a:off x="636881" y="6203544"/>
            <a:ext cx="8411562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Источники: </a:t>
            </a:r>
            <a:endParaRPr lang="ru-RU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Рынок, распределение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SaaS/On-prem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оценка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Bottom-Up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рыночных игроков. Прогноз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</a:t>
            </a: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J’son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&amp; Partners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Прогноз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-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бенчмарк динамики роста рынка ВКС из отчета </a:t>
            </a: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J’son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&amp; Partners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2024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633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Рынок Мессенджеров </a:t>
            </a:r>
            <a:r>
              <a:rPr lang="en" dirty="0"/>
              <a:t>SaaS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z="1200" smtClean="0"/>
              <a:pPr/>
              <a:t>12</a:t>
            </a:fld>
            <a:endParaRPr lang="ru-RU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932B4-39A8-43C9-690D-2C23E2A7B642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6C2F445D-E0AB-4D86-A5E2-75185CC8751D}" type="slidenum">
              <a:rPr lang="ru-RU" sz="1200" smtClean="0">
                <a:solidFill>
                  <a:srgbClr val="000000">
                    <a:tint val="75000"/>
                  </a:srgbClr>
                </a:solidFill>
              </a:rPr>
              <a:pPr algn="r" defTabSz="914400">
                <a:defRPr/>
              </a:pPr>
              <a:t>12</a:t>
            </a:fld>
            <a:endParaRPr lang="ru-RU" sz="1200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Rectangle 114">
            <a:extLst>
              <a:ext uri="{FF2B5EF4-FFF2-40B4-BE49-F238E27FC236}">
                <a16:creationId xmlns:a16="http://schemas.microsoft.com/office/drawing/2014/main" id="{ACF00127-39FB-20A3-8602-6333FD5ED0BD}"/>
              </a:ext>
            </a:extLst>
          </p:cNvPr>
          <p:cNvSpPr/>
          <p:nvPr/>
        </p:nvSpPr>
        <p:spPr>
          <a:xfrm>
            <a:off x="4635325" y="1519524"/>
            <a:ext cx="4508676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Мессенджеров по типу игроков, млрд руб.</a:t>
            </a: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F82E32B1-B78E-69B0-95FC-CF0F4B7A9CA0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2011581"/>
              </p:ext>
            </p:extLst>
          </p:nvPr>
        </p:nvGraphicFramePr>
        <p:xfrm>
          <a:off x="4445795" y="2278505"/>
          <a:ext cx="4698206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0"/>
          </a:graphicData>
        </a:graphic>
      </p:graphicFrame>
      <p:sp>
        <p:nvSpPr>
          <p:cNvPr id="7" name="Текст 4">
            <a:extLst>
              <a:ext uri="{FF2B5EF4-FFF2-40B4-BE49-F238E27FC236}">
                <a16:creationId xmlns:a16="http://schemas.microsoft.com/office/drawing/2014/main" id="{4DF7F15C-DD06-BFE5-51D3-C064A7177F6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gray">
          <a:xfrm>
            <a:off x="4716846" y="4354604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DD98D0F-96BD-4383-9B00-E22666E253E5}" type="datetime'''''''''0,''''''''''''''''''''6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0,6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7A271456-BCD5-4413-9B32-83ECCC4B9124}" type="datetime'''''''''7''''''''''''''9''%''''''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79%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70EA2ABB-8E2F-122B-B3FA-1A9972738783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4726604" y="5134861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54097B73-7443-E29A-1628-114F0CCE001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5676900" y="3413568"/>
            <a:ext cx="391554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036DBEA-2E40-41CA-ADC5-691FB3F3A823}" type="datetime'''''''''''0,2''''''''''''''''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0,2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CFF606DD-B2AD-4A59-B042-30EAE10C1F09}" type="datetime'''''''''''''1''''''''''''''''''''6''''%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0C4CF8CB-B28A-FFEB-C394-E5B4B50B89D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5650158" y="4239773"/>
            <a:ext cx="4508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EC2D113-ECB7-4AAB-824A-A9874A08BB75}" type="datetime'''''''''''0'''''''''''''''''''''''''''''''''''''',''8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4F5A23A5-7C8E-4A5F-82EA-C00E5CEEB576}" type="datetime'''''''8''4''''%''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84%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1F8D390B-5D26-3E3B-C75E-5E1E9F0FF6BF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5662824" y="5151444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7576604F-0C0E-7D91-8931-49B8DF3D403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6593235" y="3119869"/>
            <a:ext cx="411049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9FAE363-1178-46CC-8950-BAABEEEF7486}" type="datetime'''''''''''''''''''''''''0'''''''''''',''''''2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0,2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A2EDA7FB-1994-451F-917B-4238F00F7FDC}" type="datetime'''''''''''''''''''''1''3''%''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F2193D81-FE21-C9D5-D52D-187EC9E6FC4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6533205" y="4070885"/>
            <a:ext cx="49624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2D7E893-B548-4B50-ABDD-831020925BC0}" type="datetime'''''''''''''''''''''''''''''1'''''',''''0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1,0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219B050F-00CE-43B0-B4F2-6AE11719E87C}" type="datetime'''''''8''''''''''''7''''''''''''''''''''''''''''''''%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87%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80637AFB-FFEE-A942-DAA9-82A63DCD085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6569110" y="5149522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3739439F-66BD-2546-F48E-CC2B2A820F20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7525147" y="2700327"/>
            <a:ext cx="379014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E8CC5FA-C448-4ED0-8EED-656004E87D82}" type="datetime'''''''''''0'''''''''''''''''',''1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E622BAE3-815A-4791-8FEB-D5C021C1DB1B}" type="datetime'''''''''''''''''''''''''''''''9''''''''''''''''''%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61FDC939-2D32-1370-DC14-4538F2E6F60D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4752825" y="3695059"/>
            <a:ext cx="420044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EDD0D8A-3CF4-4801-A39D-8F7BECDA0478}" type="datetime'''''''0'''''''''''''''',''''''''2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0,2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97619A09-2E8C-486B-A229-DD4E54CEF48E}" type="datetime'''''''''''''''2''1''''''''%''''''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21%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90F6359D-14F4-EB0C-4C6C-CC71BEC27CB4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7476118" y="5157789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DF8DFF66-F2C7-B500-B6E1-91A086353A21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8407537" y="2240434"/>
            <a:ext cx="43021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6776806-E67F-42BB-8921-DB2DCE6BFC5B}" type="datetime'''''''''''''''''''''''0'''''''',''''''''''''''''''''''''''1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35D3D409-EEA0-4AC2-92C9-F565EF16A626}" type="datetime'''''''''''''''''''''''''''''''''''''''''''''''''''''''''5%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A37DF093-615B-0C26-4275-98557C6D37A9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8367794" y="3712788"/>
            <a:ext cx="500226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9CD0C2E-C981-4707-A13B-09927EA5D20B}" type="datetime'''1'''''''''''',''''''''''''6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1,6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42E641B2-1237-4545-86AA-ED55EAA1C7C1}" type="datetime'9''''''''''''''''''''''''''''''''5''''''''''''''''%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95%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7E99E14-8786-C0FE-648D-83568938AD6D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8387991" y="5144736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FD7AFD3C-4595-94FB-8E0D-0FBC212794E8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4785749" y="3460159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3436E49-D1BD-4775-B37A-9CF33B00CC94}" type="datetime'''''''''''0'''''''''''',''''''''''''''''''''''''''8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96A25996-BFA4-D4B5-A1D0-583A1E1C62FE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5704680" y="3178618"/>
            <a:ext cx="292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2BB6683-A001-48C0-AFA0-AB626E055933}" type="datetime'''''''''''''''''''''1'''''''',0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1,0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FE6C95C0-139F-A629-4F76-37E2114FC6C5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6651229" y="2896252"/>
            <a:ext cx="2873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F424247-1F3E-41BC-AD3D-AAFA388974B6}" type="datetime'1'',''''''''''''''''''''2''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1,2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4B943AE7-693E-0038-AE0A-25821F802967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7582768" y="2442156"/>
            <a:ext cx="2952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C13EB61-097D-465A-A724-FAA3AE242E56}" type="datetime'''''''1'''',''''''''''''''''''''4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D117318F-0517-3E23-82B9-343799BD1A76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8465778" y="1998644"/>
            <a:ext cx="2809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3BD3C2C-2682-4D5B-8B5B-3130D9BB777C}" type="datetime'''''1'''',''7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D72AF980-D800-3720-7A88-A76DC0693963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7473185" y="3927959"/>
            <a:ext cx="47884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8EAC8D-5577-4B43-8462-8973C07F30A8}" type="datetime'1'''''''''''''''''''',''''''''''''''''3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1,3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66567FE1-FFF6-43FC-9DA4-43352A534C41}" type="datetime'''9''1''''''''''''''''''''''''''''''''''''%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91%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C82C974-3E92-CFCF-295D-1A2F965372B2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779169" y="5597968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Rectangle 119">
            <a:extLst>
              <a:ext uri="{FF2B5EF4-FFF2-40B4-BE49-F238E27FC236}">
                <a16:creationId xmlns:a16="http://schemas.microsoft.com/office/drawing/2014/main" id="{F508E5BD-6C8A-5DCC-4910-CA51A5D5F9AE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4779169" y="5883718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A5244A12-A268-B48C-2645-CDB7514C7C2B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5080794" y="5577330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98CF10A-0368-46C8-9488-4270EA11BF01}" type="datetime'''''''''З''а''р''''''''у''бе''''ж''ны''''''е'' и''''грок''''и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147C937D-5F8E-2BB5-6BD0-8C55760F84F5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5080794" y="5863080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32" name="Connector: Elbow 27">
            <a:extLst>
              <a:ext uri="{FF2B5EF4-FFF2-40B4-BE49-F238E27FC236}">
                <a16:creationId xmlns:a16="http://schemas.microsoft.com/office/drawing/2014/main" id="{5649A046-4F51-E453-7364-C046A77BBD2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43588" y="1339788"/>
            <a:ext cx="7100415" cy="1004233"/>
          </a:xfrm>
          <a:prstGeom prst="bentConnector3">
            <a:avLst>
              <a:gd name="adj1" fmla="val 96361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 3">
            <a:extLst>
              <a:ext uri="{FF2B5EF4-FFF2-40B4-BE49-F238E27FC236}">
                <a16:creationId xmlns:a16="http://schemas.microsoft.com/office/drawing/2014/main" id="{FEB48E82-9983-6D71-1622-76BF753D6C11}"/>
              </a:ext>
            </a:extLst>
          </p:cNvPr>
          <p:cNvGraphicFramePr/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1716932576"/>
              </p:ext>
            </p:extLst>
          </p:nvPr>
        </p:nvGraphicFramePr>
        <p:xfrm>
          <a:off x="2741613" y="2342357"/>
          <a:ext cx="2173287" cy="30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1"/>
          </a:graphicData>
        </a:graphic>
      </p:graphicFrame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642A787B-3229-60DD-F636-0823AF209644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 flipH="1">
            <a:off x="3885592" y="3655143"/>
            <a:ext cx="684922" cy="75131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B6F7E719-34F8-80B4-EF5C-74FB597939D0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 bwMode="auto">
          <a:xfrm flipH="1" flipV="1">
            <a:off x="3885592" y="3871782"/>
            <a:ext cx="209725" cy="29804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7E068328-929F-CF44-3DE5-15AB31269116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 bwMode="auto">
          <a:xfrm flipH="1">
            <a:off x="3877813" y="3787604"/>
            <a:ext cx="212931" cy="1366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536D665D-BE93-EA28-9F51-45EBF5BCA94F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 bwMode="auto">
          <a:xfrm flipH="1" flipV="1">
            <a:off x="3919388" y="3921133"/>
            <a:ext cx="326603" cy="12961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041A6E86-5908-3FDA-3B8E-1372557EED30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 bwMode="auto">
          <a:xfrm flipH="1" flipV="1">
            <a:off x="3909233" y="3980791"/>
            <a:ext cx="210311" cy="28207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Текст 4">
            <a:extLst>
              <a:ext uri="{FF2B5EF4-FFF2-40B4-BE49-F238E27FC236}">
                <a16:creationId xmlns:a16="http://schemas.microsoft.com/office/drawing/2014/main" id="{866D36A8-76A4-C786-9D94-A11A43AEC71A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auto">
          <a:xfrm>
            <a:off x="3585430" y="5139504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9626BECE-4642-BCE3-471D-AC59BCFBBF2F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3609183" y="2401341"/>
            <a:ext cx="438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98394E2-27DC-4E53-9DBD-0FFA62FE9203}" type="datetime'''''''''''''''0'''''''''''''''',''64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0,64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24559549-624D-91D4-52C4-798FE138B5CB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3671888" y="3455105"/>
            <a:ext cx="548148" cy="2349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2624D3-AF49-45AB-B1DF-00897F1C09FA}" type="datetime'''''''''''0'''''''''',''''0''''''''''4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0,04</a:t>
            </a:fld>
            <a:r>
              <a:rPr lang="ru-RU" altLang="en-US" sz="1200" dirty="0">
                <a:solidFill>
                  <a:srgbClr val="FFFFFF"/>
                </a:solidFill>
              </a:rPr>
              <a:t>(6%)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2" name="Straight Connector 237">
            <a:extLst>
              <a:ext uri="{FF2B5EF4-FFF2-40B4-BE49-F238E27FC236}">
                <a16:creationId xmlns:a16="http://schemas.microsoft.com/office/drawing/2014/main" id="{E9CEC3D3-6A40-DEC0-91A7-10E0E50C8ED5}"/>
              </a:ext>
            </a:extLst>
          </p:cNvPr>
          <p:cNvCxnSpPr>
            <a:cxnSpLocks/>
          </p:cNvCxnSpPr>
          <p:nvPr/>
        </p:nvCxnSpPr>
        <p:spPr>
          <a:xfrm>
            <a:off x="4057881" y="2677106"/>
            <a:ext cx="663791" cy="138216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14">
            <a:extLst>
              <a:ext uri="{FF2B5EF4-FFF2-40B4-BE49-F238E27FC236}">
                <a16:creationId xmlns:a16="http://schemas.microsoft.com/office/drawing/2014/main" id="{C6AA9077-4C10-6CDC-B4D7-79B538E0A387}"/>
              </a:ext>
            </a:extLst>
          </p:cNvPr>
          <p:cNvSpPr/>
          <p:nvPr/>
        </p:nvSpPr>
        <p:spPr>
          <a:xfrm>
            <a:off x="2995212" y="1503909"/>
            <a:ext cx="1575302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Выручка игроков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Мессенджеров в 2023 г., млрд руб.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960D84F2-2206-A3CC-2C55-C2CE4251E6AC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379664" y="4920094"/>
            <a:ext cx="179388" cy="13335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02A11982-5BEB-BB9E-4D99-FB4A5871E03F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379664" y="3386569"/>
            <a:ext cx="179388" cy="133350"/>
          </a:xfrm>
          <a:prstGeom prst="rect">
            <a:avLst/>
          </a:prstGeom>
          <a:solidFill>
            <a:srgbClr val="F8C24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FC89ACA0-CC21-EB77-6A09-E82AA11984B0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379664" y="4701019"/>
            <a:ext cx="179388" cy="133350"/>
          </a:xfrm>
          <a:prstGeom prst="rect">
            <a:avLst/>
          </a:prstGeom>
          <a:solidFill>
            <a:srgbClr val="0D3C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A61C9AE3-B1FE-DD0D-DAB0-80EA9E8D2609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379665" y="3605644"/>
            <a:ext cx="179387" cy="13335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9C02192-D7B2-E9F0-2D08-19D3F38F7FED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2379664" y="4481944"/>
            <a:ext cx="179388" cy="133350"/>
          </a:xfrm>
          <a:prstGeom prst="rect">
            <a:avLst/>
          </a:prstGeom>
          <a:solidFill>
            <a:srgbClr val="99C9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ECF642A4-1480-4B7D-749F-C6BACBD2B53B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2379664" y="3824719"/>
            <a:ext cx="179388" cy="133350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B3580CF3-A024-8C62-7290-6446E06F2BF6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2379664" y="4262869"/>
            <a:ext cx="179388" cy="133350"/>
          </a:xfrm>
          <a:prstGeom prst="rect">
            <a:avLst/>
          </a:prstGeom>
          <a:solidFill>
            <a:srgbClr val="1AB0B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6F1227B5-B141-814A-D439-909F7E652897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2379664" y="4043794"/>
            <a:ext cx="179388" cy="133350"/>
          </a:xfrm>
          <a:prstGeom prst="rect">
            <a:avLst/>
          </a:prstGeom>
          <a:solidFill>
            <a:srgbClr val="27EA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24D13CD8-E04C-D7BC-8AE6-6343E3F003F1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2609852" y="3370694"/>
            <a:ext cx="7239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5FCBEDE-3EAB-4A67-9597-1BF3C4D743A1}" type="datetime'''''Я''''''''''''''''''''нд''''ек''''с ''''3''''6''''0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Яндекс 360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9D45B73A-F253-1386-2BA0-AB37737AF77A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auto">
          <a:xfrm>
            <a:off x="2609852" y="4027919"/>
            <a:ext cx="9001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A52AFFA-80B7-4722-9F1B-7C65B28BA623}" type="datetime'П''''''е''''''р''''''в''ая ''''''''''''ф''о''рм''''а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Первая форма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4" name="Текст 4">
            <a:extLst>
              <a:ext uri="{FF2B5EF4-FFF2-40B4-BE49-F238E27FC236}">
                <a16:creationId xmlns:a16="http://schemas.microsoft.com/office/drawing/2014/main" id="{DAEF0A15-9F84-A94F-B25D-9BED1B523FCC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2609852" y="4466069"/>
            <a:ext cx="3746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65A8761-95E4-41B9-98D0-5343A467B043}" type="datetime'''''П''а''''''''''''''ч''''к''''''''''''''''а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Пачка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3EA0F5C3-8061-9F9F-9141-B30962EC05C1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auto">
          <a:xfrm>
            <a:off x="2609852" y="3808844"/>
            <a:ext cx="8826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955C5D-99A4-48E4-9F05-6ABC52B2E5DC}" type="datetime'МТ''''С ''Л''ин''''''''''к'''''' ''''Ч''''''а''''''''''т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МТС Линк Чат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72EAC68C-7FD6-87DE-DDCF-E5D2923E2741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auto">
          <a:xfrm>
            <a:off x="2609852" y="4685144"/>
            <a:ext cx="5524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E1A1B04-7BEC-401D-A3E5-EA078F2E8556}" type="datetime'Р''''''7-''''''''О''''''''''''''''''ф''и''''с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Р7-Офис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Текст 4">
            <a:extLst>
              <a:ext uri="{FF2B5EF4-FFF2-40B4-BE49-F238E27FC236}">
                <a16:creationId xmlns:a16="http://schemas.microsoft.com/office/drawing/2014/main" id="{D7383874-4AE3-A677-1529-AAEC25511C36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2609853" y="3589769"/>
            <a:ext cx="20002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19AF03E-3411-48DC-87FE-1D46701758FD}" type="datetime''' ''V''''''''''''''''''''''''''''''''''''''''''''''''K'''''''">
              <a:rPr kumimoji="0" lang="en-GB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VK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8" name="Текст 4">
            <a:extLst>
              <a:ext uri="{FF2B5EF4-FFF2-40B4-BE49-F238E27FC236}">
                <a16:creationId xmlns:a16="http://schemas.microsoft.com/office/drawing/2014/main" id="{7493AEC3-E377-23AE-BBD0-68865697A641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2609852" y="4904219"/>
            <a:ext cx="1033463" cy="381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Другие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решения</a:t>
            </a: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39A34391-7F5E-14C2-6A4D-931DD0235BF8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2609852" y="4246994"/>
            <a:ext cx="5588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9FA7D3-5194-49A7-BA49-4F777948452E}" type="datetime'Tr''''''u''''e''C''''''''''''''''''''''''''''''''''onf'''">
              <a:rPr kumimoji="0" lang="en-GB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TrueConf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1" name="Connector: Elbow 150">
            <a:extLst>
              <a:ext uri="{FF2B5EF4-FFF2-40B4-BE49-F238E27FC236}">
                <a16:creationId xmlns:a16="http://schemas.microsoft.com/office/drawing/2014/main" id="{B2CE7360-C7AF-C629-7893-F08F5DDCD2F5}"/>
              </a:ext>
            </a:extLst>
          </p:cNvPr>
          <p:cNvCxnSpPr>
            <a:cxnSpLocks/>
          </p:cNvCxnSpPr>
          <p:nvPr/>
        </p:nvCxnSpPr>
        <p:spPr>
          <a:xfrm rot="10800000">
            <a:off x="1994686" y="3609319"/>
            <a:ext cx="7149315" cy="2634020"/>
          </a:xfrm>
          <a:prstGeom prst="bentConnector3">
            <a:avLst>
              <a:gd name="adj1" fmla="val 95764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4">
            <a:extLst>
              <a:ext uri="{FF2B5EF4-FFF2-40B4-BE49-F238E27FC236}">
                <a16:creationId xmlns:a16="http://schemas.microsoft.com/office/drawing/2014/main" id="{F8F627FF-D9FC-0278-AA7A-A6D51445C99B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1920875" y="4110038"/>
            <a:ext cx="5445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81BF33C-81A3-4116-9B5F-267AB40DE072}" type="datetime'''''''''2'''''''''',''''''''''''''''''0''''''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r>
              <a:rPr kumimoji="0" lang="en-US" altLang="en-US" sz="120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(2</a:t>
            </a:r>
            <a:r>
              <a:rPr kumimoji="0" lang="en-US" altLang="en-US" sz="120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br>
              <a:rPr kumimoji="0" lang="ru-RU" altLang="en-US" sz="12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E99518F3-F6F4-4A54-84D1-C8089EBE2915}" type="datetime'''''''''''''''''''''''''''''''''''5''''''''''''''4''%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54%</a:t>
            </a:fld>
            <a:r>
              <a:rPr kumimoji="0" lang="ru-RU" altLang="en-US" sz="12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4" name="Rectangle 5">
            <a:extLst>
              <a:ext uri="{FF2B5EF4-FFF2-40B4-BE49-F238E27FC236}">
                <a16:creationId xmlns:a16="http://schemas.microsoft.com/office/drawing/2014/main" id="{70408CD6-0EF1-2356-5D5A-01F54F2D2060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749300" y="5583238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5" name="Rectangle 7">
            <a:extLst>
              <a:ext uri="{FF2B5EF4-FFF2-40B4-BE49-F238E27FC236}">
                <a16:creationId xmlns:a16="http://schemas.microsoft.com/office/drawing/2014/main" id="{5A633977-5E5E-BB81-21B6-25AA19CBD71A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749300" y="5868988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6" name="Текст 4">
            <a:extLst>
              <a:ext uri="{FF2B5EF4-FFF2-40B4-BE49-F238E27FC236}">
                <a16:creationId xmlns:a16="http://schemas.microsoft.com/office/drawing/2014/main" id="{F59C7FFD-41D8-6BA8-3F0B-7DEF14DDB8B5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auto">
          <a:xfrm>
            <a:off x="1050925" y="5562600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BAEB0D-89C8-40DF-BBBC-21E85ADE0526}" type="datetime'''''''''S''a''''''''''''''''''''''''''a''''''''''''S''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7" name="Текст 4">
            <a:extLst>
              <a:ext uri="{FF2B5EF4-FFF2-40B4-BE49-F238E27FC236}">
                <a16:creationId xmlns:a16="http://schemas.microsoft.com/office/drawing/2014/main" id="{B2D148B6-6DD4-6DA1-CD20-BAE04DFD236A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auto">
          <a:xfrm>
            <a:off x="1050925" y="5848350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F56AEF4-FCEE-4820-8786-A35BEA0D5EF2}" type="datetime'''''''''''''''''''On''''''''''''''''''''''-''''''''p''r''em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2" name="Rectangle 114">
            <a:extLst>
              <a:ext uri="{FF2B5EF4-FFF2-40B4-BE49-F238E27FC236}">
                <a16:creationId xmlns:a16="http://schemas.microsoft.com/office/drawing/2014/main" id="{570F58BD-3791-F169-F89D-CF4F44D157ED}"/>
              </a:ext>
            </a:extLst>
          </p:cNvPr>
          <p:cNvSpPr/>
          <p:nvPr/>
        </p:nvSpPr>
        <p:spPr>
          <a:xfrm>
            <a:off x="672584" y="1389507"/>
            <a:ext cx="1371003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Мессенджеров по разным моделям поставки, млрд руб.</a:t>
            </a: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37A8FEA-F83D-6C6C-D286-8B83CDC2E8E8}"/>
              </a:ext>
            </a:extLst>
          </p:cNvPr>
          <p:cNvGraphicFramePr/>
          <p:nvPr>
            <p:custDataLst>
              <p:tags r:id="rId56"/>
            </p:custDataLst>
            <p:extLst>
              <p:ext uri="{D42A27DB-BD31-4B8C-83A1-F6EECF244321}">
                <p14:modId xmlns:p14="http://schemas.microsoft.com/office/powerpoint/2010/main" val="2586079626"/>
              </p:ext>
            </p:extLst>
          </p:nvPr>
        </p:nvGraphicFramePr>
        <p:xfrm>
          <a:off x="595313" y="2263775"/>
          <a:ext cx="1668463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sp useBgFill="1">
        <p:nvSpPr>
          <p:cNvPr id="94" name="Полилиния 93">
            <a:extLst>
              <a:ext uri="{FF2B5EF4-FFF2-40B4-BE49-F238E27FC236}">
                <a16:creationId xmlns:a16="http://schemas.microsoft.com/office/drawing/2014/main" id="{8EDA4B11-A269-2653-3F7E-97C1F4B76DDF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1423964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E9357EC4-2878-D07B-74BC-10978EC4171F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1481114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5083116-3855-6694-F13A-7DED725FE971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1423964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7" name="Текст 4">
            <a:extLst>
              <a:ext uri="{FF2B5EF4-FFF2-40B4-BE49-F238E27FC236}">
                <a16:creationId xmlns:a16="http://schemas.microsoft.com/office/drawing/2014/main" id="{9177142D-3DBE-5272-A09B-6339CB8B13AB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gray">
          <a:xfrm>
            <a:off x="1551506" y="2786208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3A9DD76-BB96-4F99-87D5-383B81FD2B0E}" type="datetime'''''''''''''''1'''',''''''''''''7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1,7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0A89AA7B-3090-4CD2-A563-C1FA341E51F1}" type="datetime'''4''6''''''''''''''''''''''''''''''''''%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46%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8" name="Текст 4">
            <a:extLst>
              <a:ext uri="{FF2B5EF4-FFF2-40B4-BE49-F238E27FC236}">
                <a16:creationId xmlns:a16="http://schemas.microsoft.com/office/drawing/2014/main" id="{BAAAFF42-F265-3774-11B5-351F50D4A3A1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1550947" y="4114893"/>
            <a:ext cx="5445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0D8A3D9-6807-48F6-AD9F-DF0DF65BAD94}" type="datetime'''''''''''2'''''''''''',''''''''''0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2,0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BB234B21-DD00-4326-AEBD-50090E95A1D7}" type="datetime'''''''5''''''4''''''%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54%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9" name="Текст 4">
            <a:extLst>
              <a:ext uri="{FF2B5EF4-FFF2-40B4-BE49-F238E27FC236}">
                <a16:creationId xmlns:a16="http://schemas.microsoft.com/office/drawing/2014/main" id="{EDAAD682-6AE9-376A-FDD0-51353B139E16}"/>
              </a:ext>
            </a:extLst>
          </p:cNvPr>
          <p:cNvSpPr>
            <a:spLocks noGrp="1"/>
          </p:cNvSpPr>
          <p:nvPr>
            <p:custDataLst>
              <p:tags r:id="rId62"/>
            </p:custDataLst>
          </p:nvPr>
        </p:nvSpPr>
        <p:spPr bwMode="auto">
          <a:xfrm>
            <a:off x="1611774" y="5130006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0" name="Текст 4">
            <a:extLst>
              <a:ext uri="{FF2B5EF4-FFF2-40B4-BE49-F238E27FC236}">
                <a16:creationId xmlns:a16="http://schemas.microsoft.com/office/drawing/2014/main" id="{F82BCE5E-0C20-056A-BCFB-3D3617CF5496}"/>
              </a:ext>
            </a:extLst>
          </p:cNvPr>
          <p:cNvSpPr>
            <a:spLocks noGrp="1"/>
          </p:cNvSpPr>
          <p:nvPr>
            <p:custDataLst>
              <p:tags r:id="rId63"/>
            </p:custDataLst>
          </p:nvPr>
        </p:nvSpPr>
        <p:spPr bwMode="auto">
          <a:xfrm>
            <a:off x="786595" y="5136799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B5168902-3357-AEF9-6BBA-3365C61B531F}"/>
              </a:ext>
            </a:extLst>
          </p:cNvPr>
          <p:cNvSpPr txBox="1">
            <a:spLocks/>
          </p:cNvSpPr>
          <p:nvPr>
            <p:custDataLst>
              <p:tags r:id="rId64"/>
            </p:custDataLst>
          </p:nvPr>
        </p:nvSpPr>
        <p:spPr bwMode="gray">
          <a:xfrm>
            <a:off x="760392" y="4332449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1FFEE9-277D-49C7-AB2F-CF46318FF0F9}" type="datetime'''''''''''''''''''1,''''''''''''4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1,4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5FF1C5B9-EECA-4347-B81F-6B0B2BE27B56}" type="datetime'''''''''6''''''''''''''3''''''''''''''''''''''''''''''''%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63%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2" name="Текст 4">
            <a:extLst>
              <a:ext uri="{FF2B5EF4-FFF2-40B4-BE49-F238E27FC236}">
                <a16:creationId xmlns:a16="http://schemas.microsoft.com/office/drawing/2014/main" id="{522332D5-11BF-50DE-9FF1-D5FC5154F029}"/>
              </a:ext>
            </a:extLst>
          </p:cNvPr>
          <p:cNvSpPr txBox="1">
            <a:spLocks/>
          </p:cNvSpPr>
          <p:nvPr>
            <p:custDataLst>
              <p:tags r:id="rId65"/>
            </p:custDataLst>
          </p:nvPr>
        </p:nvSpPr>
        <p:spPr bwMode="gray">
          <a:xfrm>
            <a:off x="766391" y="3520190"/>
            <a:ext cx="5302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556A47F-2F38-4279-A40F-9EF83DFC9E67}" type="datetime'''''''''''''0'''''''',8''''''''''''''''''''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0,8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84FCFB5D-A341-419B-B089-7477F0685F49}" type="datetime'''''''''''''''''3''''''''''''''7''''''''''''''''%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37%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3" name="Текст 4">
            <a:extLst>
              <a:ext uri="{FF2B5EF4-FFF2-40B4-BE49-F238E27FC236}">
                <a16:creationId xmlns:a16="http://schemas.microsoft.com/office/drawing/2014/main" id="{F796E817-8E91-C42C-E5C1-B1A0DF3E0BA4}"/>
              </a:ext>
            </a:extLst>
          </p:cNvPr>
          <p:cNvSpPr txBox="1">
            <a:spLocks/>
          </p:cNvSpPr>
          <p:nvPr>
            <p:custDataLst>
              <p:tags r:id="rId66"/>
            </p:custDataLst>
          </p:nvPr>
        </p:nvSpPr>
        <p:spPr bwMode="gray">
          <a:xfrm>
            <a:off x="808037" y="3198603"/>
            <a:ext cx="452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D18168-50A4-40B7-875A-3F498EC91C25}" type="datetime'''2'''''''''''''''''''''''''',''2''''''''''''''''''''''''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2,2</a:t>
            </a:fld>
            <a:endParaRPr kumimoji="0" lang="ru-RU" sz="120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4" name="Текст 4">
            <a:extLst>
              <a:ext uri="{FF2B5EF4-FFF2-40B4-BE49-F238E27FC236}">
                <a16:creationId xmlns:a16="http://schemas.microsoft.com/office/drawing/2014/main" id="{59FF2178-2063-B7D5-95A4-90BCD21E4D13}"/>
              </a:ext>
            </a:extLst>
          </p:cNvPr>
          <p:cNvSpPr txBox="1">
            <a:spLocks/>
          </p:cNvSpPr>
          <p:nvPr>
            <p:custDataLst>
              <p:tags r:id="rId67"/>
            </p:custDataLst>
          </p:nvPr>
        </p:nvSpPr>
        <p:spPr bwMode="gray">
          <a:xfrm>
            <a:off x="1667628" y="2095328"/>
            <a:ext cx="311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F556666-EEBF-47E2-A84D-1DEC8103139C}" type="datetime'3'''''''',''''''7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5" name="Rectangle 66">
            <a:extLst>
              <a:ext uri="{FF2B5EF4-FFF2-40B4-BE49-F238E27FC236}">
                <a16:creationId xmlns:a16="http://schemas.microsoft.com/office/drawing/2014/main" id="{0C54F039-ECAE-FA97-93E0-A81E7D863C5F}"/>
              </a:ext>
            </a:extLst>
          </p:cNvPr>
          <p:cNvSpPr/>
          <p:nvPr/>
        </p:nvSpPr>
        <p:spPr>
          <a:xfrm>
            <a:off x="636881" y="6203544"/>
            <a:ext cx="8411562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Источники: </a:t>
            </a:r>
            <a:endParaRPr lang="ru-RU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Рынок, распределение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SaaS/On-prem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оценка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Bottom-Up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рыночных игроков. Прогноз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</a:t>
            </a: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J’son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&amp; Partners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Прогноз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-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бенчмарк динамики роста рынка ВКС из отчета </a:t>
            </a: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J’son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&amp; Partners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2024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936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773427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Рынок </a:t>
            </a:r>
            <a:r>
              <a:rPr lang="en" dirty="0"/>
              <a:t>On-Prem </a:t>
            </a:r>
            <a:r>
              <a:rPr lang="ru-RU" dirty="0"/>
              <a:t>Офисного ПО </a:t>
            </a:r>
            <a:r>
              <a:rPr lang="en" dirty="0"/>
              <a:t>on-prem</a:t>
            </a:r>
            <a:r>
              <a:rPr lang="ru-RU" dirty="0"/>
              <a:t> 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z="1200" smtClean="0"/>
              <a:pPr/>
              <a:t>13</a:t>
            </a:fld>
            <a:endParaRPr lang="ru-RU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AAD787-5994-1721-F87D-09859C535202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6C2F445D-E0AB-4D86-A5E2-75185CC8751D}" type="slidenum">
              <a:rPr lang="ru-RU" sz="1200" smtClean="0">
                <a:solidFill>
                  <a:srgbClr val="000000">
                    <a:tint val="75000"/>
                  </a:srgbClr>
                </a:solidFill>
              </a:rPr>
              <a:pPr algn="r" defTabSz="914400">
                <a:defRPr/>
              </a:pPr>
              <a:t>13</a:t>
            </a:fld>
            <a:endParaRPr lang="ru-RU" sz="1200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Rectangle 114">
            <a:extLst>
              <a:ext uri="{FF2B5EF4-FFF2-40B4-BE49-F238E27FC236}">
                <a16:creationId xmlns:a16="http://schemas.microsoft.com/office/drawing/2014/main" id="{0CB4EFF6-AF85-B3E9-3AE4-1C37F7EA53FC}"/>
              </a:ext>
            </a:extLst>
          </p:cNvPr>
          <p:cNvSpPr/>
          <p:nvPr/>
        </p:nvSpPr>
        <p:spPr>
          <a:xfrm>
            <a:off x="677335" y="1534760"/>
            <a:ext cx="1351300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Офисного ПО по разным моделям поставки, млрд руб.</a:t>
            </a:r>
          </a:p>
        </p:txBody>
      </p:sp>
      <p:sp>
        <p:nvSpPr>
          <p:cNvPr id="5" name="Rectangle 114">
            <a:extLst>
              <a:ext uri="{FF2B5EF4-FFF2-40B4-BE49-F238E27FC236}">
                <a16:creationId xmlns:a16="http://schemas.microsoft.com/office/drawing/2014/main" id="{E5C04BB2-11B1-9D80-EF93-A52ABC823A0A}"/>
              </a:ext>
            </a:extLst>
          </p:cNvPr>
          <p:cNvSpPr/>
          <p:nvPr/>
        </p:nvSpPr>
        <p:spPr>
          <a:xfrm>
            <a:off x="3916980" y="1605620"/>
            <a:ext cx="5130767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Офисного ПО по типу игроков, млрд руб.</a:t>
            </a: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C080D256-4C3E-C8F9-7B6B-ABC09CC8519A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6284707"/>
              </p:ext>
            </p:extLst>
          </p:nvPr>
        </p:nvGraphicFramePr>
        <p:xfrm>
          <a:off x="595313" y="2263775"/>
          <a:ext cx="1526686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3"/>
          </a:graphicData>
        </a:graphic>
      </p:graphicFrame>
      <p:sp useBgFill="1">
        <p:nvSpPr>
          <p:cNvPr id="7" name="Полилиния 6">
            <a:extLst>
              <a:ext uri="{FF2B5EF4-FFF2-40B4-BE49-F238E27FC236}">
                <a16:creationId xmlns:a16="http://schemas.microsoft.com/office/drawing/2014/main" id="{63455870-D189-ED3F-7024-971B1478A700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32661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AE5482E1-D91D-54EF-AADB-0D52565160C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38376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Полилиния 8">
            <a:extLst>
              <a:ext uri="{FF2B5EF4-FFF2-40B4-BE49-F238E27FC236}">
                <a16:creationId xmlns:a16="http://schemas.microsoft.com/office/drawing/2014/main" id="{3B338C09-22D4-2C39-66CB-2A81C8E76C1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32661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8387973-EDEB-AB7F-2705-D82C0450476C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1911350" y="4027488"/>
            <a:ext cx="56197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2ECB75B-9813-445E-A11A-80A749E3CF8E}" type="datetime'''''1''''''''''''''''8'''''''''''''''',''''3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18,3</a:t>
            </a:fld>
            <a:r>
              <a:rPr kumimoji="0" lang="ru-RU" altLang="en-US" sz="1200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(3</a:t>
            </a:r>
            <a:r>
              <a:rPr kumimoji="0" lang="ru-RU" altLang="en-US" sz="120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br>
              <a:rPr kumimoji="0" lang="ru-RU" altLang="en-US" sz="12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B876A98A-4EB8-4A25-B95A-4A1319E0A1AF}" type="datetime'''''''''''''''6''''''''''''0''''''''%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2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649274F5-4C67-80D1-C5AE-C34D4813E42E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1492143" y="514367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38CF4C62-C2AA-7B12-4FDC-5264BC4020F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837736" y="3077366"/>
            <a:ext cx="322791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7CEF46C-0A21-4B2F-9F57-FF6F1470BA60}" type="datetime'''''9'''''''''''''''''''''''''''''''''',''''''''''5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1ECF59E4-2267-4A51-80F5-98FE5B39130F}" type="datetime'''3''''''''''''''''''''''''''''''''9''''''''''%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39%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0CC64C25-465A-AA1A-4DD3-142B159815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1483640" y="2111095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3EFA23-D21C-4DD5-A754-A744023228D9}" type="datetime'''''''''''3''''0'''''''',''''''''''''''''''''''''4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30,4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74963543-66C2-956B-0D25-844611C1D8F7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511092" y="2689757"/>
            <a:ext cx="4009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EA0ED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33E38E8-240E-484D-ADED-2D98FEC7A3C7}" type="datetime'''''''''''''''''''''''''12'''''''',''''''2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12,2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9C5E970E-2FF1-4E97-AFBC-9AE0AE13F208}" type="datetime'''''''''''''''''''''''''''''''''''4''''''''0''''''''%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900E6946-806F-B07C-B9E9-7169609DBAF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799302" y="5151456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ECB3E748-05D7-893D-AAA3-B9D5D819E27D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849313" y="4170363"/>
            <a:ext cx="329172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32127A-48CE-4CFB-A390-69CDBBFEDD55}" type="datetime'''''''''''''''''''''''''''''1''''''''5'''''',''''1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15,1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B8109881-0CDC-470F-8C52-1A1CC1812C5E}" type="datetime'''''''''''''''6''''''1''''''''''''''''''%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61%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63AD344D-84B7-39A1-62D2-8F27DC5FD0F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770519" y="2618918"/>
            <a:ext cx="5715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E78764-644E-4467-B021-D679471A982D}" type="datetime'''''''''''''''''24'''''''''''',''''''''''''''''''''''6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24,6</a:t>
            </a:fld>
            <a:endParaRPr kumimoji="0" lang="ru-RU" sz="120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9D9DA1CA-7C9A-E980-F325-0357C7D21D54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49300" y="5426822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67874BDB-947F-DB87-3570-E9A68EAE8549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49300" y="5712572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23354AD2-6782-BE90-BFA6-634D233874E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50925" y="5406184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F3A9C181-D642-522C-F43B-839778C79C3C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1050925" y="5691934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23" name="Chart 3">
            <a:extLst>
              <a:ext uri="{FF2B5EF4-FFF2-40B4-BE49-F238E27FC236}">
                <a16:creationId xmlns:a16="http://schemas.microsoft.com/office/drawing/2014/main" id="{069911EB-17C5-1DCD-3102-436B7D5999EA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568811567"/>
              </p:ext>
            </p:extLst>
          </p:nvPr>
        </p:nvGraphicFramePr>
        <p:xfrm>
          <a:off x="3731833" y="2219494"/>
          <a:ext cx="5412168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4"/>
          </a:graphicData>
        </a:graphic>
      </p:graphicFrame>
      <p:sp>
        <p:nvSpPr>
          <p:cNvPr id="24" name="Текст 4">
            <a:extLst>
              <a:ext uri="{FF2B5EF4-FFF2-40B4-BE49-F238E27FC236}">
                <a16:creationId xmlns:a16="http://schemas.microsoft.com/office/drawing/2014/main" id="{BC91FDC3-A6E4-D582-9FA6-17A7B31273D1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4034632" y="4428332"/>
            <a:ext cx="5445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70C7B62-5E18-48A1-BBA6-6235A697E8CD}" type="datetime'''''''5,''''''1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5,1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18B364DE-4591-4A4F-BDB0-4198D2CFC6F6}" type="datetime'''''''''''''''''''34''''''''''''''%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34%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03BAEFEB-25CA-8CD6-7337-57FB65BE7D42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4160457" y="5099219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D4AA18D5-C8DA-3375-6DE3-8B6D5830E880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5085178" y="3159657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FA75A2-3B15-4E03-9919-2CA47E5B2535}" type="datetime'9'''''''''''''''''''''''''',''''''''''3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9,3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A763E843-22E9-4C74-8D96-57621C205355}" type="datetime'5''9''''''''''''''''''''''''''''''''''''''''''''''''%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59%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8C66B2BF-91B3-8989-AB91-1A00C4DA0E67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5132787" y="4334157"/>
            <a:ext cx="514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F3CD7B9-5FAC-47E8-9E6A-C9D3B185411C}" type="datetime'''''''''''''''''''''''6'''''''''''''''''''''''',5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6,5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4ABEA528-5EA2-4E16-ADF8-6C311B94B5E4}" type="datetime'''4''''''''''''1''''''%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41%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811B605F-B012-38DC-B03C-A92C8A8EF1D9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5128744" y="5111126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7A452EAC-3187-B8A3-3DF6-341C2C135CB2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6184895" y="2980190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65729B8-3A22-4BA6-B917-0F47B33A3AE8}" type="datetime'8'',''''''''''3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8,3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10A2A43B-99EC-432E-85A3-9F3AABD2C13B}" type="datetime'''''''''''''5''0%''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50%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43A3163B-29BC-C446-23D5-A4E828D1A5DC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6166263" y="4177277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D42AD69-6DAC-43F8-803B-880C17C88DE3}" type="datetime'''''''''''''''''''''''''''''''8'''''''''''''''''',''''''3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8,3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9835424F-DDFA-44D3-8F77-38867A5AACF7}" type="datetime'5''''0''%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50%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1CB07EED-16AB-C3B9-584D-47F1594C6DCE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6184895" y="5111126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2DF591FF-573E-E781-F567-E4CBADB899E8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7183851" y="2736393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1892152-BDF5-4FB5-A98B-81A8D1926654}" type="datetime'''''''''''''''''''''''''6'''''''''''''''''''',''''''''''''8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6,8</a:t>
            </a:fld>
            <a:br>
              <a:rPr kumimoji="0" lang="ru-RU" altLang="en-US" sz="12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41F23F36-B716-4494-9CA1-196DB2C63578}" type="datetime'''''''3''''''''''''''''''''9''''''''''''%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39%</a:t>
            </a:fld>
            <a:r>
              <a:rPr kumimoji="0" lang="ru-RU" sz="12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0ED985FF-970E-B967-B25B-B6D5CE7BFEB2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4063620" y="3321011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981CA51-9434-43D9-9E18-DA9F8AB01605}" type="datetime'9'''''''''''''',''''''''''''''''''''''''''''''''''9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9,9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EAEB4E1D-3548-4EC5-95F7-A61B76AA5AD3}" type="datetime'''''''66''''%''''''''''''''''''''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66%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3BB968C8-01FD-6755-2400-BF1E030A7522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7312557" y="5096142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E3C69161-F64D-C8A3-89B2-7A8CD452E3DE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8246363" y="2417875"/>
            <a:ext cx="565150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9E3EF12-1CA7-4D1D-A46D-C51DF2C110E2}" type="datetime'''''''''4,''''7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4,7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F387A2FF-61EA-4D54-A81F-ADA97DA042B9}" type="datetime'''''''''''2''''''''6''''''''''''''''''''%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26%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81E10535-B49F-0F9A-1228-0B85B07CE7E6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8266112" y="3532188"/>
            <a:ext cx="541338" cy="4699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A6AC757-5465-42E0-BD97-1373255347D9}" type="datetime'''''''''1''''3'''''''''''',''''''''5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13,5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29755B04-83E7-4273-8633-26A10CC60974}" type="datetime'''''7''''4''''''''''''''''%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74%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6B2452E7-2387-3246-46E4-80D7C6293849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8356729" y="5086463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71D90CC2-31C3-F357-BD33-9B438ABBF1D0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4150138" y="2529057"/>
            <a:ext cx="3698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99618A3-1A52-4943-B28B-D39C7A6C43E2}" type="datetime'''''''1''''''''''5'''''''''',''''''''''''''''''''''''''''1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15,1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83D7004F-3E37-1256-8DB3-3F7C9B4DA507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5152557" y="2411582"/>
            <a:ext cx="403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86120F8-6257-4B4F-BF38-F74ED6B23093}" type="datetime'''''''''''''''''''1''''''''''''''5'''''',''''''''''''8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15,8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249CE09F-2BFA-BC41-3306-CABCE31DB49E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gray">
          <a:xfrm>
            <a:off x="6209541" y="2294107"/>
            <a:ext cx="403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E5DD69-7196-4911-82B9-F883152DDD92}" type="datetime'''1''''''''''''''''''6'''''''',''6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16,6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917CA430-D5B0-5A3F-4FC9-2E747F86B728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gray">
          <a:xfrm>
            <a:off x="7279515" y="2169903"/>
            <a:ext cx="3952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666B4C9-79CF-470B-8C36-27FF3395BC26}" type="datetime'''''''''''''1''''''''''''7'''',''''''''''''''4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17,4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C3C9A396-5484-2FB7-0856-4D89FA979D04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gray">
          <a:xfrm>
            <a:off x="8266112" y="2041300"/>
            <a:ext cx="5651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E2787A5-E05E-4681-817A-F00B4CF291CF}" type="datetime'18'''',3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18,3</a:t>
            </a:fld>
            <a:endParaRPr kumimoji="0" lang="ru-RU" sz="120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6A0A6378-2513-2888-FF04-FA201F97A415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7226727" y="4057736"/>
            <a:ext cx="51117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16D9F5-7A9D-4C9E-B934-2053DB0315C9}" type="datetime'''''''''''''''''''''''1''''''''''''''0'''',''6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10,6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CE109161-CB04-48FC-9C2F-0549A5AA7BA2}" type="datetime'''''''''''''''''''''''''''6''''''''''''''''1''''''''''''''%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61%</a:t>
            </a:fld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359010F-02D2-328C-7AB4-3831650188D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065207" y="5382541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5" name="Rectangle 119">
            <a:extLst>
              <a:ext uri="{FF2B5EF4-FFF2-40B4-BE49-F238E27FC236}">
                <a16:creationId xmlns:a16="http://schemas.microsoft.com/office/drawing/2014/main" id="{FA2B3B17-782D-A7E0-42C1-4DC53B32A5D3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065207" y="5668291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B1D295C5-2241-13ED-D10A-73E1A114BB6E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auto">
          <a:xfrm>
            <a:off x="4366832" y="5361903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6CB827E-CEB1-41CF-9D91-494895B34F57}" type="datetime'Зар''''убеж''н''''ы''''''''е'''' ''и''''''''гр''''о''ки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7" name="Текст 4">
            <a:extLst>
              <a:ext uri="{FF2B5EF4-FFF2-40B4-BE49-F238E27FC236}">
                <a16:creationId xmlns:a16="http://schemas.microsoft.com/office/drawing/2014/main" id="{5615564C-ECED-4363-E67A-6EBDEA24CDA7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auto">
          <a:xfrm>
            <a:off x="4366832" y="5647653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8" name="Connector: Elbow 27">
            <a:extLst>
              <a:ext uri="{FF2B5EF4-FFF2-40B4-BE49-F238E27FC236}">
                <a16:creationId xmlns:a16="http://schemas.microsoft.com/office/drawing/2014/main" id="{0DC02189-4074-23D8-D032-4E70CA5DC77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80084" y="1331061"/>
            <a:ext cx="7276236" cy="2109052"/>
          </a:xfrm>
          <a:prstGeom prst="bentConnector3">
            <a:avLst>
              <a:gd name="adj1" fmla="val 95803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Chart 3">
            <a:extLst>
              <a:ext uri="{FF2B5EF4-FFF2-40B4-BE49-F238E27FC236}">
                <a16:creationId xmlns:a16="http://schemas.microsoft.com/office/drawing/2014/main" id="{643BEA61-8012-0FFF-0909-A0134CC1D348}"/>
              </a:ext>
            </a:extLst>
          </p:cNvPr>
          <p:cNvGraphicFramePr/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2240546243"/>
              </p:ext>
            </p:extLst>
          </p:nvPr>
        </p:nvGraphicFramePr>
        <p:xfrm>
          <a:off x="2281047" y="2293858"/>
          <a:ext cx="1635933" cy="30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sp>
        <p:nvSpPr>
          <p:cNvPr id="52" name="Текст 4">
            <a:extLst>
              <a:ext uri="{FF2B5EF4-FFF2-40B4-BE49-F238E27FC236}">
                <a16:creationId xmlns:a16="http://schemas.microsoft.com/office/drawing/2014/main" id="{E56A0D77-3C51-D469-5E1A-B00FC35B2011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1743249" y="4619906"/>
            <a:ext cx="10906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89F186D-0054-4C19-8AAF-2D70428D919D}" type="datetime'''А''''л''''ьт''''''''е''''р''''''О''ф''ис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АльтерОфис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2D326DB4-E4F8-466C-0E36-C7ADCCF15114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auto">
          <a:xfrm>
            <a:off x="2271862" y="4786503"/>
            <a:ext cx="5191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661556B-8C3D-4810-96FB-9F8A08B4A73F}" type="datetime'''''''''А''''''''''йг''''''''''''''е''н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Айген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4" name="Текст 4">
            <a:extLst>
              <a:ext uri="{FF2B5EF4-FFF2-40B4-BE49-F238E27FC236}">
                <a16:creationId xmlns:a16="http://schemas.microsoft.com/office/drawing/2014/main" id="{47035BD6-6CB7-D4A8-6689-6A0B04E11F73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 flipH="1">
            <a:off x="3066185" y="5098970"/>
            <a:ext cx="51475" cy="287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61557FF3-E5D0-A53A-4B3E-4EF3A45B78B2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auto">
          <a:xfrm>
            <a:off x="2426205" y="3917703"/>
            <a:ext cx="2968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AD55BB5-2EB4-4C63-85DD-D88930087857}" type="datetime'''''Р''''''''''''''''''''''''''''''-''''''''''''''7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Р-7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8D4352F2-1C40-3A65-E0C0-BE6B957CBE26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gray">
          <a:xfrm>
            <a:off x="3168802" y="4614642"/>
            <a:ext cx="649665" cy="234950"/>
          </a:xfrm>
          <a:prstGeom prst="rect">
            <a:avLst/>
          </a:prstGeom>
          <a:solidFill>
            <a:srgbClr val="1AB0BF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175F80-8690-4B85-A6BA-C38119AABACB}" type="datetime'''''''0'''''''''''''''',''''''''''''''''''''''''''''''''''4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0,4</a:t>
            </a:fld>
            <a:r>
              <a:rPr lang="ru-RU" altLang="en-US" sz="1200" dirty="0">
                <a:solidFill>
                  <a:srgbClr val="FFFFFF"/>
                </a:solidFill>
              </a:rPr>
              <a:t>(8%)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Текст 4">
            <a:extLst>
              <a:ext uri="{FF2B5EF4-FFF2-40B4-BE49-F238E27FC236}">
                <a16:creationId xmlns:a16="http://schemas.microsoft.com/office/drawing/2014/main" id="{E182E11F-FE67-1BC9-4619-3036135F49D0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2244691" y="2797873"/>
            <a:ext cx="488521" cy="417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Мой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solidFill>
                  <a:srgbClr val="000000"/>
                </a:solidFill>
              </a:rPr>
              <a:t>Офис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8" name="Текст 4">
            <a:extLst>
              <a:ext uri="{FF2B5EF4-FFF2-40B4-BE49-F238E27FC236}">
                <a16:creationId xmlns:a16="http://schemas.microsoft.com/office/drawing/2014/main" id="{65D2953C-481F-4C62-67CE-97272DE5FFBA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2942947" y="2349532"/>
            <a:ext cx="2905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0CB33CE-80B8-4269-902B-AECA285A6F60}" type="datetime'''5'''''''''',''''1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5,1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59" name="Straight Connector 237">
            <a:extLst>
              <a:ext uri="{FF2B5EF4-FFF2-40B4-BE49-F238E27FC236}">
                <a16:creationId xmlns:a16="http://schemas.microsoft.com/office/drawing/2014/main" id="{8AD2EF3F-E888-F3B2-6705-744F28F8600B}"/>
              </a:ext>
            </a:extLst>
          </p:cNvPr>
          <p:cNvCxnSpPr>
            <a:cxnSpLocks/>
          </p:cNvCxnSpPr>
          <p:nvPr/>
        </p:nvCxnSpPr>
        <p:spPr>
          <a:xfrm>
            <a:off x="3309321" y="2592308"/>
            <a:ext cx="726106" cy="166871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114">
            <a:extLst>
              <a:ext uri="{FF2B5EF4-FFF2-40B4-BE49-F238E27FC236}">
                <a16:creationId xmlns:a16="http://schemas.microsoft.com/office/drawing/2014/main" id="{856CA42A-85AE-5547-9569-3CA7AE91BE13}"/>
              </a:ext>
            </a:extLst>
          </p:cNvPr>
          <p:cNvSpPr/>
          <p:nvPr/>
        </p:nvSpPr>
        <p:spPr>
          <a:xfrm>
            <a:off x="2383125" y="1574911"/>
            <a:ext cx="1633620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Выручка игроков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Офисного ПО в 2023 г., млрд руб.</a:t>
            </a:r>
          </a:p>
        </p:txBody>
      </p:sp>
      <p:sp>
        <p:nvSpPr>
          <p:cNvPr id="61" name="Rectangle 66">
            <a:extLst>
              <a:ext uri="{FF2B5EF4-FFF2-40B4-BE49-F238E27FC236}">
                <a16:creationId xmlns:a16="http://schemas.microsoft.com/office/drawing/2014/main" id="{0CBE0DA1-CC26-E494-ED6B-A01BD6BD5949}"/>
              </a:ext>
            </a:extLst>
          </p:cNvPr>
          <p:cNvSpPr/>
          <p:nvPr/>
        </p:nvSpPr>
        <p:spPr>
          <a:xfrm>
            <a:off x="677335" y="6079153"/>
            <a:ext cx="8225767" cy="815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Источники: </a:t>
            </a:r>
            <a:endParaRPr lang="ru-RU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Средняя оценка между оценкой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Top-Down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количества рабочих мест, использующих офисные пакеты и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Bottom-Up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рыночных игроков.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Распределение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SaaS/On-prem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оценка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Bottom-Up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рыночных игроков.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4. Прогноз рынка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</a:t>
            </a:r>
            <a:r>
              <a:rPr kumimoji="0" lang="ru-RU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экспертно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(прогнозный темп инфляции)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1A95B0BC-CE4F-F2C0-8E82-A4424073B371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1542415" y="3992733"/>
            <a:ext cx="329172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2ECB75B-9813-445E-A11A-80A749E3CF8E}" type="datetime'''''1''''''''''''''''8'''''''''''''''',''''3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18,3</a:t>
            </a:fld>
            <a:br>
              <a:rPr kumimoji="0" lang="ru-RU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B876A98A-4EB8-4A25-B95A-4A1319E0A1AF}" type="datetime'''''''''''''''6''''''''''''0''''''''%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1099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Рынок </a:t>
            </a:r>
            <a:r>
              <a:rPr lang="en" dirty="0"/>
              <a:t>On-Prem </a:t>
            </a:r>
            <a:r>
              <a:rPr lang="ru-RU" dirty="0"/>
              <a:t>Офисного ПО </a:t>
            </a:r>
            <a:r>
              <a:rPr lang="en" dirty="0"/>
              <a:t>SaaS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z="1200" smtClean="0"/>
              <a:pPr/>
              <a:t>14</a:t>
            </a:fld>
            <a:endParaRPr lang="ru-RU" sz="1200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20A0B3B-441E-159C-D769-6A64C1871EA9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6C2F445D-E0AB-4D86-A5E2-75185CC8751D}" type="slidenum">
              <a:rPr lang="ru-RU" sz="1200" smtClean="0">
                <a:solidFill>
                  <a:srgbClr val="000000">
                    <a:tint val="75000"/>
                  </a:srgbClr>
                </a:solidFill>
              </a:rPr>
              <a:pPr algn="r" defTabSz="914400">
                <a:defRPr/>
              </a:pPr>
              <a:t>14</a:t>
            </a:fld>
            <a:endParaRPr lang="ru-RU" sz="1200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Rectangle 114">
            <a:extLst>
              <a:ext uri="{FF2B5EF4-FFF2-40B4-BE49-F238E27FC236}">
                <a16:creationId xmlns:a16="http://schemas.microsoft.com/office/drawing/2014/main" id="{FF5AD166-7317-6E83-FE16-2E15323EAD56}"/>
              </a:ext>
            </a:extLst>
          </p:cNvPr>
          <p:cNvSpPr/>
          <p:nvPr/>
        </p:nvSpPr>
        <p:spPr>
          <a:xfrm>
            <a:off x="4147673" y="1589706"/>
            <a:ext cx="4996328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Офисного ПО по типу игроков, млрд руб.</a:t>
            </a: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C2852752-C534-3D88-71E4-C9D438CBFC7B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0417616"/>
              </p:ext>
            </p:extLst>
          </p:nvPr>
        </p:nvGraphicFramePr>
        <p:xfrm>
          <a:off x="4012125" y="2263775"/>
          <a:ext cx="5131876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6"/>
          </a:graphicData>
        </a:graphic>
      </p:graphicFrame>
      <p:sp>
        <p:nvSpPr>
          <p:cNvPr id="25" name="Текст 4">
            <a:extLst>
              <a:ext uri="{FF2B5EF4-FFF2-40B4-BE49-F238E27FC236}">
                <a16:creationId xmlns:a16="http://schemas.microsoft.com/office/drawing/2014/main" id="{553E7499-A33C-44EF-EAE5-B9CAB61C07C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gray">
          <a:xfrm>
            <a:off x="4314958" y="3376743"/>
            <a:ext cx="546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E2ACEB1-AB38-4F16-9C7D-8803E320CF77}" type="datetime'''''''''''''''6'''',''''''1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6,1</a:t>
            </a:fld>
            <a:b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7EE4AF61-751A-4AF1-A65A-CB7FD48E874E}" type="datetime'''''''''''''''''''''''''''''6''4''''''''''''''''''''''''%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64%</a:t>
            </a:fld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A38E1E1D-FD93-0F25-98D9-6513D30572B3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4316412" y="4461214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39B79E5-673C-426C-9C12-7A80BB39D322}" type="datetime'''''''''''''''''3'''''''''',''''''''''''''''4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3,4</a:t>
            </a:fld>
            <a:b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1420CCAB-CA6C-4E0D-BD6A-70CC415AA724}" type="datetime'''''''''''3''''''''''''''''''''''''''''''''6''%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36%</a:t>
            </a:fld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D5E4F1B8-3337-CF1D-D7E3-6E57F4AC086F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4375284" y="5108914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731077-6708-419A-8CED-8A1F74197A32}" type="datetime'''''2''''''''''''''0''2''''''''''3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DC63A86D-6DB1-4C01-F235-BDD718E58228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5324328" y="3057103"/>
            <a:ext cx="51435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33E80C-EC07-4104-ACDA-9EE97F760544}" type="datetime'''''''''''4'',''''''''''''''''''1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4,1</a:t>
            </a:fld>
            <a:b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D5CBCED5-8E29-4503-9536-8FFE33F4A419}" type="datetime'''''''''4''''''''1''%''''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41%</a:t>
            </a:fld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514D38BA-F28C-F92C-4D47-1C7D584E3E0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5332667" y="4198145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69E8E41-797E-47B4-9D1C-3BCE8BED8CF2}" type="datetime'''''''''''''''''''''6'''''''''''',''''0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6,0</a:t>
            </a:fld>
            <a:br>
              <a:rPr kumimoji="0" lang="ru-RU" alt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71E9CE1E-B6DE-4C30-BC50-818E9D9207D4}" type="datetime'''''5''''''''''''''''9''''''''''''''''%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59%</a:t>
            </a:fld>
            <a:r>
              <a:rPr kumimoji="0" lang="ru-RU" alt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043505B4-3A88-415F-2A52-886C5CAACA43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59076" y="5120612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E721F38-B955-4D94-B960-7B57E63604A3}" type="datetime'''''''''''''''''''2''''''''0''2''''4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CCA65BEF-A9DF-B243-2920-76481D872A70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6331988" y="2685427"/>
            <a:ext cx="5064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ACF4DB2-9C88-490F-9CFC-8173B8F07B6A}" type="datetime'''''2'''''''''''''''''''''''',''''''''''''''''''''''''''3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2,3</a:t>
            </a:fld>
            <a:b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452FE13E-B4E6-4091-8AEE-2C944B3E315E}" type="datetime'''''''''2''''''1''''''''''''''%''''''''''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21%</a:t>
            </a:fld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EC44BEEF-1FFC-B511-5CD7-AE5276839129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6280151" y="3935413"/>
            <a:ext cx="53181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CFBD200-4626-4F8C-AEDB-ED882BCD0EC5}" type="datetime'''''''''''''''''''''''''''''8'''''',''''''''''''''''5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8,5</a:t>
            </a:fld>
            <a:b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1736984A-2DBB-4861-AC6D-46E4AA78F7F1}" type="datetime'''''''''''''''''''''''''''''''''7''''9''''%''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79%</a:t>
            </a:fld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022ED6EB-2E40-4293-7904-CFA6F366389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6337640" y="5120612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C048B97-58B1-465F-AC85-6156DA5E1276}" type="datetime'''''''''''''''''''''''''''''''''2''0''''2''''5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409A2D47-1D4C-2A62-8271-C2B86073D5B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7377356" y="2360803"/>
            <a:ext cx="434975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2C40ED-5EDC-44FA-8520-1989D2D6642B}" type="datetime'''''''''''''''''0'',''''''''''''''''5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0,5</a:t>
            </a:fld>
            <a:b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51CA1557-E861-4B51-ABC6-5691A5CDF1F7}" type="datetime'''''''''''''''''''''''4''''''''''%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4%</a:t>
            </a:fld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B15C77A7-0260-6F55-9B1E-16519D91C4A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7275234" y="3640956"/>
            <a:ext cx="5429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81F185-05B2-410B-9EA2-A41A6404A4D2}" type="datetime'1''''''0'''''''''''''''''''''''''',''''''''''9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10,9</a:t>
            </a:fld>
            <a:b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222F0434-AD4C-4D0E-8E84-B2E225F94053}" type="datetime'''''''''''''''''''''''''''9''6''''''''''''''%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96%</a:t>
            </a:fld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4F59137C-E0FA-7ABE-E050-A51CF34D657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7322858" y="5135563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DB971FF-8EA6-406E-BDF7-B1C2760A918E}" type="datetime'2''0''2''''''''''''''''''''''''''''''''''''6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780A25A5-9058-B25D-FF92-773D0D6F9FB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8360077" y="2215527"/>
            <a:ext cx="430213" cy="4699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9937DE-0AD7-43EB-AD7E-E4F04D65CF2A}" type="datetime'''''''''''''''''''''''''''''0'''',''''''6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0,6</a:t>
            </a:fld>
            <a:br>
              <a:rPr kumimoji="0" lang="ru-RU" alt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F55746E6-3F23-4C64-ABA6-B51024F7EDB2}" type="datetime'''''''''''''''''''''''''''5''''''''''''''%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5%</a:t>
            </a:fld>
            <a:r>
              <a:rPr kumimoji="0" lang="ru-RU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388838A0-5721-7B28-112D-DC86134AB9AA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8321875" y="3541713"/>
            <a:ext cx="5413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95959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D6D83D1-97AC-4F58-9148-A567711C3FD1}" type="datetime'''1''''''''''1,''6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11,6</a:t>
            </a:fld>
            <a:br>
              <a:rPr kumimoji="0" lang="ru-RU" alt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A59FA1DB-F5C5-4713-BFFD-245D1183F22E}" type="datetime'''''''''9''''''5''''''''''''''''''%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95%</a:t>
            </a:fld>
            <a:r>
              <a:rPr kumimoji="0" lang="ru-RU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F32FFCFB-6E95-5BDC-B93C-224B302D350E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8354277" y="5120612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588853-75B6-4C46-A83C-FDF76CACE2A2}" type="datetime'''2''0''''''''''''''''''''''''''''''''''2''7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1D7034A6-C050-DC6C-596A-777F07E013F2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4434401" y="2700338"/>
            <a:ext cx="3222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8562D66-76E2-4E05-BA31-88BEA879035B}" type="datetime'''9'''''''''''''''''',''5''''''''''''''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9132E610-113C-8FB3-B1C0-54E6CD240BCF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5415028" y="2572919"/>
            <a:ext cx="371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76F1FC7-37B0-40BA-BAB7-0D5D28AF2FE5}" type="datetime'''1''''''0,1''''''''''''''''''''''''''''''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10,1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DF21A179-4C80-7F09-8EFD-8EFDC2F73144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6394019" y="2407615"/>
            <a:ext cx="4048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C07F701-5C2B-4626-A8C2-BD6CC9EFA8BF}" type="datetime'''''''''''''''10'''''''''''''''''''''''',''''''''''8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10,8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7CD3AA67-B27F-8E81-DEA2-6893F734784D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7424738" y="2111286"/>
            <a:ext cx="3746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4F8E97C-9B79-4223-84F5-2085B118552F}" type="datetime'1''''''''''1'''''''''''''',''''''''''''''''''''''4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11,4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B09504A7-5996-42BB-F8D2-35FE3AA3B48B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8339751" y="1990090"/>
            <a:ext cx="3937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34B82DB-DF0D-4083-8502-FEC3C1826164}" type="datetime'12'''''',2''''''''''''''''''''''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12,2</a:t>
            </a:fld>
            <a:endParaRPr kumimoji="0" lang="ru-RU" sz="120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9" name="Connector: Elbow 27">
            <a:extLst>
              <a:ext uri="{FF2B5EF4-FFF2-40B4-BE49-F238E27FC236}">
                <a16:creationId xmlns:a16="http://schemas.microsoft.com/office/drawing/2014/main" id="{26DB8243-475A-D4F9-3609-9E929CF646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12056" y="1343989"/>
            <a:ext cx="7231945" cy="1023787"/>
          </a:xfrm>
          <a:prstGeom prst="bentConnector3">
            <a:avLst>
              <a:gd name="adj1" fmla="val 95646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Chart 84">
            <a:extLst>
              <a:ext uri="{FF2B5EF4-FFF2-40B4-BE49-F238E27FC236}">
                <a16:creationId xmlns:a16="http://schemas.microsoft.com/office/drawing/2014/main" id="{6D0D2FF2-18AE-F301-0A88-4BF960642091}"/>
              </a:ext>
            </a:extLst>
          </p:cNvPr>
          <p:cNvGraphicFramePr/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320404049"/>
              </p:ext>
            </p:extLst>
          </p:nvPr>
        </p:nvGraphicFramePr>
        <p:xfrm>
          <a:off x="2441576" y="2330451"/>
          <a:ext cx="1690687" cy="3052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7"/>
          </a:graphicData>
        </a:graphic>
      </p:graphicFrame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F16E4B5A-90E2-6AFC-959C-AA2DEF97375A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 bwMode="auto">
          <a:xfrm flipH="1">
            <a:off x="3469483" y="4170363"/>
            <a:ext cx="129012" cy="793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4AE48C79-A8C6-8FDF-9132-D55DAA4028E7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 bwMode="auto">
          <a:xfrm>
            <a:off x="2892319" y="4170363"/>
            <a:ext cx="262045" cy="79376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BCD20053-9EEC-17E0-A175-E19388D17E1B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 bwMode="auto">
          <a:xfrm flipV="1">
            <a:off x="2961190" y="4329113"/>
            <a:ext cx="193174" cy="1555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Текст 4">
            <a:extLst>
              <a:ext uri="{FF2B5EF4-FFF2-40B4-BE49-F238E27FC236}">
                <a16:creationId xmlns:a16="http://schemas.microsoft.com/office/drawing/2014/main" id="{5599BA14-855F-EE9E-FEE7-3B4CAFEB300F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3314886" y="4283793"/>
            <a:ext cx="768155" cy="155575"/>
          </a:xfrm>
          <a:prstGeom prst="rect">
            <a:avLst/>
          </a:prstGeom>
          <a:solidFill>
            <a:srgbClr val="401260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4DED2D7-25AD-48D4-9885-D2404543CBF8}" type="datetime'''''0'''',''''''''''''''''1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 (3%)</a:t>
            </a:r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3D73B98C-37CB-52D5-D7F7-F9EB2C6BD6EF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3063875" y="5135563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B81E55-68A3-4111-86B5-E42CA28377E6}" type="datetime'''''''''''''''''''''''''''''''''''''20''''''''''''''''''23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Текст 4">
            <a:extLst>
              <a:ext uri="{FF2B5EF4-FFF2-40B4-BE49-F238E27FC236}">
                <a16:creationId xmlns:a16="http://schemas.microsoft.com/office/drawing/2014/main" id="{9A20C8A1-392C-2507-A324-F0235FA65574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2414589" y="3306763"/>
            <a:ext cx="6318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F969B53-3049-403D-9869-D4B32F6F6549}" type="datetime'''Я''''''''''''''''''''''''''н''''''д''''''е''''''''''''''кс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Яндекс</a:t>
            </a:fld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360</a:t>
            </a:r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8" name="Текст 4">
            <a:extLst>
              <a:ext uri="{FF2B5EF4-FFF2-40B4-BE49-F238E27FC236}">
                <a16:creationId xmlns:a16="http://schemas.microsoft.com/office/drawing/2014/main" id="{40919E4F-09BC-42B1-EBB5-384586EEFD8C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2580119" y="4029076"/>
            <a:ext cx="2333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CC96C24-5ADB-4BBA-B833-3230837192AD}" type="datetime'''''V''''''''''''''''K'''''''''''''''''''''">
              <a:rPr kumimoji="0" lang="en-US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VK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0576D83C-4F82-3AF3-38AE-78AAB35D89E5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2544340" y="4315620"/>
            <a:ext cx="2968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591998-EEE6-4FCC-AE92-9C3EA1B91FD5}" type="datetime'''''''''''''Р''''-''''''''''''''''''''''''''''''''7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Р-7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0" name="Текст 4">
            <a:extLst>
              <a:ext uri="{FF2B5EF4-FFF2-40B4-BE49-F238E27FC236}">
                <a16:creationId xmlns:a16="http://schemas.microsoft.com/office/drawing/2014/main" id="{4ED3E8B9-4F38-AC2D-F5F3-9B7F33C908B3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2420939" y="4605338"/>
            <a:ext cx="625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C7AC6B-5424-41E5-AD40-D28D07ECD3E0}" type="datetime'''''''''''Д''''''р''''''''''''''у''''''г''''ое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Другое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1" name="Текст 4">
            <a:extLst>
              <a:ext uri="{FF2B5EF4-FFF2-40B4-BE49-F238E27FC236}">
                <a16:creationId xmlns:a16="http://schemas.microsoft.com/office/drawing/2014/main" id="{FB650635-FCF2-085D-45C4-A690DB2411D8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3137379" y="2385263"/>
            <a:ext cx="32543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632A59B-D668-437E-90E0-A84DBDB368B8}" type="datetime'''''''3'''''''''''',''4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3,4</a:t>
            </a:fld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2" name="Straight Connector 237">
            <a:extLst>
              <a:ext uri="{FF2B5EF4-FFF2-40B4-BE49-F238E27FC236}">
                <a16:creationId xmlns:a16="http://schemas.microsoft.com/office/drawing/2014/main" id="{5D195F88-6B5F-3173-D6B1-F581DAE7BE52}"/>
              </a:ext>
            </a:extLst>
          </p:cNvPr>
          <p:cNvCxnSpPr>
            <a:cxnSpLocks/>
          </p:cNvCxnSpPr>
          <p:nvPr/>
        </p:nvCxnSpPr>
        <p:spPr>
          <a:xfrm>
            <a:off x="3532094" y="2642565"/>
            <a:ext cx="784318" cy="168654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14">
            <a:extLst>
              <a:ext uri="{FF2B5EF4-FFF2-40B4-BE49-F238E27FC236}">
                <a16:creationId xmlns:a16="http://schemas.microsoft.com/office/drawing/2014/main" id="{41CAD2F4-2106-DC3C-A61A-FEABDEC96F59}"/>
              </a:ext>
            </a:extLst>
          </p:cNvPr>
          <p:cNvSpPr/>
          <p:nvPr/>
        </p:nvSpPr>
        <p:spPr>
          <a:xfrm>
            <a:off x="2717746" y="1526907"/>
            <a:ext cx="1294379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Выручка игроков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 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Офисного ПО в 2023 г., млрд руб.</a:t>
            </a:r>
          </a:p>
        </p:txBody>
      </p:sp>
      <p:cxnSp>
        <p:nvCxnSpPr>
          <p:cNvPr id="65" name="Connector: Elbow 150">
            <a:extLst>
              <a:ext uri="{FF2B5EF4-FFF2-40B4-BE49-F238E27FC236}">
                <a16:creationId xmlns:a16="http://schemas.microsoft.com/office/drawing/2014/main" id="{F823A92D-A67A-5984-D319-C84F884597E5}"/>
              </a:ext>
            </a:extLst>
          </p:cNvPr>
          <p:cNvCxnSpPr>
            <a:cxnSpLocks/>
          </p:cNvCxnSpPr>
          <p:nvPr/>
        </p:nvCxnSpPr>
        <p:spPr>
          <a:xfrm rot="10800000">
            <a:off x="1873312" y="3435819"/>
            <a:ext cx="7270688" cy="2464078"/>
          </a:xfrm>
          <a:prstGeom prst="bentConnector3">
            <a:avLst>
              <a:gd name="adj1" fmla="val 95214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114">
            <a:extLst>
              <a:ext uri="{FF2B5EF4-FFF2-40B4-BE49-F238E27FC236}">
                <a16:creationId xmlns:a16="http://schemas.microsoft.com/office/drawing/2014/main" id="{5152E7AC-B9E2-4274-C909-D9B5A4101DCE}"/>
              </a:ext>
            </a:extLst>
          </p:cNvPr>
          <p:cNvSpPr/>
          <p:nvPr/>
        </p:nvSpPr>
        <p:spPr>
          <a:xfrm>
            <a:off x="677335" y="1534760"/>
            <a:ext cx="1351300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Рынок Офисного ПО по разным моделям поставки, млрд руб.</a:t>
            </a:r>
          </a:p>
        </p:txBody>
      </p:sp>
      <p:graphicFrame>
        <p:nvGraphicFramePr>
          <p:cNvPr id="68" name="Chart 3">
            <a:extLst>
              <a:ext uri="{FF2B5EF4-FFF2-40B4-BE49-F238E27FC236}">
                <a16:creationId xmlns:a16="http://schemas.microsoft.com/office/drawing/2014/main" id="{5E905C2F-1ACA-997B-3910-FCF84AF1A692}"/>
              </a:ext>
            </a:extLst>
          </p:cNvPr>
          <p:cNvGraphicFramePr/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506111569"/>
              </p:ext>
            </p:extLst>
          </p:nvPr>
        </p:nvGraphicFramePr>
        <p:xfrm>
          <a:off x="595313" y="2263775"/>
          <a:ext cx="1526686" cy="2903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8"/>
          </a:graphicData>
        </a:graphic>
      </p:graphicFrame>
      <p:sp useBgFill="1">
        <p:nvSpPr>
          <p:cNvPr id="69" name="Полилиния 68">
            <a:extLst>
              <a:ext uri="{FF2B5EF4-FFF2-40B4-BE49-F238E27FC236}">
                <a16:creationId xmlns:a16="http://schemas.microsoft.com/office/drawing/2014/main" id="{3070737C-6E09-E6B8-6A95-C8B8F8E9D4CC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1326618" y="5011738"/>
            <a:ext cx="96838" cy="146051"/>
          </a:xfrm>
          <a:custGeom>
            <a:avLst/>
            <a:gdLst/>
            <a:ahLst/>
            <a:cxnLst/>
            <a:rect l="0" t="0" r="0" b="0"/>
            <a:pathLst>
              <a:path w="96838" h="146051">
                <a:moveTo>
                  <a:pt x="96837" y="0"/>
                </a:moveTo>
                <a:lnTo>
                  <a:pt x="57150" y="146050"/>
                </a:lnTo>
                <a:lnTo>
                  <a:pt x="0" y="146050"/>
                </a:lnTo>
                <a:lnTo>
                  <a:pt x="39687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3F6FB630-6D94-2E57-AD41-1F0555695A3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138376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45390DD6-EAE4-48DA-9189-99522EB0C5AE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1326618" y="5011738"/>
            <a:ext cx="39688" cy="146051"/>
          </a:xfrm>
          <a:custGeom>
            <a:avLst/>
            <a:gdLst/>
            <a:ahLst/>
            <a:cxnLst/>
            <a:rect l="0" t="0" r="0" b="0"/>
            <a:pathLst>
              <a:path w="39688" h="146051">
                <a:moveTo>
                  <a:pt x="39687" y="0"/>
                </a:moveTo>
                <a:lnTo>
                  <a:pt x="0" y="1460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2" name="Текст 4">
            <a:extLst>
              <a:ext uri="{FF2B5EF4-FFF2-40B4-BE49-F238E27FC236}">
                <a16:creationId xmlns:a16="http://schemas.microsoft.com/office/drawing/2014/main" id="{27751C5D-2EE1-7BB2-EF13-C83F9E06FF13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837736" y="3077366"/>
            <a:ext cx="322791" cy="469900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7CEF46C-0A21-4B2F-9F57-FF6F1470BA60}" type="datetime'''''9'''''''''''''''''''''''''''''''''',''''''''''5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9,5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1ECF59E4-2267-4A51-80F5-98FE5B39130F}" type="datetime'''3''''''''''''''''''''''''''''''''9''''''''''%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39%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3" name="Текст 4">
            <a:extLst>
              <a:ext uri="{FF2B5EF4-FFF2-40B4-BE49-F238E27FC236}">
                <a16:creationId xmlns:a16="http://schemas.microsoft.com/office/drawing/2014/main" id="{FADC79C4-DE0C-4983-2E46-8DC7521D3E10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1483640" y="2111095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3EFA23-D21C-4DD5-A754-A744023228D9}" type="datetime'''''''''''3''''0'''''''',''''''''''''''''''''''''4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30,4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4" name="Текст 4">
            <a:extLst>
              <a:ext uri="{FF2B5EF4-FFF2-40B4-BE49-F238E27FC236}">
                <a16:creationId xmlns:a16="http://schemas.microsoft.com/office/drawing/2014/main" id="{390FB760-3EDB-B793-82DD-63BFEDF548B2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1511092" y="2689757"/>
            <a:ext cx="400963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EA0ED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33E38E8-240E-484D-ADED-2D98FEC7A3C7}" type="datetime'''''''''''''''''''''''''12'''''''',''''''2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12,2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9C5E970E-2FF1-4E97-AFBC-9AE0AE13F208}" type="datetime'''''''''''''''''''''''''''''''''''4''''''''0''''''''%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5" name="Текст 4">
            <a:extLst>
              <a:ext uri="{FF2B5EF4-FFF2-40B4-BE49-F238E27FC236}">
                <a16:creationId xmlns:a16="http://schemas.microsoft.com/office/drawing/2014/main" id="{047F65F2-300D-0BD7-A10A-F58FE9FAA79E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849313" y="4170363"/>
            <a:ext cx="329172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32127A-48CE-4CFB-A390-69CDBBFEDD55}" type="datetime'''''''''''''''''''''''''''''1''''''''5'''''',''''1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15,1</a:t>
            </a:fld>
            <a:b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B8109881-0CDC-470F-8C52-1A1CC1812C5E}" type="datetime'''''''''''''''6''''''1''''''''''''''''''%''''''''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61%</a:t>
            </a:fld>
            <a:r>
              <a:rPr kumimoji="0" lang="ru-RU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6" name="Текст 4">
            <a:extLst>
              <a:ext uri="{FF2B5EF4-FFF2-40B4-BE49-F238E27FC236}">
                <a16:creationId xmlns:a16="http://schemas.microsoft.com/office/drawing/2014/main" id="{54B07940-C8A1-85BB-0D3A-7EF8089FD3AD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770519" y="2618918"/>
            <a:ext cx="5715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E78764-644E-4467-B021-D679471A982D}" type="datetime'''''''''''''''''24'''''''''''',''''''''''''''''''''''6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24,6</a:t>
            </a:fld>
            <a:endParaRPr kumimoji="0" lang="ru-RU" sz="120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7" name="Rectangle 66">
            <a:extLst>
              <a:ext uri="{FF2B5EF4-FFF2-40B4-BE49-F238E27FC236}">
                <a16:creationId xmlns:a16="http://schemas.microsoft.com/office/drawing/2014/main" id="{C56E2862-C83F-D78E-A83C-3743F6D03A39}"/>
              </a:ext>
            </a:extLst>
          </p:cNvPr>
          <p:cNvSpPr/>
          <p:nvPr/>
        </p:nvSpPr>
        <p:spPr>
          <a:xfrm>
            <a:off x="677335" y="6079153"/>
            <a:ext cx="8225767" cy="815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Источники: </a:t>
            </a:r>
            <a:endParaRPr lang="ru-RU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Средняя оценка между оценкой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Top-Down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количества рабочих мест, использующих офисные пакеты и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Bottom-Up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рыночных игроков.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Распределение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SaaS/On-prem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оценка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Bottom-Up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рыночных игроков.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4. Прогноз рынка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On-Prem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 </a:t>
            </a:r>
            <a:r>
              <a:rPr kumimoji="0" lang="ru-RU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экспертно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(прогнозный темп инфляции)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8" name="Текст 4">
            <a:extLst>
              <a:ext uri="{FF2B5EF4-FFF2-40B4-BE49-F238E27FC236}">
                <a16:creationId xmlns:a16="http://schemas.microsoft.com/office/drawing/2014/main" id="{E22E2B13-D097-892F-FAF6-8F76B55B4A1F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1542415" y="3992733"/>
            <a:ext cx="329172" cy="469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2ECB75B-9813-445E-A11A-80A749E3CF8E}" type="datetime'''''1''''''''''''''''8'''''''''''''''',''''3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18,3</a:t>
            </a:fld>
            <a:br>
              <a:rPr kumimoji="0" lang="ru-RU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</a:br>
            <a:r>
              <a:rPr kumimoji="0" lang="ru-RU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(</a:t>
            </a:r>
            <a:fld id="{B876A98A-4EB8-4A25-B95A-4A1319E0A1AF}" type="datetime'''''''''''''''6''''''''''''0''''''''%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60%</a:t>
            </a:fld>
            <a:r>
              <a:rPr kumimoji="0" lang="ru-RU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anose="020B0603020202020204"/>
                <a:ea typeface="+mn-ea"/>
                <a:cs typeface="+mn-cs"/>
              </a:rPr>
              <a:t>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Light" panose="020B0603020202020204"/>
              <a:ea typeface="+mn-ea"/>
              <a:cs typeface="+mn-cs"/>
            </a:endParaRPr>
          </a:p>
        </p:txBody>
      </p:sp>
      <p:sp>
        <p:nvSpPr>
          <p:cNvPr id="84" name="Текст 4">
            <a:extLst>
              <a:ext uri="{FF2B5EF4-FFF2-40B4-BE49-F238E27FC236}">
                <a16:creationId xmlns:a16="http://schemas.microsoft.com/office/drawing/2014/main" id="{2E4B07F2-2F78-D8A3-FFB4-5E976B1982B2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1492143" y="514367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7F48A34-B138-41CB-B2A6-6BFB19360275}" type="datetime'''2''''''''''''''''0''''''''''''2''''''''''7''''''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2027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5" name="Текст 4">
            <a:extLst>
              <a:ext uri="{FF2B5EF4-FFF2-40B4-BE49-F238E27FC236}">
                <a16:creationId xmlns:a16="http://schemas.microsoft.com/office/drawing/2014/main" id="{2D7AC163-6B11-748C-652F-3D78C948A875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auto">
          <a:xfrm>
            <a:off x="799302" y="5151456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684E76-AD7C-49BF-AF0C-67ACA3619CFE}" type="datetime'''''''''''''''2''''''0''''''''2''''''''''''''''3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2023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6" name="Rectangle 5">
            <a:extLst>
              <a:ext uri="{FF2B5EF4-FFF2-40B4-BE49-F238E27FC236}">
                <a16:creationId xmlns:a16="http://schemas.microsoft.com/office/drawing/2014/main" id="{E1831636-895F-A384-9432-63E237480011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749300" y="5426822"/>
            <a:ext cx="250825" cy="187325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7" name="Rectangle 7">
            <a:extLst>
              <a:ext uri="{FF2B5EF4-FFF2-40B4-BE49-F238E27FC236}">
                <a16:creationId xmlns:a16="http://schemas.microsoft.com/office/drawing/2014/main" id="{ADCC6FB8-E64D-A12E-3C26-62DB3D02E56F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749300" y="5712572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8" name="Текст 4">
            <a:extLst>
              <a:ext uri="{FF2B5EF4-FFF2-40B4-BE49-F238E27FC236}">
                <a16:creationId xmlns:a16="http://schemas.microsoft.com/office/drawing/2014/main" id="{EFCDDC18-205E-F96F-3676-ABE2DFD1A062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auto">
          <a:xfrm>
            <a:off x="1050925" y="5406184"/>
            <a:ext cx="4191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A491345-32AD-4174-947F-7FC7568F863F}" type="datetime'''''''''''''''''S''''''''''''''aaS''''''''''''''''''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SaaS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9" name="Текст 4">
            <a:extLst>
              <a:ext uri="{FF2B5EF4-FFF2-40B4-BE49-F238E27FC236}">
                <a16:creationId xmlns:a16="http://schemas.microsoft.com/office/drawing/2014/main" id="{5FB85CD0-56A8-C376-3F58-B789A876AD46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auto">
          <a:xfrm>
            <a:off x="1050925" y="5691934"/>
            <a:ext cx="7524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FEA8904-BEEB-40B9-BDF5-7FBF755811A3}" type="datetime'''''''''''''''''''O''''n-''''''''''''p''''''''''r''''''em'">
              <a:rPr kumimoji="0" lang="en-US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On-prem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03C3C31B-8C07-1038-C8B9-B74F2EA545DE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4065207" y="5382541"/>
            <a:ext cx="250825" cy="187325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1" name="Rectangle 119">
            <a:extLst>
              <a:ext uri="{FF2B5EF4-FFF2-40B4-BE49-F238E27FC236}">
                <a16:creationId xmlns:a16="http://schemas.microsoft.com/office/drawing/2014/main" id="{5CD1ED7F-E3B2-2ED4-81F6-3A37462A8460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065207" y="5668291"/>
            <a:ext cx="250825" cy="187325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2" name="Текст 4">
            <a:extLst>
              <a:ext uri="{FF2B5EF4-FFF2-40B4-BE49-F238E27FC236}">
                <a16:creationId xmlns:a16="http://schemas.microsoft.com/office/drawing/2014/main" id="{7508DCDF-D4FC-D993-2EB9-126BB3DC1A9D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auto">
          <a:xfrm>
            <a:off x="4366832" y="5361903"/>
            <a:ext cx="17494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6CB827E-CEB1-41CF-9D91-494895B34F57}" type="datetime'Зар''''убеж''н''''ы''''''''е'''' ''и''''''''гр''''о''ки''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Зарубежные игроки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3" name="Текст 4">
            <a:extLst>
              <a:ext uri="{FF2B5EF4-FFF2-40B4-BE49-F238E27FC236}">
                <a16:creationId xmlns:a16="http://schemas.microsoft.com/office/drawing/2014/main" id="{52812AD6-3C00-4009-6997-B126632940CB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4366832" y="5647653"/>
            <a:ext cx="91122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DF4B5B-E1B7-4DDA-AEDF-E20252B81BBF}" type="datetime'''''''''''''''Р''Ф'''''''' ''иг''''''''''ро''''''к''''''и'''''">
              <a:rPr kumimoji="0" lang="ru-RU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РФ игроки</a:t>
            </a:fld>
            <a:endParaRPr kumimoji="0" lang="ru-RU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1" name="Текст 4">
            <a:extLst>
              <a:ext uri="{FF2B5EF4-FFF2-40B4-BE49-F238E27FC236}">
                <a16:creationId xmlns:a16="http://schemas.microsoft.com/office/drawing/2014/main" id="{9A12084B-192A-88B9-1DA9-87DC100D0E75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3617634" y="4030656"/>
            <a:ext cx="794847" cy="213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69875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Системный шрифт, обычный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0034020-77CB-41AD-B2B3-2222416FE072}" type="datetime'''0'''''''''''''''''''',''''''''''1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0,1</a:t>
            </a:fld>
            <a:r>
              <a:rPr lang="ru-RU" altLang="en-US" sz="1200" dirty="0">
                <a:solidFill>
                  <a:srgbClr val="000000"/>
                </a:solidFill>
              </a:rPr>
              <a:t> </a:t>
            </a:r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fld id="{0AD3D25B-B1B6-4ACF-B7DD-3BA4FAB83A6A}" type="datetime'''''''''''''''''''''''''''''''''''3''''%'''''''''''''''''''">
              <a:rPr kumimoji="0" lang="ru-RU" altLang="en-US" sz="120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3%</a:t>
            </a:fld>
            <a:r>
              <a:rPr kumimoji="0" lang="ru-RU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endParaRPr kumimoji="0" lang="ru-RU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6551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Развилки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096730-9E2E-EC46-3CC9-74D5C0C626D7}"/>
              </a:ext>
            </a:extLst>
          </p:cNvPr>
          <p:cNvSpPr txBox="1">
            <a:spLocks/>
          </p:cNvSpPr>
          <p:nvPr/>
        </p:nvSpPr>
        <p:spPr>
          <a:xfrm>
            <a:off x="538325" y="1189038"/>
            <a:ext cx="7733316" cy="8212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900" dirty="0"/>
              <a:t>Делать решение собственными силами с нуля</a:t>
            </a:r>
            <a:r>
              <a:rPr lang="en-US" sz="900" dirty="0"/>
              <a:t>;</a:t>
            </a:r>
            <a:endParaRPr lang="ru-RU" sz="900" dirty="0"/>
          </a:p>
          <a:p>
            <a:r>
              <a:rPr lang="ru-RU" sz="900" dirty="0"/>
              <a:t>Делать решение собственными силами на базе </a:t>
            </a:r>
            <a:r>
              <a:rPr lang="en-US" sz="900" dirty="0" err="1"/>
              <a:t>OpenSource</a:t>
            </a:r>
            <a:r>
              <a:rPr lang="en-US" sz="900" dirty="0"/>
              <a:t>;</a:t>
            </a:r>
          </a:p>
          <a:p>
            <a:r>
              <a:rPr lang="ru-RU" sz="900" dirty="0"/>
              <a:t>Делать сервис в облаке совместно с одним из вендоров</a:t>
            </a:r>
            <a:r>
              <a:rPr lang="en-US" sz="900" dirty="0"/>
              <a:t>;</a:t>
            </a:r>
            <a:endParaRPr lang="ru-RU" sz="900" dirty="0"/>
          </a:p>
          <a:p>
            <a:r>
              <a:rPr lang="ru-RU" sz="900" dirty="0"/>
              <a:t>Совместное предприятие/</a:t>
            </a:r>
            <a:r>
              <a:rPr lang="en-US" sz="900" dirty="0"/>
              <a:t>M&amp;A;</a:t>
            </a:r>
          </a:p>
          <a:p>
            <a:r>
              <a:rPr lang="ru-RU" sz="900" dirty="0"/>
              <a:t>Развернуть </a:t>
            </a:r>
            <a:r>
              <a:rPr lang="en-US" sz="900" dirty="0"/>
              <a:t>on-prem </a:t>
            </a:r>
            <a:r>
              <a:rPr lang="ru-RU" sz="900" dirty="0"/>
              <a:t>решение от </a:t>
            </a:r>
            <a:r>
              <a:rPr lang="en-US" sz="900" dirty="0"/>
              <a:t>VK </a:t>
            </a:r>
            <a:r>
              <a:rPr lang="ru-RU" sz="900" dirty="0"/>
              <a:t>или Яндекс и продавать его клиентам РТК</a:t>
            </a:r>
          </a:p>
          <a:p>
            <a:pPr marL="0" indent="0">
              <a:buFont typeface="Arial"/>
              <a:buNone/>
            </a:pPr>
            <a:endParaRPr lang="ru-RU" sz="9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8DA4A9B-5DCB-EFF4-3D60-EEB2A6117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193809"/>
              </p:ext>
            </p:extLst>
          </p:nvPr>
        </p:nvGraphicFramePr>
        <p:xfrm>
          <a:off x="118533" y="2023372"/>
          <a:ext cx="8864598" cy="48995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1256">
                  <a:extLst>
                    <a:ext uri="{9D8B030D-6E8A-4147-A177-3AD203B41FA5}">
                      <a16:colId xmlns:a16="http://schemas.microsoft.com/office/drawing/2014/main" val="2786858004"/>
                    </a:ext>
                  </a:extLst>
                </a:gridCol>
                <a:gridCol w="1828276">
                  <a:extLst>
                    <a:ext uri="{9D8B030D-6E8A-4147-A177-3AD203B41FA5}">
                      <a16:colId xmlns:a16="http://schemas.microsoft.com/office/drawing/2014/main" val="2850763200"/>
                    </a:ext>
                  </a:extLst>
                </a:gridCol>
                <a:gridCol w="2487402">
                  <a:extLst>
                    <a:ext uri="{9D8B030D-6E8A-4147-A177-3AD203B41FA5}">
                      <a16:colId xmlns:a16="http://schemas.microsoft.com/office/drawing/2014/main" val="303928232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308963658"/>
                    </a:ext>
                  </a:extLst>
                </a:gridCol>
                <a:gridCol w="2294464">
                  <a:extLst>
                    <a:ext uri="{9D8B030D-6E8A-4147-A177-3AD203B41FA5}">
                      <a16:colId xmlns:a16="http://schemas.microsoft.com/office/drawing/2014/main" val="2181260439"/>
                    </a:ext>
                  </a:extLst>
                </a:gridCol>
              </a:tblGrid>
              <a:tr h="89899">
                <a:tc>
                  <a:txBody>
                    <a:bodyPr/>
                    <a:lstStyle/>
                    <a:p>
                      <a:pPr algn="ctr" fontAlgn="ctr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Плюсы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Минусы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Вариант 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Вывод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extLst>
                  <a:ext uri="{0D108BD9-81ED-4DB2-BD59-A6C34878D82A}">
                    <a16:rowId xmlns:a16="http://schemas.microsoft.com/office/drawing/2014/main" val="2536763787"/>
                  </a:ext>
                </a:extLst>
              </a:tr>
              <a:tr h="63128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Свое решение с нуля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 - Максимальный контроль за набором возможностей и дорожной картой</a:t>
                      </a:r>
                      <a:br>
                        <a:rPr lang="ru-RU" sz="800" u="none" strike="noStrike">
                          <a:effectLst/>
                          <a:latin typeface="+mn-lt"/>
                        </a:rPr>
                      </a:br>
                      <a:r>
                        <a:rPr lang="ru-RU" sz="800" u="none" strike="noStrike">
                          <a:effectLst/>
                          <a:latin typeface="+mn-lt"/>
                        </a:rPr>
                        <a:t> - Возможность дифференциации решения относительно конкурентов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Нужны ресурс и экспертиза в разработке для написания решения с нуля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Делать всё самим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Не является предпочтительным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1 - Долго (от 1,5 до 2 лет только на прототип)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2 - Дорого (нужен ФОТ от 100М руб. в год на команду экспертов)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extLst>
                  <a:ext uri="{0D108BD9-81ED-4DB2-BD59-A6C34878D82A}">
                    <a16:rowId xmlns:a16="http://schemas.microsoft.com/office/drawing/2014/main" val="3131804642"/>
                  </a:ext>
                </a:extLst>
              </a:tr>
              <a:tr h="133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Решение на базе </a:t>
                      </a:r>
                      <a:r>
                        <a:rPr lang="en" sz="800" u="none" strike="noStrike">
                          <a:effectLst/>
                          <a:latin typeface="+mn-lt"/>
                        </a:rPr>
                        <a:t>OpenSource</a:t>
                      </a:r>
                      <a:endParaRPr lang="en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 - Высокий контроль за набором возможностей и дорожной картой</a:t>
                      </a:r>
                      <a:br>
                        <a:rPr lang="ru-RU" sz="800" u="none" strike="noStrike">
                          <a:effectLst/>
                          <a:latin typeface="+mn-lt"/>
                        </a:rPr>
                      </a:b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Нужен ресурс в администрировании, доработки и интеграции 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OS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для создания, обновления и поддержки решения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- Ограничения самого </a:t>
                      </a:r>
                      <a:r>
                        <a:rPr lang="en" sz="800" u="none" strike="noStrike" dirty="0" err="1">
                          <a:effectLst/>
                          <a:latin typeface="+mn-lt"/>
                        </a:rPr>
                        <a:t>OpenSource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Реализовать на базе </a:t>
                      </a:r>
                      <a:r>
                        <a:rPr lang="en" sz="800" u="none" strike="noStrike">
                          <a:effectLst/>
                          <a:latin typeface="+mn-lt"/>
                        </a:rPr>
                        <a:t>NextCloud </a:t>
                      </a:r>
                      <a:r>
                        <a:rPr lang="ru-RU" sz="800" u="none" strike="noStrike">
                          <a:effectLst/>
                          <a:latin typeface="+mn-lt"/>
                        </a:rPr>
                        <a:t>с интеграцией с </a:t>
                      </a:r>
                      <a:r>
                        <a:rPr lang="en" sz="800" u="none" strike="noStrike">
                          <a:effectLst/>
                          <a:latin typeface="+mn-lt"/>
                        </a:rPr>
                        <a:t>Jitsi </a:t>
                      </a:r>
                      <a:r>
                        <a:rPr lang="ru-RU" sz="800" u="none" strike="noStrike">
                          <a:effectLst/>
                          <a:latin typeface="+mn-lt"/>
                        </a:rPr>
                        <a:t>как ВКС решения и </a:t>
                      </a:r>
                      <a:r>
                        <a:rPr lang="en" sz="800" u="none" strike="noStrike">
                          <a:effectLst/>
                          <a:latin typeface="+mn-lt"/>
                        </a:rPr>
                        <a:t>RocketChat </a:t>
                      </a:r>
                      <a:r>
                        <a:rPr lang="ru-RU" sz="800" u="none" strike="noStrike">
                          <a:effectLst/>
                          <a:latin typeface="+mn-lt"/>
                        </a:rPr>
                        <a:t>или </a:t>
                      </a:r>
                      <a:r>
                        <a:rPr lang="en" sz="800" u="none" strike="noStrike">
                          <a:effectLst/>
                          <a:latin typeface="+mn-lt"/>
                        </a:rPr>
                        <a:t>Mattermost </a:t>
                      </a:r>
                      <a:r>
                        <a:rPr lang="ru-RU" sz="800" u="none" strike="noStrike">
                          <a:effectLst/>
                          <a:latin typeface="+mn-lt"/>
                        </a:rPr>
                        <a:t>как решения для чатов + интеграция с почтовым сервером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Не является предпочтительным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1 - реализация своего решения даже на базе </a:t>
                      </a:r>
                      <a:r>
                        <a:rPr lang="en" sz="800" u="none" strike="noStrike" dirty="0" err="1">
                          <a:effectLst/>
                          <a:latin typeface="+mn-lt"/>
                        </a:rPr>
                        <a:t>OpenSource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займет достаточно много времени (от 8-9 месяцев до 1,5 года с учетом сбора команды, запуска проекта и интеграции решений)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2 - подобное лоскутное одеяло состоящего из нескольких решений может вызвать отторжения от крупного  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Enterprise </a:t>
                      </a:r>
                      <a:br>
                        <a:rPr lang="en" sz="800" u="none" strike="noStrike" dirty="0">
                          <a:effectLst/>
                          <a:latin typeface="+mn-lt"/>
                        </a:rPr>
                      </a:br>
                      <a:r>
                        <a:rPr lang="en" sz="800" u="none" strike="noStrike" dirty="0">
                          <a:effectLst/>
                          <a:latin typeface="+mn-lt"/>
                        </a:rPr>
                        <a:t>3 -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поддержка зоопарка </a:t>
                      </a:r>
                      <a:r>
                        <a:rPr lang="en" sz="800" u="none" strike="noStrike" dirty="0" err="1">
                          <a:effectLst/>
                          <a:latin typeface="+mn-lt"/>
                        </a:rPr>
                        <a:t>OpenSource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очень дорого обойдется в поддержке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extLst>
                  <a:ext uri="{0D108BD9-81ED-4DB2-BD59-A6C34878D82A}">
                    <a16:rowId xmlns:a16="http://schemas.microsoft.com/office/drawing/2014/main" val="2450955735"/>
                  </a:ext>
                </a:extLst>
              </a:tr>
              <a:tr h="105069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u="none" strike="noStrike">
                          <a:effectLst/>
                          <a:latin typeface="+mn-lt"/>
                        </a:rPr>
                        <a:t>Сервис совместно с вендором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Готовое решение с поддержкой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Знакомый для пользователей бренд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Минимальное время на запуск сервиса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Минимальное влияние на дорожную карту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Отсутствие дифференциатора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Внутренняя конкуренция с другим 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SaaS (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например МИНТ или Р7)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+mn-lt"/>
                        </a:rPr>
                        <a:t>SaaS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на базе 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TrueConfe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или 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IVA Technologies.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Вариант увеличение дифференции - эксклюзивные условия с вендором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Наиболее предпочтительный вариант. Выбрать крупного экосистемного игрока, который является лидером в одном из сегментов (в данном случае в ВКС), но который также предоставляет решения и в остальных и начать с ним бизнес.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Если доля бизнеса будет расти - нужно рассматривать переход на следующий тип взаимодействия (см. ниже)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extLst>
                  <a:ext uri="{0D108BD9-81ED-4DB2-BD59-A6C34878D82A}">
                    <a16:rowId xmlns:a16="http://schemas.microsoft.com/office/drawing/2014/main" val="1929054227"/>
                  </a:ext>
                </a:extLst>
              </a:tr>
              <a:tr h="7641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Совместное предприятие/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M&amp;A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Готовое решение с поддержкой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Знакомый для пользователей бренд</a:t>
                      </a:r>
                    </a:p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- Минимальное время на запуск сервиса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Высокое влияние на дорожную карту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Высокий дифференциатор  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Долгое время на запуск (с учетом переговоров и юридических согласований)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Большие затраты на старте (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M&amp;A -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не дешевая активность)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Долгий период интеграции команды в Турбо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СП/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M&amp;A c TrueConfe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или </a:t>
                      </a:r>
                      <a:r>
                        <a:rPr lang="en" sz="800" u="none" strike="noStrike" dirty="0">
                          <a:effectLst/>
                          <a:latin typeface="+mn-lt"/>
                        </a:rPr>
                        <a:t>IVA Technologies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Предпочтительный, но затратный (как по времени, так и по деньгам) вариант.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Предлагается рассматривать его последующий вариант после реализации совместного сервиса 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extLst>
                  <a:ext uri="{0D108BD9-81ED-4DB2-BD59-A6C34878D82A}">
                    <a16:rowId xmlns:a16="http://schemas.microsoft.com/office/drawing/2014/main" val="4064338769"/>
                  </a:ext>
                </a:extLst>
              </a:tr>
              <a:tr h="7641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Перепродажа решений лидеров</a:t>
                      </a:r>
                      <a:endParaRPr lang="en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Готовое решение с поддержкой 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Знакомый для пользователей бренд</a:t>
                      </a:r>
                      <a:br>
                        <a:rPr lang="ru-RU" sz="800" u="none" strike="noStrike" dirty="0">
                          <a:effectLst/>
                          <a:latin typeface="+mn-lt"/>
                        </a:rPr>
                      </a:b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 - Минимальное время на запуск сервиса</a:t>
                      </a:r>
                    </a:p>
                    <a:p>
                      <a:pPr algn="l" fontAlgn="ctr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- РТК делает фокус на сильных сторонах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: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инфра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КИИ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эксплуатация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интеграции</a:t>
                      </a: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- Яндекс и ВК строят свои экосистемы. РТК для них лишь канал</a:t>
                      </a: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;</a:t>
                      </a:r>
                    </a:p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+mn-lt"/>
                        </a:rPr>
                        <a:t> -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Ограниченное влияние на </a:t>
                      </a: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roadmap,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ценообразование</a:t>
                      </a: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ru-RU" sz="800" u="none" strike="noStrike" dirty="0">
                          <a:effectLst/>
                          <a:latin typeface="+mn-lt"/>
                        </a:rPr>
                        <a:t>стратегия продукта </a:t>
                      </a: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;</a:t>
                      </a:r>
                    </a:p>
                    <a:p>
                      <a:pPr algn="l" fontAlgn="ctr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- отсутствие дифференциации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: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почему клиент будет покупать у РТК, а не на прямую у вендора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;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ctr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Закрыт путь в самый маржинальный и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“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липкий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”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сегмент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on-prem.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  <a:p>
                      <a:r>
                        <a:rPr lang="ru-RU" sz="800" dirty="0"/>
                        <a:t>Развернуть </a:t>
                      </a:r>
                      <a:r>
                        <a:rPr lang="en-US" sz="800" dirty="0"/>
                        <a:t>on-prem </a:t>
                      </a:r>
                      <a:r>
                        <a:rPr lang="ru-RU" sz="800" dirty="0"/>
                        <a:t>решение от </a:t>
                      </a:r>
                      <a:r>
                        <a:rPr lang="en-US" sz="800" dirty="0"/>
                        <a:t>VK </a:t>
                      </a:r>
                      <a:r>
                        <a:rPr lang="ru-RU" sz="800" dirty="0"/>
                        <a:t>или Яндекс и продавать его клиентам РТК</a:t>
                      </a:r>
                    </a:p>
                  </a:txBody>
                  <a:tcPr marL="4999" marR="4999" marT="499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Является менее предпочтительным по сравнению с вариантами партнерства с экосистемными игроками, но не являющимися прямыми конкурентами по </a:t>
                      </a:r>
                      <a:r>
                        <a:rPr lang="ru-RU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провайдерскому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бизнесу. Этот вариант усиливает конкурента, создает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lock-in, </a:t>
                      </a: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лишает РТК контроля над одним из ключевых элементов </a:t>
                      </a:r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экосистемы.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99" marR="4999" marT="4999" marB="0" anchor="ctr"/>
                </a:tc>
                <a:extLst>
                  <a:ext uri="{0D108BD9-81ED-4DB2-BD59-A6C34878D82A}">
                    <a16:rowId xmlns:a16="http://schemas.microsoft.com/office/drawing/2014/main" val="3893484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23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Вывод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096730-9E2E-EC46-3CC9-74D5C0C626D7}"/>
              </a:ext>
            </a:extLst>
          </p:cNvPr>
          <p:cNvSpPr txBox="1">
            <a:spLocks/>
          </p:cNvSpPr>
          <p:nvPr/>
        </p:nvSpPr>
        <p:spPr>
          <a:xfrm>
            <a:off x="457200" y="1417637"/>
            <a:ext cx="4247002" cy="52806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/>
              <a:t>Начинаем с </a:t>
            </a:r>
            <a:r>
              <a:rPr lang="en-US" sz="1200" b="1" dirty="0"/>
              <a:t>SaaS</a:t>
            </a:r>
          </a:p>
          <a:p>
            <a:pPr marL="0" indent="0">
              <a:buNone/>
            </a:pPr>
            <a:r>
              <a:rPr lang="ru-RU" sz="1200" u="sng" dirty="0"/>
              <a:t>Уменьшаем </a:t>
            </a:r>
            <a:r>
              <a:rPr lang="en" sz="1200" u="sng" dirty="0"/>
              <a:t>time-to-market</a:t>
            </a:r>
          </a:p>
          <a:p>
            <a:pPr marL="0" indent="0">
              <a:buNone/>
            </a:pPr>
            <a:r>
              <a:rPr lang="en" sz="1200" dirty="0"/>
              <a:t>SaaS </a:t>
            </a:r>
            <a:r>
              <a:rPr lang="ru-RU" sz="1200" dirty="0"/>
              <a:t>позволит:</a:t>
            </a:r>
          </a:p>
          <a:p>
            <a:r>
              <a:rPr lang="ru-RU" sz="1200" dirty="0"/>
              <a:t>Запуститься за 6</a:t>
            </a:r>
            <a:r>
              <a:rPr lang="en-US" sz="1200" dirty="0"/>
              <a:t>-</a:t>
            </a:r>
            <a:r>
              <a:rPr lang="ru-RU" sz="1200" dirty="0"/>
              <a:t>9 месяцев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Избежать долгой сертификации на старте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Проверить спрос и сценарии использования</a:t>
            </a:r>
            <a:r>
              <a:rPr lang="en-US" sz="1200" dirty="0"/>
              <a:t>.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Вендор</a:t>
            </a:r>
            <a:r>
              <a:rPr lang="en-US" sz="1200" dirty="0"/>
              <a:t> </a:t>
            </a:r>
            <a:r>
              <a:rPr lang="ru-RU" sz="1200" dirty="0"/>
              <a:t>закрывает </a:t>
            </a:r>
            <a:r>
              <a:rPr lang="en" sz="1200" dirty="0"/>
              <a:t>core-</a:t>
            </a:r>
            <a:r>
              <a:rPr lang="ru-RU" sz="1200" dirty="0"/>
              <a:t>функционал, мы </a:t>
            </a:r>
            <a:r>
              <a:rPr lang="en-US" sz="1200" dirty="0"/>
              <a:t>-</a:t>
            </a:r>
            <a:r>
              <a:rPr lang="ru-RU" sz="1200" dirty="0"/>
              <a:t> платформу, продажи и поддержку.</a:t>
            </a:r>
          </a:p>
          <a:p>
            <a:pPr marL="0" indent="0">
              <a:buNone/>
            </a:pPr>
            <a:r>
              <a:rPr lang="en" sz="1200" dirty="0"/>
              <a:t>On-prem </a:t>
            </a:r>
            <a:r>
              <a:rPr lang="ru-RU" sz="1200" dirty="0"/>
              <a:t>с нуля = 18-24 месяца до первой крупной сделки.</a:t>
            </a:r>
          </a:p>
          <a:p>
            <a:pPr marL="0" indent="0">
              <a:buNone/>
            </a:pPr>
            <a:endParaRPr lang="ru-RU" sz="1200" b="1" dirty="0"/>
          </a:p>
          <a:p>
            <a:pPr marL="0" indent="0">
              <a:buNone/>
            </a:pPr>
            <a:r>
              <a:rPr lang="ru-RU" sz="1200" u="sng" dirty="0"/>
              <a:t>Проверяем </a:t>
            </a:r>
            <a:r>
              <a:rPr lang="en" sz="1200" u="sng" dirty="0"/>
              <a:t>product-market fit </a:t>
            </a:r>
            <a:r>
              <a:rPr lang="ru-RU" sz="1200" u="sng" dirty="0"/>
              <a:t>без тяжёлых инвестиций</a:t>
            </a:r>
          </a:p>
          <a:p>
            <a:pPr marL="0" indent="0">
              <a:buNone/>
            </a:pPr>
            <a:r>
              <a:rPr lang="en" sz="1200" dirty="0"/>
              <a:t>SaaS </a:t>
            </a:r>
            <a:r>
              <a:rPr lang="ru-RU" sz="1200" dirty="0"/>
              <a:t>позволит:</a:t>
            </a:r>
          </a:p>
          <a:p>
            <a:r>
              <a:rPr lang="ru-RU" sz="1200" dirty="0"/>
              <a:t>Понять какие </a:t>
            </a:r>
            <a:r>
              <a:rPr lang="en" sz="1200" dirty="0"/>
              <a:t>UC-</a:t>
            </a:r>
            <a:r>
              <a:rPr lang="ru-RU" sz="1200" dirty="0"/>
              <a:t>модули реально покупают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Понять за что готовы платить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Понять какие требования критичны</a:t>
            </a:r>
            <a:r>
              <a:rPr lang="en-US" sz="1200" dirty="0"/>
              <a:t>;</a:t>
            </a:r>
          </a:p>
          <a:p>
            <a:r>
              <a:rPr lang="ru-RU" sz="1200" dirty="0"/>
              <a:t>Собрать метрики</a:t>
            </a:r>
            <a:r>
              <a:rPr lang="en-US" sz="1200" dirty="0"/>
              <a:t>;</a:t>
            </a:r>
          </a:p>
          <a:p>
            <a:r>
              <a:rPr lang="ru-RU" sz="1200" dirty="0"/>
              <a:t>Собрать реальные кейсы</a:t>
            </a:r>
            <a:r>
              <a:rPr lang="en-US" sz="1200" dirty="0"/>
              <a:t>;</a:t>
            </a:r>
          </a:p>
          <a:p>
            <a:r>
              <a:rPr lang="ru-RU" sz="1200" dirty="0"/>
              <a:t>Собрать референсы</a:t>
            </a:r>
            <a:endParaRPr lang="en" sz="1200" dirty="0"/>
          </a:p>
          <a:p>
            <a:pPr marL="0" indent="0">
              <a:buNone/>
            </a:pPr>
            <a:r>
              <a:rPr lang="ru-RU" sz="1200" dirty="0"/>
              <a:t>Идти сразу в </a:t>
            </a:r>
            <a:r>
              <a:rPr lang="en" sz="1200" dirty="0"/>
              <a:t>on-prem </a:t>
            </a:r>
            <a:r>
              <a:rPr lang="ru-RU" sz="1200" dirty="0"/>
              <a:t>без </a:t>
            </a:r>
            <a:r>
              <a:rPr lang="en" sz="1200" dirty="0"/>
              <a:t>SaaS</a:t>
            </a:r>
            <a:r>
              <a:rPr lang="ru-RU" sz="1200" dirty="0"/>
              <a:t> несет в себе</a:t>
            </a:r>
            <a:r>
              <a:rPr lang="en" sz="1200" dirty="0"/>
              <a:t> </a:t>
            </a:r>
            <a:r>
              <a:rPr lang="ru-RU" sz="1200" dirty="0"/>
              <a:t>много рисков</a:t>
            </a:r>
          </a:p>
          <a:p>
            <a:pPr marL="0" indent="0">
              <a:buNone/>
            </a:pPr>
            <a:endParaRPr lang="ru-RU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FB4EF-4E8B-F611-D513-E592CF333A7D}"/>
              </a:ext>
            </a:extLst>
          </p:cNvPr>
          <p:cNvSpPr txBox="1">
            <a:spLocks/>
          </p:cNvSpPr>
          <p:nvPr/>
        </p:nvSpPr>
        <p:spPr>
          <a:xfrm>
            <a:off x="4847421" y="1417636"/>
            <a:ext cx="3155808" cy="41789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u="sng" dirty="0"/>
              <a:t>Быстрее и проще заходим в клиентов</a:t>
            </a:r>
          </a:p>
          <a:p>
            <a:r>
              <a:rPr lang="ru-RU" sz="1200" dirty="0"/>
              <a:t>В </a:t>
            </a:r>
            <a:r>
              <a:rPr lang="en" sz="1200" dirty="0"/>
              <a:t>SaaS</a:t>
            </a:r>
            <a:r>
              <a:rPr lang="ru-RU" sz="1200" dirty="0"/>
              <a:t> ниже порог входа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В </a:t>
            </a:r>
            <a:r>
              <a:rPr lang="en" sz="1200" dirty="0"/>
              <a:t>SaaS</a:t>
            </a:r>
            <a:r>
              <a:rPr lang="ru-RU" sz="1200" dirty="0"/>
              <a:t> проще пилоты</a:t>
            </a:r>
            <a:r>
              <a:rPr lang="en-US" sz="1200" dirty="0"/>
              <a:t>.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Клиент сам дорастает до </a:t>
            </a:r>
            <a:r>
              <a:rPr lang="en" sz="1200" dirty="0"/>
              <a:t>on-prem, </a:t>
            </a:r>
            <a:r>
              <a:rPr lang="ru-RU" sz="1200" dirty="0"/>
              <a:t>когда:</a:t>
            </a:r>
          </a:p>
          <a:p>
            <a:r>
              <a:rPr lang="ru-RU" sz="1200" dirty="0"/>
              <a:t>Появляются требования по ИБ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Растёт масштаб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Появляются регуляторные ограничения.</a:t>
            </a:r>
          </a:p>
          <a:p>
            <a:pPr marL="0" indent="0">
              <a:buNone/>
            </a:pPr>
            <a:r>
              <a:rPr lang="ru-RU" sz="1200" dirty="0"/>
              <a:t>Формируем воронку для будущего </a:t>
            </a:r>
            <a:r>
              <a:rPr lang="en" sz="1200" dirty="0"/>
              <a:t>on-prem.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Ограниченный </a:t>
            </a:r>
            <a:r>
              <a:rPr lang="en-US" sz="1200" dirty="0"/>
              <a:t>SaaS </a:t>
            </a:r>
          </a:p>
          <a:p>
            <a:r>
              <a:rPr lang="ru-RU" sz="1200" dirty="0"/>
              <a:t>Без </a:t>
            </a:r>
            <a:r>
              <a:rPr lang="en-US" sz="1200" dirty="0"/>
              <a:t>B</a:t>
            </a:r>
            <a:r>
              <a:rPr lang="en" sz="1200" dirty="0"/>
              <a:t>2C;</a:t>
            </a:r>
          </a:p>
          <a:p>
            <a:r>
              <a:rPr lang="ru-RU" sz="1200" dirty="0"/>
              <a:t>Без дешёвых тарифов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Без </a:t>
            </a:r>
            <a:r>
              <a:rPr lang="en" sz="1200" dirty="0"/>
              <a:t>freemium.</a:t>
            </a:r>
          </a:p>
          <a:p>
            <a:pPr marL="0" indent="0">
              <a:buNone/>
            </a:pPr>
            <a:r>
              <a:rPr lang="ru-RU" sz="1200" dirty="0"/>
              <a:t>Упор на:</a:t>
            </a:r>
          </a:p>
          <a:p>
            <a:r>
              <a:rPr lang="ru-RU" sz="1200" dirty="0"/>
              <a:t>ИБ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ru-RU" sz="1200" dirty="0"/>
              <a:t>Интеграции</a:t>
            </a:r>
            <a:r>
              <a:rPr lang="en-US" sz="1200" dirty="0"/>
              <a:t>;</a:t>
            </a:r>
            <a:endParaRPr lang="ru-RU" sz="1200" dirty="0"/>
          </a:p>
          <a:p>
            <a:r>
              <a:rPr lang="en" sz="1200" dirty="0"/>
              <a:t>SLA;</a:t>
            </a:r>
          </a:p>
          <a:p>
            <a:r>
              <a:rPr lang="ru-RU" sz="1200" dirty="0"/>
              <a:t>Поддержку</a:t>
            </a:r>
            <a:r>
              <a:rPr lang="en-US" sz="1200" dirty="0"/>
              <a:t>.</a:t>
            </a:r>
            <a:endParaRPr lang="ru-RU" sz="1200" dirty="0"/>
          </a:p>
          <a:p>
            <a:pPr marL="0" indent="0">
              <a:buNone/>
            </a:pP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232318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641;g31255f78857_0_92">
            <a:extLst>
              <a:ext uri="{FF2B5EF4-FFF2-40B4-BE49-F238E27FC236}">
                <a16:creationId xmlns:a16="http://schemas.microsoft.com/office/drawing/2014/main" id="{A55CA38D-E29F-ACDA-8F78-FEE0683E7272}"/>
              </a:ext>
            </a:extLst>
          </p:cNvPr>
          <p:cNvSpPr/>
          <p:nvPr/>
        </p:nvSpPr>
        <p:spPr>
          <a:xfrm>
            <a:off x="266852" y="1285875"/>
            <a:ext cx="3836250" cy="2143125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4285" tIns="34285" rIns="34285" bIns="34285" anchor="ctr" anchorCtr="0">
            <a:noAutofit/>
          </a:bodyPr>
          <a:lstStyle/>
          <a:p>
            <a:pPr algn="ctr"/>
            <a:endParaRPr sz="67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3642;g31255f78857_0_92">
            <a:extLst>
              <a:ext uri="{FF2B5EF4-FFF2-40B4-BE49-F238E27FC236}">
                <a16:creationId xmlns:a16="http://schemas.microsoft.com/office/drawing/2014/main" id="{8082A523-1871-B425-B231-24B3BDB263FA}"/>
              </a:ext>
            </a:extLst>
          </p:cNvPr>
          <p:cNvSpPr txBox="1"/>
          <p:nvPr/>
        </p:nvSpPr>
        <p:spPr>
          <a:xfrm>
            <a:off x="266852" y="1399416"/>
            <a:ext cx="2767050" cy="31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/>
            <a:r>
              <a:rPr lang="ru-RU" sz="1613" dirty="0" err="1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Strengths</a:t>
            </a:r>
            <a:endParaRPr sz="1613" dirty="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" name="Google Shape;3643;g31255f78857_0_92">
            <a:extLst>
              <a:ext uri="{FF2B5EF4-FFF2-40B4-BE49-F238E27FC236}">
                <a16:creationId xmlns:a16="http://schemas.microsoft.com/office/drawing/2014/main" id="{4C9FDDE7-2023-4187-FF9E-1C5D215B82F7}"/>
              </a:ext>
            </a:extLst>
          </p:cNvPr>
          <p:cNvSpPr txBox="1"/>
          <p:nvPr/>
        </p:nvSpPr>
        <p:spPr>
          <a:xfrm>
            <a:off x="421652" y="1698647"/>
            <a:ext cx="3459590" cy="27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Сильный </a:t>
            </a:r>
            <a:r>
              <a:rPr lang="en" sz="9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Sales Force - </a:t>
            </a:r>
            <a:r>
              <a:rPr lang="ru-RU" sz="9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выход на крупных клиентов</a:t>
            </a:r>
            <a:r>
              <a:rPr lang="en-US" sz="9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ru-RU" sz="9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3644;g31255f78857_0_92">
            <a:extLst>
              <a:ext uri="{FF2B5EF4-FFF2-40B4-BE49-F238E27FC236}">
                <a16:creationId xmlns:a16="http://schemas.microsoft.com/office/drawing/2014/main" id="{C6AE4B66-A4B9-D1A3-F656-C3E9CDA10D8B}"/>
              </a:ext>
            </a:extLst>
          </p:cNvPr>
          <p:cNvSpPr/>
          <p:nvPr/>
        </p:nvSpPr>
        <p:spPr>
          <a:xfrm>
            <a:off x="258180" y="3602052"/>
            <a:ext cx="3836250" cy="2981309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4285" tIns="34285" rIns="34285" bIns="34285" anchor="ctr" anchorCtr="0">
            <a:noAutofit/>
          </a:bodyPr>
          <a:lstStyle/>
          <a:p>
            <a:pPr algn="ctr"/>
            <a:endParaRPr sz="67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3645;g31255f78857_0_92">
            <a:extLst>
              <a:ext uri="{FF2B5EF4-FFF2-40B4-BE49-F238E27FC236}">
                <a16:creationId xmlns:a16="http://schemas.microsoft.com/office/drawing/2014/main" id="{68FD9962-8D55-4DB3-5132-5651B1B71216}"/>
              </a:ext>
            </a:extLst>
          </p:cNvPr>
          <p:cNvSpPr txBox="1"/>
          <p:nvPr/>
        </p:nvSpPr>
        <p:spPr>
          <a:xfrm>
            <a:off x="258180" y="3647194"/>
            <a:ext cx="3836250" cy="31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/>
            <a:r>
              <a:rPr lang="ru-RU" sz="1613" dirty="0" err="1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Opportunities</a:t>
            </a:r>
            <a:endParaRPr sz="1613" dirty="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" name="Google Shape;3646;g31255f78857_0_92">
            <a:extLst>
              <a:ext uri="{FF2B5EF4-FFF2-40B4-BE49-F238E27FC236}">
                <a16:creationId xmlns:a16="http://schemas.microsoft.com/office/drawing/2014/main" id="{94FE10C4-FF1D-B95D-428F-EC377C2D7C04}"/>
              </a:ext>
            </a:extLst>
          </p:cNvPr>
          <p:cNvSpPr txBox="1"/>
          <p:nvPr/>
        </p:nvSpPr>
        <p:spPr>
          <a:xfrm>
            <a:off x="412980" y="3946421"/>
            <a:ext cx="3468263" cy="900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solidFill>
                  <a:srgbClr val="0C0C0C"/>
                </a:solidFill>
                <a:latin typeface="Montserrat"/>
              </a:rPr>
              <a:t>Есть отложенный спрос на продукты </a:t>
            </a:r>
            <a:r>
              <a:rPr lang="en-US" sz="900" dirty="0">
                <a:solidFill>
                  <a:srgbClr val="0C0C0C"/>
                </a:solidFill>
                <a:latin typeface="Montserrat"/>
              </a:rPr>
              <a:t>UC;</a:t>
            </a:r>
            <a:endParaRPr lang="ru-RU" sz="900" dirty="0">
              <a:solidFill>
                <a:srgbClr val="0C0C0C"/>
              </a:solidFill>
              <a:latin typeface="Montserrat"/>
            </a:endParaRP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solidFill>
                  <a:srgbClr val="0C0C0C"/>
                </a:solidFill>
                <a:latin typeface="Montserrat"/>
              </a:rPr>
              <a:t>Понятный для многих потенциальных клиентов набор сервисов</a:t>
            </a:r>
            <a:r>
              <a:rPr lang="en-US" sz="900" dirty="0">
                <a:solidFill>
                  <a:srgbClr val="0C0C0C"/>
                </a:solidFill>
                <a:latin typeface="Montserrat"/>
              </a:rPr>
              <a:t>;</a:t>
            </a:r>
            <a:endParaRPr lang="ru-RU" sz="900" dirty="0">
              <a:solidFill>
                <a:srgbClr val="0C0C0C"/>
              </a:solidFill>
              <a:latin typeface="Montserrat"/>
            </a:endParaRP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solidFill>
                  <a:srgbClr val="0C0C0C"/>
                </a:solidFill>
                <a:latin typeface="Montserrat"/>
              </a:rPr>
              <a:t>Возможность со временем зайти в сегмент </a:t>
            </a:r>
            <a:r>
              <a:rPr lang="en-US" sz="900" dirty="0">
                <a:solidFill>
                  <a:srgbClr val="0C0C0C"/>
                </a:solidFill>
                <a:latin typeface="Montserrat"/>
              </a:rPr>
              <a:t>On-prem.</a:t>
            </a:r>
            <a:endParaRPr lang="ru-RU" sz="900" dirty="0">
              <a:solidFill>
                <a:srgbClr val="0C0C0C"/>
              </a:solidFill>
              <a:latin typeface="Montserrat"/>
            </a:endParaRPr>
          </a:p>
        </p:txBody>
      </p:sp>
      <p:sp>
        <p:nvSpPr>
          <p:cNvPr id="13" name="Google Shape;3647;g31255f78857_0_92">
            <a:extLst>
              <a:ext uri="{FF2B5EF4-FFF2-40B4-BE49-F238E27FC236}">
                <a16:creationId xmlns:a16="http://schemas.microsoft.com/office/drawing/2014/main" id="{A95F9A73-D972-4409-E98D-DCF7A830C97C}"/>
              </a:ext>
            </a:extLst>
          </p:cNvPr>
          <p:cNvSpPr/>
          <p:nvPr/>
        </p:nvSpPr>
        <p:spPr>
          <a:xfrm>
            <a:off x="4304252" y="1285875"/>
            <a:ext cx="3836250" cy="2143125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4285" tIns="34285" rIns="34285" bIns="34285" anchor="ctr" anchorCtr="0">
            <a:noAutofit/>
          </a:bodyPr>
          <a:lstStyle/>
          <a:p>
            <a:pPr algn="ctr"/>
            <a:endParaRPr sz="67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3648;g31255f78857_0_92">
            <a:extLst>
              <a:ext uri="{FF2B5EF4-FFF2-40B4-BE49-F238E27FC236}">
                <a16:creationId xmlns:a16="http://schemas.microsoft.com/office/drawing/2014/main" id="{B350CC3C-D1B8-0EE6-A6A6-7D6921A46415}"/>
              </a:ext>
            </a:extLst>
          </p:cNvPr>
          <p:cNvSpPr txBox="1"/>
          <p:nvPr/>
        </p:nvSpPr>
        <p:spPr>
          <a:xfrm>
            <a:off x="4304252" y="1399416"/>
            <a:ext cx="3836250" cy="31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/>
            <a:r>
              <a:rPr lang="ru-RU" sz="1613" dirty="0" err="1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Weakness</a:t>
            </a:r>
            <a:endParaRPr sz="1613" dirty="0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" name="Google Shape;3649;g31255f78857_0_92">
            <a:extLst>
              <a:ext uri="{FF2B5EF4-FFF2-40B4-BE49-F238E27FC236}">
                <a16:creationId xmlns:a16="http://schemas.microsoft.com/office/drawing/2014/main" id="{F544F337-72EC-5B8A-9C4E-6E45C512D31B}"/>
              </a:ext>
            </a:extLst>
          </p:cNvPr>
          <p:cNvSpPr txBox="1"/>
          <p:nvPr/>
        </p:nvSpPr>
        <p:spPr>
          <a:xfrm>
            <a:off x="4459052" y="1698648"/>
            <a:ext cx="3491878" cy="900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latin typeface="Montserrat"/>
              </a:rPr>
              <a:t>На текущий момент нет решения в портфеле - на запуск нужно время</a:t>
            </a:r>
            <a:r>
              <a:rPr lang="en-US" sz="900" dirty="0">
                <a:latin typeface="Montserrat"/>
              </a:rPr>
              <a:t>;</a:t>
            </a: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latin typeface="Montserrat"/>
              </a:rPr>
              <a:t>Отсутствие опыта в продаже </a:t>
            </a:r>
            <a:r>
              <a:rPr lang="en-US" sz="900" dirty="0">
                <a:solidFill>
                  <a:srgbClr val="0C0C0C"/>
                </a:solidFill>
                <a:latin typeface="Montserrat"/>
              </a:rPr>
              <a:t>On-prem</a:t>
            </a:r>
            <a:r>
              <a:rPr lang="ru-RU" sz="900" dirty="0">
                <a:solidFill>
                  <a:srgbClr val="0C0C0C"/>
                </a:solidFill>
                <a:latin typeface="Montserrat"/>
              </a:rPr>
              <a:t> решений</a:t>
            </a:r>
            <a:r>
              <a:rPr lang="en-US" sz="900" dirty="0">
                <a:solidFill>
                  <a:srgbClr val="0C0C0C"/>
                </a:solidFill>
                <a:latin typeface="Montserrat"/>
              </a:rPr>
              <a:t>.</a:t>
            </a:r>
            <a:endParaRPr lang="ru-RU" sz="900" dirty="0">
              <a:solidFill>
                <a:srgbClr val="0C0C0C"/>
              </a:solidFill>
              <a:latin typeface="Montserrat"/>
            </a:endParaRP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endParaRPr lang="ru-RU" sz="900" dirty="0">
              <a:latin typeface="Montserrat"/>
            </a:endParaRPr>
          </a:p>
        </p:txBody>
      </p:sp>
      <p:sp>
        <p:nvSpPr>
          <p:cNvPr id="16" name="Google Shape;3650;g31255f78857_0_92">
            <a:extLst>
              <a:ext uri="{FF2B5EF4-FFF2-40B4-BE49-F238E27FC236}">
                <a16:creationId xmlns:a16="http://schemas.microsoft.com/office/drawing/2014/main" id="{CCBD7329-345E-0876-9FD1-9A64FE788D49}"/>
              </a:ext>
            </a:extLst>
          </p:cNvPr>
          <p:cNvSpPr/>
          <p:nvPr/>
        </p:nvSpPr>
        <p:spPr>
          <a:xfrm>
            <a:off x="4295580" y="3602004"/>
            <a:ext cx="3836250" cy="2981309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34285" tIns="34285" rIns="34285" bIns="34285" anchor="ctr" anchorCtr="0">
            <a:noAutofit/>
          </a:bodyPr>
          <a:lstStyle/>
          <a:p>
            <a:pPr algn="ctr"/>
            <a:endParaRPr sz="67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3651;g31255f78857_0_92">
            <a:extLst>
              <a:ext uri="{FF2B5EF4-FFF2-40B4-BE49-F238E27FC236}">
                <a16:creationId xmlns:a16="http://schemas.microsoft.com/office/drawing/2014/main" id="{0AD15113-3927-554F-F41D-A0F83F32C982}"/>
              </a:ext>
            </a:extLst>
          </p:cNvPr>
          <p:cNvSpPr txBox="1"/>
          <p:nvPr/>
        </p:nvSpPr>
        <p:spPr>
          <a:xfrm>
            <a:off x="4295580" y="3647194"/>
            <a:ext cx="3836250" cy="31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/>
            <a:r>
              <a:rPr lang="ru-RU" sz="1613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Threats</a:t>
            </a:r>
            <a:endParaRPr sz="1613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" name="Google Shape;3652;g31255f78857_0_92">
            <a:extLst>
              <a:ext uri="{FF2B5EF4-FFF2-40B4-BE49-F238E27FC236}">
                <a16:creationId xmlns:a16="http://schemas.microsoft.com/office/drawing/2014/main" id="{9A0E4C66-4908-F0CA-37DA-2F97CA6BA93C}"/>
              </a:ext>
            </a:extLst>
          </p:cNvPr>
          <p:cNvSpPr txBox="1"/>
          <p:nvPr/>
        </p:nvSpPr>
        <p:spPr>
          <a:xfrm>
            <a:off x="4450380" y="3946425"/>
            <a:ext cx="3500550" cy="1107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5" tIns="34285" rIns="34285" bIns="34285" anchor="t" anchorCtr="0">
            <a:spAutoFit/>
          </a:bodyPr>
          <a:lstStyle/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latin typeface="Montserrat"/>
                <a:sym typeface="Montserrat"/>
              </a:rPr>
              <a:t>Много сильных и агрессивных игроков с собственными (не партнерскими) развитыми решениям</a:t>
            </a:r>
          </a:p>
          <a:p>
            <a:pPr marL="171450" indent="-140494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900" dirty="0">
                <a:latin typeface="Montserrat"/>
                <a:sym typeface="Montserrat"/>
              </a:rPr>
              <a:t>Решения конкурентов уже давно на рынке – на них завязаны процессы многих компаний клиентов</a:t>
            </a:r>
            <a:endParaRPr lang="ru-RU" sz="8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BD17277-DEE1-B4C8-62CB-35E51612D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SWOT </a:t>
            </a:r>
            <a:r>
              <a:rPr lang="ru-RU" dirty="0"/>
              <a:t>анализ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43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Модель экономики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096730-9E2E-EC46-3CC9-74D5C0C626D7}"/>
              </a:ext>
            </a:extLst>
          </p:cNvPr>
          <p:cNvSpPr txBox="1">
            <a:spLocks/>
          </p:cNvSpPr>
          <p:nvPr/>
        </p:nvSpPr>
        <p:spPr>
          <a:xfrm>
            <a:off x="674960" y="1548907"/>
            <a:ext cx="3897040" cy="3144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1200" dirty="0"/>
              <a:t>SaaS </a:t>
            </a:r>
            <a:r>
              <a:rPr lang="ru-RU" sz="1200" dirty="0"/>
              <a:t>- воронка и квалификация спроса.</a:t>
            </a:r>
          </a:p>
          <a:p>
            <a:pPr marL="0" indent="0">
              <a:buNone/>
            </a:pPr>
            <a:r>
              <a:rPr lang="en" sz="1200" dirty="0"/>
              <a:t>SaaS </a:t>
            </a:r>
            <a:r>
              <a:rPr lang="ru-RU" sz="1200" dirty="0"/>
              <a:t>не будет </a:t>
            </a:r>
            <a:r>
              <a:rPr lang="ru-RU" sz="1200" dirty="0" err="1"/>
              <a:t>высокомаржинальным</a:t>
            </a:r>
            <a:r>
              <a:rPr lang="ru-RU" sz="1200" dirty="0"/>
              <a:t>.</a:t>
            </a:r>
          </a:p>
          <a:p>
            <a:pPr marL="0" indent="0">
              <a:buNone/>
            </a:pPr>
            <a:r>
              <a:rPr lang="ru-RU" sz="1200" dirty="0"/>
              <a:t>Основная цель </a:t>
            </a:r>
            <a:r>
              <a:rPr lang="en" sz="1200" dirty="0"/>
              <a:t>SaaS: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Проверка гипотезы </a:t>
            </a:r>
            <a:r>
              <a:rPr lang="en-US" sz="1200" dirty="0"/>
              <a:t>(</a:t>
            </a:r>
            <a:r>
              <a:rPr lang="ru-RU" sz="1200" dirty="0"/>
              <a:t>спроса</a:t>
            </a:r>
            <a:r>
              <a:rPr lang="en-US" sz="1200" dirty="0"/>
              <a:t> </a:t>
            </a:r>
            <a:r>
              <a:rPr lang="ru-RU" sz="1200" dirty="0"/>
              <a:t>и ценности)</a:t>
            </a:r>
            <a:r>
              <a:rPr lang="en-US" sz="1200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Снижение </a:t>
            </a:r>
            <a:r>
              <a:rPr lang="en" sz="1200" dirty="0"/>
              <a:t>CAC on-prem;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Формирование </a:t>
            </a:r>
            <a:r>
              <a:rPr lang="en" sz="1200" dirty="0"/>
              <a:t>pipeline;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Рост </a:t>
            </a:r>
            <a:r>
              <a:rPr lang="en" sz="1200" dirty="0"/>
              <a:t>LTV enterprise-</a:t>
            </a:r>
            <a:r>
              <a:rPr lang="ru-RU" sz="1200" dirty="0"/>
              <a:t>клиентов.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Целевой путь клиента</a:t>
            </a:r>
          </a:p>
          <a:p>
            <a:pPr marL="0" indent="0">
              <a:buNone/>
            </a:pPr>
            <a:r>
              <a:rPr lang="en" sz="1200" dirty="0"/>
              <a:t>SaaS </a:t>
            </a:r>
            <a:r>
              <a:rPr lang="ru-RU" sz="1200" dirty="0"/>
              <a:t>-</a:t>
            </a:r>
            <a:r>
              <a:rPr lang="en-US" sz="1200" dirty="0"/>
              <a:t>&gt;</a:t>
            </a:r>
            <a:r>
              <a:rPr lang="en" sz="1200" dirty="0"/>
              <a:t> Hybrid / Dedicated </a:t>
            </a:r>
            <a:r>
              <a:rPr lang="ru-RU" sz="1200" dirty="0"/>
              <a:t>-</a:t>
            </a:r>
            <a:r>
              <a:rPr lang="en-US" sz="1200" dirty="0"/>
              <a:t>&gt;</a:t>
            </a:r>
            <a:r>
              <a:rPr lang="en" sz="1200" dirty="0"/>
              <a:t> On-prem</a:t>
            </a:r>
          </a:p>
          <a:p>
            <a:pPr marL="0" indent="0">
              <a:buNone/>
            </a:pPr>
            <a:r>
              <a:rPr lang="ru-RU" sz="1200" dirty="0"/>
              <a:t>Переход в </a:t>
            </a:r>
            <a:r>
              <a:rPr lang="en" sz="1200" dirty="0"/>
              <a:t>on-prem </a:t>
            </a:r>
            <a:r>
              <a:rPr lang="ru-RU" sz="1200" dirty="0"/>
              <a:t>инициируется при: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Росте числа пользователей</a:t>
            </a:r>
            <a:r>
              <a:rPr lang="en-US" sz="1200" dirty="0"/>
              <a:t>;</a:t>
            </a:r>
            <a:endParaRPr lang="ru-R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Требованиях ИБ / </a:t>
            </a:r>
            <a:r>
              <a:rPr lang="ru-RU" sz="1200" dirty="0" err="1"/>
              <a:t>регуляторики</a:t>
            </a:r>
            <a:r>
              <a:rPr lang="en-US" sz="1200" dirty="0"/>
              <a:t>;</a:t>
            </a:r>
            <a:endParaRPr lang="ru-R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Необходимости изоляции данных</a:t>
            </a:r>
            <a:r>
              <a:rPr lang="en-US" sz="1200" dirty="0"/>
              <a:t>;</a:t>
            </a:r>
            <a:endParaRPr lang="ru-R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Интеграции с </a:t>
            </a:r>
            <a:r>
              <a:rPr lang="en" sz="1200" dirty="0"/>
              <a:t>enterprise-</a:t>
            </a:r>
            <a:r>
              <a:rPr lang="ru-RU" sz="1200" dirty="0"/>
              <a:t>ландшафтом.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0" indent="0">
              <a:buFont typeface="Arial"/>
              <a:buNone/>
            </a:pPr>
            <a:endParaRPr lang="ru-RU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DF106-13D7-2755-765B-736828B822D0}"/>
              </a:ext>
            </a:extLst>
          </p:cNvPr>
          <p:cNvSpPr txBox="1">
            <a:spLocks/>
          </p:cNvSpPr>
          <p:nvPr/>
        </p:nvSpPr>
        <p:spPr>
          <a:xfrm>
            <a:off x="4572000" y="1548907"/>
            <a:ext cx="3897040" cy="5440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/>
              <a:t>Экономический эффект конверсии </a:t>
            </a:r>
            <a:br>
              <a:rPr lang="ru-RU" sz="1200" dirty="0"/>
            </a:br>
            <a:endParaRPr lang="ru-RU" sz="1200" dirty="0"/>
          </a:p>
          <a:p>
            <a:pPr marL="0" indent="0">
              <a:buNone/>
            </a:pPr>
            <a:r>
              <a:rPr lang="ru-RU" sz="1200" dirty="0"/>
              <a:t>На 100 </a:t>
            </a:r>
            <a:r>
              <a:rPr lang="en" sz="1200" dirty="0"/>
              <a:t>SaaS-</a:t>
            </a:r>
            <a:r>
              <a:rPr lang="ru-RU" sz="1200" dirty="0"/>
              <a:t>клиентов: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10-20 клиентов переходят в </a:t>
            </a:r>
            <a:r>
              <a:rPr lang="en" sz="1200" dirty="0"/>
              <a:t>on-prem;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Генерируется</a:t>
            </a:r>
            <a:r>
              <a:rPr lang="en-US" sz="1200" dirty="0"/>
              <a:t> - </a:t>
            </a:r>
            <a:r>
              <a:rPr lang="ru-RU" sz="1200" dirty="0"/>
              <a:t>150-800 млн руб.</a:t>
            </a:r>
            <a:r>
              <a:rPr lang="en" sz="1200" dirty="0"/>
              <a:t> TCO on-prem</a:t>
            </a:r>
          </a:p>
          <a:p>
            <a:pPr marL="0" indent="0">
              <a:buNone/>
            </a:pPr>
            <a:r>
              <a:rPr lang="en" sz="1200" dirty="0"/>
              <a:t>SaaS: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Окупает привлечение</a:t>
            </a:r>
            <a:r>
              <a:rPr lang="en-US" sz="1200" dirty="0"/>
              <a:t>;</a:t>
            </a:r>
            <a:endParaRPr lang="ru-R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Формирует </a:t>
            </a:r>
            <a:r>
              <a:rPr lang="en" sz="1200" dirty="0"/>
              <a:t>reference </a:t>
            </a:r>
            <a:r>
              <a:rPr lang="ru-RU" sz="1200" dirty="0"/>
              <a:t>и кейсы</a:t>
            </a:r>
            <a:r>
              <a:rPr lang="en-US" sz="1200" dirty="0"/>
              <a:t>.</a:t>
            </a:r>
            <a:endParaRPr lang="ru-RU" sz="1200" dirty="0"/>
          </a:p>
          <a:p>
            <a:pPr marL="0" indent="0">
              <a:buNone/>
            </a:pPr>
            <a:r>
              <a:rPr lang="en" sz="1200" dirty="0"/>
              <a:t>On-prem: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Основной вклад в прибыль и </a:t>
            </a:r>
            <a:r>
              <a:rPr lang="en" sz="1200" dirty="0"/>
              <a:t>EBITDA.</a:t>
            </a:r>
          </a:p>
          <a:p>
            <a:pPr marL="0" indent="0">
              <a:buFont typeface="Arial"/>
              <a:buNone/>
            </a:pPr>
            <a:endParaRPr lang="ru-RU" sz="20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94859EA-5A05-943B-FB3D-E85E5B718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381051"/>
              </p:ext>
            </p:extLst>
          </p:nvPr>
        </p:nvGraphicFramePr>
        <p:xfrm>
          <a:off x="674960" y="5254001"/>
          <a:ext cx="4064000" cy="142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6248">
                  <a:extLst>
                    <a:ext uri="{9D8B030D-6E8A-4147-A177-3AD203B41FA5}">
                      <a16:colId xmlns:a16="http://schemas.microsoft.com/office/drawing/2014/main" val="2160349693"/>
                    </a:ext>
                  </a:extLst>
                </a:gridCol>
                <a:gridCol w="1687752">
                  <a:extLst>
                    <a:ext uri="{9D8B030D-6E8A-4147-A177-3AD203B41FA5}">
                      <a16:colId xmlns:a16="http://schemas.microsoft.com/office/drawing/2014/main" val="371794102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Показатель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Значение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80961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Средний чек </a:t>
                      </a:r>
                      <a:r>
                        <a:rPr lang="en" sz="1200" u="none" strike="noStrike">
                          <a:effectLst/>
                        </a:rPr>
                        <a:t>SaaS (ARR)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0.5-1.5 млн ₽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89724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Средний срок </a:t>
                      </a:r>
                      <a:r>
                        <a:rPr lang="en" sz="1200" u="none" strike="noStrike">
                          <a:effectLst/>
                        </a:rPr>
                        <a:t>SaaS </a:t>
                      </a:r>
                      <a:r>
                        <a:rPr lang="ru-RU" sz="1200" u="none" strike="noStrike">
                          <a:effectLst/>
                        </a:rPr>
                        <a:t>до апгрейда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12-24 </a:t>
                      </a:r>
                      <a:r>
                        <a:rPr lang="ru-RU" sz="1200" u="none" strike="noStrike" dirty="0" err="1">
                          <a:effectLst/>
                        </a:rPr>
                        <a:t>мес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74892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Конверсия </a:t>
                      </a:r>
                      <a:r>
                        <a:rPr lang="en" sz="1200" u="none" strike="noStrike">
                          <a:effectLst/>
                        </a:rPr>
                        <a:t>SaaS → On-prem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10-20%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5763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Средний чек </a:t>
                      </a:r>
                      <a:r>
                        <a:rPr lang="en" sz="1200" u="none" strike="noStrike">
                          <a:effectLst/>
                        </a:rPr>
                        <a:t>On-prem (TCO 3 </a:t>
                      </a:r>
                      <a:r>
                        <a:rPr lang="ru-RU" sz="1200" u="none" strike="noStrike">
                          <a:effectLst/>
                        </a:rPr>
                        <a:t>года)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15-40 млн ₽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21881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Валовая маржа </a:t>
                      </a:r>
                      <a:r>
                        <a:rPr lang="en" sz="1200" u="none" strike="noStrike">
                          <a:effectLst/>
                        </a:rPr>
                        <a:t>SaaS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20-35%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6646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Валовая маржа </a:t>
                      </a:r>
                      <a:r>
                        <a:rPr lang="en" sz="1200" u="none" strike="noStrike">
                          <a:effectLst/>
                        </a:rPr>
                        <a:t>On-prem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45-60%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106300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960224-64AB-EEE1-2795-A8D02E3C3F6E}"/>
              </a:ext>
            </a:extLst>
          </p:cNvPr>
          <p:cNvSpPr txBox="1">
            <a:spLocks/>
          </p:cNvSpPr>
          <p:nvPr/>
        </p:nvSpPr>
        <p:spPr>
          <a:xfrm>
            <a:off x="674960" y="4889374"/>
            <a:ext cx="6562381" cy="233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/>
              <a:t>Ключевые экономические допущения</a:t>
            </a:r>
          </a:p>
        </p:txBody>
      </p:sp>
    </p:spTree>
    <p:extLst>
      <p:ext uri="{BB962C8B-B14F-4D97-AF65-F5344CB8AC3E}">
        <p14:creationId xmlns:p14="http://schemas.microsoft.com/office/powerpoint/2010/main" val="2465746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Стратегические треки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420813"/>
            <a:ext cx="2357438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101315"/>
                </a:solidFill>
                <a:effectLst/>
                <a:latin typeface="Helvetica" pitchFamily="2" charset="0"/>
              </a:rPr>
              <a:t>2026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effectLst/>
              <a:latin typeface="Helvetica" pitchFamily="2" charset="0"/>
            </a:endParaRPr>
          </a:p>
          <a:p>
            <a:r>
              <a:rPr lang="ru-RU" sz="1200" dirty="0">
                <a:solidFill>
                  <a:srgbClr val="101315"/>
                </a:solidFill>
                <a:effectLst/>
              </a:rPr>
              <a:t>Выбор вендора</a:t>
            </a:r>
            <a:r>
              <a:rPr lang="en-US" sz="1200" dirty="0">
                <a:solidFill>
                  <a:srgbClr val="101315"/>
                </a:solidFill>
                <a:effectLst/>
              </a:rPr>
              <a:t>;</a:t>
            </a:r>
            <a:endParaRPr lang="ru-RU" sz="1200" dirty="0">
              <a:solidFill>
                <a:srgbClr val="101315"/>
              </a:solidFill>
              <a:effectLst/>
            </a:endParaRPr>
          </a:p>
          <a:p>
            <a:r>
              <a:rPr lang="ru-RU" sz="1200" dirty="0">
                <a:solidFill>
                  <a:srgbClr val="101315"/>
                </a:solidFill>
                <a:effectLst/>
              </a:rPr>
              <a:t>Запуск </a:t>
            </a:r>
            <a:r>
              <a:rPr lang="en" sz="1200" dirty="0">
                <a:solidFill>
                  <a:srgbClr val="101315"/>
                </a:solidFill>
                <a:effectLst/>
              </a:rPr>
              <a:t>UC SaaS;</a:t>
            </a:r>
            <a:endParaRPr lang="ru-RU" sz="1200" dirty="0">
              <a:solidFill>
                <a:srgbClr val="101315"/>
              </a:solidFill>
              <a:effectLst/>
            </a:endParaRPr>
          </a:p>
          <a:p>
            <a:r>
              <a:rPr lang="ru-RU" sz="1200" dirty="0">
                <a:solidFill>
                  <a:srgbClr val="101315"/>
                </a:solidFill>
                <a:effectLst/>
              </a:rPr>
              <a:t>Первые </a:t>
            </a:r>
            <a:r>
              <a:rPr lang="en" sz="1200" dirty="0">
                <a:solidFill>
                  <a:srgbClr val="101315"/>
                </a:solidFill>
                <a:effectLst/>
              </a:rPr>
              <a:t>enterprise-</a:t>
            </a:r>
            <a:r>
              <a:rPr lang="ru-RU" sz="1200" dirty="0">
                <a:solidFill>
                  <a:srgbClr val="101315"/>
                </a:solidFill>
                <a:effectLst/>
              </a:rPr>
              <a:t>пилоты</a:t>
            </a:r>
            <a:r>
              <a:rPr lang="en-US" sz="1200" dirty="0">
                <a:solidFill>
                  <a:srgbClr val="101315"/>
                </a:solidFill>
                <a:effectLst/>
              </a:rPr>
              <a:t>;</a:t>
            </a:r>
            <a:endParaRPr lang="ru-RU" sz="1200" dirty="0">
              <a:solidFill>
                <a:srgbClr val="101315"/>
              </a:solidFill>
              <a:effectLst/>
            </a:endParaRPr>
          </a:p>
          <a:p>
            <a:r>
              <a:rPr lang="ru-RU" sz="1200" dirty="0">
                <a:solidFill>
                  <a:srgbClr val="101315"/>
                </a:solidFill>
                <a:effectLst/>
              </a:rPr>
              <a:t>Сбор метрик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  <a:endParaRPr lang="ru-RU" sz="1200" dirty="0">
              <a:solidFill>
                <a:srgbClr val="101315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rgbClr val="101315"/>
                </a:solidFill>
              </a:rPr>
              <a:t>Dedicated / single-tenant SaaS;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101315"/>
                </a:solidFill>
              </a:rPr>
              <a:t>Подготовка </a:t>
            </a:r>
            <a:r>
              <a:rPr lang="en" sz="1200" dirty="0">
                <a:solidFill>
                  <a:srgbClr val="101315"/>
                </a:solidFill>
              </a:rPr>
              <a:t>on-prem </a:t>
            </a:r>
            <a:r>
              <a:rPr lang="ru-RU" sz="1200" dirty="0">
                <a:solidFill>
                  <a:srgbClr val="101315"/>
                </a:solidFill>
              </a:rPr>
              <a:t>дистрибутивов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  <a:endParaRPr lang="ru-RU" sz="1200" dirty="0">
              <a:solidFill>
                <a:srgbClr val="10131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101315"/>
                </a:solidFill>
              </a:rPr>
              <a:t>Сертификация</a:t>
            </a:r>
            <a:r>
              <a:rPr lang="en" sz="1200" dirty="0">
                <a:solidFill>
                  <a:srgbClr val="101315"/>
                </a:solidFill>
              </a:rPr>
              <a:t> (</a:t>
            </a:r>
            <a:r>
              <a:rPr lang="ru-RU" sz="1200" dirty="0">
                <a:solidFill>
                  <a:srgbClr val="101315"/>
                </a:solidFill>
              </a:rPr>
              <a:t>ИБ, </a:t>
            </a:r>
            <a:r>
              <a:rPr lang="ru-RU" sz="1200" dirty="0" err="1">
                <a:solidFill>
                  <a:srgbClr val="101315"/>
                </a:solidFill>
              </a:rPr>
              <a:t>регуляторика</a:t>
            </a:r>
            <a:r>
              <a:rPr lang="ru-RU" sz="1200" dirty="0">
                <a:solidFill>
                  <a:srgbClr val="101315"/>
                </a:solidFill>
              </a:rPr>
              <a:t>).</a:t>
            </a:r>
          </a:p>
          <a:p>
            <a:endParaRPr lang="en" sz="1200" dirty="0">
              <a:solidFill>
                <a:srgbClr val="101315"/>
              </a:solidFill>
              <a:effectLst/>
            </a:endParaRPr>
          </a:p>
          <a:p>
            <a:pPr marL="0" indent="0">
              <a:buNone/>
            </a:pPr>
            <a:endParaRPr lang="en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AE7A6C-DEB1-0181-E259-DFE14AC2E099}"/>
              </a:ext>
            </a:extLst>
          </p:cNvPr>
          <p:cNvSpPr txBox="1">
            <a:spLocks/>
          </p:cNvSpPr>
          <p:nvPr/>
        </p:nvSpPr>
        <p:spPr>
          <a:xfrm>
            <a:off x="2286001" y="1435101"/>
            <a:ext cx="235743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100" b="1" dirty="0">
                <a:solidFill>
                  <a:srgbClr val="101315"/>
                </a:solidFill>
                <a:effectLst/>
                <a:latin typeface="Helvetica" pitchFamily="2" charset="0"/>
              </a:rPr>
              <a:t>2027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101315"/>
                </a:solidFill>
              </a:rPr>
              <a:t>Принятие решение о запуске </a:t>
            </a:r>
            <a:r>
              <a:rPr lang="en" sz="1200" dirty="0">
                <a:solidFill>
                  <a:srgbClr val="101315"/>
                </a:solidFill>
              </a:rPr>
              <a:t>on-prem</a:t>
            </a:r>
            <a:r>
              <a:rPr lang="ru-RU" sz="1200" dirty="0">
                <a:solidFill>
                  <a:srgbClr val="101315"/>
                </a:solidFill>
              </a:rPr>
              <a:t> – если </a:t>
            </a:r>
            <a:r>
              <a:rPr lang="ru-RU" sz="1200" dirty="0" err="1">
                <a:solidFill>
                  <a:srgbClr val="101315"/>
                </a:solidFill>
              </a:rPr>
              <a:t>ок</a:t>
            </a:r>
            <a:r>
              <a:rPr lang="ru-RU" sz="1200" dirty="0">
                <a:solidFill>
                  <a:srgbClr val="101315"/>
                </a:solidFill>
              </a:rPr>
              <a:t>, то полноценный запуск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101315"/>
                </a:solidFill>
              </a:rPr>
              <a:t>Первые переходы из </a:t>
            </a:r>
            <a:r>
              <a:rPr lang="en" sz="1200" dirty="0">
                <a:solidFill>
                  <a:srgbClr val="101315"/>
                </a:solidFill>
              </a:rPr>
              <a:t>SaaS </a:t>
            </a:r>
            <a:r>
              <a:rPr lang="ru-RU" sz="1200" dirty="0">
                <a:solidFill>
                  <a:srgbClr val="101315"/>
                </a:solidFill>
              </a:rPr>
              <a:t>в</a:t>
            </a:r>
            <a:r>
              <a:rPr lang="en" sz="1200" dirty="0">
                <a:solidFill>
                  <a:srgbClr val="101315"/>
                </a:solidFill>
              </a:rPr>
              <a:t> on-prem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  <a:endParaRPr lang="ru-RU" sz="1200" dirty="0">
              <a:solidFill>
                <a:srgbClr val="10131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101315"/>
                </a:solidFill>
              </a:rPr>
              <a:t>Первые крупные </a:t>
            </a:r>
            <a:r>
              <a:rPr lang="en" sz="1200" dirty="0">
                <a:solidFill>
                  <a:srgbClr val="101315"/>
                </a:solidFill>
              </a:rPr>
              <a:t>enterprise / </a:t>
            </a:r>
            <a:r>
              <a:rPr lang="ru-RU" sz="1200" dirty="0" err="1">
                <a:solidFill>
                  <a:srgbClr val="101315"/>
                </a:solidFill>
              </a:rPr>
              <a:t>гос</a:t>
            </a:r>
            <a:r>
              <a:rPr lang="en" sz="1200" dirty="0">
                <a:solidFill>
                  <a:srgbClr val="101315"/>
                </a:solidFill>
              </a:rPr>
              <a:t> </a:t>
            </a:r>
            <a:r>
              <a:rPr lang="ru-RU" sz="1200" dirty="0">
                <a:solidFill>
                  <a:srgbClr val="101315"/>
                </a:solidFill>
              </a:rPr>
              <a:t>контракты.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rgbClr val="101315"/>
                </a:solidFill>
              </a:rPr>
              <a:t>UC </a:t>
            </a:r>
            <a:r>
              <a:rPr lang="ru-RU" sz="1200" dirty="0">
                <a:solidFill>
                  <a:srgbClr val="101315"/>
                </a:solidFill>
              </a:rPr>
              <a:t>как часть комплексных сделок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  <a:endParaRPr lang="ru-RU" sz="1200" dirty="0">
              <a:solidFill>
                <a:srgbClr val="10131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101315"/>
                </a:solidFill>
              </a:rPr>
              <a:t>Рост доли </a:t>
            </a:r>
            <a:r>
              <a:rPr lang="en" sz="1200" dirty="0">
                <a:solidFill>
                  <a:srgbClr val="101315"/>
                </a:solidFill>
              </a:rPr>
              <a:t>on-prem </a:t>
            </a:r>
            <a:r>
              <a:rPr lang="ru-RU" sz="1200" dirty="0">
                <a:solidFill>
                  <a:srgbClr val="101315"/>
                </a:solidFill>
              </a:rPr>
              <a:t>в выручке.</a:t>
            </a:r>
          </a:p>
          <a:p>
            <a:pPr marL="0" indent="0">
              <a:buNone/>
            </a:pPr>
            <a:endParaRPr lang="ru-RU" sz="1200" dirty="0">
              <a:solidFill>
                <a:srgbClr val="101315"/>
              </a:solidFill>
            </a:endParaRPr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D1FFEE-5C1A-9793-A51D-FBC6AE252D9C}"/>
              </a:ext>
            </a:extLst>
          </p:cNvPr>
          <p:cNvSpPr txBox="1">
            <a:spLocks/>
          </p:cNvSpPr>
          <p:nvPr/>
        </p:nvSpPr>
        <p:spPr>
          <a:xfrm>
            <a:off x="6786563" y="1417638"/>
            <a:ext cx="23247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ru-RU" sz="1100" b="1" dirty="0">
                <a:solidFill>
                  <a:srgbClr val="101315"/>
                </a:solidFill>
                <a:latin typeface="Helvetica" pitchFamily="2" charset="0"/>
              </a:rPr>
              <a:t>2029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r>
              <a:rPr lang="en" sz="1200" dirty="0">
                <a:solidFill>
                  <a:srgbClr val="101315"/>
                </a:solidFill>
              </a:rPr>
              <a:t>UC </a:t>
            </a:r>
            <a:r>
              <a:rPr lang="ru-RU" sz="1200" dirty="0">
                <a:solidFill>
                  <a:srgbClr val="101315"/>
                </a:solidFill>
              </a:rPr>
              <a:t>как якорный слой </a:t>
            </a:r>
            <a:r>
              <a:rPr lang="en" sz="1200" dirty="0">
                <a:solidFill>
                  <a:srgbClr val="101315"/>
                </a:solidFill>
              </a:rPr>
              <a:t>enterprise-</a:t>
            </a:r>
            <a:r>
              <a:rPr lang="ru-RU" sz="1200" dirty="0">
                <a:solidFill>
                  <a:srgbClr val="101315"/>
                </a:solidFill>
              </a:rPr>
              <a:t>экосистемы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  <a:endParaRPr lang="ru-RU" sz="1200" dirty="0">
              <a:solidFill>
                <a:srgbClr val="101315"/>
              </a:solidFill>
            </a:endParaRPr>
          </a:p>
          <a:p>
            <a:r>
              <a:rPr lang="ru-RU" sz="1200" dirty="0">
                <a:solidFill>
                  <a:srgbClr val="101315"/>
                </a:solidFill>
              </a:rPr>
              <a:t>Оптимизация портфеля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  <a:endParaRPr lang="ru-RU" sz="1200" dirty="0">
              <a:solidFill>
                <a:srgbClr val="101315"/>
              </a:solidFill>
            </a:endParaRPr>
          </a:p>
          <a:p>
            <a:r>
              <a:rPr lang="ru-RU" sz="1200" dirty="0">
                <a:solidFill>
                  <a:srgbClr val="101315"/>
                </a:solidFill>
              </a:rPr>
              <a:t>Максимизация </a:t>
            </a:r>
            <a:r>
              <a:rPr lang="en" sz="1200" dirty="0">
                <a:solidFill>
                  <a:srgbClr val="101315"/>
                </a:solidFill>
              </a:rPr>
              <a:t>EBITDA.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558AB4-3814-C331-46BE-CB9D95C19C58}"/>
              </a:ext>
            </a:extLst>
          </p:cNvPr>
          <p:cNvSpPr txBox="1">
            <a:spLocks/>
          </p:cNvSpPr>
          <p:nvPr/>
        </p:nvSpPr>
        <p:spPr>
          <a:xfrm>
            <a:off x="4572000" y="1420813"/>
            <a:ext cx="2357438" cy="5008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100" b="1" dirty="0">
                <a:solidFill>
                  <a:srgbClr val="101315"/>
                </a:solidFill>
                <a:effectLst/>
                <a:latin typeface="Helvetica" pitchFamily="2" charset="0"/>
              </a:rPr>
              <a:t>2028</a:t>
            </a:r>
          </a:p>
          <a:p>
            <a:pPr marL="0" indent="0">
              <a:buNone/>
            </a:pPr>
            <a:endParaRPr lang="ru-RU" sz="1100" dirty="0">
              <a:solidFill>
                <a:srgbClr val="101315"/>
              </a:solidFill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ru-RU" sz="1200" dirty="0" err="1">
                <a:solidFill>
                  <a:srgbClr val="101315"/>
                </a:solidFill>
              </a:rPr>
              <a:t>Апселл</a:t>
            </a:r>
            <a:r>
              <a:rPr lang="ru-RU" sz="1200" dirty="0">
                <a:solidFill>
                  <a:srgbClr val="101315"/>
                </a:solidFill>
              </a:rPr>
              <a:t>:</a:t>
            </a:r>
          </a:p>
          <a:p>
            <a:r>
              <a:rPr lang="ru-RU" sz="1200" dirty="0">
                <a:solidFill>
                  <a:srgbClr val="101315"/>
                </a:solidFill>
              </a:rPr>
              <a:t>Инфраструктуры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  <a:endParaRPr lang="ru-RU" sz="1200" dirty="0">
              <a:solidFill>
                <a:srgbClr val="101315"/>
              </a:solidFill>
            </a:endParaRPr>
          </a:p>
          <a:p>
            <a:r>
              <a:rPr lang="ru-RU" sz="1200" dirty="0">
                <a:solidFill>
                  <a:srgbClr val="101315"/>
                </a:solidFill>
              </a:rPr>
              <a:t>Безопасности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  <a:endParaRPr lang="ru-RU" sz="1200" dirty="0">
              <a:solidFill>
                <a:srgbClr val="101315"/>
              </a:solidFill>
            </a:endParaRPr>
          </a:p>
          <a:p>
            <a:r>
              <a:rPr lang="en-US" sz="1200" dirty="0">
                <a:solidFill>
                  <a:srgbClr val="101315"/>
                </a:solidFill>
              </a:rPr>
              <a:t>SaaS </a:t>
            </a:r>
            <a:r>
              <a:rPr lang="ru-RU" sz="1200" dirty="0">
                <a:solidFill>
                  <a:srgbClr val="101315"/>
                </a:solidFill>
              </a:rPr>
              <a:t>сервисов</a:t>
            </a:r>
            <a:r>
              <a:rPr lang="en-US" sz="1200" dirty="0">
                <a:solidFill>
                  <a:srgbClr val="101315"/>
                </a:solidFill>
              </a:rPr>
              <a:t>;</a:t>
            </a:r>
            <a:endParaRPr lang="ru-RU" sz="1200" dirty="0">
              <a:solidFill>
                <a:srgbClr val="101315"/>
              </a:solidFill>
            </a:endParaRPr>
          </a:p>
          <a:p>
            <a:r>
              <a:rPr lang="ru-RU" sz="1200" dirty="0">
                <a:solidFill>
                  <a:srgbClr val="101315"/>
                </a:solidFill>
              </a:rPr>
              <a:t>Возможные </a:t>
            </a:r>
            <a:r>
              <a:rPr lang="en" sz="1200" dirty="0">
                <a:solidFill>
                  <a:srgbClr val="101315"/>
                </a:solidFill>
              </a:rPr>
              <a:t>M&amp;A / </a:t>
            </a:r>
            <a:r>
              <a:rPr lang="ru-RU" sz="1200" dirty="0">
                <a:solidFill>
                  <a:srgbClr val="101315"/>
                </a:solidFill>
              </a:rPr>
              <a:t>СП</a:t>
            </a:r>
            <a:r>
              <a:rPr lang="en" sz="1200" dirty="0">
                <a:solidFill>
                  <a:srgbClr val="101315"/>
                </a:solidFill>
              </a:rPr>
              <a:t> </a:t>
            </a:r>
            <a:r>
              <a:rPr lang="ru-RU" sz="1200" dirty="0">
                <a:solidFill>
                  <a:srgbClr val="101315"/>
                </a:solidFill>
              </a:rPr>
              <a:t>с вендором.</a:t>
            </a:r>
            <a:endParaRPr lang="ru-RU" sz="1100" dirty="0">
              <a:solidFill>
                <a:srgbClr val="101315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397659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KPI </a:t>
            </a:r>
            <a:r>
              <a:rPr lang="ru-RU" dirty="0"/>
              <a:t>и метрики успеха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096730-9E2E-EC46-3CC9-74D5C0C626D7}"/>
              </a:ext>
            </a:extLst>
          </p:cNvPr>
          <p:cNvSpPr txBox="1">
            <a:spLocks/>
          </p:cNvSpPr>
          <p:nvPr/>
        </p:nvSpPr>
        <p:spPr>
          <a:xfrm>
            <a:off x="674960" y="1548907"/>
            <a:ext cx="8469040" cy="4718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1200" dirty="0"/>
              <a:t>KPI SaaS </a:t>
            </a:r>
            <a:r>
              <a:rPr lang="ru-RU" sz="1200" dirty="0"/>
              <a:t>как воронки</a:t>
            </a:r>
          </a:p>
          <a:p>
            <a:r>
              <a:rPr lang="ru-RU" sz="1200" dirty="0"/>
              <a:t>Количество активных </a:t>
            </a:r>
            <a:r>
              <a:rPr lang="ru-RU" sz="1200" dirty="0" err="1"/>
              <a:t>SaaS</a:t>
            </a:r>
            <a:r>
              <a:rPr lang="ru-RU" sz="1200" dirty="0"/>
              <a:t>-клиентов </a:t>
            </a:r>
            <a:r>
              <a:rPr lang="en-US" sz="1200" dirty="0"/>
              <a:t>		</a:t>
            </a:r>
            <a:r>
              <a:rPr lang="ru-RU" sz="1200" dirty="0"/>
              <a:t> 		Рост </a:t>
            </a:r>
            <a:r>
              <a:rPr lang="ru-RU" sz="1200" dirty="0" err="1"/>
              <a:t>QoQ</a:t>
            </a:r>
            <a:endParaRPr lang="ru-RU" sz="1200" dirty="0"/>
          </a:p>
          <a:p>
            <a:r>
              <a:rPr lang="ru-RU" sz="1200" dirty="0"/>
              <a:t>Enterprise / </a:t>
            </a:r>
            <a:r>
              <a:rPr lang="ru-RU" sz="1200" dirty="0" err="1"/>
              <a:t>Upper</a:t>
            </a:r>
            <a:r>
              <a:rPr lang="ru-RU" sz="1200" dirty="0"/>
              <a:t> SMB в </a:t>
            </a:r>
            <a:r>
              <a:rPr lang="ru-RU" sz="1200" dirty="0" err="1"/>
              <a:t>SaaS</a:t>
            </a:r>
            <a:r>
              <a:rPr lang="ru-RU" sz="1200" dirty="0"/>
              <a:t>  			</a:t>
            </a:r>
            <a:r>
              <a:rPr lang="en-US" sz="1200" dirty="0"/>
              <a:t>	&gt; </a:t>
            </a:r>
            <a:r>
              <a:rPr lang="ru-RU" sz="1200" dirty="0"/>
              <a:t>60%</a:t>
            </a:r>
          </a:p>
          <a:p>
            <a:r>
              <a:rPr lang="ru-RU" sz="1200" dirty="0"/>
              <a:t>Средний срок </a:t>
            </a:r>
            <a:r>
              <a:rPr lang="ru-RU" sz="1200" dirty="0" err="1"/>
              <a:t>SaaS</a:t>
            </a:r>
            <a:r>
              <a:rPr lang="ru-RU" sz="1200" dirty="0"/>
              <a:t> до апгрейда</a:t>
            </a:r>
            <a:r>
              <a:rPr lang="en-US" sz="1200" dirty="0"/>
              <a:t> </a:t>
            </a:r>
            <a:r>
              <a:rPr lang="ru-RU" sz="1200" dirty="0"/>
              <a:t>			</a:t>
            </a:r>
            <a:r>
              <a:rPr lang="en-US" sz="1200" dirty="0"/>
              <a:t>	</a:t>
            </a:r>
            <a:r>
              <a:rPr lang="ru-RU" sz="1200" dirty="0"/>
              <a:t>12 -24 </a:t>
            </a:r>
            <a:r>
              <a:rPr lang="ru-RU" sz="1200" dirty="0" err="1"/>
              <a:t>мес</a:t>
            </a:r>
            <a:endParaRPr lang="ru-RU" sz="1200" dirty="0"/>
          </a:p>
          <a:p>
            <a:r>
              <a:rPr lang="ru-RU" sz="1200" dirty="0"/>
              <a:t>Кол-во </a:t>
            </a:r>
            <a:r>
              <a:rPr lang="ru-RU" sz="1200" dirty="0" err="1"/>
              <a:t>reference</a:t>
            </a:r>
            <a:r>
              <a:rPr lang="ru-RU" sz="1200" dirty="0"/>
              <a:t>-клиентов</a:t>
            </a:r>
            <a:r>
              <a:rPr lang="en-US" sz="1200" dirty="0"/>
              <a:t> </a:t>
            </a:r>
            <a:r>
              <a:rPr lang="ru-RU" sz="1200" dirty="0"/>
              <a:t>				</a:t>
            </a:r>
            <a:r>
              <a:rPr lang="en-US" sz="1200" dirty="0"/>
              <a:t>	</a:t>
            </a:r>
            <a:r>
              <a:rPr lang="ru-RU" sz="1200" dirty="0"/>
              <a:t>5 - 10 в год</a:t>
            </a:r>
            <a:endParaRPr lang="en-US" sz="1200" dirty="0"/>
          </a:p>
          <a:p>
            <a:endParaRPr lang="en-US" sz="1200" dirty="0"/>
          </a:p>
          <a:p>
            <a:pPr marL="0" indent="0">
              <a:buNone/>
            </a:pPr>
            <a:r>
              <a:rPr lang="en" sz="1200" dirty="0"/>
              <a:t> KPI </a:t>
            </a:r>
            <a:r>
              <a:rPr lang="ru-RU" sz="1200" dirty="0"/>
              <a:t>конверсии из </a:t>
            </a:r>
            <a:r>
              <a:rPr lang="en" sz="1200" dirty="0"/>
              <a:t>SaaS </a:t>
            </a:r>
            <a:r>
              <a:rPr lang="ru-RU" sz="1200" dirty="0"/>
              <a:t>в</a:t>
            </a:r>
            <a:r>
              <a:rPr lang="en" sz="1200" dirty="0"/>
              <a:t> On-prem </a:t>
            </a:r>
            <a:endParaRPr lang="ru-RU" sz="1200" dirty="0"/>
          </a:p>
          <a:p>
            <a:r>
              <a:rPr lang="ru-RU" sz="1200" dirty="0"/>
              <a:t>Конверсия</a:t>
            </a:r>
            <a:r>
              <a:rPr lang="en-US" sz="1200" dirty="0"/>
              <a:t> </a:t>
            </a:r>
            <a:r>
              <a:rPr lang="ru-RU" sz="1200" dirty="0"/>
              <a:t>из </a:t>
            </a:r>
            <a:r>
              <a:rPr lang="en" sz="1200" dirty="0"/>
              <a:t>SaaS </a:t>
            </a:r>
            <a:r>
              <a:rPr lang="ru-RU" sz="1200" dirty="0"/>
              <a:t>в</a:t>
            </a:r>
            <a:r>
              <a:rPr lang="en" sz="1200" dirty="0"/>
              <a:t> On-prem</a:t>
            </a:r>
            <a:r>
              <a:rPr lang="ru-RU" sz="1200" dirty="0"/>
              <a:t>				</a:t>
            </a:r>
            <a:r>
              <a:rPr lang="en-US" sz="1200" dirty="0"/>
              <a:t>	</a:t>
            </a:r>
            <a:r>
              <a:rPr lang="en" sz="1200" dirty="0"/>
              <a:t>10</a:t>
            </a:r>
            <a:r>
              <a:rPr lang="ru-RU" sz="1200" dirty="0"/>
              <a:t> - </a:t>
            </a:r>
            <a:r>
              <a:rPr lang="en" sz="1200" dirty="0"/>
              <a:t>20%</a:t>
            </a:r>
          </a:p>
          <a:p>
            <a:r>
              <a:rPr lang="ru-RU" sz="1200" dirty="0"/>
              <a:t>Средний чек </a:t>
            </a:r>
            <a:r>
              <a:rPr lang="en" sz="1200" dirty="0"/>
              <a:t>on-prem (TCO 3 </a:t>
            </a:r>
            <a:r>
              <a:rPr lang="ru-RU" sz="1200" dirty="0"/>
              <a:t>года) 			</a:t>
            </a:r>
            <a:r>
              <a:rPr lang="en-US" sz="1200" dirty="0"/>
              <a:t>	</a:t>
            </a:r>
            <a:r>
              <a:rPr lang="ru-RU" sz="1200" dirty="0"/>
              <a:t>15 - 40 млн ₽</a:t>
            </a:r>
          </a:p>
          <a:p>
            <a:r>
              <a:rPr lang="en" sz="1200" dirty="0"/>
              <a:t>Time-to-close on-prem</a:t>
            </a:r>
            <a:r>
              <a:rPr lang="ru-RU" sz="1200" dirty="0"/>
              <a:t>					</a:t>
            </a:r>
            <a:r>
              <a:rPr lang="en-US" sz="1200" dirty="0"/>
              <a:t>	</a:t>
            </a:r>
            <a:r>
              <a:rPr lang="en" sz="1200" dirty="0"/>
              <a:t>30</a:t>
            </a:r>
            <a:r>
              <a:rPr lang="ru-RU" sz="1200" dirty="0"/>
              <a:t>- </a:t>
            </a:r>
            <a:r>
              <a:rPr lang="en" sz="1200" dirty="0"/>
              <a:t>40% </a:t>
            </a:r>
            <a:endParaRPr lang="ru-RU" sz="1200" dirty="0"/>
          </a:p>
          <a:p>
            <a:endParaRPr lang="ru-RU" sz="1200" dirty="0"/>
          </a:p>
          <a:p>
            <a:pPr marL="0" indent="0">
              <a:buNone/>
            </a:pPr>
            <a:r>
              <a:rPr lang="ru-RU" sz="1200" dirty="0"/>
              <a:t> Финансовые </a:t>
            </a:r>
            <a:r>
              <a:rPr lang="en" sz="1200" dirty="0"/>
              <a:t>KPI</a:t>
            </a:r>
          </a:p>
          <a:p>
            <a:r>
              <a:rPr lang="ru-RU" sz="1200" dirty="0"/>
              <a:t>Валовая маржа </a:t>
            </a:r>
            <a:r>
              <a:rPr lang="en" sz="1200" dirty="0"/>
              <a:t>SaaS	</a:t>
            </a:r>
            <a:r>
              <a:rPr lang="ru-RU" sz="1200" dirty="0"/>
              <a:t>				</a:t>
            </a:r>
            <a:r>
              <a:rPr lang="en-US" sz="1200" dirty="0"/>
              <a:t>	</a:t>
            </a:r>
            <a:r>
              <a:rPr lang="en" sz="1200" dirty="0"/>
              <a:t>20-35%</a:t>
            </a:r>
          </a:p>
          <a:p>
            <a:r>
              <a:rPr lang="ru-RU" sz="1200" dirty="0"/>
              <a:t>Валовая маржа </a:t>
            </a:r>
            <a:r>
              <a:rPr lang="en" sz="1200" dirty="0"/>
              <a:t>On-prem	</a:t>
            </a:r>
            <a:r>
              <a:rPr lang="ru-RU" sz="1200" dirty="0"/>
              <a:t>			</a:t>
            </a:r>
            <a:r>
              <a:rPr lang="en-US" sz="1200" dirty="0"/>
              <a:t>	</a:t>
            </a:r>
            <a:r>
              <a:rPr lang="en" sz="1200" dirty="0"/>
              <a:t>45-60%</a:t>
            </a:r>
          </a:p>
          <a:p>
            <a:r>
              <a:rPr lang="ru-RU" sz="1200" dirty="0"/>
              <a:t>Доля </a:t>
            </a:r>
            <a:r>
              <a:rPr lang="en" sz="1200" dirty="0"/>
              <a:t>UC </a:t>
            </a:r>
            <a:r>
              <a:rPr lang="ru-RU" sz="1200" dirty="0"/>
              <a:t>в </a:t>
            </a:r>
            <a:r>
              <a:rPr lang="en" sz="1200" dirty="0"/>
              <a:t>LTV enterprise-</a:t>
            </a:r>
            <a:r>
              <a:rPr lang="ru-RU" sz="1200" dirty="0"/>
              <a:t>клиента			</a:t>
            </a:r>
            <a:r>
              <a:rPr lang="en-US" sz="1200" dirty="0"/>
              <a:t>	</a:t>
            </a:r>
            <a:r>
              <a:rPr lang="ru-RU" sz="1200" dirty="0"/>
              <a:t>+20-30%</a:t>
            </a:r>
          </a:p>
          <a:p>
            <a:r>
              <a:rPr lang="ru-RU" sz="1200" dirty="0"/>
              <a:t>Доля </a:t>
            </a:r>
            <a:r>
              <a:rPr lang="en" sz="1200" dirty="0"/>
              <a:t>UC </a:t>
            </a:r>
            <a:r>
              <a:rPr lang="ru-RU" sz="1200" dirty="0"/>
              <a:t>в общей выручке				</a:t>
            </a:r>
            <a:r>
              <a:rPr lang="en-US" sz="1200" dirty="0"/>
              <a:t>	</a:t>
            </a:r>
            <a:r>
              <a:rPr lang="ru-RU" sz="1200" dirty="0"/>
              <a:t>растущая </a:t>
            </a:r>
            <a:r>
              <a:rPr lang="en" sz="1200" dirty="0"/>
              <a:t>YoY</a:t>
            </a:r>
          </a:p>
          <a:p>
            <a:pPr marL="0" indent="0">
              <a:buNone/>
            </a:pPr>
            <a:endParaRPr lang="ru-RU" sz="1200" dirty="0"/>
          </a:p>
          <a:p>
            <a:pPr marL="0" indent="0">
              <a:buNone/>
            </a:pPr>
            <a:r>
              <a:rPr lang="ru-RU" sz="1200" dirty="0"/>
              <a:t> Стратегические </a:t>
            </a:r>
            <a:r>
              <a:rPr lang="en" sz="1200" dirty="0"/>
              <a:t>KPI (</a:t>
            </a:r>
            <a:r>
              <a:rPr lang="ru-RU" sz="1200" dirty="0"/>
              <a:t>контроль фокуса)</a:t>
            </a:r>
          </a:p>
          <a:p>
            <a:r>
              <a:rPr lang="ru-RU" sz="1200" dirty="0"/>
              <a:t>Доля </a:t>
            </a:r>
            <a:r>
              <a:rPr lang="ru-RU" sz="1200" dirty="0" err="1"/>
              <a:t>on-prem</a:t>
            </a:r>
            <a:r>
              <a:rPr lang="ru-RU" sz="1200" dirty="0"/>
              <a:t> в UC-выручке 					≥ 60%</a:t>
            </a:r>
          </a:p>
          <a:p>
            <a:r>
              <a:rPr lang="ru-RU" sz="1200" dirty="0"/>
              <a:t>Доля </a:t>
            </a:r>
            <a:r>
              <a:rPr lang="ru-RU" sz="1200" dirty="0" err="1"/>
              <a:t>SaaS</a:t>
            </a:r>
            <a:r>
              <a:rPr lang="ru-RU" sz="1200" dirty="0"/>
              <a:t>-клиентов, квалифицированных под </a:t>
            </a:r>
            <a:r>
              <a:rPr lang="ru-RU" sz="1200" dirty="0" err="1"/>
              <a:t>on-prem</a:t>
            </a:r>
            <a:r>
              <a:rPr lang="ru-RU" sz="1200" dirty="0"/>
              <a:t>	≥ 70%</a:t>
            </a:r>
          </a:p>
          <a:p>
            <a:r>
              <a:rPr lang="ru-RU" sz="1200" dirty="0"/>
              <a:t>Кол-во </a:t>
            </a:r>
            <a:r>
              <a:rPr lang="ru-RU" sz="1200" dirty="0" err="1"/>
              <a:t>SaaS</a:t>
            </a:r>
            <a:r>
              <a:rPr lang="ru-RU" sz="1200" dirty="0"/>
              <a:t>-клиентов без потенциала </a:t>
            </a:r>
            <a:r>
              <a:rPr lang="ru-RU" sz="1200" dirty="0" err="1"/>
              <a:t>on-prem</a:t>
            </a:r>
            <a:r>
              <a:rPr lang="ru-RU" sz="1200" dirty="0"/>
              <a:t>		≤ 30% </a:t>
            </a:r>
          </a:p>
        </p:txBody>
      </p:sp>
    </p:spTree>
    <p:extLst>
      <p:ext uri="{BB962C8B-B14F-4D97-AF65-F5344CB8AC3E}">
        <p14:creationId xmlns:p14="http://schemas.microsoft.com/office/powerpoint/2010/main" val="648349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Ключевые риски и </a:t>
            </a:r>
            <a:r>
              <a:rPr lang="ru-RU" dirty="0" err="1"/>
              <a:t>митигация</a:t>
            </a:r>
            <a:r>
              <a:rPr lang="ru-RU" dirty="0"/>
              <a:t> 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491AED4-4D2C-75CD-7A3B-A11D65565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483928"/>
              </p:ext>
            </p:extLst>
          </p:nvPr>
        </p:nvGraphicFramePr>
        <p:xfrm>
          <a:off x="571499" y="1417638"/>
          <a:ext cx="8115301" cy="31474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2544">
                  <a:extLst>
                    <a:ext uri="{9D8B030D-6E8A-4147-A177-3AD203B41FA5}">
                      <a16:colId xmlns:a16="http://schemas.microsoft.com/office/drawing/2014/main" val="849093019"/>
                    </a:ext>
                  </a:extLst>
                </a:gridCol>
                <a:gridCol w="5392757">
                  <a:extLst>
                    <a:ext uri="{9D8B030D-6E8A-4147-A177-3AD203B41FA5}">
                      <a16:colId xmlns:a16="http://schemas.microsoft.com/office/drawing/2014/main" val="2269218144"/>
                    </a:ext>
                  </a:extLst>
                </a:gridCol>
              </a:tblGrid>
              <a:tr h="404209">
                <a:tc>
                  <a:txBody>
                    <a:bodyPr/>
                    <a:lstStyle/>
                    <a:p>
                      <a:pPr algn="ctr"/>
                      <a:r>
                        <a:rPr lang="ru-RU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Риск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Митигация</a:t>
                      </a:r>
                      <a:endParaRPr lang="en" sz="1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865120"/>
                  </a:ext>
                </a:extLst>
              </a:tr>
              <a:tr h="725901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b="0" dirty="0">
                          <a:latin typeface="+mn-lt"/>
                        </a:rPr>
                        <a:t>Vendor lock-in</a:t>
                      </a:r>
                      <a:r>
                        <a:rPr lang="ru-RU" sz="1200" b="0" dirty="0">
                          <a:latin typeface="+mn-lt"/>
                        </a:rPr>
                        <a:t> - в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ендор блокирует:</a:t>
                      </a:r>
                    </a:p>
                    <a:p>
                      <a:pPr marL="171450" marR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n-prem;</a:t>
                      </a:r>
                    </a:p>
                    <a:p>
                      <a:pPr marL="171450" marR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Pricing;</a:t>
                      </a:r>
                    </a:p>
                    <a:p>
                      <a:pPr marL="171450" marR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Roadmap;</a:t>
                      </a:r>
                    </a:p>
                    <a:p>
                      <a:pPr marL="171450" marR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Потеря стратегического контроля.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Контрактно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зафиксированы:</a:t>
                      </a:r>
                    </a:p>
                    <a:p>
                      <a:pPr marL="171450" marR="0" lvl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права </a:t>
                      </a: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on-prem 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дистрибуции,</a:t>
                      </a:r>
                    </a:p>
                    <a:p>
                      <a:pPr marL="171450" marR="0" lvl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white-label / co-branding,</a:t>
                      </a:r>
                    </a:p>
                    <a:p>
                      <a:pPr marL="171450" marR="0" lvl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exit-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сценарии.</a:t>
                      </a: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Архитектура:</a:t>
                      </a:r>
                    </a:p>
                    <a:p>
                      <a:pPr marL="171450" marR="0" lvl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container-based,</a:t>
                      </a:r>
                    </a:p>
                    <a:p>
                      <a:pPr marL="171450" marR="0" lvl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cloud-agnostic.</a:t>
                      </a:r>
                    </a:p>
                    <a:p>
                      <a:pPr marL="171450" marR="0" lvl="0" indent="-17145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Short-list 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альтернативных вендоров.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564254"/>
                  </a:ext>
                </a:extLst>
              </a:tr>
              <a:tr h="725901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+mn-lt"/>
                        </a:rPr>
                        <a:t>Конфликт продаж с вендором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dirty="0">
                          <a:latin typeface="+mn-lt"/>
                        </a:rPr>
                        <a:t>Вендор начинает прямые продажи </a:t>
                      </a:r>
                      <a:r>
                        <a:rPr lang="en" sz="1200" b="0" dirty="0">
                          <a:latin typeface="+mn-lt"/>
                        </a:rPr>
                        <a:t>enterprise-</a:t>
                      </a:r>
                      <a:r>
                        <a:rPr lang="ru-RU" sz="1200" b="0" dirty="0">
                          <a:latin typeface="+mn-lt"/>
                        </a:rPr>
                        <a:t>клиентам</a:t>
                      </a:r>
                      <a:r>
                        <a:rPr lang="en-US" sz="1200" b="0" dirty="0">
                          <a:latin typeface="+mn-lt"/>
                        </a:rPr>
                        <a:t>;</a:t>
                      </a:r>
                      <a:endParaRPr lang="ru-RU" sz="1200" b="0" dirty="0"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dirty="0">
                          <a:latin typeface="+mn-lt"/>
                        </a:rPr>
                        <a:t>Конфликт интересов и потеря сделок.</a:t>
                      </a:r>
                    </a:p>
                    <a:p>
                      <a:pPr marL="0" algn="l" defTabSz="457200" rtl="0" eaLnBrk="1" fontAlgn="b" latinLnBrk="0" hangingPunct="1"/>
                      <a:endParaRPr lang="en" sz="12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+mn-lt"/>
                        </a:rPr>
                        <a:t>Чёткое разделение ролей: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dirty="0">
                          <a:latin typeface="+mn-lt"/>
                        </a:rPr>
                        <a:t>мы — </a:t>
                      </a:r>
                      <a:r>
                        <a:rPr lang="en" sz="1200" b="0" dirty="0">
                          <a:latin typeface="+mn-lt"/>
                        </a:rPr>
                        <a:t>sales owner,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dirty="0">
                          <a:latin typeface="+mn-lt"/>
                        </a:rPr>
                        <a:t>вендор — </a:t>
                      </a:r>
                      <a:r>
                        <a:rPr lang="en" sz="1200" b="0" dirty="0">
                          <a:latin typeface="+mn-lt"/>
                        </a:rPr>
                        <a:t>product owner.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dirty="0">
                          <a:latin typeface="+mn-lt"/>
                        </a:rPr>
                        <a:t>Запрет прямых продаж в наших аккаунтах.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639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158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821" y="3056339"/>
            <a:ext cx="8229600" cy="1143000"/>
          </a:xfrm>
        </p:spPr>
        <p:txBody>
          <a:bodyPr>
            <a:normAutofit/>
          </a:bodyPr>
          <a:lstStyle/>
          <a:p>
            <a:r>
              <a:rPr lang="en-US" sz="5400" dirty="0"/>
              <a:t>Backup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2205866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Распределение выручки экосистем</a:t>
            </a:r>
            <a:br>
              <a:rPr lang="ru-RU" dirty="0"/>
            </a:br>
            <a:r>
              <a:rPr lang="en" dirty="0"/>
              <a:t>IVA</a:t>
            </a:r>
            <a:r>
              <a:rPr lang="ru-RU" dirty="0"/>
              <a:t> </a:t>
            </a:r>
            <a:r>
              <a:rPr lang="en" dirty="0"/>
              <a:t>Technologies, </a:t>
            </a:r>
            <a:r>
              <a:rPr lang="en" dirty="0" err="1"/>
              <a:t>TrueConf</a:t>
            </a:r>
            <a:r>
              <a:rPr lang="ru-RU" dirty="0"/>
              <a:t> 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z="1200" smtClean="0"/>
              <a:pPr/>
              <a:t>23</a:t>
            </a:fld>
            <a:endParaRPr lang="ru-RU" sz="1200" dirty="0"/>
          </a:p>
        </p:txBody>
      </p:sp>
      <p:sp>
        <p:nvSpPr>
          <p:cNvPr id="4" name="Rectangle 114">
            <a:extLst>
              <a:ext uri="{FF2B5EF4-FFF2-40B4-BE49-F238E27FC236}">
                <a16:creationId xmlns:a16="http://schemas.microsoft.com/office/drawing/2014/main" id="{CCADA6F7-256A-6B58-ABED-3359EB0DCC8E}"/>
              </a:ext>
            </a:extLst>
          </p:cNvPr>
          <p:cNvSpPr/>
          <p:nvPr/>
        </p:nvSpPr>
        <p:spPr>
          <a:xfrm>
            <a:off x="2752335" y="4481070"/>
            <a:ext cx="3418845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Распределение выручки </a:t>
            </a: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TrueConf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2023</a:t>
            </a:r>
          </a:p>
        </p:txBody>
      </p:sp>
      <p:graphicFrame>
        <p:nvGraphicFramePr>
          <p:cNvPr id="5" name="Table 59">
            <a:extLst>
              <a:ext uri="{FF2B5EF4-FFF2-40B4-BE49-F238E27FC236}">
                <a16:creationId xmlns:a16="http://schemas.microsoft.com/office/drawing/2014/main" id="{258608F9-98EF-970C-B2E2-9EFA72E4940F}"/>
              </a:ext>
            </a:extLst>
          </p:cNvPr>
          <p:cNvGraphicFramePr>
            <a:graphicFrameLocks noGrp="1"/>
          </p:cNvGraphicFramePr>
          <p:nvPr/>
        </p:nvGraphicFramePr>
        <p:xfrm>
          <a:off x="2334367" y="4759398"/>
          <a:ext cx="3590074" cy="1184572"/>
        </p:xfrm>
        <a:graphic>
          <a:graphicData uri="http://schemas.openxmlformats.org/drawingml/2006/table">
            <a:tbl>
              <a:tblPr/>
              <a:tblGrid>
                <a:gridCol w="953634">
                  <a:extLst>
                    <a:ext uri="{9D8B030D-6E8A-4147-A177-3AD203B41FA5}">
                      <a16:colId xmlns:a16="http://schemas.microsoft.com/office/drawing/2014/main" val="2421104426"/>
                    </a:ext>
                  </a:extLst>
                </a:gridCol>
                <a:gridCol w="1452608">
                  <a:extLst>
                    <a:ext uri="{9D8B030D-6E8A-4147-A177-3AD203B41FA5}">
                      <a16:colId xmlns:a16="http://schemas.microsoft.com/office/drawing/2014/main" val="1812308886"/>
                    </a:ext>
                  </a:extLst>
                </a:gridCol>
                <a:gridCol w="1183832">
                  <a:extLst>
                    <a:ext uri="{9D8B030D-6E8A-4147-A177-3AD203B41FA5}">
                      <a16:colId xmlns:a16="http://schemas.microsoft.com/office/drawing/2014/main" val="77224746"/>
                    </a:ext>
                  </a:extLst>
                </a:gridCol>
              </a:tblGrid>
              <a:tr h="177306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Продукт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Выручка, млрд руб.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Доля, </a:t>
                      </a:r>
                      <a:r>
                        <a:rPr lang="en-US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%</a:t>
                      </a:r>
                      <a:endParaRPr lang="ru-RU" sz="1200" b="1" i="0" u="none" strike="noStrike" dirty="0">
                        <a:solidFill>
                          <a:schemeClr val="bg2"/>
                        </a:solidFill>
                        <a:effectLst/>
                        <a:latin typeface="SF Pro Text Light (Body)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078677"/>
                  </a:ext>
                </a:extLst>
              </a:tr>
              <a:tr h="241423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ВКС </a:t>
                      </a:r>
                      <a:r>
                        <a:rPr lang="en-US" sz="1200" dirty="0">
                          <a:effectLst/>
                        </a:rPr>
                        <a:t>On-Prem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2,57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>
                          <a:effectLst/>
                        </a:rPr>
                        <a:t>75,6%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7302020"/>
                  </a:ext>
                </a:extLst>
              </a:tr>
              <a:tr h="241423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ВКС - </a:t>
                      </a:r>
                      <a:r>
                        <a:rPr lang="en-US" sz="1200" dirty="0">
                          <a:effectLst/>
                        </a:rPr>
                        <a:t>SaaS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0,26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7,6%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8127611"/>
                  </a:ext>
                </a:extLst>
              </a:tr>
              <a:tr h="24142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Мессенджер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0,58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17,0%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6537177"/>
                  </a:ext>
                </a:extLst>
              </a:tr>
              <a:tr h="24142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effectLst/>
                        </a:rPr>
                        <a:t>Всего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1" dirty="0">
                          <a:effectLst/>
                        </a:rPr>
                        <a:t>3,41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ru-RU" sz="1200" b="1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3496853"/>
                  </a:ext>
                </a:extLst>
              </a:tr>
            </a:tbl>
          </a:graphicData>
        </a:graphic>
      </p:graphicFrame>
      <p:sp>
        <p:nvSpPr>
          <p:cNvPr id="6" name="Rectangle 114">
            <a:extLst>
              <a:ext uri="{FF2B5EF4-FFF2-40B4-BE49-F238E27FC236}">
                <a16:creationId xmlns:a16="http://schemas.microsoft.com/office/drawing/2014/main" id="{551A68E0-2926-9935-274A-B1312ECA4FC7}"/>
              </a:ext>
            </a:extLst>
          </p:cNvPr>
          <p:cNvSpPr/>
          <p:nvPr/>
        </p:nvSpPr>
        <p:spPr>
          <a:xfrm>
            <a:off x="2334367" y="1512120"/>
            <a:ext cx="5711803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Прогноз распределения выручки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IVA Technologies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2024</a:t>
            </a:r>
          </a:p>
        </p:txBody>
      </p:sp>
      <p:graphicFrame>
        <p:nvGraphicFramePr>
          <p:cNvPr id="7" name="Table 59">
            <a:extLst>
              <a:ext uri="{FF2B5EF4-FFF2-40B4-BE49-F238E27FC236}">
                <a16:creationId xmlns:a16="http://schemas.microsoft.com/office/drawing/2014/main" id="{1C9DB983-D0F1-028F-0A7F-34CDFA4EEE94}"/>
              </a:ext>
            </a:extLst>
          </p:cNvPr>
          <p:cNvGraphicFramePr>
            <a:graphicFrameLocks noGrp="1"/>
          </p:cNvGraphicFramePr>
          <p:nvPr/>
        </p:nvGraphicFramePr>
        <p:xfrm>
          <a:off x="2347741" y="1747618"/>
          <a:ext cx="3576700" cy="2487568"/>
        </p:xfrm>
        <a:graphic>
          <a:graphicData uri="http://schemas.openxmlformats.org/drawingml/2006/table">
            <a:tbl>
              <a:tblPr/>
              <a:tblGrid>
                <a:gridCol w="1116753">
                  <a:extLst>
                    <a:ext uri="{9D8B030D-6E8A-4147-A177-3AD203B41FA5}">
                      <a16:colId xmlns:a16="http://schemas.microsoft.com/office/drawing/2014/main" val="2421104426"/>
                    </a:ext>
                  </a:extLst>
                </a:gridCol>
                <a:gridCol w="1469091">
                  <a:extLst>
                    <a:ext uri="{9D8B030D-6E8A-4147-A177-3AD203B41FA5}">
                      <a16:colId xmlns:a16="http://schemas.microsoft.com/office/drawing/2014/main" val="1812308886"/>
                    </a:ext>
                  </a:extLst>
                </a:gridCol>
                <a:gridCol w="990856">
                  <a:extLst>
                    <a:ext uri="{9D8B030D-6E8A-4147-A177-3AD203B41FA5}">
                      <a16:colId xmlns:a16="http://schemas.microsoft.com/office/drawing/2014/main" val="77224746"/>
                    </a:ext>
                  </a:extLst>
                </a:gridCol>
              </a:tblGrid>
              <a:tr h="177306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Продукт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Выручка, млрд руб.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Доля, </a:t>
                      </a:r>
                      <a:r>
                        <a:rPr lang="en-US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%</a:t>
                      </a:r>
                      <a:endParaRPr lang="ru-RU" sz="1200" b="1" i="0" u="none" strike="noStrike" dirty="0">
                        <a:solidFill>
                          <a:schemeClr val="bg2"/>
                        </a:solidFill>
                        <a:effectLst/>
                        <a:latin typeface="SF Pro Text Light (Body)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078677"/>
                  </a:ext>
                </a:extLst>
              </a:tr>
              <a:tr h="264277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ВКС </a:t>
                      </a:r>
                      <a:r>
                        <a:rPr lang="en-US" sz="1200" dirty="0">
                          <a:effectLst/>
                        </a:rPr>
                        <a:t>On-Prem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1,91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75,6%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7302020"/>
                  </a:ext>
                </a:extLst>
              </a:tr>
              <a:tr h="264277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ВКС - </a:t>
                      </a:r>
                      <a:r>
                        <a:rPr lang="en-US" sz="1200" dirty="0">
                          <a:effectLst/>
                        </a:rPr>
                        <a:t>SaaS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0,03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7,6%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8127611"/>
                  </a:ext>
                </a:extLst>
              </a:tr>
              <a:tr h="327151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Оборудование для ВКС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0,28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7,0%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6537177"/>
                  </a:ext>
                </a:extLst>
              </a:tr>
              <a:tr h="327151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Телефония ПО он-прем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0,16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4,3%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8963573"/>
                  </a:ext>
                </a:extLst>
              </a:tr>
              <a:tr h="327151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Оборудование </a:t>
                      </a:r>
                      <a:r>
                        <a:rPr lang="en" sz="1200" dirty="0">
                          <a:effectLst/>
                        </a:rPr>
                        <a:t>IP-</a:t>
                      </a:r>
                      <a:r>
                        <a:rPr lang="ru-RU" sz="1200" dirty="0">
                          <a:effectLst/>
                        </a:rPr>
                        <a:t>телефонии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0,10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4,2%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7281430"/>
                  </a:ext>
                </a:extLst>
              </a:tr>
              <a:tr h="264277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dirty="0">
                          <a:effectLst/>
                        </a:rPr>
                        <a:t>Мессенджер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0,05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1,3%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783774"/>
                  </a:ext>
                </a:extLst>
              </a:tr>
              <a:tr h="264277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b="1" dirty="0">
                          <a:effectLst/>
                        </a:rPr>
                        <a:t>Всего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b="1" dirty="0">
                          <a:effectLst/>
                        </a:rPr>
                        <a:t>2,52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ru-RU" sz="1200" b="1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1459639"/>
                  </a:ext>
                </a:extLst>
              </a:tr>
            </a:tbl>
          </a:graphicData>
        </a:graphic>
      </p:graphicFrame>
      <p:sp>
        <p:nvSpPr>
          <p:cNvPr id="10" name="Speech Bubble: Rectangle with Corners Rounded 241">
            <a:extLst>
              <a:ext uri="{FF2B5EF4-FFF2-40B4-BE49-F238E27FC236}">
                <a16:creationId xmlns:a16="http://schemas.microsoft.com/office/drawing/2014/main" id="{B3281D70-1382-B3E7-2C9F-8FC2920A1A03}"/>
              </a:ext>
            </a:extLst>
          </p:cNvPr>
          <p:cNvSpPr/>
          <p:nvPr/>
        </p:nvSpPr>
        <p:spPr>
          <a:xfrm>
            <a:off x="6372200" y="2549808"/>
            <a:ext cx="1009760" cy="307777"/>
          </a:xfrm>
          <a:prstGeom prst="wedgeRoundRectCallout">
            <a:avLst>
              <a:gd name="adj1" fmla="val -12656"/>
              <a:gd name="adj2" fmla="val 25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Данные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SBER CIB</a:t>
            </a:r>
            <a:endParaRPr kumimoji="0" lang="ru-RU" sz="120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Закрывающая квадратная скобка 10">
            <a:extLst>
              <a:ext uri="{FF2B5EF4-FFF2-40B4-BE49-F238E27FC236}">
                <a16:creationId xmlns:a16="http://schemas.microsoft.com/office/drawing/2014/main" id="{064189F4-04E3-B39E-A658-FAE4E31BE78A}"/>
              </a:ext>
            </a:extLst>
          </p:cNvPr>
          <p:cNvSpPr/>
          <p:nvPr/>
        </p:nvSpPr>
        <p:spPr>
          <a:xfrm>
            <a:off x="6125461" y="1978395"/>
            <a:ext cx="45719" cy="1450605"/>
          </a:xfrm>
          <a:prstGeom prst="rightBracket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Rectangle 66">
            <a:extLst>
              <a:ext uri="{FF2B5EF4-FFF2-40B4-BE49-F238E27FC236}">
                <a16:creationId xmlns:a16="http://schemas.microsoft.com/office/drawing/2014/main" id="{F3BA88C2-DC79-397A-88EF-4A09492D26D4}"/>
              </a:ext>
            </a:extLst>
          </p:cNvPr>
          <p:cNvSpPr/>
          <p:nvPr/>
        </p:nvSpPr>
        <p:spPr>
          <a:xfrm>
            <a:off x="254971" y="6180239"/>
            <a:ext cx="8442905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Отчет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IVA Technologies SBER CIB Pre-Deal Research, 2024. </a:t>
            </a:r>
            <a:endParaRPr lang="ru-RU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Доля продаж оборудования среди всех сделок по данным </a:t>
            </a:r>
            <a:r>
              <a:rPr kumimoji="0" lang="ru-RU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Контур.Закупки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8465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Распределение выручки </a:t>
            </a:r>
            <a:r>
              <a:rPr lang="ru-RU" dirty="0" err="1"/>
              <a:t>экоситем</a:t>
            </a:r>
            <a:r>
              <a:rPr lang="ru-RU" dirty="0"/>
              <a:t> - </a:t>
            </a:r>
            <a:br>
              <a:rPr lang="ru-RU" dirty="0"/>
            </a:br>
            <a:r>
              <a:rPr lang="en" dirty="0" err="1"/>
              <a:t>TrueConf</a:t>
            </a:r>
            <a:r>
              <a:rPr lang="en" dirty="0"/>
              <a:t>,</a:t>
            </a:r>
            <a:r>
              <a:rPr lang="ru-RU" dirty="0"/>
              <a:t> Р7</a:t>
            </a:r>
            <a:r>
              <a:rPr lang="en" dirty="0"/>
              <a:t> </a:t>
            </a:r>
            <a:r>
              <a:rPr lang="ru-RU" dirty="0"/>
              <a:t> </a:t>
            </a:r>
            <a:endParaRPr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EAB0F42-C367-1895-2DC7-2316C15A9C1B}"/>
              </a:ext>
            </a:extLst>
          </p:cNvPr>
          <p:cNvSpPr txBox="1">
            <a:spLocks/>
          </p:cNvSpPr>
          <p:nvPr/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z="1200" smtClean="0"/>
              <a:pPr/>
              <a:t>24</a:t>
            </a:fld>
            <a:endParaRPr lang="ru-RU" sz="1200" dirty="0"/>
          </a:p>
        </p:txBody>
      </p:sp>
      <p:sp>
        <p:nvSpPr>
          <p:cNvPr id="4" name="Rectangle 66">
            <a:extLst>
              <a:ext uri="{FF2B5EF4-FFF2-40B4-BE49-F238E27FC236}">
                <a16:creationId xmlns:a16="http://schemas.microsoft.com/office/drawing/2014/main" id="{82DC556E-F975-5353-11EC-C984C075C71C}"/>
              </a:ext>
            </a:extLst>
          </p:cNvPr>
          <p:cNvSpPr/>
          <p:nvPr/>
        </p:nvSpPr>
        <p:spPr>
          <a:xfrm>
            <a:off x="677897" y="6182322"/>
            <a:ext cx="7927954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Источники: </a:t>
            </a:r>
            <a:endParaRPr lang="ru-RU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Отчет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IVA Technologies SBER CIB Pre-Deal Research, 2024. </a:t>
            </a:r>
            <a:endParaRPr lang="ru-RU" sz="1200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Оценка выручки мессенджера на основе бенчмарка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IVA Technologies - 1,3% 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от общей выручки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114">
            <a:extLst>
              <a:ext uri="{FF2B5EF4-FFF2-40B4-BE49-F238E27FC236}">
                <a16:creationId xmlns:a16="http://schemas.microsoft.com/office/drawing/2014/main" id="{683ECE4F-9B7C-78C4-252B-B8CCAB39BE03}"/>
              </a:ext>
            </a:extLst>
          </p:cNvPr>
          <p:cNvSpPr/>
          <p:nvPr/>
        </p:nvSpPr>
        <p:spPr>
          <a:xfrm>
            <a:off x="1993932" y="3923447"/>
            <a:ext cx="3418845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Распределение выручки Р7, 2023</a:t>
            </a:r>
          </a:p>
        </p:txBody>
      </p:sp>
      <p:graphicFrame>
        <p:nvGraphicFramePr>
          <p:cNvPr id="6" name="Table 59">
            <a:extLst>
              <a:ext uri="{FF2B5EF4-FFF2-40B4-BE49-F238E27FC236}">
                <a16:creationId xmlns:a16="http://schemas.microsoft.com/office/drawing/2014/main" id="{C52143AB-C6C3-D82E-1FF4-235ADFE3F3EB}"/>
              </a:ext>
            </a:extLst>
          </p:cNvPr>
          <p:cNvGraphicFramePr>
            <a:graphicFrameLocks noGrp="1"/>
          </p:cNvGraphicFramePr>
          <p:nvPr/>
        </p:nvGraphicFramePr>
        <p:xfrm>
          <a:off x="1993932" y="4427823"/>
          <a:ext cx="4204494" cy="1276500"/>
        </p:xfrm>
        <a:graphic>
          <a:graphicData uri="http://schemas.openxmlformats.org/drawingml/2006/table">
            <a:tbl>
              <a:tblPr/>
              <a:tblGrid>
                <a:gridCol w="1116843">
                  <a:extLst>
                    <a:ext uri="{9D8B030D-6E8A-4147-A177-3AD203B41FA5}">
                      <a16:colId xmlns:a16="http://schemas.microsoft.com/office/drawing/2014/main" val="2421104426"/>
                    </a:ext>
                  </a:extLst>
                </a:gridCol>
                <a:gridCol w="1701213">
                  <a:extLst>
                    <a:ext uri="{9D8B030D-6E8A-4147-A177-3AD203B41FA5}">
                      <a16:colId xmlns:a16="http://schemas.microsoft.com/office/drawing/2014/main" val="1812308886"/>
                    </a:ext>
                  </a:extLst>
                </a:gridCol>
                <a:gridCol w="1386438">
                  <a:extLst>
                    <a:ext uri="{9D8B030D-6E8A-4147-A177-3AD203B41FA5}">
                      <a16:colId xmlns:a16="http://schemas.microsoft.com/office/drawing/2014/main" val="77224746"/>
                    </a:ext>
                  </a:extLst>
                </a:gridCol>
              </a:tblGrid>
              <a:tr h="252762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Продукт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Выручка, млрд руб.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Доля, </a:t>
                      </a:r>
                      <a:r>
                        <a:rPr lang="en-US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%</a:t>
                      </a:r>
                      <a:endParaRPr lang="ru-RU" sz="1200" b="1" i="0" u="none" strike="noStrike" dirty="0">
                        <a:solidFill>
                          <a:schemeClr val="bg2"/>
                        </a:solidFill>
                        <a:effectLst/>
                        <a:latin typeface="SF Pro Text Light (Body)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078677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dirty="0">
                          <a:effectLst/>
                        </a:rPr>
                        <a:t>SaaS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0,014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7302020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dirty="0">
                          <a:effectLst/>
                        </a:rPr>
                        <a:t>On-Prem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0,023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8127611"/>
                  </a:ext>
                </a:extLst>
              </a:tr>
              <a:tr h="341246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b="1" dirty="0">
                          <a:effectLst/>
                        </a:rPr>
                        <a:t>Всего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dirty="0">
                          <a:effectLst/>
                        </a:rPr>
                        <a:t>0,37</a:t>
                      </a:r>
                      <a:endParaRPr lang="ru-RU" sz="1200" b="1" baseline="300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5308709"/>
                  </a:ext>
                </a:extLst>
              </a:tr>
            </a:tbl>
          </a:graphicData>
        </a:graphic>
      </p:graphicFrame>
      <p:sp>
        <p:nvSpPr>
          <p:cNvPr id="7" name="Rectangle 114">
            <a:extLst>
              <a:ext uri="{FF2B5EF4-FFF2-40B4-BE49-F238E27FC236}">
                <a16:creationId xmlns:a16="http://schemas.microsoft.com/office/drawing/2014/main" id="{B4D2C98F-58F1-7D50-6DDF-E2331CD407C0}"/>
              </a:ext>
            </a:extLst>
          </p:cNvPr>
          <p:cNvSpPr/>
          <p:nvPr/>
        </p:nvSpPr>
        <p:spPr>
          <a:xfrm>
            <a:off x="1993932" y="1802122"/>
            <a:ext cx="3418845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Распределение выручки </a:t>
            </a: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TrueConf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2023</a:t>
            </a:r>
          </a:p>
        </p:txBody>
      </p:sp>
      <p:graphicFrame>
        <p:nvGraphicFramePr>
          <p:cNvPr id="8" name="Table 59">
            <a:extLst>
              <a:ext uri="{FF2B5EF4-FFF2-40B4-BE49-F238E27FC236}">
                <a16:creationId xmlns:a16="http://schemas.microsoft.com/office/drawing/2014/main" id="{4C22A0F3-B237-5758-18A6-6856586F2B49}"/>
              </a:ext>
            </a:extLst>
          </p:cNvPr>
          <p:cNvGraphicFramePr>
            <a:graphicFrameLocks noGrp="1"/>
          </p:cNvGraphicFramePr>
          <p:nvPr/>
        </p:nvGraphicFramePr>
        <p:xfrm>
          <a:off x="1993932" y="2306498"/>
          <a:ext cx="4188827" cy="1360533"/>
        </p:xfrm>
        <a:graphic>
          <a:graphicData uri="http://schemas.openxmlformats.org/drawingml/2006/table">
            <a:tbl>
              <a:tblPr/>
              <a:tblGrid>
                <a:gridCol w="1307877">
                  <a:extLst>
                    <a:ext uri="{9D8B030D-6E8A-4147-A177-3AD203B41FA5}">
                      <a16:colId xmlns:a16="http://schemas.microsoft.com/office/drawing/2014/main" val="2421104426"/>
                    </a:ext>
                  </a:extLst>
                </a:gridCol>
                <a:gridCol w="1720516">
                  <a:extLst>
                    <a:ext uri="{9D8B030D-6E8A-4147-A177-3AD203B41FA5}">
                      <a16:colId xmlns:a16="http://schemas.microsoft.com/office/drawing/2014/main" val="1812308886"/>
                    </a:ext>
                  </a:extLst>
                </a:gridCol>
                <a:gridCol w="1160434">
                  <a:extLst>
                    <a:ext uri="{9D8B030D-6E8A-4147-A177-3AD203B41FA5}">
                      <a16:colId xmlns:a16="http://schemas.microsoft.com/office/drawing/2014/main" val="77224746"/>
                    </a:ext>
                  </a:extLst>
                </a:gridCol>
              </a:tblGrid>
              <a:tr h="239889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Продукт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Выручка, млрд руб.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Доля, </a:t>
                      </a:r>
                      <a:r>
                        <a:rPr lang="en-US" sz="1200" b="1" i="0" u="none" strike="noStrike" dirty="0">
                          <a:solidFill>
                            <a:schemeClr val="bg2"/>
                          </a:solidFill>
                          <a:effectLst/>
                          <a:latin typeface="SF Pro Text Light (Body)"/>
                        </a:rPr>
                        <a:t>%</a:t>
                      </a:r>
                      <a:endParaRPr lang="ru-RU" sz="1200" b="1" i="0" u="none" strike="noStrike" dirty="0">
                        <a:solidFill>
                          <a:schemeClr val="bg2"/>
                        </a:solidFill>
                        <a:effectLst/>
                        <a:latin typeface="SF Pro Text Light (Body)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078677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dirty="0">
                          <a:effectLst/>
                        </a:rPr>
                        <a:t>SaaS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0,017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0763937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200" dirty="0">
                          <a:effectLst/>
                        </a:rPr>
                        <a:t>On-Prem</a:t>
                      </a:r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dirty="0">
                          <a:effectLst/>
                        </a:rPr>
                        <a:t>0,027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61%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580861"/>
                  </a:ext>
                </a:extLst>
              </a:tr>
              <a:tr h="373548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1200" b="1" dirty="0">
                          <a:effectLst/>
                        </a:rPr>
                        <a:t>Всего</a:t>
                      </a: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1" dirty="0">
                          <a:effectLst/>
                        </a:rPr>
                        <a:t>0,44</a:t>
                      </a:r>
                      <a:endParaRPr lang="ru-RU" sz="1200" b="1" baseline="300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ru-RU" sz="1200" dirty="0">
                        <a:effectLst/>
                      </a:endParaRPr>
                    </a:p>
                  </a:txBody>
                  <a:tcPr marL="28575" marR="28575" marT="19050" marB="1905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062154"/>
                  </a:ext>
                </a:extLst>
              </a:tr>
            </a:tbl>
          </a:graphicData>
        </a:graphic>
      </p:graphicFrame>
      <p:sp>
        <p:nvSpPr>
          <p:cNvPr id="10" name="Закрывающая квадратная скобка 9">
            <a:extLst>
              <a:ext uri="{FF2B5EF4-FFF2-40B4-BE49-F238E27FC236}">
                <a16:creationId xmlns:a16="http://schemas.microsoft.com/office/drawing/2014/main" id="{2E70412F-C264-816A-D86A-F64B9F4ABADB}"/>
              </a:ext>
            </a:extLst>
          </p:cNvPr>
          <p:cNvSpPr/>
          <p:nvPr/>
        </p:nvSpPr>
        <p:spPr>
          <a:xfrm>
            <a:off x="6246559" y="4775276"/>
            <a:ext cx="45719" cy="492831"/>
          </a:xfrm>
          <a:prstGeom prst="rightBracket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Закрывающая квадратная скобка 10">
            <a:extLst>
              <a:ext uri="{FF2B5EF4-FFF2-40B4-BE49-F238E27FC236}">
                <a16:creationId xmlns:a16="http://schemas.microsoft.com/office/drawing/2014/main" id="{470989AC-7326-E7AF-02FD-DB7AB1767A65}"/>
              </a:ext>
            </a:extLst>
          </p:cNvPr>
          <p:cNvSpPr/>
          <p:nvPr/>
        </p:nvSpPr>
        <p:spPr>
          <a:xfrm>
            <a:off x="6238194" y="2653951"/>
            <a:ext cx="45719" cy="492831"/>
          </a:xfrm>
          <a:prstGeom prst="rightBracket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Speech Bubble: Rectangle with Corners Rounded 241">
            <a:extLst>
              <a:ext uri="{FF2B5EF4-FFF2-40B4-BE49-F238E27FC236}">
                <a16:creationId xmlns:a16="http://schemas.microsoft.com/office/drawing/2014/main" id="{7025BEB0-FACD-17BA-653B-AF0BDBD9D0F2}"/>
              </a:ext>
            </a:extLst>
          </p:cNvPr>
          <p:cNvSpPr/>
          <p:nvPr/>
        </p:nvSpPr>
        <p:spPr>
          <a:xfrm>
            <a:off x="6270281" y="2675143"/>
            <a:ext cx="1068082" cy="1158786"/>
          </a:xfrm>
          <a:prstGeom prst="wedgeRoundRectCallout">
            <a:avLst>
              <a:gd name="adj1" fmla="val -12656"/>
              <a:gd name="adj2" fmla="val 25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Аппроксимация на основе распределения рынка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SaaS/On-Prem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ВКС</a:t>
            </a:r>
            <a:endParaRPr kumimoji="0" lang="ru-RU" sz="120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Speech Bubble: Rectangle with Corners Rounded 241">
            <a:extLst>
              <a:ext uri="{FF2B5EF4-FFF2-40B4-BE49-F238E27FC236}">
                <a16:creationId xmlns:a16="http://schemas.microsoft.com/office/drawing/2014/main" id="{37ADFA4A-AF3E-1893-7340-AF887548398B}"/>
              </a:ext>
            </a:extLst>
          </p:cNvPr>
          <p:cNvSpPr/>
          <p:nvPr/>
        </p:nvSpPr>
        <p:spPr>
          <a:xfrm>
            <a:off x="6303835" y="4796468"/>
            <a:ext cx="1068082" cy="1158786"/>
          </a:xfrm>
          <a:prstGeom prst="wedgeRoundRectCallout">
            <a:avLst>
              <a:gd name="adj1" fmla="val -12656"/>
              <a:gd name="adj2" fmla="val 25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Аппроксимация на основе распределения рынка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SaaS/On-Prem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ВКС</a:t>
            </a:r>
            <a:endParaRPr kumimoji="0" lang="ru-RU" sz="120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0820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cZXOfzn130bvDH_MHsR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cNNwagSx.yJ3rQOQeCS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cZXOfzn130bvDH_MHsR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cNNwagSx.yJ3rQOQeCS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jiEvsJ8q9rdLcOiWrUM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G6J3W1.CwR4UG0Hu.Vj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ajJcOQBb6v.UXI3NiV19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K.wyGX0UaWTH1NODSxVn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z94AXikLGUdJsL3Omkm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fry9uQs9GdDwuyTOl_m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4USfwRJUFRCf0qwcxE_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B5Q_TXMQDNS6yfzVtWY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xLP2tDxMtztrx0GnZv.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u03ux7UVql7QEYayZx5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5nxY3NYqaRz5fJaV72H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5udyhYFHH08Ga1.wMuxD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RJzUNXupsdE85OEKkTU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8Wi5cTJccocJx2v3Duk3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YjSk8JymX5snkmPlcLpI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3un5rawnjptPS4nmPE50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1szcfaNHmliOAPcWdxU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aeekuGa.gs1iu6VC1ei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wRMIfKqOcgEFeckYT_v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tXSGnK4O6HWB31.sFXN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yOWhVThepxPwgx3O7W7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xkRH5wHIghjFcuSmpT6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fY9Vin_.9LUYr_CyVfG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J9Ag4HhBgry0qqT4qcL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7ugo1xK9UCWRdvcz85S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jiEvsJ8q9rdLcOiWrUM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G6J3W1.CwR4UG0Hu.Vj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ajJcOQBb6v.UXI3NiV19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K.wyGX0UaWTH1NODSxVn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z94AXikLGUdJsL3Omkm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0zkMroWoKTfVWxf_b5k9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u03ux7UVql7QEYayZx5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Ey3SVLU1WeYicxKq3yU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QyI1gmGNgmA.O_ffkTA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fry9uQs9GdDwuyTOl_m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4USfwRJUFRCf0qwcxE_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w9CUoCAmIU72XnprO11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fpQu84Zyuhmqj9YIlOr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IXwDWrkkQxcTNhxOr2_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DNCNd7Sh_TPxB3w5ZXp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qOfUKTs.dkDE5Qd0xzb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QAToRyY.cZo6k3KfqtPd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NVJYhJD795dX.QAp9uy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Swd9vsCgTt4PYpD0EZc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IpM6ClVB6c566qdGVC.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N2B0WuVblPBSuWTxZkev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uLkNlHC1x82ON_1HBL.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bEifK9fdAff8A6aCN3c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pd9UBGQU025wC5esAB7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75S.2_DyQyTWJdQT7uAK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u03ux7UVql7QEYayZx5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TXa9Z9BZ3fO6sr3YUCE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rpzV35E4FVuEoddlIG8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WFhUrQgg9fb1IGQosk6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7lGuIKFQ8To8ePFAU5B6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YYCPek7BB1WQ7361_Wr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1GNIIHnh8bcIAT9cQ6D4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TO.ryRwM7wjhhefZD7Y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cuGuXuh7D7foUqQYaR8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vLZtYIPf6wY4ZUafaNT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DeIQgZjoqK5M8RqNCU4w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ANihjUJfUrHrXz.qeFE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Rzjd47E6bJ_KwwHzi1M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ZtI3PBG6buPoeu_zNIF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jfNHQ5vI0YxBRgiJ5GT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fY9Vin_.9LUYr_CyVfG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fry9uQs9GdDwuyTOl_m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4USfwRJUFRCf0qwcxE_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5FvPPaJ6T0ebui_Muc4Ug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wtQTB6HCVEtHmEoufse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ogz3lQc834zPwYobqEt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00Y3DjNkpCDA3UBNu5g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F5x5dQGiHS_6aFL3YlU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Swd9vsCgTt4PYpD0EZc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IpM6ClVB6c566qdGVC.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DLzu7AnG7xjoN5Db9R13A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OA_GMYQwbL.3Ynewgyy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SigYAtAPf4dkhdULLRa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cQLrMyTgG13Hj8lmZ03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bEifK9fdAff8A6aCN3cg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8d81TBLMoBp7T9MoTlN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DJPtcUnBdWSjo0Jx7Wpk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q.CcWQVQldhMVR4J68g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u03ux7UVql7QEYayZx5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a0.ARlnjUKZ5T6UI7VB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6nXlAOuJC0tS8ejdMV7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dyPQyJvAwtxwJOd.Iwz9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59OZWSYAZUk7hFQGetSBw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xxPfaUest9EIHR.QaPxw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KURjA3ZE4.8N4LmZxnx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fqX2LGhBxkBEGWx_Wjh0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PThJpHWxCsattebqDI2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H8ofDclw0ZNQRKJoROo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DeIQgZjoqK5M8RqNCU4w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Rzjd47E6bJ_KwwHzi1M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vLZtYIPf6wY4ZUafaNT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jfNHQ5vI0YxBRgiJ5GT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ANihjUJfUrHrXz.qeFE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Q0gFYyhUXUrHHdCIXF6A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7f1PFeJIwQaR_UvSGMT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ZtI3PBG6buPoeu_zNIF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fY9Vin_.9LUYr_CyVfG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w9CUoCAmIU72XnprO11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fpQu84Zyuhmqj9YIlOrw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IXwDWrkkQxcTNhxOr2_g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DNCNd7Sh_TPxB3w5ZXp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fry9uQs9GdDwuyTOl_mQ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4USfwRJUFRCf0qwcxE_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vT0EQ2hRt37T2g0_fmrQ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n_2xVgvdXgJOiTrJEPXw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poVMNkzX4ol3_Au9peDw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wkgM3UWhQMxCyjYtrPVw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n6f2uAx_PDJlzMz_C1I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4Qp0zktoRylk0js1h2zQ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GMbLDTxmEWbnkeO6aaP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GxupLq8Y_hacUXpzAgIw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SxL94Gv7pMxHtEkW7Ty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.0IsfueksYz2Z4k.G2bA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2EGdEIOwrNA96FOe0kaQ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A7Y9KQgB2wtPz3p2Y3HA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Tx9nthnM.Xvxz6ckqBGQ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iE4MyWOoENoxYIeoPoSw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9Tf4ZxuOSuISLH8i06Mrw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_PqyikQTETIe2PXc4woQg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n3zvwwAdaAub4SJaimpMg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0SGBON8TtDv5VkUrddfA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Ftg5UwJjM2q_yZ8RPPIA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TFy8gBstU1soBdgJJPcg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oYDwpsbLZWk5VihRoXfg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4CjIdtDhns_LWnnlHfRNw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1HdJZecqSzPBWUm0X.dA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xkqPqcAtAkHrfeVgcCqQ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K9ey6zk2czMrr1g.9Ngg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6NO_CfxDsYAiIkCRENXLw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qz.2PW_CrdUmFLndqquQ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pUk0N0Yx6Y1gP6fpXz6g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GD7qmi_D7QNtyKsI_vGQ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03H2ypkv0_OAiYzSps7w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wkgM3UWhQMxCyjYtrPVw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0J5AWVeJeZ5QknzfsBK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kqHzYBvoe0SJKDEQDU9g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WLdiv6HI73CwefdKNkOw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9GYSku88EjHHg53pdC4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TcGnYdhP0mFlECUGkMA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Y5InDjzv8ZUrTjbDfAJg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LRQew84.7gbJ9drQNFBg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KD6RGy2zj750gNmpEzNA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wC8CZH99hUlRpdaEu6WQ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FgfSL5hIzVB.F_S6o69A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ZoEMh7TD.IjP_EVvSpzQ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2wEHARj9QXezZ03YLJx4g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_VtzXkKVSqaxUsI1R9.g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wLuoAhusQLQ3JtZPXq2g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.GUJfNrzBNM1ZaQ8aAvjA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81RbwA9dOW9FgMHJG4Xg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92u_ppOL.zV4WnFwSvng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r1U9t4v3CPnCQ6ss0ew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ndFbZIzAlGieOuUUbWig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wKmfz8qk0psTlW2ZSQ7w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zdydCdNGIrfNoBaln5ig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UmfRTXbpPa0u_3vmEwxQ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CoA4hys3AHcQ7Whx3zkg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iVCJteBuw7_0JG6cOYUNQ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dqleZ8NXRrx0tNyVxAQbQ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RPvNWul1dFt10L5I2z0A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K5aiWsz1sivPSacSofeg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7tNw4vZ5I58TUuNJbbsQ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GaAM0McvuDv3F0iqUieg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kijkkeXbxflaYK6pgPiUQ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N3LcU_FZ5cees1kBcdjIA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sFMvFGj3bbS6e8K933.Qw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e70ZJ97yQh6iUop3Pajg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s1ANVUmRCExeEPAUkquA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0SGBON8TtDv5VkUrddfA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wkgM3UWhQMxCyjYtrPVw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A9femmwLuhJ4SFIltntQ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K5aiWsz1sivPSacSofeg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R3nzwjLkMChddOvcPmPQ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b6FRbx3vgr6R7KO5qBw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iVCJteBuw7_0JG6cOYUNQ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9sNGFRbF8X4ZrItGBSg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M8oNfCk5rgP2toMaBo9w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dqleZ8NXRrx0tNyVxAQbQ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QHrncKVfNmlsNrnlffFQ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3Ku3aV5Qp7ltoK7hXxfw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RPvNWul1dFt10L5I2z0A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_1sMW2RlZXIlPd6UXNIQ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tZ9YqEYshbqzDf4xeZ0g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7tNw4vZ5I58TUuNJbbsQ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2UBrfNnyOVicmaoPz9w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pKM_KKfGpTyGC53mj5Dw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Wyv0Vhyi1Ns.3jpgmgUA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9pGTwmBCGDArjeCHXAxAw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E3K1XV58KGur0jFPNTwg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WfnOfBGMYmzwTywstbiw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7fOzN.eddY4Fbnxul_Lw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A2PURwXy55.Lv3O3XDow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WHJKxddOn7Y3ORTLw7mg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BMG5sjizsL88vK02h8Lg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rhutTRypF3Zv9AQ_pOLQ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s1ANVUmRCExeEPAUkquA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6qEmYj4ejoabMpfYz0Cw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N4w.O1nYSjNm7jUiZ34g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e70ZJ97yQh6iUop3Pajg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N3LcU_FZ5cees1kBcdjIA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R_xW298YSkMWD1GVyCZOA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wkgM3UWhQMxCyjYtrPVw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GxGgsocrNPStqqexPvCg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mtLP3bIH3Nc0XstP43Q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NfMKWUGwYl9Rnr33xUTw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9jS4_ZjPXrwoHU3BRogg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mjPEeLkjbjB4Iwsei5IA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7AobZV.nd1p0DMEeH.vQ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r.cnAidJTLbtP2i8iGMA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_I02khyJZ.o1ZagHFtmw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tbX6oui2IMLnTN24obDQ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zFsfbTpqVmtPbGcDQwA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g6xuJpJ91MF.eJ4lU8QQ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Ohkd1EcMbVa9z.SGDLg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oV.RPcOG3o4YP3yE1KQQ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9yWf0U9QRmuhB9Mce0wQ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zJ4P2C4wOkbx.5alZuzQ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GaAM0McvuDv3F0iqUieg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mBUVZTUG2kaEyXC0Zhaw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kijkkeXbxflaYK6pgPiUQ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eAGn738TGWzzsw49iCJA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3spOsr9Jk045wwJpAlq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33371</TotalTime>
  <Words>5681</Words>
  <Application>Microsoft Macintosh PowerPoint</Application>
  <PresentationFormat>Экран (4:3)</PresentationFormat>
  <Paragraphs>1030</Paragraphs>
  <Slides>24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3" baseType="lpstr">
      <vt:lpstr>Arial</vt:lpstr>
      <vt:lpstr>Calibri</vt:lpstr>
      <vt:lpstr>Helvetica</vt:lpstr>
      <vt:lpstr>Montserrat</vt:lpstr>
      <vt:lpstr>Montserrat SemiBold</vt:lpstr>
      <vt:lpstr>SF Pro Text Light</vt:lpstr>
      <vt:lpstr>SF Pro Text Light (Body)</vt:lpstr>
      <vt:lpstr>Verdana</vt:lpstr>
      <vt:lpstr>Office Theme</vt:lpstr>
      <vt:lpstr>Стратегия направления  Unified Communications   2025-2030</vt:lpstr>
      <vt:lpstr>Executive summary</vt:lpstr>
      <vt:lpstr>Тренды и тенденции</vt:lpstr>
      <vt:lpstr>Объем рынка</vt:lpstr>
      <vt:lpstr>Объем рынка с учетом отложенного спроса</vt:lpstr>
      <vt:lpstr>Конкуренты </vt:lpstr>
      <vt:lpstr>Рынок Почтовых сервисов on-prem </vt:lpstr>
      <vt:lpstr>Рынок Почтовых сервисов SaaS</vt:lpstr>
      <vt:lpstr>Рынок ВКС сервисов on-prem </vt:lpstr>
      <vt:lpstr>Рынок ВКС сервисов SaaS</vt:lpstr>
      <vt:lpstr>Рынок Мессенджеров on-prem </vt:lpstr>
      <vt:lpstr>Рынок Мессенджеров SaaS</vt:lpstr>
      <vt:lpstr>Рынок On-Prem Офисного ПО on-prem </vt:lpstr>
      <vt:lpstr>Рынок On-Prem Офисного ПО SaaS</vt:lpstr>
      <vt:lpstr>Развилки</vt:lpstr>
      <vt:lpstr>Вывод</vt:lpstr>
      <vt:lpstr>SWOT анализ</vt:lpstr>
      <vt:lpstr>Модель экономики</vt:lpstr>
      <vt:lpstr>Стратегические треки</vt:lpstr>
      <vt:lpstr>KPI и метрики успеха</vt:lpstr>
      <vt:lpstr>Ключевые риски и митигация </vt:lpstr>
      <vt:lpstr>Backup</vt:lpstr>
      <vt:lpstr>Распределение выручки экосистем IVA Technologies, TrueConf </vt:lpstr>
      <vt:lpstr>Распределение выручки экоситем -  TrueConf, Р7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маркетплейса облачных приложений Турбо 2025–2030</dc:title>
  <dc:subject/>
  <dc:creator>Склабовский Сергей Юрьевич</dc:creator>
  <cp:keywords/>
  <dc:description>generated using python-pptx</dc:description>
  <cp:lastModifiedBy>Microsoft Office User</cp:lastModifiedBy>
  <cp:revision>43</cp:revision>
  <dcterms:created xsi:type="dcterms:W3CDTF">2013-01-27T09:14:16Z</dcterms:created>
  <dcterms:modified xsi:type="dcterms:W3CDTF">2026-01-30T09:04:20Z</dcterms:modified>
  <cp:category/>
</cp:coreProperties>
</file>