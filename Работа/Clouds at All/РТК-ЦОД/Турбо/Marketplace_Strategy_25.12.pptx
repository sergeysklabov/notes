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9" r:id="rId4"/>
    <p:sldId id="290" r:id="rId5"/>
    <p:sldId id="298" r:id="rId6"/>
    <p:sldId id="316" r:id="rId7"/>
    <p:sldId id="317" r:id="rId8"/>
    <p:sldId id="310" r:id="rId9"/>
    <p:sldId id="299" r:id="rId10"/>
    <p:sldId id="287" r:id="rId11"/>
    <p:sldId id="302" r:id="rId12"/>
    <p:sldId id="300" r:id="rId13"/>
    <p:sldId id="301" r:id="rId14"/>
    <p:sldId id="260" r:id="rId15"/>
    <p:sldId id="303" r:id="rId16"/>
    <p:sldId id="291" r:id="rId17"/>
    <p:sldId id="304" r:id="rId18"/>
    <p:sldId id="306" r:id="rId19"/>
    <p:sldId id="307" r:id="rId20"/>
    <p:sldId id="273" r:id="rId21"/>
    <p:sldId id="305" r:id="rId22"/>
    <p:sldId id="274" r:id="rId23"/>
    <p:sldId id="311" r:id="rId24"/>
    <p:sldId id="292" r:id="rId25"/>
    <p:sldId id="318" r:id="rId26"/>
    <p:sldId id="314" r:id="rId27"/>
    <p:sldId id="312" r:id="rId28"/>
    <p:sldId id="313" r:id="rId29"/>
    <p:sldId id="315" r:id="rId30"/>
    <p:sldId id="278" r:id="rId31"/>
    <p:sldId id="319" r:id="rId32"/>
    <p:sldId id="289" r:id="rId33"/>
    <p:sldId id="29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2900"/>
  </p:normalViewPr>
  <p:slideViewPr>
    <p:cSldViewPr snapToGrid="0" snapToObjects="1">
      <p:cViewPr varScale="1">
        <p:scale>
          <a:sx n="62" d="100"/>
          <a:sy n="62" d="100"/>
        </p:scale>
        <p:origin x="1256" y="2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usklabovskiy\AppData\Local\Microsoft\Windows\INetCache\Content.Outlook\K40J7TJ2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effectLst/>
              </a:rPr>
              <a:t>Российский рынок </a:t>
            </a:r>
            <a:r>
              <a:rPr lang="en">
                <a:effectLst/>
              </a:rPr>
              <a:t>public cloud </a:t>
            </a:r>
            <a:r>
              <a:rPr lang="ru-RU">
                <a:effectLst/>
              </a:rPr>
              <a:t>по основным типам решений,</a:t>
            </a:r>
            <a:r>
              <a:rPr lang="en-US" baseline="0">
                <a:effectLst/>
              </a:rPr>
              <a:t> </a:t>
            </a:r>
            <a:r>
              <a:rPr lang="ru-RU">
                <a:effectLst/>
              </a:rPr>
              <a:t>млрд руб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Рабочее!$B$84</c:f>
              <c:strCache>
                <c:ptCount val="1"/>
                <c:pt idx="0">
                  <c:v>IaaS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Рабочее!$C$83:$J$83</c:f>
              <c:numCache>
                <c:formatCode>General</c:formatCod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numCache>
            </c:numRef>
          </c:cat>
          <c:val>
            <c:numRef>
              <c:f>Рабочее!$C$84:$J$84</c:f>
              <c:numCache>
                <c:formatCode>0.0</c:formatCode>
                <c:ptCount val="8"/>
                <c:pt idx="0">
                  <c:v>100.8</c:v>
                </c:pt>
                <c:pt idx="1">
                  <c:v>135.5</c:v>
                </c:pt>
                <c:pt idx="2">
                  <c:v>185.5</c:v>
                </c:pt>
                <c:pt idx="3">
                  <c:v>241.3</c:v>
                </c:pt>
                <c:pt idx="4">
                  <c:v>304.5</c:v>
                </c:pt>
                <c:pt idx="5">
                  <c:v>378.9</c:v>
                </c:pt>
                <c:pt idx="6">
                  <c:v>467.9</c:v>
                </c:pt>
                <c:pt idx="7">
                  <c:v>573.70000000000005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4F-6043-97A8-2CCE34E15E51}"/>
            </c:ext>
          </c:extLst>
        </c:ser>
        <c:ser>
          <c:idx val="1"/>
          <c:order val="1"/>
          <c:tx>
            <c:strRef>
              <c:f>Рабочее!$B$85</c:f>
              <c:strCache>
                <c:ptCount val="1"/>
                <c:pt idx="0">
                  <c:v>PaaS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Рабочее!$C$83:$J$83</c:f>
              <c:numCache>
                <c:formatCode>General</c:formatCod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numCache>
            </c:numRef>
          </c:cat>
          <c:val>
            <c:numRef>
              <c:f>Рабочее!$C$85:$J$85</c:f>
              <c:numCache>
                <c:formatCode>0.0</c:formatCode>
                <c:ptCount val="8"/>
                <c:pt idx="0">
                  <c:v>20.7</c:v>
                </c:pt>
                <c:pt idx="1">
                  <c:v>32.9</c:v>
                </c:pt>
                <c:pt idx="2">
                  <c:v>42.7</c:v>
                </c:pt>
                <c:pt idx="3">
                  <c:v>54.9</c:v>
                </c:pt>
                <c:pt idx="4">
                  <c:v>70.099999999999994</c:v>
                </c:pt>
                <c:pt idx="5">
                  <c:v>88.8</c:v>
                </c:pt>
                <c:pt idx="6">
                  <c:v>111.6</c:v>
                </c:pt>
                <c:pt idx="7">
                  <c:v>139.5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4F-6043-97A8-2CCE34E15E51}"/>
            </c:ext>
          </c:extLst>
        </c:ser>
        <c:ser>
          <c:idx val="2"/>
          <c:order val="2"/>
          <c:tx>
            <c:strRef>
              <c:f>Рабочее!$B$86</c:f>
              <c:strCache>
                <c:ptCount val="1"/>
                <c:pt idx="0">
                  <c:v>SaaS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Рабочее!$C$83:$J$83</c:f>
              <c:numCache>
                <c:formatCode>General</c:formatCod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numCache>
            </c:numRef>
          </c:cat>
          <c:val>
            <c:numRef>
              <c:f>Рабочее!$C$86:$J$86</c:f>
              <c:numCache>
                <c:formatCode>0.0</c:formatCode>
                <c:ptCount val="8"/>
                <c:pt idx="0">
                  <c:v>121.2</c:v>
                </c:pt>
                <c:pt idx="1">
                  <c:v>153.80000000000001</c:v>
                </c:pt>
                <c:pt idx="2">
                  <c:v>190.7</c:v>
                </c:pt>
                <c:pt idx="3">
                  <c:v>235.5</c:v>
                </c:pt>
                <c:pt idx="4">
                  <c:v>289.7</c:v>
                </c:pt>
                <c:pt idx="5">
                  <c:v>354.9</c:v>
                </c:pt>
                <c:pt idx="6">
                  <c:v>433</c:v>
                </c:pt>
                <c:pt idx="7">
                  <c:v>528.20000000000005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4F-6043-97A8-2CCE34E15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16045984"/>
        <c:axId val="1616677904"/>
      </c:barChart>
      <c:catAx>
        <c:axId val="1616045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6677904"/>
        <c:crosses val="autoZero"/>
        <c:auto val="1"/>
        <c:lblAlgn val="ctr"/>
        <c:lblOffset val="100"/>
        <c:noMultiLvlLbl val="0"/>
      </c:catAx>
      <c:valAx>
        <c:axId val="161667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604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 dirty="0"/>
              <a:t>Объем рынка </a:t>
            </a:r>
            <a:r>
              <a:rPr lang="en-US" sz="1400" b="0" i="0" u="none" strike="noStrike" baseline="0" dirty="0"/>
              <a:t>PaaS </a:t>
            </a:r>
            <a:r>
              <a:rPr lang="ru-RU" sz="1400" b="0" i="0" u="none" strike="noStrike" baseline="0" dirty="0"/>
              <a:t>на 2024 год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27-45FA-98B7-85EB9D078D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27-45FA-98B7-85EB9D078D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27-45FA-98B7-85EB9D078D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727-45FA-98B7-85EB9D078DD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727-45FA-98B7-85EB9D078D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Рабочее!$M$104:$M$108</c:f>
              <c:strCache>
                <c:ptCount val="5"/>
                <c:pt idx="0">
                  <c:v>Cloud.ru</c:v>
                </c:pt>
                <c:pt idx="1">
                  <c:v>Yandex.Cloud</c:v>
                </c:pt>
                <c:pt idx="2">
                  <c:v>T1 Cloud</c:v>
                </c:pt>
                <c:pt idx="3">
                  <c:v>Публичное Облако РТК</c:v>
                </c:pt>
                <c:pt idx="4">
                  <c:v>Прочие</c:v>
                </c:pt>
              </c:strCache>
            </c:strRef>
          </c:cat>
          <c:val>
            <c:numRef>
              <c:f>Рабочее!$N$104:$N$108</c:f>
              <c:numCache>
                <c:formatCode>0.00%</c:formatCode>
                <c:ptCount val="5"/>
                <c:pt idx="0">
                  <c:v>0.35</c:v>
                </c:pt>
                <c:pt idx="1">
                  <c:v>0.31</c:v>
                </c:pt>
                <c:pt idx="2">
                  <c:v>5.2999999999999999E-2</c:v>
                </c:pt>
                <c:pt idx="3">
                  <c:v>1.2E-2</c:v>
                </c:pt>
                <c:pt idx="4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27-45FA-98B7-85EB9D078D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Q3.</a:t>
            </a:r>
            <a:r>
              <a:rPr lang="ru-RU"/>
              <a:t>2025, доля в % от объема рынка </a:t>
            </a:r>
            <a:r>
              <a:rPr lang="en"/>
              <a:t>PaaS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Рабочее!$A$173:$A$186</c:f>
              <c:strCache>
                <c:ptCount val="14"/>
                <c:pt idx="0">
                  <c:v>MLOps (платформы для разработки моделей машинного обучения)</c:v>
                </c:pt>
                <c:pt idx="1">
                  <c:v>Платформы для баз данных (DBaaS)</c:v>
                </c:pt>
                <c:pt idx="2">
                  <c:v>Управление контейнерами (включая Kubernetes)</c:v>
                </c:pt>
                <c:pt idx="3">
                  <c:v>Сети доставки контента (CDN)</c:v>
                </c:pt>
                <c:pt idx="4">
                  <c:v>Виртуальный хостинг сайтов (Web-хостинг)</c:v>
                </c:pt>
                <c:pt idx="5">
                  <c:v>Синтез и распознавание речи (включая ASR/TTS, NLP, перевод, речевая …</c:v>
                </c:pt>
                <c:pt idx="6">
                  <c:v>Платформы для комплексной работы с Big Data</c:v>
                </c:pt>
                <c:pt idx="7">
                  <c:v>Распознавание изображений, видео и документов</c:v>
                </c:pt>
                <c:pt idx="8">
                  <c:v>Платформы для разработчиков, микросервисы</c:v>
                </c:pt>
                <c:pt idx="9">
                  <c:v>ИИ-поиск (Search &amp; Knowledge Discovery)</c:v>
                </c:pt>
                <c:pt idx="10">
                  <c:v>Communication PaaS (CPaaS), API Gateway</c:v>
                </c:pt>
                <c:pt idx="11">
                  <c:v>Доступ у услугам PaaS зарубежных гиперскейлеров</c:v>
                </c:pt>
                <c:pt idx="12">
                  <c:v>Платформы для аналитики данных (BI)</c:v>
                </c:pt>
                <c:pt idx="13">
                  <c:v>Другое</c:v>
                </c:pt>
              </c:strCache>
            </c:strRef>
          </c:cat>
          <c:val>
            <c:numRef>
              <c:f>Рабочее!$B$173:$B$186</c:f>
              <c:numCache>
                <c:formatCode>0.00%</c:formatCode>
                <c:ptCount val="14"/>
                <c:pt idx="0">
                  <c:v>0.40500000000000003</c:v>
                </c:pt>
                <c:pt idx="1">
                  <c:v>0.223</c:v>
                </c:pt>
                <c:pt idx="2">
                  <c:v>0.17</c:v>
                </c:pt>
                <c:pt idx="3">
                  <c:v>9.0999999999999998E-2</c:v>
                </c:pt>
                <c:pt idx="4">
                  <c:v>2.8000000000000001E-2</c:v>
                </c:pt>
                <c:pt idx="5">
                  <c:v>2.5999999999999999E-2</c:v>
                </c:pt>
                <c:pt idx="6">
                  <c:v>2.1999999999999999E-2</c:v>
                </c:pt>
                <c:pt idx="7">
                  <c:v>0.01</c:v>
                </c:pt>
                <c:pt idx="8">
                  <c:v>7.0000000000000001E-3</c:v>
                </c:pt>
                <c:pt idx="9">
                  <c:v>4.0000000000000001E-3</c:v>
                </c:pt>
                <c:pt idx="10">
                  <c:v>3.0000000000000001E-3</c:v>
                </c:pt>
                <c:pt idx="11">
                  <c:v>1E-3</c:v>
                </c:pt>
                <c:pt idx="12">
                  <c:v>4.0000000000000002E-4</c:v>
                </c:pt>
                <c:pt idx="1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99-BB44-9373-D373FBAC5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66465200"/>
        <c:axId val="2065830928"/>
      </c:barChart>
      <c:catAx>
        <c:axId val="2066465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65830928"/>
        <c:crosses val="autoZero"/>
        <c:auto val="1"/>
        <c:lblAlgn val="ctr"/>
        <c:lblOffset val="100"/>
        <c:noMultiLvlLbl val="0"/>
      </c:catAx>
      <c:valAx>
        <c:axId val="20658309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66465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Q3.</a:t>
            </a:r>
            <a:r>
              <a:rPr lang="ru-RU"/>
              <a:t>2025 , доля в % от объема рынка</a:t>
            </a:r>
            <a:r>
              <a:rPr lang="en-US" baseline="0"/>
              <a:t> </a:t>
            </a:r>
            <a:r>
              <a:rPr lang="en"/>
              <a:t>SaaS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Рабочее!$A$154:$A$169</c:f>
              <c:strCache>
                <c:ptCount val="16"/>
                <c:pt idx="0">
                  <c:v>Офисные программы, графич. ред. и т.п.</c:v>
                </c:pt>
                <c:pt idx="1">
                  <c:v>Облачный диск</c:v>
                </c:pt>
                <c:pt idx="2">
                  <c:v>Почта, конструкторы сайтов, CMS, чаты</c:v>
                </c:pt>
                <c:pt idx="3">
                  <c:v>Видеоконференции, вебинары</c:v>
                </c:pt>
                <c:pt idx="4">
                  <c:v>ERP, SCM, отдельные элементы</c:v>
                </c:pt>
                <c:pt idx="5">
                  <c:v>Виртуальные АТС, облачные call-центры</c:v>
                </c:pt>
                <c:pt idx="6">
                  <c:v>Облачное видеонаблюдение</c:v>
                </c:pt>
                <c:pt idx="7">
                  <c:v>Управление персоналом, системы обучения</c:v>
                </c:pt>
                <c:pt idx="8">
                  <c:v>Другое</c:v>
                </c:pt>
                <c:pt idx="9">
                  <c:v>Анализ сайтов, соц. сетей</c:v>
                </c:pt>
                <c:pt idx="10">
                  <c:v>Антивирусы и системы безопасности</c:v>
                </c:pt>
                <c:pt idx="11">
                  <c:v>CRM, отдельные элементы</c:v>
                </c:pt>
                <c:pt idx="12">
                  <c:v>Бухгалтерский учет, системы отчетности, ЭДО</c:v>
                </c:pt>
                <c:pt idx="13">
                  <c:v>Системы бизнес-аналитики, проведение опросов</c:v>
                </c:pt>
                <c:pt idx="14">
                  <c:v>Конструкторы сайтов, CMS</c:v>
                </c:pt>
                <c:pt idx="15">
                  <c:v>Другое</c:v>
                </c:pt>
              </c:strCache>
            </c:strRef>
          </c:cat>
          <c:val>
            <c:numRef>
              <c:f>Рабочее!$B$154:$B$169</c:f>
              <c:numCache>
                <c:formatCode>0.00%</c:formatCode>
                <c:ptCount val="16"/>
                <c:pt idx="0">
                  <c:v>0.28299999999999997</c:v>
                </c:pt>
                <c:pt idx="1">
                  <c:v>0.20599999999999999</c:v>
                </c:pt>
                <c:pt idx="2">
                  <c:v>0.151</c:v>
                </c:pt>
                <c:pt idx="3">
                  <c:v>0.13700000000000001</c:v>
                </c:pt>
                <c:pt idx="4">
                  <c:v>4.5999999999999999E-2</c:v>
                </c:pt>
                <c:pt idx="5">
                  <c:v>0.04</c:v>
                </c:pt>
                <c:pt idx="6">
                  <c:v>3.3000000000000002E-2</c:v>
                </c:pt>
                <c:pt idx="7">
                  <c:v>2.5000000000000001E-2</c:v>
                </c:pt>
                <c:pt idx="8">
                  <c:v>1.9E-2</c:v>
                </c:pt>
                <c:pt idx="9">
                  <c:v>1.2999999999999999E-2</c:v>
                </c:pt>
                <c:pt idx="10">
                  <c:v>1.0999999999999999E-2</c:v>
                </c:pt>
                <c:pt idx="11">
                  <c:v>0.01</c:v>
                </c:pt>
                <c:pt idx="12">
                  <c:v>7.0000000000000001E-3</c:v>
                </c:pt>
                <c:pt idx="13">
                  <c:v>5.0000000000000001E-3</c:v>
                </c:pt>
                <c:pt idx="14">
                  <c:v>2E-3</c:v>
                </c:pt>
                <c:pt idx="15">
                  <c:v>1.3000000000000001E-2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8E-CA49-A815-03A0A54B5D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41904832"/>
        <c:axId val="2041942112"/>
      </c:barChart>
      <c:catAx>
        <c:axId val="204190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41942112"/>
        <c:crosses val="autoZero"/>
        <c:auto val="1"/>
        <c:lblAlgn val="ctr"/>
        <c:lblOffset val="100"/>
        <c:noMultiLvlLbl val="0"/>
      </c:catAx>
      <c:valAx>
        <c:axId val="2041942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4190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0.44034</cdr:x>
      <cdr:y>0.51843</cdr:y>
    </cdr:from>
    <cdr:to>
      <cdr:x>0.49222</cdr:x>
      <cdr:y>0.57556</cdr:y>
    </cdr:to>
    <cdr:sp macro="" textlink="">
      <cdr:nvSpPr>
        <cdr:cNvPr id="2" name="Текст 4">
          <a:extLst xmlns:a="http://schemas.openxmlformats.org/drawingml/2006/main">
            <a:ext uri="{FF2B5EF4-FFF2-40B4-BE49-F238E27FC236}">
              <a16:creationId xmlns:a16="http://schemas.microsoft.com/office/drawing/2014/main" id="{E9573260-2336-4AA7-80D4-470BBD0601D2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3623789" y="2132170"/>
          <a:ext cx="427003" cy="23496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en-US" sz="1400" dirty="0"/>
            <a:t>531,7</a:t>
          </a:r>
          <a:endParaRPr lang="ru-RU" sz="1800" dirty="0"/>
        </a:p>
      </cdr:txBody>
    </cdr:sp>
  </cdr:relSizeAnchor>
  <cdr:relSizeAnchor xmlns:cdr="http://schemas.openxmlformats.org/drawingml/2006/chartDrawing">
    <cdr:from>
      <cdr:x>0.3249</cdr:x>
      <cdr:y>0.57525</cdr:y>
    </cdr:from>
    <cdr:to>
      <cdr:x>0.37679</cdr:x>
      <cdr:y>0.63238</cdr:y>
    </cdr:to>
    <cdr:sp macro="" textlink="">
      <cdr:nvSpPr>
        <cdr:cNvPr id="3" name="Текст 4">
          <a:extLst xmlns:a="http://schemas.openxmlformats.org/drawingml/2006/main">
            <a:ext uri="{FF2B5EF4-FFF2-40B4-BE49-F238E27FC236}">
              <a16:creationId xmlns:a16="http://schemas.microsoft.com/office/drawing/2014/main" id="{D402248D-10F1-4731-A429-9627F8F20B75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2673829" y="2365850"/>
          <a:ext cx="427003" cy="23496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en-US" sz="1400" dirty="0"/>
            <a:t>419,2</a:t>
          </a:r>
          <a:endParaRPr lang="ru-RU" sz="1800" dirty="0"/>
        </a:p>
      </cdr:txBody>
    </cdr:sp>
  </cdr:relSizeAnchor>
  <cdr:relSizeAnchor xmlns:cdr="http://schemas.openxmlformats.org/drawingml/2006/chartDrawing">
    <cdr:from>
      <cdr:x>0.21009</cdr:x>
      <cdr:y>0.62465</cdr:y>
    </cdr:from>
    <cdr:to>
      <cdr:x>0.26198</cdr:x>
      <cdr:y>0.68178</cdr:y>
    </cdr:to>
    <cdr:sp macro="" textlink="">
      <cdr:nvSpPr>
        <cdr:cNvPr id="4" name="Текст 4">
          <a:extLst xmlns:a="http://schemas.openxmlformats.org/drawingml/2006/main">
            <a:ext uri="{FF2B5EF4-FFF2-40B4-BE49-F238E27FC236}">
              <a16:creationId xmlns:a16="http://schemas.microsoft.com/office/drawing/2014/main" id="{5FB34573-4117-410E-A950-524E8D1FB9A5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1728949" y="2569050"/>
          <a:ext cx="427003" cy="23496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en-US" sz="1400" dirty="0"/>
            <a:t>322,3</a:t>
          </a:r>
          <a:endParaRPr lang="ru-RU" sz="1800" dirty="0"/>
        </a:p>
      </cdr:txBody>
    </cdr:sp>
  </cdr:relSizeAnchor>
  <cdr:relSizeAnchor xmlns:cdr="http://schemas.openxmlformats.org/drawingml/2006/chartDrawing">
    <cdr:from>
      <cdr:x>0.09157</cdr:x>
      <cdr:y>0.66788</cdr:y>
    </cdr:from>
    <cdr:to>
      <cdr:x>0.14346</cdr:x>
      <cdr:y>0.72502</cdr:y>
    </cdr:to>
    <cdr:sp macro="" textlink="">
      <cdr:nvSpPr>
        <cdr:cNvPr id="5" name="Текст 4">
          <a:extLst xmlns:a="http://schemas.openxmlformats.org/drawingml/2006/main">
            <a:ext uri="{FF2B5EF4-FFF2-40B4-BE49-F238E27FC236}">
              <a16:creationId xmlns:a16="http://schemas.microsoft.com/office/drawing/2014/main" id="{6547124B-FFDB-4D0A-95BC-5D617DD50852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753589" y="2746850"/>
          <a:ext cx="427003" cy="23496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en-US" sz="1400" dirty="0"/>
            <a:t>242,7</a:t>
          </a:r>
          <a:endParaRPr lang="ru-RU" sz="18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FC8F6-644B-9346-B7F3-69FCC4BD3E2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271C6-DBD7-434A-BDB2-B4F82FCD04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06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28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26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400" dirty="0">
                <a:solidFill>
                  <a:srgbClr val="FFFFFF"/>
                </a:solidFill>
                <a:effectLst/>
                <a:latin typeface="+mn-lt"/>
              </a:rPr>
              <a:t>Доля </a:t>
            </a:r>
            <a:r>
              <a:rPr lang="en" sz="400" dirty="0">
                <a:solidFill>
                  <a:srgbClr val="FFFFFF"/>
                </a:solidFill>
                <a:effectLst/>
                <a:latin typeface="+mn-lt"/>
              </a:rPr>
              <a:t>SaaS </a:t>
            </a:r>
            <a:r>
              <a:rPr lang="ru-RU" sz="400" dirty="0">
                <a:solidFill>
                  <a:srgbClr val="FFFFFF"/>
                </a:solidFill>
                <a:effectLst/>
                <a:latin typeface="+mn-lt"/>
              </a:rPr>
              <a:t>остается существенной благодаря мгновенной ценности решения для бизнеса и простоте масштабирования.</a:t>
            </a:r>
          </a:p>
          <a:p>
            <a:endParaRPr lang="ru-RU" sz="400" dirty="0">
              <a:latin typeface="+mn-lt"/>
            </a:endParaRPr>
          </a:p>
          <a:p>
            <a:r>
              <a:rPr lang="ru-RU" sz="400" dirty="0">
                <a:solidFill>
                  <a:srgbClr val="FFFFFF"/>
                </a:solidFill>
                <a:effectLst/>
                <a:latin typeface="+mn-lt"/>
              </a:rPr>
              <a:t>Рост </a:t>
            </a:r>
            <a:r>
              <a:rPr lang="en" sz="400" dirty="0">
                <a:solidFill>
                  <a:srgbClr val="FFFFFF"/>
                </a:solidFill>
                <a:effectLst/>
                <a:latin typeface="+mn-lt"/>
              </a:rPr>
              <a:t>PaaS </a:t>
            </a:r>
            <a:r>
              <a:rPr lang="ru-RU" sz="400" dirty="0">
                <a:solidFill>
                  <a:srgbClr val="FFFFFF"/>
                </a:solidFill>
                <a:effectLst/>
                <a:latin typeface="+mn-lt"/>
              </a:rPr>
              <a:t>обусловлен потребностью бизнеса в ускоренной разработке приложений без операционных затрат на инфраструктуру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72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988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647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363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751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54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622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919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628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/>
              <a:t>Маркетплейс</a:t>
            </a:r>
            <a:r>
              <a:rPr lang="en" sz="1200" b="1" dirty="0"/>
              <a:t>— </a:t>
            </a:r>
            <a:r>
              <a:rPr lang="ru-RU" sz="1200" b="1" dirty="0"/>
              <a:t>это не </a:t>
            </a:r>
            <a:r>
              <a:rPr lang="en" sz="1200" b="1" dirty="0"/>
              <a:t>SaaS-</a:t>
            </a:r>
            <a:r>
              <a:rPr lang="ru-RU" sz="1200" b="1" dirty="0"/>
              <a:t>витрина.</a:t>
            </a:r>
            <a:r>
              <a:rPr lang="ru-RU" sz="1200" dirty="0"/>
              <a:t> Он должен поддерживать два сценария </a:t>
            </a:r>
            <a:r>
              <a:rPr lang="en" sz="1200" dirty="0"/>
              <a:t>Enterprise: </a:t>
            </a:r>
            <a:r>
              <a:rPr lang="ru-RU" sz="1200" b="1" dirty="0"/>
              <a:t>облако (</a:t>
            </a:r>
            <a:r>
              <a:rPr lang="en" sz="1200" b="1" dirty="0"/>
              <a:t>SaaS/Private SaaS)</a:t>
            </a:r>
            <a:r>
              <a:rPr lang="en" sz="1200" dirty="0"/>
              <a:t> </a:t>
            </a:r>
            <a:r>
              <a:rPr lang="ru-RU" sz="1200" dirty="0"/>
              <a:t>и </a:t>
            </a:r>
            <a:r>
              <a:rPr lang="ru-RU" sz="1200" b="1" dirty="0"/>
              <a:t>периметр (</a:t>
            </a:r>
            <a:r>
              <a:rPr lang="en" sz="1200" b="1" dirty="0"/>
              <a:t>Self-Hosted)</a:t>
            </a:r>
            <a:r>
              <a:rPr lang="en" sz="1200" dirty="0"/>
              <a:t>. </a:t>
            </a:r>
            <a:r>
              <a:rPr lang="ru-RU" sz="1200" dirty="0"/>
              <a:t>Первый даёт </a:t>
            </a:r>
            <a:r>
              <a:rPr lang="en" sz="1200" dirty="0"/>
              <a:t>IaaS-</a:t>
            </a:r>
            <a:r>
              <a:rPr lang="ru-RU" sz="1200" dirty="0"/>
              <a:t>выручку, второй — сервисную и интеграционную выручку, оба создают удержание клиента и рост </a:t>
            </a:r>
            <a:r>
              <a:rPr lang="en" sz="1200" dirty="0"/>
              <a:t>ARPU. </a:t>
            </a:r>
            <a:endParaRPr lang="en-US" sz="20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9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871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70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286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190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713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785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59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du.fstec.ru/software-section/updates" TargetMode="External"/><Relationship Id="rId2" Type="http://schemas.openxmlformats.org/officeDocument/2006/relationships/hyperlink" Target="https://wiki.rt-dc.ru/pages/viewpage.action?pageId=416351208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Стратегия</a:t>
            </a:r>
            <a:r>
              <a:rPr dirty="0"/>
              <a:t> </a:t>
            </a:r>
            <a:r>
              <a:rPr lang="ru-RU" dirty="0" err="1"/>
              <a:t>направеления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SaaS</a:t>
            </a:r>
            <a:r>
              <a:rPr lang="ru-RU" dirty="0"/>
              <a:t> и М</a:t>
            </a:r>
            <a:r>
              <a:rPr dirty="0" err="1"/>
              <a:t>аркетплейса</a:t>
            </a:r>
            <a:r>
              <a:rPr dirty="0"/>
              <a:t> </a:t>
            </a:r>
            <a:r>
              <a:rPr dirty="0" err="1"/>
              <a:t>приложений</a:t>
            </a:r>
            <a:endParaRPr dirty="0"/>
          </a:p>
          <a:p>
            <a:r>
              <a:rPr dirty="0"/>
              <a:t>2025–2030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E359CD3-4F21-8DCB-87FC-D1A2D84DA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Драфт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Executive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688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b="1" dirty="0"/>
              <a:t>Зачем: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уйти от </a:t>
            </a:r>
            <a:r>
              <a:rPr lang="ru-RU" sz="1000" dirty="0" err="1"/>
              <a:t>коммодитизации</a:t>
            </a:r>
            <a:r>
              <a:rPr lang="ru-RU" sz="1000" dirty="0"/>
              <a:t> </a:t>
            </a:r>
            <a:r>
              <a:rPr lang="en" sz="1000" dirty="0"/>
              <a:t>IaaS</a:t>
            </a:r>
            <a:r>
              <a:rPr lang="en-US" sz="1000" dirty="0"/>
              <a:t>;</a:t>
            </a:r>
            <a:endParaRPr lang="en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продавать бизнес-результат, а не инфраструктуру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масштабировать сервисную и проектную выручку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стать точкой входа для </a:t>
            </a:r>
            <a:r>
              <a:rPr lang="ru-RU" sz="1000" dirty="0" err="1"/>
              <a:t>паблишеров</a:t>
            </a:r>
            <a:r>
              <a:rPr lang="en" sz="1000" dirty="0"/>
              <a:t> </a:t>
            </a:r>
            <a:r>
              <a:rPr lang="ru-RU" sz="1000" dirty="0"/>
              <a:t>в </a:t>
            </a:r>
            <a:r>
              <a:rPr lang="en" sz="1000" dirty="0"/>
              <a:t>Enterprise.</a:t>
            </a:r>
            <a:br>
              <a:rPr lang="en" sz="1000" dirty="0"/>
            </a:br>
            <a:endParaRPr lang="en" sz="1000" dirty="0"/>
          </a:p>
          <a:p>
            <a:pPr marL="0" indent="0">
              <a:buNone/>
            </a:pPr>
            <a:r>
              <a:rPr lang="ru-RU" sz="1000" b="1" dirty="0"/>
              <a:t>Что даёт бизнесу: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рост </a:t>
            </a:r>
            <a:r>
              <a:rPr lang="en" sz="1000" dirty="0"/>
              <a:t>ARPU </a:t>
            </a:r>
            <a:r>
              <a:rPr lang="ru-RU" sz="1000" dirty="0"/>
              <a:t>и удержания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новая сервисная выручка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дифференциация от облачных </a:t>
            </a:r>
            <a:r>
              <a:rPr lang="en-US" sz="1000" dirty="0"/>
              <a:t>“</a:t>
            </a:r>
            <a:r>
              <a:rPr lang="ru-RU" sz="1000" dirty="0"/>
              <a:t>витрин</a:t>
            </a:r>
            <a:r>
              <a:rPr lang="en-US" sz="1000" dirty="0"/>
              <a:t>”.</a:t>
            </a:r>
            <a:br>
              <a:rPr lang="ru-RU" sz="1000" dirty="0"/>
            </a:br>
            <a:endParaRPr lang="ru-RU" sz="1000" dirty="0"/>
          </a:p>
          <a:p>
            <a:pPr marL="0" indent="0">
              <a:buNone/>
            </a:pPr>
            <a:r>
              <a:rPr lang="ru-RU" sz="1000" b="1" dirty="0"/>
              <a:t>Ключевая ставка стратегии:</a:t>
            </a:r>
            <a:endParaRPr lang="ru-RU" sz="1000" dirty="0"/>
          </a:p>
          <a:p>
            <a:r>
              <a:rPr lang="ru-RU" sz="1000" dirty="0"/>
              <a:t>Эволюция маркетплейса от витрины/каталога подписок сервисов до </a:t>
            </a:r>
            <a:r>
              <a:rPr lang="en-US" sz="1000" b="1" dirty="0" err="1"/>
              <a:t>XaaS</a:t>
            </a:r>
            <a:r>
              <a:rPr lang="en-US" sz="1000" b="1" dirty="0"/>
              <a:t> (Everything –as-a Service)</a:t>
            </a:r>
            <a:r>
              <a:rPr lang="ru-RU" sz="1000" b="1" dirty="0"/>
              <a:t> или УЭП (Управляемая экосистема приложений)</a:t>
            </a:r>
          </a:p>
          <a:p>
            <a:endParaRPr lang="ru-RU" sz="1000" dirty="0"/>
          </a:p>
          <a:p>
            <a:pPr marL="0" indent="0">
              <a:buNone/>
            </a:pPr>
            <a:r>
              <a:rPr lang="ru-RU" sz="1000" b="1" dirty="0"/>
              <a:t>Рост выручки</a:t>
            </a:r>
            <a:r>
              <a:rPr lang="en-US" sz="1000" b="1" dirty="0"/>
              <a:t>:</a:t>
            </a:r>
            <a:endParaRPr lang="ru-RU" sz="1000" b="1" dirty="0"/>
          </a:p>
          <a:p>
            <a:r>
              <a:rPr lang="en-US" sz="1000" dirty="0"/>
              <a:t>15</a:t>
            </a:r>
            <a:r>
              <a:rPr lang="en" sz="1000" dirty="0"/>
              <a:t> </a:t>
            </a:r>
            <a:r>
              <a:rPr lang="ru-RU" sz="1000" dirty="0"/>
              <a:t>млрд руб. прямой выручки Маркетплейс</a:t>
            </a:r>
            <a:r>
              <a:rPr lang="en" sz="1000" dirty="0"/>
              <a:t> </a:t>
            </a:r>
            <a:r>
              <a:rPr lang="ru-RU" sz="1000" dirty="0"/>
              <a:t>к 2030</a:t>
            </a:r>
            <a:r>
              <a:rPr lang="en-US" sz="1000" dirty="0"/>
              <a:t>;</a:t>
            </a:r>
            <a:endParaRPr lang="en" sz="1000" dirty="0"/>
          </a:p>
          <a:p>
            <a:pPr lvl="1"/>
            <a:r>
              <a:rPr lang="ru-RU" sz="1000" dirty="0"/>
              <a:t>Увеличение доли </a:t>
            </a:r>
            <a:r>
              <a:rPr lang="en-US" sz="1000" dirty="0"/>
              <a:t>SaaS </a:t>
            </a:r>
            <a:r>
              <a:rPr lang="ru-RU" sz="1000" dirty="0"/>
              <a:t>в общей структуре выручки до 30</a:t>
            </a:r>
            <a:r>
              <a:rPr lang="en-US" sz="1000" dirty="0"/>
              <a:t>% </a:t>
            </a:r>
            <a:r>
              <a:rPr lang="ru-RU" sz="1000" dirty="0"/>
              <a:t>к 2030 году</a:t>
            </a:r>
            <a:r>
              <a:rPr lang="en-US" sz="1000" dirty="0"/>
              <a:t>;</a:t>
            </a:r>
            <a:endParaRPr lang="ru-RU" sz="1000" dirty="0"/>
          </a:p>
          <a:p>
            <a:pPr lvl="1"/>
            <a:r>
              <a:rPr lang="ru-RU" sz="1000" dirty="0"/>
              <a:t>Увеличение оборота за счёт продуктов партнёров и ГК Ростелеком</a:t>
            </a:r>
            <a:r>
              <a:rPr lang="en-US" sz="1000" dirty="0"/>
              <a:t>.</a:t>
            </a:r>
            <a:endParaRPr lang="ru-RU" sz="1000" dirty="0"/>
          </a:p>
          <a:p>
            <a:r>
              <a:rPr lang="en" sz="1000" dirty="0"/>
              <a:t>+ </a:t>
            </a:r>
            <a:r>
              <a:rPr lang="ru-RU" sz="1000" dirty="0"/>
              <a:t>косвенной выручки </a:t>
            </a:r>
            <a:r>
              <a:rPr lang="en" sz="1000" dirty="0"/>
              <a:t>IaaS </a:t>
            </a:r>
            <a:r>
              <a:rPr lang="ru-RU" sz="1000" dirty="0"/>
              <a:t>к 2030</a:t>
            </a:r>
            <a:r>
              <a:rPr lang="en-US" sz="1000" dirty="0"/>
              <a:t>;</a:t>
            </a:r>
          </a:p>
          <a:p>
            <a:endParaRPr lang="ru-RU" sz="1000" dirty="0"/>
          </a:p>
          <a:p>
            <a:pPr marL="0" indent="0">
              <a:buNone/>
            </a:pPr>
            <a:r>
              <a:rPr lang="ru-RU" sz="1000" b="1" dirty="0"/>
              <a:t>Рост доли рынка</a:t>
            </a:r>
            <a:r>
              <a:rPr lang="en-US" sz="1000" b="1" dirty="0"/>
              <a:t>:</a:t>
            </a:r>
            <a:endParaRPr lang="ru-RU" sz="1000" b="1" dirty="0"/>
          </a:p>
          <a:p>
            <a:r>
              <a:rPr lang="ru-RU" sz="1000" dirty="0"/>
              <a:t>Войти в </a:t>
            </a:r>
            <a:r>
              <a:rPr lang="en" sz="1000" dirty="0"/>
              <a:t>TOP-3 </a:t>
            </a:r>
            <a:r>
              <a:rPr lang="ru-RU" sz="1000" dirty="0"/>
              <a:t>Маркетплейс</a:t>
            </a:r>
            <a:r>
              <a:rPr lang="en-US" sz="1000" dirty="0"/>
              <a:t>;</a:t>
            </a:r>
            <a:endParaRPr lang="ru-RU" sz="1000" dirty="0"/>
          </a:p>
          <a:p>
            <a:endParaRPr lang="ru-RU" sz="1000" dirty="0"/>
          </a:p>
          <a:p>
            <a:pPr marL="0" indent="0">
              <a:buNone/>
            </a:pPr>
            <a:r>
              <a:rPr lang="ru-RU" sz="1000" b="1" dirty="0"/>
              <a:t>Развитие портфеля</a:t>
            </a:r>
            <a:r>
              <a:rPr lang="en-US" sz="1000" b="1" dirty="0"/>
              <a:t>:</a:t>
            </a:r>
            <a:endParaRPr lang="ru-RU" sz="1000" b="1" dirty="0"/>
          </a:p>
          <a:p>
            <a:r>
              <a:rPr lang="ru-RU" sz="1000" dirty="0"/>
              <a:t>Быстрое добавление партнёрских и внутренних продуктов</a:t>
            </a:r>
            <a:r>
              <a:rPr lang="en-US" sz="1000" dirty="0"/>
              <a:t>;</a:t>
            </a:r>
            <a:endParaRPr lang="ru-RU" sz="1000" dirty="0"/>
          </a:p>
          <a:p>
            <a:r>
              <a:rPr lang="ru-RU" sz="1000" b="1" dirty="0"/>
              <a:t>≥100 решений, 100% продуктов ГК Ростелеком в Маркетплейс</a:t>
            </a:r>
            <a:r>
              <a:rPr lang="en" sz="1000" b="1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Тренды и тенденции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3513"/>
            <a:ext cx="8229600" cy="52544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Импортозамещение </a:t>
            </a:r>
            <a:r>
              <a:rPr lang="en" sz="1600" b="1" dirty="0"/>
              <a:t>SaaS</a:t>
            </a:r>
            <a:endParaRPr lang="ru-RU" sz="1600" b="1" dirty="0"/>
          </a:p>
          <a:p>
            <a:r>
              <a:rPr lang="ru-RU" sz="1200" dirty="0"/>
              <a:t>Российские компании переходят на отечественные </a:t>
            </a:r>
            <a:r>
              <a:rPr lang="en-US" sz="1200" dirty="0"/>
              <a:t>SaaS/PaaS-</a:t>
            </a:r>
            <a:r>
              <a:rPr lang="ru-RU" sz="1200" dirty="0"/>
              <a:t>аналоги, ожидая снижение рисков при той же скорости запуска и качестве</a:t>
            </a:r>
          </a:p>
          <a:p>
            <a:pPr marL="0" lvl="1" indent="0">
              <a:buNone/>
            </a:pPr>
            <a:r>
              <a:rPr lang="ru-RU" sz="1600" b="1" dirty="0"/>
              <a:t>Сдвиг от </a:t>
            </a:r>
            <a:r>
              <a:rPr lang="en" sz="1600" b="1" dirty="0"/>
              <a:t>IaaS </a:t>
            </a:r>
            <a:r>
              <a:rPr lang="ru-RU" sz="1600" b="1" dirty="0"/>
              <a:t>к готовым сервисам </a:t>
            </a:r>
            <a:r>
              <a:rPr lang="en" sz="1600" b="1" dirty="0"/>
              <a:t>SaaS</a:t>
            </a:r>
            <a:endParaRPr lang="ru-RU" sz="1600" b="1" dirty="0"/>
          </a:p>
          <a:p>
            <a:pPr marL="342900" lvl="1" indent="-342900">
              <a:buFont typeface="Arial"/>
              <a:buChar char="•"/>
            </a:pPr>
            <a:r>
              <a:rPr lang="ru-RU" sz="1200" dirty="0"/>
              <a:t>Клиентам важнее купить готовый результат, а не инфраструктуру </a:t>
            </a:r>
            <a:r>
              <a:rPr lang="en-US" sz="1200" dirty="0"/>
              <a:t>/</a:t>
            </a:r>
            <a:r>
              <a:rPr lang="ru-RU" sz="1200" dirty="0"/>
              <a:t> сервис, а не ресурсы.</a:t>
            </a:r>
            <a:endParaRPr lang="en-US" sz="1200" dirty="0"/>
          </a:p>
          <a:p>
            <a:pPr marL="0" indent="0">
              <a:buNone/>
            </a:pPr>
            <a:r>
              <a:rPr lang="ru-RU" sz="1600" b="1" dirty="0"/>
              <a:t>Рост сегментов </a:t>
            </a:r>
            <a:r>
              <a:rPr lang="en" sz="1600" b="1" dirty="0"/>
              <a:t>SaaS</a:t>
            </a:r>
            <a:endParaRPr lang="en-US" sz="1600" b="1" dirty="0"/>
          </a:p>
          <a:p>
            <a:r>
              <a:rPr lang="ru-RU" sz="1200" dirty="0"/>
              <a:t>Доля </a:t>
            </a:r>
            <a:r>
              <a:rPr lang="en-US" sz="1200" dirty="0"/>
              <a:t>SaaS </a:t>
            </a:r>
            <a:r>
              <a:rPr lang="ru-RU" sz="1200" dirty="0"/>
              <a:t>остается крупнейшей благодаря мгновенной ценности решения для бизнеса и простоте масштабирования, однако темпы роста этого сегмента ниже, чем у других типов облачных решений</a:t>
            </a:r>
          </a:p>
          <a:p>
            <a:r>
              <a:rPr lang="ru-RU" sz="1200" dirty="0"/>
              <a:t>Рост </a:t>
            </a:r>
            <a:r>
              <a:rPr lang="en-US" sz="1200" dirty="0"/>
              <a:t>PaaS </a:t>
            </a:r>
            <a:r>
              <a:rPr lang="ru-RU" sz="1200" dirty="0"/>
              <a:t>обусловлен потребностью бизнеса в ускоренной разработке приложений без операционных затрат на инфраструктуру</a:t>
            </a:r>
          </a:p>
          <a:p>
            <a:pPr marL="0" indent="0">
              <a:buNone/>
            </a:pPr>
            <a:r>
              <a:rPr lang="ru-RU" sz="1600" b="1" dirty="0"/>
              <a:t>Рост спроса на отраслевые решения</a:t>
            </a:r>
          </a:p>
          <a:p>
            <a:r>
              <a:rPr lang="ru-RU" sz="1200" dirty="0"/>
              <a:t>Клиенты выбирают </a:t>
            </a:r>
            <a:r>
              <a:rPr lang="en" sz="1200" dirty="0"/>
              <a:t>SaaS, </a:t>
            </a:r>
            <a:r>
              <a:rPr lang="ru-RU" sz="1200" dirty="0"/>
              <a:t>который уже учитывает специфику их отрасли: ритейл, логистика, </a:t>
            </a:r>
            <a:r>
              <a:rPr lang="en" sz="1200" dirty="0"/>
              <a:t>HR, </a:t>
            </a:r>
            <a:r>
              <a:rPr lang="ru-RU" sz="1200" dirty="0"/>
              <a:t>медицина и т.д.</a:t>
            </a:r>
            <a:endParaRPr lang="en-US" sz="1200" dirty="0"/>
          </a:p>
          <a:p>
            <a:pPr marL="0" indent="0">
              <a:buNone/>
            </a:pPr>
            <a:r>
              <a:rPr lang="ru-RU" sz="1600" b="1" dirty="0"/>
              <a:t>Дефицит </a:t>
            </a:r>
            <a:r>
              <a:rPr lang="en" sz="1600" b="1" dirty="0"/>
              <a:t>IT-</a:t>
            </a:r>
            <a:r>
              <a:rPr lang="ru-RU" sz="1600" b="1" dirty="0"/>
              <a:t>компетенций – как следствие рост </a:t>
            </a:r>
            <a:r>
              <a:rPr lang="en" sz="1600" b="1" dirty="0"/>
              <a:t>Managed-</a:t>
            </a:r>
            <a:r>
              <a:rPr lang="ru-RU" sz="1600" b="1" dirty="0"/>
              <a:t>модели</a:t>
            </a:r>
          </a:p>
          <a:p>
            <a:r>
              <a:rPr lang="ru-RU" sz="1200" dirty="0"/>
              <a:t>Бизнес не хочет поддерживать инфраструктуру и ПО сам – ему нужен результат со снижением операционных трат</a:t>
            </a:r>
          </a:p>
          <a:p>
            <a:pPr marL="0" indent="0">
              <a:buNone/>
            </a:pPr>
            <a:r>
              <a:rPr lang="ru-RU" sz="1600" b="1" dirty="0"/>
              <a:t>Интеграции становятся критичнее функций</a:t>
            </a:r>
          </a:p>
          <a:p>
            <a:r>
              <a:rPr lang="en" sz="1200" dirty="0"/>
              <a:t>SaaS</a:t>
            </a:r>
            <a:r>
              <a:rPr lang="ru-RU" sz="1200" dirty="0"/>
              <a:t>/</a:t>
            </a:r>
            <a:r>
              <a:rPr lang="en-US" sz="1200" dirty="0"/>
              <a:t>PaaS</a:t>
            </a:r>
            <a:r>
              <a:rPr lang="en" sz="1200" dirty="0"/>
              <a:t> </a:t>
            </a:r>
            <a:r>
              <a:rPr lang="ru-RU" sz="1200" dirty="0"/>
              <a:t>должен работать в связке с другими системами по </a:t>
            </a:r>
            <a:r>
              <a:rPr lang="en" sz="1200" dirty="0"/>
              <a:t>API/SDK — </a:t>
            </a:r>
            <a:r>
              <a:rPr lang="ru-RU" sz="1200" dirty="0"/>
              <a:t>сам по себе он не продаётся.</a:t>
            </a:r>
          </a:p>
          <a:p>
            <a:pPr marL="0" indent="0">
              <a:buNone/>
            </a:pPr>
            <a:r>
              <a:rPr lang="ru-RU" sz="1600" b="1" dirty="0"/>
              <a:t>Покупают у экспертов</a:t>
            </a:r>
          </a:p>
          <a:p>
            <a:r>
              <a:rPr lang="ru-RU" sz="1200" dirty="0"/>
              <a:t>В первую очередь компании идут к операторам</a:t>
            </a:r>
            <a:r>
              <a:rPr lang="en-US" sz="1200" dirty="0"/>
              <a:t>/</a:t>
            </a:r>
            <a:r>
              <a:rPr lang="ru-RU" sz="1200" dirty="0"/>
              <a:t>поставщика, которые транслируют в рынок свою экспертизу по работе с определенным классом решения. Яркий пример - ФЛАНТ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Объем рынка</a:t>
            </a:r>
            <a:endParaRPr dirty="0"/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FBD5DFC8-DDFB-1762-3030-DC3B43970C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782723"/>
              </p:ext>
            </p:extLst>
          </p:nvPr>
        </p:nvGraphicFramePr>
        <p:xfrm>
          <a:off x="457200" y="1657096"/>
          <a:ext cx="8229600" cy="411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120834-4D8F-5067-F2D2-8F68B9806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2" y="6517557"/>
            <a:ext cx="8229600" cy="340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По данным отчета</a:t>
            </a:r>
            <a:r>
              <a:rPr lang="en-US" sz="1200" dirty="0"/>
              <a:t> </a:t>
            </a:r>
            <a:r>
              <a:rPr lang="en-US" sz="1200" dirty="0" err="1"/>
              <a:t>iKS</a:t>
            </a:r>
            <a:r>
              <a:rPr lang="en-US" sz="1200" dirty="0"/>
              <a:t> “</a:t>
            </a:r>
            <a:r>
              <a:rPr lang="ru-RU" sz="1200" dirty="0"/>
              <a:t>Конкурентный анализ</a:t>
            </a:r>
            <a:r>
              <a:rPr lang="en-US" sz="1200" dirty="0"/>
              <a:t> </a:t>
            </a:r>
            <a:r>
              <a:rPr lang="ru-RU" sz="1200" dirty="0"/>
              <a:t>на </a:t>
            </a:r>
            <a:r>
              <a:rPr lang="en-US" sz="1200" dirty="0"/>
              <a:t>b2b-, b2c-, b2g- </a:t>
            </a:r>
            <a:r>
              <a:rPr lang="ru-RU" sz="1200" dirty="0"/>
              <a:t>рынках по </a:t>
            </a:r>
            <a:r>
              <a:rPr lang="en-US" sz="1200" dirty="0"/>
              <a:t>Cloud”</a:t>
            </a:r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F93C75-B73E-C01F-D9A7-AB30114B56A7}"/>
              </a:ext>
            </a:extLst>
          </p:cNvPr>
          <p:cNvSpPr txBox="1">
            <a:spLocks/>
          </p:cNvSpPr>
          <p:nvPr/>
        </p:nvSpPr>
        <p:spPr>
          <a:xfrm>
            <a:off x="393192" y="5973489"/>
            <a:ext cx="8750808" cy="340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Адресуемый рынок маркетплейса – </a:t>
            </a:r>
            <a:r>
              <a:rPr lang="en-US" sz="1200" dirty="0"/>
              <a:t>SaaS </a:t>
            </a:r>
            <a:r>
              <a:rPr lang="ru-RU" sz="1200" dirty="0"/>
              <a:t>и </a:t>
            </a:r>
            <a:r>
              <a:rPr lang="en-US" sz="1200" dirty="0"/>
              <a:t>PaaS </a:t>
            </a:r>
            <a:r>
              <a:rPr lang="ru-RU" sz="1200" dirty="0"/>
              <a:t>т.к. продукты из этих сегментов могут поставляться через магазин приложений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C1D237F9-8E7C-4C6A-B748-51ABAC64B14F}"/>
              </a:ext>
            </a:extLst>
          </p:cNvPr>
          <p:cNvSpPr>
            <a:spLocks noGrp="1"/>
          </p:cNvSpPr>
          <p:nvPr/>
        </p:nvSpPr>
        <p:spPr bwMode="gray">
          <a:xfrm>
            <a:off x="7855063" y="2198638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1241,4</a:t>
            </a:r>
            <a:endParaRPr lang="ru-RU" sz="1800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F53D2986-B138-49C1-B967-1051CBDABF8B}"/>
              </a:ext>
            </a:extLst>
          </p:cNvPr>
          <p:cNvSpPr>
            <a:spLocks noGrp="1"/>
          </p:cNvSpPr>
          <p:nvPr/>
        </p:nvSpPr>
        <p:spPr bwMode="gray">
          <a:xfrm>
            <a:off x="6910183" y="2741196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1012,5</a:t>
            </a:r>
            <a:endParaRPr lang="ru-RU" sz="1800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E9573260-2336-4AA7-80D4-470BBD0601D2}"/>
              </a:ext>
            </a:extLst>
          </p:cNvPr>
          <p:cNvSpPr>
            <a:spLocks noGrp="1"/>
          </p:cNvSpPr>
          <p:nvPr/>
        </p:nvSpPr>
        <p:spPr bwMode="gray">
          <a:xfrm>
            <a:off x="5980543" y="3143090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822,6</a:t>
            </a:r>
            <a:endParaRPr lang="ru-RU" sz="1800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96294768-FD9B-4611-BF0A-9ED93C430533}"/>
              </a:ext>
            </a:extLst>
          </p:cNvPr>
          <p:cNvSpPr>
            <a:spLocks noGrp="1"/>
          </p:cNvSpPr>
          <p:nvPr/>
        </p:nvSpPr>
        <p:spPr bwMode="gray">
          <a:xfrm>
            <a:off x="5015343" y="3493610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644,4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5667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Текущее распределение рынка</a:t>
            </a:r>
            <a:r>
              <a:rPr lang="en-US" dirty="0"/>
              <a:t> PaaS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B78A1F-B878-D53D-4C31-2B14544A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17557"/>
            <a:ext cx="8229600" cy="340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По данным из стратегии Публичного Облака 2030</a:t>
            </a:r>
            <a:endParaRPr lang="en-US" sz="1200" dirty="0"/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2CB3A1-0440-96DA-D155-769255F88E5C}"/>
              </a:ext>
            </a:extLst>
          </p:cNvPr>
          <p:cNvSpPr txBox="1">
            <a:spLocks/>
          </p:cNvSpPr>
          <p:nvPr/>
        </p:nvSpPr>
        <p:spPr>
          <a:xfrm>
            <a:off x="457200" y="6164897"/>
            <a:ext cx="8229600" cy="340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Рынок </a:t>
            </a:r>
            <a:r>
              <a:rPr lang="en-US" sz="1200" dirty="0"/>
              <a:t>SaaS </a:t>
            </a:r>
            <a:r>
              <a:rPr lang="ru-RU" sz="1200" dirty="0"/>
              <a:t>и </a:t>
            </a:r>
            <a:r>
              <a:rPr lang="en-US" sz="1200" dirty="0"/>
              <a:t>PaaS </a:t>
            </a:r>
            <a:r>
              <a:rPr lang="ru-RU" sz="1200" dirty="0"/>
              <a:t>уже сформирован и на нем выделились явные лидеры</a:t>
            </a:r>
            <a:endParaRPr lang="en-US" sz="1200" dirty="0"/>
          </a:p>
          <a:p>
            <a:pPr marL="0" indent="0">
              <a:buFont typeface="Arial"/>
              <a:buNone/>
            </a:pPr>
            <a:endParaRPr lang="ru-RU" sz="1200" dirty="0"/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C0F53A0-CCC6-4A97-8AFD-3A03AFC5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2261153"/>
              </p:ext>
            </p:extLst>
          </p:nvPr>
        </p:nvGraphicFramePr>
        <p:xfrm>
          <a:off x="2283431" y="1579326"/>
          <a:ext cx="4577137" cy="4141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4256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Текущее распределение рынка</a:t>
            </a:r>
            <a:r>
              <a:rPr lang="en-US" dirty="0"/>
              <a:t> SaaS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B78A1F-B878-D53D-4C31-2B14544A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17557"/>
            <a:ext cx="8229600" cy="340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По данным из стратегии Публичного Облака 2030</a:t>
            </a:r>
            <a:endParaRPr lang="en-US" sz="1200" dirty="0"/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2CB3A1-0440-96DA-D155-769255F88E5C}"/>
              </a:ext>
            </a:extLst>
          </p:cNvPr>
          <p:cNvSpPr txBox="1">
            <a:spLocks/>
          </p:cNvSpPr>
          <p:nvPr/>
        </p:nvSpPr>
        <p:spPr>
          <a:xfrm>
            <a:off x="457200" y="6164897"/>
            <a:ext cx="8229600" cy="340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Рынок </a:t>
            </a:r>
            <a:r>
              <a:rPr lang="en-US" sz="1200" dirty="0"/>
              <a:t>SaaS </a:t>
            </a:r>
            <a:r>
              <a:rPr lang="ru-RU" sz="1200" dirty="0"/>
              <a:t>уже сформирован и на нем выделились явные лидеры</a:t>
            </a:r>
            <a:endParaRPr lang="en-US" sz="1200" dirty="0"/>
          </a:p>
          <a:p>
            <a:pPr marL="0" indent="0">
              <a:buFont typeface="Arial"/>
              <a:buNone/>
            </a:pPr>
            <a:endParaRPr lang="ru-RU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A482ED0-EF6A-429E-A8FA-527F73A5E978}"/>
              </a:ext>
            </a:extLst>
          </p:cNvPr>
          <p:cNvSpPr txBox="1">
            <a:spLocks/>
          </p:cNvSpPr>
          <p:nvPr/>
        </p:nvSpPr>
        <p:spPr>
          <a:xfrm>
            <a:off x="606176" y="1490858"/>
            <a:ext cx="8537824" cy="4488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ru-RU" sz="1200" dirty="0"/>
              <a:t>Рынок </a:t>
            </a:r>
            <a:r>
              <a:rPr lang="ru-RU" sz="1200" dirty="0" err="1"/>
              <a:t>SaaS</a:t>
            </a:r>
            <a:r>
              <a:rPr lang="ru-RU" sz="1200" dirty="0"/>
              <a:t> продолжает трансформироваться и адаптироваться из-за ухода зарубежных вендоров и ужесточения требований к облачным сервисам. По многим направлениям </a:t>
            </a:r>
            <a:r>
              <a:rPr lang="ru-RU" sz="1200" dirty="0" err="1"/>
              <a:t>SaaS</a:t>
            </a:r>
            <a:r>
              <a:rPr lang="ru-RU" sz="1200" dirty="0"/>
              <a:t> откатился к стадии «формирования рынка»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dirty="0"/>
              <a:t>В настоящий момент рынок </a:t>
            </a:r>
            <a:r>
              <a:rPr lang="ru-RU" sz="1200" dirty="0" err="1"/>
              <a:t>SaaS</a:t>
            </a:r>
            <a:r>
              <a:rPr lang="ru-RU" sz="1200" dirty="0"/>
              <a:t> не поддается классической модели сегментирования и оценки:</a:t>
            </a:r>
          </a:p>
          <a:p>
            <a:pPr lvl="1"/>
            <a:r>
              <a:rPr lang="ru-RU" sz="1200" dirty="0"/>
              <a:t>существенное количество разнородных и разрозненных решений различного уровня зрелости и, в целом, по ряду направлений невысокий уровень облачной зрелости </a:t>
            </a:r>
          </a:p>
          <a:p>
            <a:pPr lvl="1"/>
            <a:r>
              <a:rPr lang="ru-RU" sz="1200" dirty="0"/>
              <a:t>в ряде случаев, не готовность решений и не соответствие требованиям национальных и крупных корпоративных клиентов</a:t>
            </a:r>
          </a:p>
          <a:p>
            <a:pPr lvl="1"/>
            <a:r>
              <a:rPr lang="ru-RU" sz="1200" dirty="0"/>
              <a:t>отсутствие однозначного и принятого рынком подхода к  отнесению продуктов к сегментам на стыке </a:t>
            </a:r>
            <a:r>
              <a:rPr lang="ru-RU" sz="1200" dirty="0" err="1"/>
              <a:t>PaaS</a:t>
            </a:r>
            <a:r>
              <a:rPr lang="ru-RU" sz="1200" dirty="0"/>
              <a:t> и </a:t>
            </a:r>
            <a:r>
              <a:rPr lang="ru-RU" sz="1200" dirty="0" err="1"/>
              <a:t>SaaS</a:t>
            </a:r>
            <a:endParaRPr lang="ru-RU" sz="1200" dirty="0"/>
          </a:p>
          <a:p>
            <a:pPr marL="228600" indent="-228600">
              <a:buFont typeface="+mj-lt"/>
              <a:buAutoNum type="arabicPeriod"/>
            </a:pPr>
            <a:r>
              <a:rPr lang="ru-RU" sz="1200" dirty="0"/>
              <a:t>Ряд направлений </a:t>
            </a:r>
            <a:r>
              <a:rPr lang="ru-RU" sz="1200" dirty="0" err="1"/>
              <a:t>SaaS</a:t>
            </a:r>
            <a:r>
              <a:rPr lang="ru-RU" sz="1200" dirty="0"/>
              <a:t> с высоким уровнем облачной зрелости и безусловными лидерами не являются целевыми для провайдеров, например, ведение бухгалтерского учета и формирования и подачи отчетности в налоговые и статистические органы.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dirty="0"/>
              <a:t>На текущий момент, многие компании разграничивают бизнес своих облачных подразделений и подразделений поставляющие: офисные приложения, почтовые сервисы, диск, проч. Разграничение в том числе по ЦА, модели продаж, выручке</a:t>
            </a:r>
          </a:p>
          <a:p>
            <a:pPr lvl="1"/>
            <a:r>
              <a:rPr lang="en-US" sz="1200" dirty="0"/>
              <a:t>Yandex Cloud </a:t>
            </a:r>
            <a:r>
              <a:rPr lang="ru-RU" sz="1200" dirty="0"/>
              <a:t>и </a:t>
            </a:r>
            <a:r>
              <a:rPr lang="en-US" sz="1200" dirty="0"/>
              <a:t>Yandex 360</a:t>
            </a:r>
          </a:p>
          <a:p>
            <a:pPr lvl="1"/>
            <a:r>
              <a:rPr lang="en-US" sz="1200" dirty="0"/>
              <a:t>VK Cloud </a:t>
            </a:r>
            <a:r>
              <a:rPr lang="ru-RU" sz="1200" dirty="0"/>
              <a:t>и </a:t>
            </a:r>
            <a:r>
              <a:rPr lang="en-US" sz="1200" dirty="0"/>
              <a:t>VK Teams</a:t>
            </a:r>
            <a:endParaRPr lang="ru-RU" sz="800" dirty="0"/>
          </a:p>
          <a:p>
            <a:pPr marL="0" indent="0">
              <a:buNone/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19308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Текущее распределение рынка</a:t>
            </a:r>
            <a:r>
              <a:rPr lang="en-US" dirty="0"/>
              <a:t> SaaS</a:t>
            </a:r>
            <a:endParaRPr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A482ED0-EF6A-429E-A8FA-527F73A5E978}"/>
              </a:ext>
            </a:extLst>
          </p:cNvPr>
          <p:cNvSpPr txBox="1">
            <a:spLocks/>
          </p:cNvSpPr>
          <p:nvPr/>
        </p:nvSpPr>
        <p:spPr>
          <a:xfrm>
            <a:off x="457200" y="1184649"/>
            <a:ext cx="8537824" cy="4488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Аналитики из </a:t>
            </a:r>
            <a:r>
              <a:rPr lang="en-US" sz="1200" dirty="0"/>
              <a:t> Strategy Partners</a:t>
            </a:r>
            <a:r>
              <a:rPr lang="ru-RU" sz="1200" dirty="0"/>
              <a:t>, подготовившие отчёт </a:t>
            </a:r>
            <a:r>
              <a:rPr lang="en-US" sz="1200" dirty="0"/>
              <a:t>“</a:t>
            </a:r>
            <a:r>
              <a:rPr lang="ru-RU" sz="1200" dirty="0"/>
              <a:t>Сегментный анализ </a:t>
            </a:r>
            <a:r>
              <a:rPr lang="en-US" sz="1200" dirty="0"/>
              <a:t> </a:t>
            </a:r>
            <a:r>
              <a:rPr lang="ru-RU" sz="1200" dirty="0"/>
              <a:t>российского рынка корпоративного ПО</a:t>
            </a:r>
            <a:r>
              <a:rPr lang="en-US" sz="1200" dirty="0"/>
              <a:t>” </a:t>
            </a:r>
            <a:r>
              <a:rPr lang="ru-RU" sz="1200" dirty="0"/>
              <a:t> также разделяют сегмент Публичных Облачных сервисов и сервисов </a:t>
            </a:r>
            <a:r>
              <a:rPr lang="en-US" sz="1200" dirty="0"/>
              <a:t>Unified Communication (</a:t>
            </a:r>
            <a:r>
              <a:rPr lang="ru-RU" sz="1200" dirty="0"/>
              <a:t>корп. связь и продуктивность)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5CA9E3-0FE0-4F7B-A20E-EF9BAE52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020" y="1682735"/>
            <a:ext cx="6662791" cy="32704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D9958DE-BDB0-4D90-BDB9-0E4E35745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928" y="4953228"/>
            <a:ext cx="7238144" cy="186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8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Конкурентный ландшафт - </a:t>
            </a:r>
            <a:r>
              <a:rPr lang="ru-RU" sz="4000" dirty="0"/>
              <a:t>Маркетплейс</a:t>
            </a:r>
            <a:endParaRPr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39CBB9E-8159-70D7-8326-E4133995A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38702"/>
              </p:ext>
            </p:extLst>
          </p:nvPr>
        </p:nvGraphicFramePr>
        <p:xfrm>
          <a:off x="0" y="1325170"/>
          <a:ext cx="8868428" cy="5136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555">
                  <a:extLst>
                    <a:ext uri="{9D8B030D-6E8A-4147-A177-3AD203B41FA5}">
                      <a16:colId xmlns:a16="http://schemas.microsoft.com/office/drawing/2014/main" val="312272588"/>
                    </a:ext>
                  </a:extLst>
                </a:gridCol>
                <a:gridCol w="1570900">
                  <a:extLst>
                    <a:ext uri="{9D8B030D-6E8A-4147-A177-3AD203B41FA5}">
                      <a16:colId xmlns:a16="http://schemas.microsoft.com/office/drawing/2014/main" val="2400303382"/>
                    </a:ext>
                  </a:extLst>
                </a:gridCol>
                <a:gridCol w="1769713">
                  <a:extLst>
                    <a:ext uri="{9D8B030D-6E8A-4147-A177-3AD203B41FA5}">
                      <a16:colId xmlns:a16="http://schemas.microsoft.com/office/drawing/2014/main" val="3753406893"/>
                    </a:ext>
                  </a:extLst>
                </a:gridCol>
                <a:gridCol w="1520303">
                  <a:extLst>
                    <a:ext uri="{9D8B030D-6E8A-4147-A177-3AD203B41FA5}">
                      <a16:colId xmlns:a16="http://schemas.microsoft.com/office/drawing/2014/main" val="1936026289"/>
                    </a:ext>
                  </a:extLst>
                </a:gridCol>
                <a:gridCol w="3141957">
                  <a:extLst>
                    <a:ext uri="{9D8B030D-6E8A-4147-A177-3AD203B41FA5}">
                      <a16:colId xmlns:a16="http://schemas.microsoft.com/office/drawing/2014/main" val="710955570"/>
                    </a:ext>
                  </a:extLst>
                </a:gridCol>
              </a:tblGrid>
              <a:tr h="111034"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u="none" strike="noStrike" dirty="0">
                          <a:effectLst/>
                          <a:latin typeface="+mn-lt"/>
                        </a:rPr>
                        <a:t>Категория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u="none" strike="noStrike" dirty="0">
                          <a:effectLst/>
                          <a:latin typeface="+mn-lt"/>
                        </a:rPr>
                        <a:t> VK Cloud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u="none" strike="noStrike" dirty="0">
                          <a:effectLst/>
                          <a:latin typeface="+mn-lt"/>
                        </a:rPr>
                        <a:t> Yandex Cloud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" sz="800" b="1" u="none" strike="noStrike" dirty="0" err="1">
                          <a:effectLst/>
                          <a:latin typeface="+mn-lt"/>
                        </a:rPr>
                        <a:t>Cloud.ru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u="none" strike="noStrike" dirty="0">
                          <a:effectLst/>
                          <a:latin typeface="+mn-lt"/>
                        </a:rPr>
                        <a:t> Комментарий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extLst>
                  <a:ext uri="{0D108BD9-81ED-4DB2-BD59-A6C34878D82A}">
                    <a16:rowId xmlns:a16="http://schemas.microsoft.com/office/drawing/2014/main" val="536610288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VPN / Security Tunnels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OpenVPN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Pritunl, Niflheim VPN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OpenVPN Access Server,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Pritunl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Niflheim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VPN,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StrongSwan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SoftEther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VPN Server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StrongSwan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лидер по широте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VPN-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стека (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OpenSource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+ vendor). 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сбалансированный набор.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–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гигиенический минимум.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5322485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NGFW / Security Gateway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Check Point,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UserGate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Ideco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NGFW, Check Point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CloudGuard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Network Security,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UniGate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UserGate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NGFW, Cisco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ASAv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OPNsense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Check Point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CloudGuard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Network Security,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NetPolice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NGFW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BI.ZONE WAF, SOWA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самый «тяжелый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»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портфель (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Cisco, Check Point). 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сильный фокус на российских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NGFW.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делает ставку на собственную экосистему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BI.ZONE.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2852337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OS 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дистрибутивы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AlmaLinux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AstraLinux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entOs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Debian, FreeBSD, OpenSUSE, Ubuntu,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Альт Сервер, РЕД ОС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Windows Server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AlmaLinux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AstraLinux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entOs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Debian, FreeBSD, OpenSUSE, Ubuntu,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Альт Сервер, РЕД ОС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Fedora,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Kosmos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VM, Oracle Linux, Amazon Linux,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ОпенСкейлер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НайсОС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Rocky Linux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Debian, Ubuntu,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SberLinux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OS,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Найс.ОС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Windows Server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самый широкий и глобальный набор.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хорошо покрывает требования РФ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+ Win Server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минимальный, но достаточный для экосистемы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Сбера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+ Win Server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5305452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ISPmanager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Joomla, WordPress, Alfresco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ISPmanager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Joomla, WordPress, Alfresco, 1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С-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Битрикс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Drupal,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OpenChat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Websyst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QP8.CMS,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Chost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CMS,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VirtualityCMS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сильно выигрывает за счёт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e-commerce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enterprise CMS (1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С-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Битрикс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базовый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OSS-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набор.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развивает направление.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0631413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DevOps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инструменты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Nexus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GitFlic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GitLab, GitLab Runner,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ArgoCD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Jenkins, Istio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GitVerse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Platform V Batch, Platform V Flow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зрелая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DevOps-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платформа.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точечное покрытие.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ставка на собственный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V,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меньше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OpenSource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5827663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Low-code /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Разработка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GeenData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Loginom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Интегра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GeenData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Loginom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Flowise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H2O LLM Studio, Puzzle RPA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V Flow,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Smartbot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активно закрывает </a:t>
                      </a:r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AI/LLM 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 </a:t>
                      </a:r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RPA-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сценарии. </a:t>
                      </a:r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сильный фокус на аналитике. </a:t>
                      </a:r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 — low-code 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как часть экосистемы </a:t>
                      </a:r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V.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9041074"/>
                  </a:ext>
                </a:extLst>
              </a:tr>
              <a:tr h="145835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IdM / IAM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Unigate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Unigate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Keycloak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Passbolt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лучшее покрытие за счёт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Keycloak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де-факто стандарт).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рабочий минимум.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нишевое решение без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enterprise-IAM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широты.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8993066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Database / Data Tools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MS SQL Server,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СУБД РЕД База Данных,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Qdrant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Kosmos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BD,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Tantor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DB (Astra Linux), MariaDB,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ClickHouse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Milvus,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Qdrant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Pangolin DB, Kintsugi,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ReportKit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лидер по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&amp; AI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БД.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баланс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OSS +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российские СУБД.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фокус на проприетарных/партнёрских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data-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продуктах.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9996478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 / Backup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Hystax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DR,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Кибербэкап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Hystax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DR,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Velero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закрывает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cloud-native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enterprise DR. 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сильный акцент на российские решения.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развивает направление.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7457638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Migration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Hystax Migration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Hystax Migration, Flexify.IO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зрелые сценарии миграции.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стандартный минимум.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развивает направление.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1494532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Monitoring / Observability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Grafana, </a:t>
                      </a:r>
                      <a:b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VictoriaMetrics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Prometheus Operator, Loki, Falco, Zabbix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Prometheus, Grafana, Kibana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самый полный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observability-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стек.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ориентир на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high-performance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метрики.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базовый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OSS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без расширенных сценариев.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5390819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Security / KMS / SIEM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/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WAF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Wazuh, Bitwarden, Avanpost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Wazuh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HasiCorp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Vault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SolidWall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WAF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BI.ZONE Secure DNS, Mail Security, WAF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— OSS + enterprise security.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сильная вертикальная интеграция с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BI.ZONE.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7211287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 stacks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 IT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LAMP, LEMP, MEAN, Nginx, Node.js, Load Testing Tool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LAMP, LEMP, MEAN, Nginx, Node.js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единственный, кто явно упаковывает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dev-stacks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как сценарии.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базово, без доп.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tooling. VK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практически не развивает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2998101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Enterprise Apps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CloudMaster,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Битрикс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Яндекс Браузер для организаций,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Юнисендер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Go,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БизКуб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DataSpace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ReportKit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Yandex Cloud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агрессивно развивает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B2B-SaaS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через маркетплейс. </a:t>
                      </a:r>
                      <a:r>
                        <a:rPr lang="en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Cloud.ru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—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нишевые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enterprise-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продукты. </a:t>
                      </a:r>
                      <a:r>
                        <a:rPr lang="e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 -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развивает направление.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8771210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A1244B-7A68-4923-A2A7-53F405E455F6}"/>
              </a:ext>
            </a:extLst>
          </p:cNvPr>
          <p:cNvSpPr txBox="1">
            <a:spLocks/>
          </p:cNvSpPr>
          <p:nvPr/>
        </p:nvSpPr>
        <p:spPr>
          <a:xfrm>
            <a:off x="0" y="6513509"/>
            <a:ext cx="8422035" cy="3188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В рамках маркетплейса поставляются только услуги на базе лицензий – сами лицензии никто из провайдеров не продает.</a:t>
            </a:r>
          </a:p>
        </p:txBody>
      </p:sp>
    </p:spTree>
    <p:extLst>
      <p:ext uri="{BB962C8B-B14F-4D97-AF65-F5344CB8AC3E}">
        <p14:creationId xmlns:p14="http://schemas.microsoft.com/office/powerpoint/2010/main" val="97049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Решаемые проблемы бизнеса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0714"/>
            <a:ext cx="8229600" cy="5543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Маркетплейс — инструмент роста облачного бизнеса. Он увеличивает продажи </a:t>
            </a:r>
            <a:r>
              <a:rPr lang="en" sz="1200" dirty="0"/>
              <a:t>IaaS, </a:t>
            </a:r>
            <a:r>
              <a:rPr lang="ru-RU" sz="1200" dirty="0"/>
              <a:t>масштабирует продукты Ростелекома и создаёт новый источник дохода через партнёрские </a:t>
            </a:r>
            <a:r>
              <a:rPr lang="en" sz="1200" dirty="0"/>
              <a:t>SaaS</a:t>
            </a:r>
            <a:r>
              <a:rPr lang="ru-RU" sz="1200" dirty="0"/>
              <a:t>/</a:t>
            </a:r>
            <a:r>
              <a:rPr lang="en" sz="1200" dirty="0"/>
              <a:t>PaaS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en" sz="1200" b="1" dirty="0"/>
              <a:t>IaaS </a:t>
            </a:r>
            <a:r>
              <a:rPr lang="ru-RU" sz="1200" b="1" dirty="0"/>
              <a:t>становится </a:t>
            </a:r>
            <a:r>
              <a:rPr lang="ru-RU" sz="1200" b="1" dirty="0" err="1"/>
              <a:t>коммодити</a:t>
            </a:r>
            <a:r>
              <a:rPr lang="ru-RU" sz="1200" dirty="0"/>
              <a:t> </a:t>
            </a:r>
          </a:p>
          <a:p>
            <a:r>
              <a:rPr lang="ru-RU" sz="1200" dirty="0"/>
              <a:t>Основа, но с уменьшающейся маржей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Конкуренция по цене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Низкая стоимость смены провайдер</a:t>
            </a:r>
            <a:r>
              <a:rPr lang="en-US" sz="1200" dirty="0"/>
              <a:t>.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Маркетплейс в данном случае - возможность уйти вверх по цепочке ценности в сегмент </a:t>
            </a:r>
            <a:r>
              <a:rPr lang="en-US" sz="1200" dirty="0"/>
              <a:t>SaaS </a:t>
            </a:r>
            <a:r>
              <a:rPr lang="ru-RU" sz="1200" dirty="0"/>
              <a:t>с высокой </a:t>
            </a:r>
            <a:r>
              <a:rPr lang="ru-RU" sz="1200" dirty="0" err="1"/>
              <a:t>маржой</a:t>
            </a: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Как видно выше у Турбо есть значительное отставание в наличие качественных </a:t>
            </a:r>
            <a:r>
              <a:rPr lang="en-US" sz="1200" b="1" dirty="0"/>
              <a:t>SaaS</a:t>
            </a:r>
          </a:p>
          <a:p>
            <a:r>
              <a:rPr lang="ru-RU" sz="1200" dirty="0"/>
              <a:t>Нужен инструмент для быстрого размещения сервисов </a:t>
            </a:r>
          </a:p>
          <a:p>
            <a:r>
              <a:rPr lang="ru-RU" sz="1200" dirty="0"/>
              <a:t>Нужно поддержать появляющиеся потребности существующих клиентов </a:t>
            </a:r>
            <a:r>
              <a:rPr lang="en" sz="1200" dirty="0"/>
              <a:t>IaaS </a:t>
            </a:r>
            <a:r>
              <a:rPr lang="ru-RU" sz="1200" dirty="0"/>
              <a:t>сопутствующими сервисами, для минимизации риска оттока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Многие </a:t>
            </a:r>
            <a:r>
              <a:rPr lang="ru-RU" sz="1200" b="1" dirty="0" err="1"/>
              <a:t>паблишеры</a:t>
            </a:r>
            <a:r>
              <a:rPr lang="en" sz="1200" b="1" dirty="0"/>
              <a:t> </a:t>
            </a:r>
            <a:r>
              <a:rPr lang="ru-RU" sz="1200" b="1" dirty="0"/>
              <a:t>не умеют продавать в </a:t>
            </a:r>
            <a:r>
              <a:rPr lang="en" sz="1200" b="1" dirty="0"/>
              <a:t>Enterprise</a:t>
            </a:r>
          </a:p>
          <a:p>
            <a:pPr>
              <a:buFont typeface="Arial"/>
              <a:buChar char="•"/>
            </a:pPr>
            <a:r>
              <a:rPr lang="ru-RU" sz="1200" dirty="0"/>
              <a:t>Нет продаж </a:t>
            </a:r>
            <a:r>
              <a:rPr lang="en-US" sz="1200" dirty="0"/>
              <a:t>/  </a:t>
            </a:r>
            <a:r>
              <a:rPr lang="ru-RU" sz="1200" dirty="0"/>
              <a:t>внедрений</a:t>
            </a:r>
          </a:p>
          <a:p>
            <a:pPr marL="0" indent="0">
              <a:buNone/>
            </a:pPr>
            <a:r>
              <a:rPr lang="ru-RU" sz="1200" dirty="0"/>
              <a:t>Маркетплейс — это возможность коммерциализации проектов</a:t>
            </a:r>
            <a:r>
              <a:rPr lang="en-US" sz="1200" dirty="0"/>
              <a:t>/</a:t>
            </a:r>
            <a:r>
              <a:rPr lang="ru-RU" sz="1200" dirty="0" err="1"/>
              <a:t>эксперитизы</a:t>
            </a:r>
            <a:r>
              <a:rPr lang="ru-RU" sz="1200" dirty="0"/>
              <a:t> для </a:t>
            </a:r>
            <a:r>
              <a:rPr lang="ru-RU" sz="1200" dirty="0" err="1"/>
              <a:t>паблишеров</a:t>
            </a: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Ростелеком хорошо зарабатывает на проектах, но не масштабирует их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У продуктов ГК есть внедрения, но это ручная работа, а не </a:t>
            </a:r>
            <a:r>
              <a:rPr lang="ru-RU" sz="1200" dirty="0" err="1"/>
              <a:t>продуктовизированный</a:t>
            </a:r>
            <a:r>
              <a:rPr lang="ru-RU" sz="1200" dirty="0"/>
              <a:t> сервис</a:t>
            </a:r>
          </a:p>
          <a:p>
            <a:pPr marL="0" indent="0">
              <a:buNone/>
            </a:pPr>
            <a:r>
              <a:rPr lang="ru-RU" sz="1200" dirty="0"/>
              <a:t>Маркетплейс — возможность </a:t>
            </a:r>
            <a:r>
              <a:rPr lang="ru-RU" sz="1200" dirty="0" err="1"/>
              <a:t>продуктизировать</a:t>
            </a:r>
            <a:r>
              <a:rPr lang="ru-RU" sz="1200" dirty="0"/>
              <a:t> проекты/услуги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Корпоративный клиент покупает решения, а не инфраструктуру</a:t>
            </a:r>
          </a:p>
          <a:p>
            <a:r>
              <a:rPr lang="ru-RU" sz="1200" dirty="0"/>
              <a:t>Ему нужен результат (</a:t>
            </a:r>
            <a:r>
              <a:rPr lang="en" sz="1200" dirty="0"/>
              <a:t>CRM, BI, </a:t>
            </a:r>
            <a:r>
              <a:rPr lang="ru-RU" sz="1200" dirty="0"/>
              <a:t>документооборот), но облако продаёт ВМ</a:t>
            </a:r>
            <a:r>
              <a:rPr lang="en" sz="1200" dirty="0"/>
              <a:t>, </a:t>
            </a:r>
            <a:r>
              <a:rPr lang="ru-RU" sz="1200" dirty="0"/>
              <a:t>сети и хранение</a:t>
            </a:r>
          </a:p>
          <a:p>
            <a:pPr marL="0" indent="0">
              <a:buNone/>
            </a:pPr>
            <a:r>
              <a:rPr lang="ru-RU" sz="1200" dirty="0"/>
              <a:t>Маркетплейс — возможность продавать больше инфраструктуры через приклад</a:t>
            </a:r>
            <a:r>
              <a:rPr lang="ru-RU" sz="1200" b="1" dirty="0"/>
              <a:t>.</a:t>
            </a:r>
          </a:p>
          <a:p>
            <a:pPr marL="0" indent="0">
              <a:buNone/>
            </a:pPr>
            <a:endParaRPr lang="en" sz="1200" dirty="0"/>
          </a:p>
        </p:txBody>
      </p:sp>
    </p:spTree>
    <p:extLst>
      <p:ext uri="{BB962C8B-B14F-4D97-AF65-F5344CB8AC3E}">
        <p14:creationId xmlns:p14="http://schemas.microsoft.com/office/powerpoint/2010/main" val="178389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Бизнес слабо покупает через витрины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177" y="1541124"/>
            <a:ext cx="8229600" cy="5316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Через витрины облачные провайдеры обычно продают </a:t>
            </a:r>
            <a:r>
              <a:rPr lang="en-US" sz="1200" dirty="0"/>
              <a:t>unmanage </a:t>
            </a:r>
            <a:r>
              <a:rPr lang="ru-RU" sz="1200" dirty="0"/>
              <a:t>сервисы (услуги, которые пользователи должны самостоятельно настраивать, мониторить, поддерживать работоспособность, обновлять, интегрировать со смежными системами) с низкой надежностью (т.к. большинство из них – это </a:t>
            </a:r>
            <a:r>
              <a:rPr lang="en-US" sz="1200" dirty="0"/>
              <a:t>image base </a:t>
            </a:r>
            <a:r>
              <a:rPr lang="ru-RU" sz="1200" dirty="0"/>
              <a:t>сервисы с отсутствием отказоустойчивости и масштабирования).</a:t>
            </a:r>
          </a:p>
          <a:p>
            <a:pPr marL="0" indent="0">
              <a:buNone/>
            </a:pPr>
            <a:r>
              <a:rPr lang="ru-RU" sz="1200" dirty="0"/>
              <a:t>Также пользователей отпугивает отсутствие единого </a:t>
            </a:r>
            <a:r>
              <a:rPr lang="en-US" sz="1200" dirty="0"/>
              <a:t>SLA</a:t>
            </a:r>
            <a:r>
              <a:rPr lang="ru-RU" sz="1200" dirty="0"/>
              <a:t> </a:t>
            </a:r>
            <a:r>
              <a:rPr lang="en-US" sz="1200" dirty="0"/>
              <a:t>(</a:t>
            </a:r>
            <a:r>
              <a:rPr lang="ru-RU" sz="1200" dirty="0"/>
              <a:t>за инфраструктуру отвечает провайдер, за сервис – разработчик софта)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Всё это является следствием тенденций </a:t>
            </a:r>
          </a:p>
          <a:p>
            <a:pPr marL="0" indent="0">
              <a:buNone/>
            </a:pPr>
            <a:r>
              <a:rPr lang="ru-RU" sz="1200" b="1" dirty="0"/>
              <a:t>Дефицит </a:t>
            </a:r>
            <a:r>
              <a:rPr lang="en" sz="1200" b="1" dirty="0"/>
              <a:t>IT-</a:t>
            </a:r>
            <a:r>
              <a:rPr lang="ru-RU" sz="1200" b="1" dirty="0"/>
              <a:t>компетенций (как следствие рост </a:t>
            </a:r>
            <a:r>
              <a:rPr lang="en" sz="1200" b="1" dirty="0"/>
              <a:t>Managed-</a:t>
            </a:r>
            <a:r>
              <a:rPr lang="ru-RU" sz="1200" b="1" dirty="0"/>
              <a:t>модели) </a:t>
            </a:r>
            <a:r>
              <a:rPr lang="ru-RU" sz="1200" dirty="0"/>
              <a:t>и </a:t>
            </a:r>
            <a:r>
              <a:rPr lang="ru-RU" sz="1200" b="1" dirty="0"/>
              <a:t>Интеграции становятся критичнее функций</a:t>
            </a:r>
            <a:endParaRPr lang="ru-RU" sz="1200" dirty="0"/>
          </a:p>
          <a:p>
            <a:r>
              <a:rPr lang="ru-RU" sz="1200" dirty="0"/>
              <a:t>Бизнес не хочет поддерживать инфраструктуру и ПО сам – ему нужен результат со снижением операционных трат</a:t>
            </a:r>
          </a:p>
          <a:p>
            <a:r>
              <a:rPr lang="en" sz="1200" dirty="0"/>
              <a:t>SaaS </a:t>
            </a:r>
            <a:r>
              <a:rPr lang="ru-RU" sz="1200" dirty="0"/>
              <a:t>должен работать в связке с другими системами по </a:t>
            </a:r>
            <a:r>
              <a:rPr lang="en" sz="1200" dirty="0"/>
              <a:t>API/SDK — </a:t>
            </a:r>
            <a:r>
              <a:rPr lang="ru-RU" sz="1200" dirty="0"/>
              <a:t>сам по себе он не продаётся.</a:t>
            </a:r>
            <a:endParaRPr lang="ru-RU" sz="1200" b="1" dirty="0"/>
          </a:p>
          <a:p>
            <a:pPr marL="0" indent="0">
              <a:buNone/>
            </a:pPr>
            <a:r>
              <a:rPr lang="ru-RU" sz="1200" b="1" dirty="0"/>
              <a:t>Получить продукт – это только шаг 0</a:t>
            </a:r>
          </a:p>
          <a:p>
            <a:r>
              <a:rPr lang="ru-RU" sz="1200" dirty="0"/>
              <a:t>Без миграции данных и интеграций </a:t>
            </a:r>
            <a:r>
              <a:rPr lang="en" sz="1200" dirty="0"/>
              <a:t>CRM/HR/BI/</a:t>
            </a:r>
            <a:r>
              <a:rPr lang="ru-RU" sz="1200" dirty="0"/>
              <a:t>СЭД/логистика не дают бизнес-эффекта. Покупают подписку, но не запускают процесс.</a:t>
            </a:r>
          </a:p>
          <a:p>
            <a:pPr marL="0" indent="0">
              <a:buNone/>
            </a:pPr>
            <a:r>
              <a:rPr lang="ru-RU" sz="1200" b="1" dirty="0"/>
              <a:t>Сложные и отраслевые </a:t>
            </a:r>
            <a:r>
              <a:rPr lang="en" sz="1200" b="1" dirty="0"/>
              <a:t>SaaS </a:t>
            </a:r>
            <a:r>
              <a:rPr lang="ru-RU" sz="1200" b="1" dirty="0"/>
              <a:t>не работают без внедрения</a:t>
            </a:r>
          </a:p>
          <a:p>
            <a:r>
              <a:rPr lang="ru-RU" sz="1200" dirty="0"/>
              <a:t>СЭД, </a:t>
            </a:r>
            <a:r>
              <a:rPr lang="en" sz="1200" dirty="0"/>
              <a:t>BI, CX, </a:t>
            </a:r>
            <a:r>
              <a:rPr lang="en" sz="1200" dirty="0" err="1"/>
              <a:t>DevSecOps</a:t>
            </a:r>
            <a:r>
              <a:rPr lang="en" sz="1200" dirty="0"/>
              <a:t>, HRM, </a:t>
            </a:r>
            <a:r>
              <a:rPr lang="ru-RU" sz="1200" dirty="0"/>
              <a:t>логистика требуют миграции, интеграций и обучения пользователей. Витрина этого не включает.</a:t>
            </a:r>
          </a:p>
          <a:p>
            <a:pPr marL="0" indent="0">
              <a:buNone/>
            </a:pPr>
            <a:r>
              <a:rPr lang="ru-RU" sz="1200" b="1" dirty="0"/>
              <a:t>Отсутствие интеграций “из коробки”</a:t>
            </a:r>
          </a:p>
          <a:p>
            <a:r>
              <a:rPr lang="ru-RU" sz="1200" dirty="0"/>
              <a:t>Витрины не помогают подключить телефонию, </a:t>
            </a:r>
            <a:r>
              <a:rPr lang="en" sz="1200" dirty="0"/>
              <a:t>DWH/BI, IAM/AD, ERP, </a:t>
            </a:r>
            <a:r>
              <a:rPr lang="ru-RU" sz="1200" dirty="0"/>
              <a:t>документооборот, отраслевые системы. Клиент остаётся с интеграциями один.</a:t>
            </a:r>
          </a:p>
          <a:p>
            <a:pPr marL="0" indent="0">
              <a:buNone/>
            </a:pPr>
            <a:r>
              <a:rPr lang="ru-RU" sz="1200" b="1" dirty="0"/>
              <a:t>Разрозненная поддержка</a:t>
            </a:r>
          </a:p>
          <a:p>
            <a:r>
              <a:rPr lang="ru-RU" sz="1200" dirty="0"/>
              <a:t>Каждый продукт имеет свой канал и свои сроки реакции. При инциденте непонятно, кто и что именно должен исправлять — облако или разработчик.</a:t>
            </a:r>
          </a:p>
          <a:p>
            <a:endParaRPr lang="ru-RU" sz="1200" dirty="0"/>
          </a:p>
          <a:p>
            <a:pPr marL="0" indent="0">
              <a:buNone/>
            </a:pPr>
            <a:r>
              <a:rPr lang="ru-RU" sz="1200" dirty="0"/>
              <a:t>Витрины  подходят для пилотов, но не для эксплуатации в </a:t>
            </a:r>
            <a:r>
              <a:rPr lang="en" sz="1200" dirty="0"/>
              <a:t>Enterprise. </a:t>
            </a:r>
            <a:br>
              <a:rPr lang="ru-RU" sz="1200" dirty="0"/>
            </a:br>
            <a:endParaRPr lang="ru-RU" sz="1200" dirty="0"/>
          </a:p>
          <a:p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2894787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04608" cy="11430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XaaS</a:t>
            </a:r>
            <a:r>
              <a:rPr lang="en-US" dirty="0"/>
              <a:t> / </a:t>
            </a:r>
            <a:r>
              <a:rPr lang="ru-RU" dirty="0"/>
              <a:t>УЭП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A90A-9C77-F808-EA6D-EFD3F260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4450"/>
            <a:ext cx="8229600" cy="5543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Мы отвечает за процесс поставки и эксплуатации, </a:t>
            </a:r>
            <a:r>
              <a:rPr lang="ru-RU" sz="1200" dirty="0" err="1"/>
              <a:t>паблишер</a:t>
            </a:r>
            <a:r>
              <a:rPr lang="ru-RU" sz="1200" dirty="0"/>
              <a:t> </a:t>
            </a:r>
            <a:r>
              <a:rPr lang="en" sz="1200" dirty="0"/>
              <a:t> — </a:t>
            </a:r>
            <a:r>
              <a:rPr lang="ru-RU" sz="1200" dirty="0"/>
              <a:t>за продукт. </a:t>
            </a:r>
          </a:p>
          <a:p>
            <a:pPr marL="0" indent="0">
              <a:buNone/>
            </a:pPr>
            <a:r>
              <a:rPr lang="ru-RU" sz="1200" b="1" dirty="0"/>
              <a:t>Что входит в данную платформу </a:t>
            </a:r>
            <a:r>
              <a:rPr lang="en" sz="1200" b="1" dirty="0"/>
              <a:t>:</a:t>
            </a:r>
          </a:p>
          <a:p>
            <a:r>
              <a:rPr lang="ru-RU" sz="1200" dirty="0"/>
              <a:t>Каталог решений </a:t>
            </a:r>
          </a:p>
          <a:p>
            <a:r>
              <a:rPr lang="ru-RU" sz="1200" dirty="0"/>
              <a:t>Сервисные пакеты (внедрение, интеграция, поддержка)</a:t>
            </a:r>
          </a:p>
          <a:p>
            <a:r>
              <a:rPr lang="ru-RU" sz="1200" dirty="0"/>
              <a:t>Координация поддержки и эксплуатации с вендорами ПО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Техническая часть</a:t>
            </a:r>
            <a:r>
              <a:rPr lang="en-US" sz="1200" dirty="0"/>
              <a:t> (b</a:t>
            </a:r>
            <a:r>
              <a:rPr lang="en" sz="1200" dirty="0"/>
              <a:t>illing</a:t>
            </a:r>
            <a:r>
              <a:rPr lang="en-US" sz="1200" dirty="0"/>
              <a:t>, </a:t>
            </a:r>
            <a:r>
              <a:rPr lang="en" sz="1200" dirty="0"/>
              <a:t>provisioning, orchestration, API </a:t>
            </a:r>
            <a:r>
              <a:rPr lang="ru-RU" sz="1200" dirty="0"/>
              <a:t>для </a:t>
            </a:r>
            <a:r>
              <a:rPr lang="ru-RU" sz="1200" dirty="0" err="1"/>
              <a:t>паблишеров</a:t>
            </a:r>
            <a:r>
              <a:rPr lang="en-US" sz="1200" dirty="0"/>
              <a:t>)</a:t>
            </a:r>
            <a:endParaRPr lang="ru-RU" sz="1200" dirty="0"/>
          </a:p>
          <a:p>
            <a:r>
              <a:rPr lang="ru-RU" sz="1200" dirty="0"/>
              <a:t>Взаимодействие с </a:t>
            </a:r>
            <a:r>
              <a:rPr lang="ru-RU" sz="1200" dirty="0" err="1"/>
              <a:t>паблишером</a:t>
            </a:r>
            <a:r>
              <a:rPr lang="ru-RU" sz="1200" dirty="0"/>
              <a:t> (партнёрская программа, Личный Кабинет партнёра)</a:t>
            </a:r>
          </a:p>
          <a:p>
            <a:pPr marL="0" indent="0">
              <a:buNone/>
            </a:pPr>
            <a:r>
              <a:rPr lang="ru-RU" sz="1200" b="1" dirty="0"/>
              <a:t>Что не входит:</a:t>
            </a:r>
          </a:p>
          <a:p>
            <a:r>
              <a:rPr lang="ru-RU" sz="1200" dirty="0"/>
              <a:t>Разработка ПО (за </a:t>
            </a:r>
            <a:r>
              <a:rPr lang="ru-RU" sz="1200" dirty="0" err="1"/>
              <a:t>паблишерами</a:t>
            </a:r>
            <a:r>
              <a:rPr lang="ru-RU" sz="1200" dirty="0"/>
              <a:t>)</a:t>
            </a:r>
            <a:endParaRPr lang="en" sz="1200" dirty="0"/>
          </a:p>
          <a:p>
            <a:r>
              <a:rPr lang="ru-RU" sz="1200" dirty="0"/>
              <a:t>Ответственность за функциональные дефекты продукта (за </a:t>
            </a:r>
            <a:r>
              <a:rPr lang="ru-RU" sz="1200" dirty="0" err="1"/>
              <a:t>паблишерами</a:t>
            </a:r>
            <a:r>
              <a:rPr lang="ru-RU" sz="1200" dirty="0"/>
              <a:t>)</a:t>
            </a:r>
          </a:p>
          <a:p>
            <a:r>
              <a:rPr lang="ru-RU" sz="1200" dirty="0" err="1"/>
              <a:t>Кастомная</a:t>
            </a:r>
            <a:r>
              <a:rPr lang="ru-RU" sz="1200" dirty="0"/>
              <a:t> разработка “с нуля” (за </a:t>
            </a:r>
            <a:r>
              <a:rPr lang="ru-RU" sz="1200" dirty="0" err="1"/>
              <a:t>паблишерами</a:t>
            </a:r>
            <a:r>
              <a:rPr lang="ru-RU" sz="1200" dirty="0"/>
              <a:t>)</a:t>
            </a:r>
            <a:endParaRPr lang="en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Продуктовая модель: пакеты и уровни сервиса (</a:t>
            </a:r>
            <a:r>
              <a:rPr lang="ru-RU" sz="1200" dirty="0"/>
              <a:t>Сервисы продаются как пакеты, а не как разовые проекты)</a:t>
            </a:r>
          </a:p>
          <a:p>
            <a:pPr marL="0" indent="0">
              <a:buNone/>
            </a:pPr>
            <a:r>
              <a:rPr lang="ru-RU" sz="1200" dirty="0"/>
              <a:t>Запуск и интеграции</a:t>
            </a:r>
            <a:endParaRPr lang="en" sz="1200" dirty="0"/>
          </a:p>
          <a:p>
            <a:r>
              <a:rPr lang="ru-RU" sz="1200" dirty="0"/>
              <a:t>Базовый запуск</a:t>
            </a:r>
          </a:p>
          <a:p>
            <a:r>
              <a:rPr lang="ru-RU" sz="1200" dirty="0"/>
              <a:t>Интеграция с </a:t>
            </a:r>
            <a:r>
              <a:rPr lang="en" sz="1200" dirty="0"/>
              <a:t>IAM / DWH / ERP / </a:t>
            </a:r>
            <a:r>
              <a:rPr lang="ru-RU" sz="1200" dirty="0"/>
              <a:t>телефонией</a:t>
            </a:r>
          </a:p>
          <a:p>
            <a:r>
              <a:rPr lang="ru-RU" sz="1200" dirty="0"/>
              <a:t>Миграция данных</a:t>
            </a:r>
          </a:p>
          <a:p>
            <a:pPr marL="0" indent="0">
              <a:buNone/>
            </a:pPr>
            <a:r>
              <a:rPr lang="ru-RU" sz="1200" dirty="0"/>
              <a:t>Поддержка</a:t>
            </a:r>
            <a:endParaRPr lang="en" sz="1200" dirty="0"/>
          </a:p>
          <a:p>
            <a:r>
              <a:rPr lang="ru-RU" sz="1200" dirty="0"/>
              <a:t>Координация поддержки</a:t>
            </a:r>
          </a:p>
          <a:p>
            <a:r>
              <a:rPr lang="ru-RU" sz="1200" dirty="0"/>
              <a:t>Эскалация инцидентов</a:t>
            </a:r>
          </a:p>
          <a:p>
            <a:r>
              <a:rPr lang="ru-RU" sz="1200" dirty="0"/>
              <a:t>Обновления и сопровождение</a:t>
            </a:r>
          </a:p>
          <a:p>
            <a:pPr marL="0" indent="0">
              <a:buNone/>
            </a:pPr>
            <a:r>
              <a:rPr lang="ru-RU" sz="1200" dirty="0"/>
              <a:t>Профессиональные сервисы (</a:t>
            </a:r>
            <a:r>
              <a:rPr lang="ru-RU" sz="1200" dirty="0" err="1"/>
              <a:t>бандлы</a:t>
            </a:r>
            <a:r>
              <a:rPr lang="ru-RU" sz="1200" dirty="0"/>
              <a:t>)</a:t>
            </a:r>
          </a:p>
          <a:p>
            <a:r>
              <a:rPr lang="en" sz="1200" dirty="0"/>
              <a:t>Assisted — </a:t>
            </a:r>
            <a:r>
              <a:rPr lang="ru-RU" sz="1200" dirty="0"/>
              <a:t>помощь и координация</a:t>
            </a:r>
          </a:p>
          <a:p>
            <a:r>
              <a:rPr lang="en" sz="1200" dirty="0"/>
              <a:t>Managed</a:t>
            </a:r>
            <a:r>
              <a:rPr lang="ru-RU" sz="1200" dirty="0"/>
              <a:t> </a:t>
            </a:r>
            <a:r>
              <a:rPr lang="en" sz="1200" dirty="0"/>
              <a:t>— </a:t>
            </a:r>
            <a:r>
              <a:rPr lang="ru-RU" sz="1200" dirty="0"/>
              <a:t>регулярное сопровождение и контроль</a:t>
            </a:r>
          </a:p>
        </p:txBody>
      </p:sp>
    </p:spTree>
    <p:extLst>
      <p:ext uri="{BB962C8B-B14F-4D97-AF65-F5344CB8AC3E}">
        <p14:creationId xmlns:p14="http://schemas.microsoft.com/office/powerpoint/2010/main" val="2041185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Витрина или </a:t>
            </a:r>
            <a:r>
              <a:rPr lang="en-US" dirty="0" err="1"/>
              <a:t>XaaS</a:t>
            </a:r>
            <a:r>
              <a:rPr lang="ru-RU" dirty="0"/>
              <a:t> </a:t>
            </a:r>
            <a:r>
              <a:rPr lang="en-US" dirty="0"/>
              <a:t>/ </a:t>
            </a:r>
            <a:r>
              <a:rPr lang="ru-RU" dirty="0"/>
              <a:t>УЭП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668" y="1120961"/>
            <a:ext cx="8229600" cy="810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Маркетплейс Турбо должен развиваться эволюционно от витрины до </a:t>
            </a:r>
            <a:r>
              <a:rPr lang="en-US" sz="1600" b="1" u="sng" dirty="0" err="1"/>
              <a:t>XaaS</a:t>
            </a:r>
            <a:r>
              <a:rPr lang="ru-RU" sz="1600" b="1" u="sng" dirty="0"/>
              <a:t> </a:t>
            </a:r>
            <a:r>
              <a:rPr lang="en-US" sz="1600" b="1" dirty="0"/>
              <a:t>(Everything –as-a Service)</a:t>
            </a:r>
            <a:r>
              <a:rPr lang="ru-RU" sz="1600" dirty="0"/>
              <a:t>- это единственный путь к масштабируемой и маржинальной выручке.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A17551C-5085-3B6B-C743-37705CAEE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185742"/>
              </p:ext>
            </p:extLst>
          </p:nvPr>
        </p:nvGraphicFramePr>
        <p:xfrm>
          <a:off x="595902" y="1931542"/>
          <a:ext cx="8137131" cy="41164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365">
                  <a:extLst>
                    <a:ext uri="{9D8B030D-6E8A-4147-A177-3AD203B41FA5}">
                      <a16:colId xmlns:a16="http://schemas.microsoft.com/office/drawing/2014/main" val="849093019"/>
                    </a:ext>
                  </a:extLst>
                </a:gridCol>
                <a:gridCol w="2121614">
                  <a:extLst>
                    <a:ext uri="{9D8B030D-6E8A-4147-A177-3AD203B41FA5}">
                      <a16:colId xmlns:a16="http://schemas.microsoft.com/office/drawing/2014/main" val="3728729132"/>
                    </a:ext>
                  </a:extLst>
                </a:gridCol>
                <a:gridCol w="4690152">
                  <a:extLst>
                    <a:ext uri="{9D8B030D-6E8A-4147-A177-3AD203B41FA5}">
                      <a16:colId xmlns:a16="http://schemas.microsoft.com/office/drawing/2014/main" val="2269218144"/>
                    </a:ext>
                  </a:extLst>
                </a:gridCol>
              </a:tblGrid>
              <a:tr h="404209">
                <a:tc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Маркетплейс-витрина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Управляемая экосистема приложений</a:t>
                      </a:r>
                      <a:endParaRPr lang="en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865120"/>
                  </a:ext>
                </a:extLst>
              </a:tr>
              <a:tr h="645478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 продаётся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Ресурсы, Лицензии, Подписка на 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Ресурсы, Лицензии, Подписка на 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66443"/>
                  </a:ext>
                </a:extLst>
              </a:tr>
              <a:tr h="725901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Клиенты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SMB, 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пилоты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SME,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Enterprise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Паблишеры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они получают инструмент по развитию своих сервисов (в т.ч. через интеграцию с другими выложенным сервисами + кастомизацию своих решений), а мы зарабатываем также на используемых ресурсах и 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 sharing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Фактически </a:t>
                      </a:r>
                      <a:r>
                        <a:rPr lang="ru-RU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паблишера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получают возможность создавать свои маркетплейсы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564254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Комиссия +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Комиссия +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IaaS + 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 sharing 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Работы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Сервисы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62026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Низкое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910291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Дифференциация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Минимальная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Существенная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43412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6FD9F7-FF95-4C64-88C4-E06FE75EDCCE}"/>
              </a:ext>
            </a:extLst>
          </p:cNvPr>
          <p:cNvSpPr txBox="1">
            <a:spLocks/>
          </p:cNvSpPr>
          <p:nvPr/>
        </p:nvSpPr>
        <p:spPr>
          <a:xfrm>
            <a:off x="619876" y="6047419"/>
            <a:ext cx="8229600" cy="810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600" dirty="0"/>
              <a:t>Приобретая сервис через </a:t>
            </a:r>
            <a:r>
              <a:rPr lang="en-US" sz="1600" dirty="0" err="1"/>
              <a:t>XaaS</a:t>
            </a:r>
            <a:r>
              <a:rPr lang="ru-RU" sz="1600" dirty="0"/>
              <a:t> пользователь получает – софт + настройку под себя + внедрение (в т.ч. через интеграцию с </a:t>
            </a:r>
            <a:r>
              <a:rPr lang="ru-RU" sz="1600" dirty="0" err="1"/>
              <a:t>доп.сервисами</a:t>
            </a:r>
            <a:r>
              <a:rPr lang="ru-RU" sz="1600" dirty="0"/>
              <a:t>) + поддержку </a:t>
            </a:r>
          </a:p>
        </p:txBody>
      </p:sp>
    </p:spTree>
    <p:extLst>
      <p:ext uri="{BB962C8B-B14F-4D97-AF65-F5344CB8AC3E}">
        <p14:creationId xmlns:p14="http://schemas.microsoft.com/office/powerpoint/2010/main" val="2251630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" dirty="0"/>
              <a:t> TAM / SAM / SOM</a:t>
            </a:r>
            <a:r>
              <a:rPr lang="ru-RU" dirty="0"/>
              <a:t> для </a:t>
            </a:r>
            <a:r>
              <a:rPr lang="en-US" dirty="0" err="1"/>
              <a:t>XaaS</a:t>
            </a:r>
            <a:r>
              <a:rPr lang="ru-RU" dirty="0"/>
              <a:t> </a:t>
            </a:r>
            <a:r>
              <a:rPr lang="en-US" dirty="0"/>
              <a:t>/ </a:t>
            </a:r>
            <a:r>
              <a:rPr lang="ru-RU" dirty="0"/>
              <a:t>УЭП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4450"/>
            <a:ext cx="8229600" cy="5543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Рынка Маркетплейсов как отдельной категории не существует – он  агрегируем существующие рынки: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/>
              <a:t>SaaS (CRM, BI, HR, </a:t>
            </a:r>
            <a:r>
              <a:rPr lang="ru-RU" sz="1200" dirty="0"/>
              <a:t>СЭД, </a:t>
            </a:r>
            <a:r>
              <a:rPr lang="en" sz="1200" dirty="0"/>
              <a:t>CX </a:t>
            </a:r>
            <a:r>
              <a:rPr lang="ru-RU" sz="1200" dirty="0"/>
              <a:t>и др.)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/>
              <a:t>PaaS / </a:t>
            </a:r>
            <a:r>
              <a:rPr lang="en" sz="1200" dirty="0" err="1"/>
              <a:t>DevTools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Принцип расчёта: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/>
              <a:t>TAM — </a:t>
            </a:r>
            <a:r>
              <a:rPr lang="ru-RU" sz="1200" dirty="0"/>
              <a:t>рынок корпоративных </a:t>
            </a:r>
            <a:r>
              <a:rPr lang="en" sz="1200" dirty="0"/>
              <a:t>SaaS + PaaS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/>
              <a:t>SAM — </a:t>
            </a:r>
            <a:r>
              <a:rPr lang="ru-RU" sz="1200" dirty="0"/>
              <a:t>часть рынка, где требуется интегратор</a:t>
            </a:r>
            <a:r>
              <a:rPr lang="en-US" sz="1200" dirty="0"/>
              <a:t>/</a:t>
            </a:r>
            <a:r>
              <a:rPr lang="ru-RU" sz="1200" dirty="0"/>
              <a:t>оператор  (интеграции, поддержка – 50-60</a:t>
            </a:r>
            <a:r>
              <a:rPr lang="en-US" sz="1200" dirty="0"/>
              <a:t>% </a:t>
            </a:r>
            <a:r>
              <a:rPr lang="ru-RU" sz="1200" dirty="0"/>
              <a:t>от лицензий/подписок</a:t>
            </a:r>
            <a:r>
              <a:rPr lang="en" sz="12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/>
              <a:t>SOM — </a:t>
            </a:r>
            <a:r>
              <a:rPr lang="ru-RU" sz="1200" dirty="0"/>
              <a:t>достижимая доля Турбо </a:t>
            </a:r>
          </a:p>
          <a:p>
            <a:pPr marL="0" indent="0">
              <a:buNone/>
            </a:pPr>
            <a:r>
              <a:rPr lang="ru-RU" sz="1200" dirty="0"/>
              <a:t>Мы считаем не витрину приложений, а рынок решений, которые бизнес покупает/внедряет/поддерживает через оператора. 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en" sz="1200" dirty="0"/>
              <a:t>TAM </a:t>
            </a:r>
            <a:r>
              <a:rPr lang="ru-RU" sz="1200" dirty="0"/>
              <a:t>- 700 млрд руб. к 2030 (рост 20–25% </a:t>
            </a:r>
            <a:r>
              <a:rPr lang="en" sz="1200" dirty="0"/>
              <a:t>CAGR)</a:t>
            </a:r>
            <a:br>
              <a:rPr lang="en" sz="1200" dirty="0"/>
            </a:br>
            <a:endParaRPr lang="en" sz="1200" dirty="0"/>
          </a:p>
          <a:p>
            <a:pPr marL="0" indent="0">
              <a:buNone/>
            </a:pPr>
            <a:r>
              <a:rPr lang="en" sz="1200" dirty="0"/>
              <a:t>SAM </a:t>
            </a:r>
            <a:r>
              <a:rPr lang="ru-RU" sz="1200" dirty="0"/>
              <a:t>– </a:t>
            </a:r>
            <a:r>
              <a:rPr lang="en-US" sz="1200" dirty="0"/>
              <a:t>140</a:t>
            </a:r>
            <a:r>
              <a:rPr lang="ru-RU" sz="1200" dirty="0"/>
              <a:t> млрд руб. (</a:t>
            </a:r>
            <a:r>
              <a:rPr lang="en-US" sz="1200" dirty="0"/>
              <a:t>20</a:t>
            </a:r>
            <a:r>
              <a:rPr lang="ru-RU" sz="1200" dirty="0"/>
              <a:t>% </a:t>
            </a:r>
            <a:r>
              <a:rPr lang="en" sz="1200" dirty="0"/>
              <a:t>TAM</a:t>
            </a:r>
            <a:r>
              <a:rPr lang="ru-RU" sz="1200" dirty="0"/>
              <a:t>) Решения комплементарные портфелю облачных провайдеров + внедрение, интеграции, сопровождение</a:t>
            </a:r>
            <a:br>
              <a:rPr lang="ru-RU" sz="1200" dirty="0"/>
            </a:br>
            <a:endParaRPr lang="ru-RU" sz="1200" dirty="0"/>
          </a:p>
          <a:p>
            <a:pPr marL="0" indent="0">
              <a:buNone/>
            </a:pPr>
            <a:r>
              <a:rPr lang="en" sz="1200" dirty="0"/>
              <a:t>SOM </a:t>
            </a:r>
            <a:r>
              <a:rPr lang="ru-RU" sz="1200" dirty="0"/>
              <a:t>– 1</a:t>
            </a:r>
            <a:r>
              <a:rPr lang="en-US" sz="1200" dirty="0"/>
              <a:t>4,5</a:t>
            </a:r>
            <a:r>
              <a:rPr lang="en" sz="1200" dirty="0"/>
              <a:t> </a:t>
            </a:r>
            <a:r>
              <a:rPr lang="ru-RU" sz="1200" dirty="0"/>
              <a:t>млрд руб. к 2030 (10% </a:t>
            </a:r>
            <a:r>
              <a:rPr lang="en" sz="1200" dirty="0"/>
              <a:t>SAM</a:t>
            </a:r>
            <a:r>
              <a:rPr lang="ru-RU" sz="1200" dirty="0"/>
              <a:t>)</a:t>
            </a:r>
          </a:p>
          <a:p>
            <a:pPr marL="0" indent="0">
              <a:buNone/>
            </a:pPr>
            <a:br>
              <a:rPr lang="ru-RU" sz="1200" dirty="0"/>
            </a:br>
            <a:r>
              <a:rPr lang="ru-RU" sz="1200" dirty="0"/>
              <a:t>За счет чего достижимо:</a:t>
            </a:r>
          </a:p>
          <a:p>
            <a:r>
              <a:rPr lang="ru-RU" sz="1200" dirty="0"/>
              <a:t>Существующая клиентская база </a:t>
            </a:r>
            <a:r>
              <a:rPr lang="en" sz="1200" dirty="0"/>
              <a:t>B2B</a:t>
            </a:r>
          </a:p>
          <a:p>
            <a:r>
              <a:rPr lang="ru-RU" sz="1200" dirty="0"/>
              <a:t>Сервисные и интеграционные команды Ростелеком с большим опытом</a:t>
            </a:r>
          </a:p>
          <a:p>
            <a:r>
              <a:rPr lang="ru-RU" sz="1200" dirty="0"/>
              <a:t>Доверие </a:t>
            </a:r>
            <a:r>
              <a:rPr lang="en" sz="1200" dirty="0"/>
              <a:t>Enterprise</a:t>
            </a:r>
          </a:p>
          <a:p>
            <a:r>
              <a:rPr lang="ru-RU" sz="1200" dirty="0"/>
              <a:t>Отсутствие управляемой экосистемы приложений у конкурентов</a:t>
            </a:r>
          </a:p>
          <a:p>
            <a:r>
              <a:rPr lang="ru-RU" sz="1200" dirty="0"/>
              <a:t>Отраслевые решения компаний из ГК</a:t>
            </a:r>
          </a:p>
          <a:p>
            <a:pPr marL="0" indent="0">
              <a:buNone/>
            </a:pPr>
            <a:endParaRPr lang="en" sz="1200" dirty="0"/>
          </a:p>
        </p:txBody>
      </p:sp>
    </p:spTree>
    <p:extLst>
      <p:ext uri="{BB962C8B-B14F-4D97-AF65-F5344CB8AC3E}">
        <p14:creationId xmlns:p14="http://schemas.microsoft.com/office/powerpoint/2010/main" val="1027261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Сегментация</a:t>
            </a:r>
            <a:r>
              <a:rPr dirty="0"/>
              <a:t> </a:t>
            </a:r>
            <a:r>
              <a:rPr lang="ru-RU" dirty="0"/>
              <a:t>и потребности</a:t>
            </a:r>
            <a:endParaRPr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3989EEE-37CA-3AAE-E2F2-BCDD91DE2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43504"/>
              </p:ext>
            </p:extLst>
          </p:nvPr>
        </p:nvGraphicFramePr>
        <p:xfrm>
          <a:off x="457200" y="2626221"/>
          <a:ext cx="7606858" cy="35486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0279">
                  <a:extLst>
                    <a:ext uri="{9D8B030D-6E8A-4147-A177-3AD203B41FA5}">
                      <a16:colId xmlns:a16="http://schemas.microsoft.com/office/drawing/2014/main" val="1921730721"/>
                    </a:ext>
                  </a:extLst>
                </a:gridCol>
                <a:gridCol w="2346893">
                  <a:extLst>
                    <a:ext uri="{9D8B030D-6E8A-4147-A177-3AD203B41FA5}">
                      <a16:colId xmlns:a16="http://schemas.microsoft.com/office/drawing/2014/main" val="3679542589"/>
                    </a:ext>
                  </a:extLst>
                </a:gridCol>
                <a:gridCol w="1854843">
                  <a:extLst>
                    <a:ext uri="{9D8B030D-6E8A-4147-A177-3AD203B41FA5}">
                      <a16:colId xmlns:a16="http://schemas.microsoft.com/office/drawing/2014/main" val="2006722131"/>
                    </a:ext>
                  </a:extLst>
                </a:gridCol>
                <a:gridCol w="1854843">
                  <a:extLst>
                    <a:ext uri="{9D8B030D-6E8A-4147-A177-3AD203B41FA5}">
                      <a16:colId xmlns:a16="http://schemas.microsoft.com/office/drawing/2014/main" val="914496738"/>
                    </a:ext>
                  </a:extLst>
                </a:gridCol>
              </a:tblGrid>
              <a:tr h="23712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</a:rPr>
                        <a:t>Сегмент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2" marR="5202" marT="520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</a:rPr>
                        <a:t>Потребности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2" marR="5202" marT="520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</a:rPr>
                        <a:t>Роль Маркетплейс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2" marR="5202" marT="520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</a:rPr>
                        <a:t>Тип размещения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2" marR="5202" marT="5202" marB="0" anchor="b"/>
                </a:tc>
                <a:extLst>
                  <a:ext uri="{0D108BD9-81ED-4DB2-BD59-A6C34878D82A}">
                    <a16:rowId xmlns:a16="http://schemas.microsoft.com/office/drawing/2014/main" val="1778618900"/>
                  </a:ext>
                </a:extLst>
              </a:tr>
              <a:tr h="780965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Enterprise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PaaS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сервисы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Интеграции, поддержка,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SLA-</a:t>
                      </a:r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Высокий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77782"/>
                  </a:ext>
                </a:extLst>
              </a:tr>
              <a:tr h="62558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Enterprise On-Prem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+ сопровождение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Внедрение в периметр, обновления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Очень высокая маржа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229865"/>
                  </a:ext>
                </a:extLst>
              </a:tr>
              <a:tr h="62558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SME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PaaS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+ 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пакеты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Быстрый запуск + интеграции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Средний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29199"/>
                  </a:ext>
                </a:extLst>
              </a:tr>
              <a:tr h="47019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Подписка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Простота и цена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Низкая маржа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085906"/>
                  </a:ext>
                </a:extLst>
              </a:tr>
              <a:tr h="70327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Паблишеры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Rev-share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 к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Масштабируемость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880057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A90A-9C77-F808-EA6D-EFD3F260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4450"/>
            <a:ext cx="8229600" cy="114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200" dirty="0"/>
              <a:t>Enterprise Cloud — </a:t>
            </a:r>
            <a:r>
              <a:rPr lang="ru-RU" sz="1200" dirty="0"/>
              <a:t>крупные компании, использующие публичное/частное облако</a:t>
            </a:r>
          </a:p>
          <a:p>
            <a:pPr marL="0" indent="0">
              <a:buNone/>
            </a:pPr>
            <a:r>
              <a:rPr lang="en" sz="1200" dirty="0"/>
              <a:t>Enterprise On-Prem — </a:t>
            </a:r>
            <a:r>
              <a:rPr lang="ru-RU" sz="1200" dirty="0"/>
              <a:t>крупные клиенты с собственной инфраструктурой</a:t>
            </a:r>
          </a:p>
          <a:p>
            <a:pPr marL="0" indent="0">
              <a:buNone/>
            </a:pPr>
            <a:r>
              <a:rPr lang="en-US" sz="1200" dirty="0"/>
              <a:t>SME</a:t>
            </a:r>
            <a:r>
              <a:rPr lang="en" sz="1200" dirty="0"/>
              <a:t> — </a:t>
            </a:r>
            <a:r>
              <a:rPr lang="ru-RU" sz="1200" dirty="0"/>
              <a:t>компании со зрелыми процессами, но ограниченными </a:t>
            </a:r>
            <a:r>
              <a:rPr lang="en" sz="1200" dirty="0"/>
              <a:t>IT-</a:t>
            </a:r>
            <a:r>
              <a:rPr lang="ru-RU" sz="1200" dirty="0"/>
              <a:t>ресурсами</a:t>
            </a:r>
          </a:p>
          <a:p>
            <a:pPr marL="0" indent="0">
              <a:buNone/>
            </a:pPr>
            <a:r>
              <a:rPr lang="en" sz="1200" dirty="0"/>
              <a:t>SMB — </a:t>
            </a:r>
            <a:r>
              <a:rPr lang="ru-RU" sz="1200" dirty="0"/>
              <a:t>малый бизнес (ограниченно, не ключевой фокус)</a:t>
            </a:r>
          </a:p>
          <a:p>
            <a:pPr marL="0" indent="0">
              <a:buNone/>
            </a:pPr>
            <a:r>
              <a:rPr lang="ru-RU" sz="1200" dirty="0" err="1"/>
              <a:t>Паблишеры</a:t>
            </a:r>
            <a:r>
              <a:rPr lang="ru-RU" sz="1200" dirty="0"/>
              <a:t> — компании, выкладывающие свое ПО на Маркетплейсе</a:t>
            </a:r>
            <a:endParaRPr lang="en" sz="1200" dirty="0"/>
          </a:p>
          <a:p>
            <a:pPr marL="0" indent="0">
              <a:buNone/>
            </a:pPr>
            <a:endParaRPr lang="en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8CEC66-6289-C036-3032-47C87CAFD062}"/>
              </a:ext>
            </a:extLst>
          </p:cNvPr>
          <p:cNvSpPr txBox="1">
            <a:spLocks/>
          </p:cNvSpPr>
          <p:nvPr/>
        </p:nvSpPr>
        <p:spPr>
          <a:xfrm>
            <a:off x="457200" y="6343651"/>
            <a:ext cx="8229600" cy="425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" sz="1200" dirty="0"/>
              <a:t>Enterprise </a:t>
            </a:r>
            <a:r>
              <a:rPr lang="ru-RU" sz="1200" dirty="0"/>
              <a:t>и </a:t>
            </a:r>
            <a:r>
              <a:rPr lang="en-US" sz="1200" dirty="0"/>
              <a:t>SME </a:t>
            </a:r>
            <a:r>
              <a:rPr lang="en" sz="1200" dirty="0"/>
              <a:t>— </a:t>
            </a:r>
            <a:r>
              <a:rPr lang="ru-RU" sz="1200" dirty="0"/>
              <a:t>основной источник выручки и маржи. </a:t>
            </a:r>
            <a:endParaRPr lang="en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Дифференциация и стратегическое преимущество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A90A-9C77-F808-EA6D-EFD3F260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4524"/>
            <a:ext cx="8229600" cy="3814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 err="1"/>
              <a:t>XaaS</a:t>
            </a:r>
            <a:r>
              <a:rPr lang="ru-RU" sz="1200" dirty="0"/>
              <a:t> </a:t>
            </a:r>
            <a:r>
              <a:rPr lang="ru-RU" sz="1200" dirty="0" err="1"/>
              <a:t>Трубо</a:t>
            </a:r>
            <a:r>
              <a:rPr lang="en" sz="1200" dirty="0"/>
              <a:t> </a:t>
            </a:r>
            <a:r>
              <a:rPr lang="ru-RU" sz="1200" dirty="0"/>
              <a:t>= продукт + сервис + экосистема. 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Почему эту модель сложно повторить: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Требует сервисных и интеграционных команд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Нужны процессы поддержки и эскалаций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Требует доверия </a:t>
            </a:r>
            <a:r>
              <a:rPr lang="en" sz="1200" dirty="0"/>
              <a:t>Enterprise-</a:t>
            </a:r>
            <a:r>
              <a:rPr lang="ru-RU" sz="1200" dirty="0"/>
              <a:t>клиентов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Требует зрелой партнёрской модели</a:t>
            </a:r>
            <a:br>
              <a:rPr lang="ru-RU" sz="1200" dirty="0"/>
            </a:br>
            <a:endParaRPr lang="ru-RU" sz="1200" dirty="0"/>
          </a:p>
          <a:p>
            <a:pPr marL="0" indent="0">
              <a:buNone/>
            </a:pPr>
            <a:r>
              <a:rPr lang="ru-RU" sz="1200" dirty="0"/>
              <a:t>Стратегическое преимущество: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Высокая стоимость переключения</a:t>
            </a:r>
            <a:endParaRPr lang="e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Рост </a:t>
            </a:r>
            <a:r>
              <a:rPr lang="en" sz="1200" dirty="0"/>
              <a:t>ARPU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Повторяемая сервисная выручка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Экосистема </a:t>
            </a:r>
            <a:r>
              <a:rPr lang="ru-RU" sz="1200" dirty="0" err="1"/>
              <a:t>паблишеров</a:t>
            </a:r>
            <a:r>
              <a:rPr lang="en" sz="1200" dirty="0"/>
              <a:t> </a:t>
            </a:r>
            <a:r>
              <a:rPr lang="ru-RU" sz="1200" dirty="0"/>
              <a:t>вокруг провайдера</a:t>
            </a:r>
          </a:p>
          <a:p>
            <a:pPr marL="0" indent="0">
              <a:buNone/>
            </a:pPr>
            <a:endParaRPr lang="ru-RU" sz="12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C1E3967-E544-EB32-EAD1-25F3B2BC0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609258"/>
              </p:ext>
            </p:extLst>
          </p:nvPr>
        </p:nvGraphicFramePr>
        <p:xfrm>
          <a:off x="4492170" y="2059276"/>
          <a:ext cx="4371271" cy="2739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8142">
                  <a:extLst>
                    <a:ext uri="{9D8B030D-6E8A-4147-A177-3AD203B41FA5}">
                      <a16:colId xmlns:a16="http://schemas.microsoft.com/office/drawing/2014/main" val="1921730721"/>
                    </a:ext>
                  </a:extLst>
                </a:gridCol>
                <a:gridCol w="1501050">
                  <a:extLst>
                    <a:ext uri="{9D8B030D-6E8A-4147-A177-3AD203B41FA5}">
                      <a16:colId xmlns:a16="http://schemas.microsoft.com/office/drawing/2014/main" val="3679542589"/>
                    </a:ext>
                  </a:extLst>
                </a:gridCol>
                <a:gridCol w="1692079">
                  <a:extLst>
                    <a:ext uri="{9D8B030D-6E8A-4147-A177-3AD203B41FA5}">
                      <a16:colId xmlns:a16="http://schemas.microsoft.com/office/drawing/2014/main" val="2006722131"/>
                    </a:ext>
                  </a:extLst>
                </a:gridCol>
              </a:tblGrid>
              <a:tr h="23712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</a:rPr>
                        <a:t>Параметр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2" marR="5202" marT="5202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b="1" dirty="0"/>
                        <a:t>VK / Yandex</a:t>
                      </a:r>
                      <a:endParaRPr lang="en" sz="1400" dirty="0"/>
                    </a:p>
                  </a:txBody>
                  <a:tcPr marL="5202" marR="5202" marT="520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</a:rPr>
                        <a:t>Турбо</a:t>
                      </a:r>
                    </a:p>
                  </a:txBody>
                  <a:tcPr marL="5202" marR="5202" marT="5202" marB="0" anchor="b"/>
                </a:tc>
                <a:extLst>
                  <a:ext uri="{0D108BD9-81ED-4DB2-BD59-A6C34878D82A}">
                    <a16:rowId xmlns:a16="http://schemas.microsoft.com/office/drawing/2014/main" val="1778618900"/>
                  </a:ext>
                </a:extLst>
              </a:tr>
              <a:tr h="780965">
                <a:tc>
                  <a:txBody>
                    <a:bodyPr/>
                    <a:lstStyle/>
                    <a:p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Витрина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77782"/>
                  </a:ext>
                </a:extLst>
              </a:tr>
              <a:tr h="625582">
                <a:tc>
                  <a:txBody>
                    <a:bodyPr/>
                    <a:lstStyle/>
                    <a:p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229865"/>
                  </a:ext>
                </a:extLst>
              </a:tr>
              <a:tr h="625582">
                <a:tc>
                  <a:txBody>
                    <a:bodyPr/>
                    <a:lstStyle/>
                    <a:p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Единый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29199"/>
                  </a:ext>
                </a:extLst>
              </a:tr>
              <a:tr h="470197">
                <a:tc>
                  <a:txBody>
                    <a:bodyPr/>
                    <a:lstStyle/>
                    <a:p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085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070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641;g31255f78857_0_92">
            <a:extLst>
              <a:ext uri="{FF2B5EF4-FFF2-40B4-BE49-F238E27FC236}">
                <a16:creationId xmlns:a16="http://schemas.microsoft.com/office/drawing/2014/main" id="{A55CA38D-E29F-ACDA-8F78-FEE0683E7272}"/>
              </a:ext>
            </a:extLst>
          </p:cNvPr>
          <p:cNvSpPr/>
          <p:nvPr/>
        </p:nvSpPr>
        <p:spPr>
          <a:xfrm>
            <a:off x="266852" y="1285875"/>
            <a:ext cx="3836250" cy="2143125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3642;g31255f78857_0_92">
            <a:extLst>
              <a:ext uri="{FF2B5EF4-FFF2-40B4-BE49-F238E27FC236}">
                <a16:creationId xmlns:a16="http://schemas.microsoft.com/office/drawing/2014/main" id="{8082A523-1871-B425-B231-24B3BDB263FA}"/>
              </a:ext>
            </a:extLst>
          </p:cNvPr>
          <p:cNvSpPr txBox="1"/>
          <p:nvPr/>
        </p:nvSpPr>
        <p:spPr>
          <a:xfrm>
            <a:off x="266852" y="1399416"/>
            <a:ext cx="27670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 dirty="0" err="1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Strengths</a:t>
            </a:r>
            <a:endParaRPr sz="1613" dirty="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3643;g31255f78857_0_92">
            <a:extLst>
              <a:ext uri="{FF2B5EF4-FFF2-40B4-BE49-F238E27FC236}">
                <a16:creationId xmlns:a16="http://schemas.microsoft.com/office/drawing/2014/main" id="{4C9FDDE7-2023-4187-FF9E-1C5D215B82F7}"/>
              </a:ext>
            </a:extLst>
          </p:cNvPr>
          <p:cNvSpPr txBox="1"/>
          <p:nvPr/>
        </p:nvSpPr>
        <p:spPr>
          <a:xfrm>
            <a:off x="421652" y="1698647"/>
            <a:ext cx="3459590" cy="27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Сильный </a:t>
            </a:r>
            <a:r>
              <a:rPr lang="en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Sales Force / </a:t>
            </a:r>
            <a:r>
              <a:rPr lang="ru-RU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присутствие в регионах</a:t>
            </a:r>
          </a:p>
        </p:txBody>
      </p:sp>
      <p:sp>
        <p:nvSpPr>
          <p:cNvPr id="10" name="Google Shape;3644;g31255f78857_0_92">
            <a:extLst>
              <a:ext uri="{FF2B5EF4-FFF2-40B4-BE49-F238E27FC236}">
                <a16:creationId xmlns:a16="http://schemas.microsoft.com/office/drawing/2014/main" id="{C6AE4B66-A4B9-D1A3-F656-C3E9CDA10D8B}"/>
              </a:ext>
            </a:extLst>
          </p:cNvPr>
          <p:cNvSpPr/>
          <p:nvPr/>
        </p:nvSpPr>
        <p:spPr>
          <a:xfrm>
            <a:off x="258180" y="3602052"/>
            <a:ext cx="3836250" cy="2981309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3645;g31255f78857_0_92">
            <a:extLst>
              <a:ext uri="{FF2B5EF4-FFF2-40B4-BE49-F238E27FC236}">
                <a16:creationId xmlns:a16="http://schemas.microsoft.com/office/drawing/2014/main" id="{68FD9962-8D55-4DB3-5132-5651B1B71216}"/>
              </a:ext>
            </a:extLst>
          </p:cNvPr>
          <p:cNvSpPr txBox="1"/>
          <p:nvPr/>
        </p:nvSpPr>
        <p:spPr>
          <a:xfrm>
            <a:off x="258180" y="3647194"/>
            <a:ext cx="38362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Opportunities</a:t>
            </a:r>
            <a:endParaRPr sz="1613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3646;g31255f78857_0_92">
            <a:extLst>
              <a:ext uri="{FF2B5EF4-FFF2-40B4-BE49-F238E27FC236}">
                <a16:creationId xmlns:a16="http://schemas.microsoft.com/office/drawing/2014/main" id="{94FE10C4-FF1D-B95D-428F-EC377C2D7C04}"/>
              </a:ext>
            </a:extLst>
          </p:cNvPr>
          <p:cNvSpPr txBox="1"/>
          <p:nvPr/>
        </p:nvSpPr>
        <p:spPr>
          <a:xfrm>
            <a:off x="412980" y="3946421"/>
            <a:ext cx="3468263" cy="484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</a:rPr>
              <a:t>Рынок активно растет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</a:rPr>
              <a:t>Продукты и решения в рамках ГК Ростелеком</a:t>
            </a:r>
            <a:endParaRPr lang="en" sz="900" dirty="0">
              <a:solidFill>
                <a:srgbClr val="0C0C0C"/>
              </a:solidFill>
              <a:latin typeface="Montserrat"/>
            </a:endParaRPr>
          </a:p>
        </p:txBody>
      </p:sp>
      <p:sp>
        <p:nvSpPr>
          <p:cNvPr id="13" name="Google Shape;3647;g31255f78857_0_92">
            <a:extLst>
              <a:ext uri="{FF2B5EF4-FFF2-40B4-BE49-F238E27FC236}">
                <a16:creationId xmlns:a16="http://schemas.microsoft.com/office/drawing/2014/main" id="{A95F9A73-D972-4409-E98D-DCF7A830C97C}"/>
              </a:ext>
            </a:extLst>
          </p:cNvPr>
          <p:cNvSpPr/>
          <p:nvPr/>
        </p:nvSpPr>
        <p:spPr>
          <a:xfrm>
            <a:off x="4304252" y="1285875"/>
            <a:ext cx="3836250" cy="2143125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3648;g31255f78857_0_92">
            <a:extLst>
              <a:ext uri="{FF2B5EF4-FFF2-40B4-BE49-F238E27FC236}">
                <a16:creationId xmlns:a16="http://schemas.microsoft.com/office/drawing/2014/main" id="{B350CC3C-D1B8-0EE6-A6A6-7D6921A46415}"/>
              </a:ext>
            </a:extLst>
          </p:cNvPr>
          <p:cNvSpPr txBox="1"/>
          <p:nvPr/>
        </p:nvSpPr>
        <p:spPr>
          <a:xfrm>
            <a:off x="4304252" y="1399416"/>
            <a:ext cx="38362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 dirty="0" err="1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Weakness</a:t>
            </a:r>
            <a:endParaRPr sz="1613" dirty="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" name="Google Shape;3649;g31255f78857_0_92">
            <a:extLst>
              <a:ext uri="{FF2B5EF4-FFF2-40B4-BE49-F238E27FC236}">
                <a16:creationId xmlns:a16="http://schemas.microsoft.com/office/drawing/2014/main" id="{F544F337-72EC-5B8A-9C4E-6E45C512D31B}"/>
              </a:ext>
            </a:extLst>
          </p:cNvPr>
          <p:cNvSpPr txBox="1"/>
          <p:nvPr/>
        </p:nvSpPr>
        <p:spPr>
          <a:xfrm>
            <a:off x="4459052" y="1698648"/>
            <a:ext cx="3491878" cy="900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</a:rPr>
              <a:t>Восприятие как игрока только в сегменте ЦОД/</a:t>
            </a:r>
            <a:r>
              <a:rPr lang="en-US" sz="900" dirty="0">
                <a:latin typeface="Montserrat"/>
              </a:rPr>
              <a:t>IaaS</a:t>
            </a:r>
            <a:endParaRPr lang="ru-RU" sz="900" dirty="0">
              <a:latin typeface="Montserrat"/>
            </a:endParaRP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</a:rPr>
              <a:t>Слабый маркетинг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</a:rPr>
              <a:t>Низкий уровень зрелости, особенно в части разработки и ИИ</a:t>
            </a:r>
          </a:p>
        </p:txBody>
      </p:sp>
      <p:sp>
        <p:nvSpPr>
          <p:cNvPr id="16" name="Google Shape;3650;g31255f78857_0_92">
            <a:extLst>
              <a:ext uri="{FF2B5EF4-FFF2-40B4-BE49-F238E27FC236}">
                <a16:creationId xmlns:a16="http://schemas.microsoft.com/office/drawing/2014/main" id="{CCBD7329-345E-0876-9FD1-9A64FE788D49}"/>
              </a:ext>
            </a:extLst>
          </p:cNvPr>
          <p:cNvSpPr/>
          <p:nvPr/>
        </p:nvSpPr>
        <p:spPr>
          <a:xfrm>
            <a:off x="4295580" y="3602004"/>
            <a:ext cx="3836250" cy="298130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3651;g31255f78857_0_92">
            <a:extLst>
              <a:ext uri="{FF2B5EF4-FFF2-40B4-BE49-F238E27FC236}">
                <a16:creationId xmlns:a16="http://schemas.microsoft.com/office/drawing/2014/main" id="{0AD15113-3927-554F-F41D-A0F83F32C982}"/>
              </a:ext>
            </a:extLst>
          </p:cNvPr>
          <p:cNvSpPr txBox="1"/>
          <p:nvPr/>
        </p:nvSpPr>
        <p:spPr>
          <a:xfrm>
            <a:off x="4295580" y="3647194"/>
            <a:ext cx="38362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Threats</a:t>
            </a:r>
            <a:endParaRPr sz="1613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" name="Google Shape;3652;g31255f78857_0_92">
            <a:extLst>
              <a:ext uri="{FF2B5EF4-FFF2-40B4-BE49-F238E27FC236}">
                <a16:creationId xmlns:a16="http://schemas.microsoft.com/office/drawing/2014/main" id="{9A0E4C66-4908-F0CA-37DA-2F97CA6BA93C}"/>
              </a:ext>
            </a:extLst>
          </p:cNvPr>
          <p:cNvSpPr txBox="1"/>
          <p:nvPr/>
        </p:nvSpPr>
        <p:spPr>
          <a:xfrm>
            <a:off x="4450380" y="3946425"/>
            <a:ext cx="3500550" cy="26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Много сильных и агрессивных игроков с собственными (не партнерскими) развитыми 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SaaS, PaaS 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сервисами + огромные маркетинговые бюджеты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Нет своих решений, которые могут быть дифференциатором в маркетплейсе (например собственные сборки ОС, как у Яндекса или приложения по мониторингу + 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Professional Services 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как у 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VK Cloud)/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отставание по технологиям, что являются магнитом для клиентов и основой для экосистемы.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Сложные сервисы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(СЭД, 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BI, CX, </a:t>
            </a:r>
            <a:r>
              <a:rPr lang="en" sz="800" dirty="0" err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DevSecOps</a:t>
            </a:r>
            <a:r>
              <a:rPr lang="en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, HRM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) не работают без внедрения – нужна миграция, интеграций и обучения пользователей. Витрина этого не включает.</a:t>
            </a:r>
            <a:r>
              <a:rPr lang="en-US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8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Крупный бизнес слабо покупает через маркетплейс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endParaRPr lang="ru-RU" sz="8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D17277-DEE1-B4C8-62CB-35E51612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SWOT </a:t>
            </a:r>
            <a:r>
              <a:rPr lang="ru-RU" dirty="0"/>
              <a:t>анализ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43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Модель экономики Маркетплейс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A90A-9C77-F808-EA6D-EFD3F260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729163" cy="5440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Доходы</a:t>
            </a:r>
          </a:p>
          <a:p>
            <a:pPr marL="0" indent="0">
              <a:buNone/>
            </a:pPr>
            <a:r>
              <a:rPr lang="ru-RU" sz="1200" dirty="0"/>
              <a:t>Монетизация </a:t>
            </a:r>
            <a:r>
              <a:rPr lang="en" sz="1200" dirty="0"/>
              <a:t>IaaS </a:t>
            </a:r>
            <a:endParaRPr lang="ru-RU" sz="1200" dirty="0"/>
          </a:p>
          <a:p>
            <a:r>
              <a:rPr lang="ru-RU" sz="1200" dirty="0"/>
              <a:t>Размещение продуктов </a:t>
            </a:r>
            <a:r>
              <a:rPr lang="ru-RU" sz="1200" dirty="0" err="1"/>
              <a:t>Паблишеров</a:t>
            </a:r>
            <a:r>
              <a:rPr lang="ru-RU" sz="1200" dirty="0"/>
              <a:t> в инфраструктуре</a:t>
            </a:r>
          </a:p>
          <a:p>
            <a:r>
              <a:rPr lang="ru-RU" sz="1200" dirty="0"/>
              <a:t>Рост потребления </a:t>
            </a:r>
            <a:r>
              <a:rPr lang="en-US" sz="1200" dirty="0"/>
              <a:t>C</a:t>
            </a:r>
            <a:r>
              <a:rPr lang="en" sz="1200" dirty="0" err="1"/>
              <a:t>ompute</a:t>
            </a:r>
            <a:r>
              <a:rPr lang="en" sz="1200" dirty="0"/>
              <a:t> / </a:t>
            </a:r>
            <a:r>
              <a:rPr lang="en-US" sz="1200" dirty="0"/>
              <a:t>S</a:t>
            </a:r>
            <a:r>
              <a:rPr lang="en" sz="1200" dirty="0" err="1"/>
              <a:t>torage</a:t>
            </a:r>
            <a:r>
              <a:rPr lang="en" sz="1200" dirty="0"/>
              <a:t> / Network</a:t>
            </a:r>
          </a:p>
          <a:p>
            <a:pPr marL="0" indent="0">
              <a:buNone/>
            </a:pPr>
            <a:endParaRPr lang="en" sz="1200" dirty="0"/>
          </a:p>
          <a:p>
            <a:pPr marL="0" indent="0">
              <a:buNone/>
            </a:pPr>
            <a:r>
              <a:rPr lang="ru-RU" sz="1200" dirty="0"/>
              <a:t>Сервисная выручка (ключевая)</a:t>
            </a:r>
          </a:p>
          <a:p>
            <a:r>
              <a:rPr lang="ru-RU" sz="1200" dirty="0"/>
              <a:t>Внедрение решений</a:t>
            </a:r>
          </a:p>
          <a:p>
            <a:r>
              <a:rPr lang="ru-RU" sz="1200" dirty="0"/>
              <a:t>Интеграции (</a:t>
            </a:r>
            <a:r>
              <a:rPr lang="en" sz="1200" dirty="0"/>
              <a:t>IAM, DWH, ERP, </a:t>
            </a:r>
            <a:r>
              <a:rPr lang="ru-RU" sz="1200" dirty="0"/>
              <a:t>телефония, отраслевые системы)</a:t>
            </a:r>
          </a:p>
          <a:p>
            <a:r>
              <a:rPr lang="ru-RU" sz="1200" dirty="0"/>
              <a:t>Миграция данных</a:t>
            </a:r>
          </a:p>
          <a:p>
            <a:r>
              <a:rPr lang="ru-RU" sz="1200" dirty="0"/>
              <a:t>Пакеты </a:t>
            </a:r>
            <a:r>
              <a:rPr lang="en" sz="1200" dirty="0"/>
              <a:t>Managed / Assisted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Поддержка и эксплуатация</a:t>
            </a:r>
          </a:p>
          <a:p>
            <a:r>
              <a:rPr lang="ru-RU" sz="1200" dirty="0"/>
              <a:t>Координация поддержки и эскалаций</a:t>
            </a:r>
          </a:p>
          <a:p>
            <a:r>
              <a:rPr lang="ru-RU" sz="1200" dirty="0"/>
              <a:t>Обновления и сопровождение</a:t>
            </a:r>
          </a:p>
          <a:p>
            <a:r>
              <a:rPr lang="ru-RU" sz="1200" dirty="0"/>
              <a:t>Подписочная модель (</a:t>
            </a:r>
            <a:r>
              <a:rPr lang="en" sz="1200" dirty="0"/>
              <a:t>Support tiers)</a:t>
            </a:r>
          </a:p>
          <a:p>
            <a:pPr marL="0" indent="0">
              <a:buNone/>
            </a:pPr>
            <a:br>
              <a:rPr lang="en" sz="1200" dirty="0"/>
            </a:br>
            <a:r>
              <a:rPr lang="en" sz="1200" dirty="0"/>
              <a:t>Revenue Share </a:t>
            </a:r>
            <a:r>
              <a:rPr lang="ru-RU" sz="1200" dirty="0"/>
              <a:t>с </a:t>
            </a:r>
            <a:r>
              <a:rPr lang="ru-RU" sz="1200" dirty="0" err="1"/>
              <a:t>паблишерами</a:t>
            </a:r>
            <a:endParaRPr lang="en" sz="1200" dirty="0"/>
          </a:p>
          <a:p>
            <a:r>
              <a:rPr lang="ru-RU" sz="1200" dirty="0"/>
              <a:t>Комиссия с </a:t>
            </a:r>
            <a:r>
              <a:rPr lang="en" sz="1200" dirty="0"/>
              <a:t>SaaS-</a:t>
            </a:r>
            <a:r>
              <a:rPr lang="ru-RU" sz="1200" dirty="0"/>
              <a:t>подписок</a:t>
            </a:r>
          </a:p>
          <a:p>
            <a:r>
              <a:rPr lang="ru-RU" sz="1200" dirty="0"/>
              <a:t>Комиссия с лицензий / апгрейдов</a:t>
            </a:r>
          </a:p>
          <a:p>
            <a:r>
              <a:rPr lang="en" sz="1200" dirty="0"/>
              <a:t>Co-sell </a:t>
            </a:r>
            <a:r>
              <a:rPr lang="ru-RU" sz="1200" dirty="0"/>
              <a:t>с партнёрами</a:t>
            </a:r>
          </a:p>
          <a:p>
            <a:endParaRPr lang="ru-RU" sz="1200" dirty="0"/>
          </a:p>
          <a:p>
            <a:pPr marL="0" indent="0">
              <a:buNone/>
            </a:pPr>
            <a:r>
              <a:rPr lang="ru-RU" sz="1200" dirty="0"/>
              <a:t>Структура выручки (целевая)</a:t>
            </a:r>
          </a:p>
          <a:p>
            <a:r>
              <a:rPr lang="ru-RU" sz="1200" dirty="0"/>
              <a:t>40–50% — сервисы и сопровождение</a:t>
            </a:r>
          </a:p>
          <a:p>
            <a:r>
              <a:rPr lang="ru-RU" sz="1200" dirty="0"/>
              <a:t>25–35% — </a:t>
            </a:r>
            <a:r>
              <a:rPr lang="ru-RU" sz="1200" dirty="0" err="1"/>
              <a:t>монитезация</a:t>
            </a:r>
            <a:r>
              <a:rPr lang="ru-RU" sz="1200" dirty="0"/>
              <a:t> </a:t>
            </a:r>
            <a:r>
              <a:rPr lang="en" sz="1200" dirty="0"/>
              <a:t>IaaS</a:t>
            </a:r>
          </a:p>
          <a:p>
            <a:r>
              <a:rPr lang="en" sz="1200" dirty="0"/>
              <a:t>15–25% — Revenue Share </a:t>
            </a:r>
            <a:r>
              <a:rPr lang="ru-RU" sz="1200" dirty="0"/>
              <a:t>с </a:t>
            </a:r>
            <a:r>
              <a:rPr lang="ru-RU" sz="1200" dirty="0" err="1"/>
              <a:t>паблишерами</a:t>
            </a:r>
            <a:endParaRPr lang="en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096730-9E2E-EC46-3CC9-74D5C0C626D7}"/>
              </a:ext>
            </a:extLst>
          </p:cNvPr>
          <p:cNvSpPr txBox="1">
            <a:spLocks/>
          </p:cNvSpPr>
          <p:nvPr/>
        </p:nvSpPr>
        <p:spPr>
          <a:xfrm>
            <a:off x="5972174" y="1401763"/>
            <a:ext cx="3171825" cy="5440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Расходы</a:t>
            </a:r>
          </a:p>
          <a:p>
            <a:r>
              <a:rPr lang="ru-RU" sz="1200" dirty="0"/>
              <a:t>ФОТ Разработки </a:t>
            </a:r>
          </a:p>
          <a:p>
            <a:r>
              <a:rPr lang="ru-RU" sz="1200" dirty="0"/>
              <a:t>ФОТ Продажи </a:t>
            </a:r>
          </a:p>
          <a:p>
            <a:r>
              <a:rPr lang="ru-RU" sz="1200" dirty="0"/>
              <a:t>Продвижение</a:t>
            </a:r>
            <a:r>
              <a:rPr lang="en-US" sz="1200" dirty="0"/>
              <a:t>/</a:t>
            </a:r>
            <a:r>
              <a:rPr lang="ru-RU" sz="1200" dirty="0"/>
              <a:t>маркетинг</a:t>
            </a:r>
            <a:r>
              <a:rPr lang="en-US" sz="1200" dirty="0"/>
              <a:t> (</a:t>
            </a:r>
            <a:r>
              <a:rPr lang="ru-RU" sz="1200" dirty="0"/>
              <a:t>в т.ч. Совместно с </a:t>
            </a:r>
            <a:r>
              <a:rPr lang="ru-RU" sz="1200" dirty="0" err="1"/>
              <a:t>паблишерами</a:t>
            </a:r>
            <a:r>
              <a:rPr lang="ru-RU" sz="1200" dirty="0"/>
              <a:t>)</a:t>
            </a:r>
          </a:p>
          <a:p>
            <a:r>
              <a:rPr lang="ru-RU" sz="1200" dirty="0"/>
              <a:t>Сервисные ресурсы (внедрение</a:t>
            </a:r>
            <a:r>
              <a:rPr lang="en-US" sz="1200" dirty="0"/>
              <a:t>, </a:t>
            </a:r>
            <a:r>
              <a:rPr lang="ru-RU" sz="1200" dirty="0"/>
              <a:t> координация</a:t>
            </a:r>
            <a:r>
              <a:rPr lang="en-US" sz="1200" dirty="0"/>
              <a:t>, </a:t>
            </a:r>
            <a:r>
              <a:rPr lang="ru-RU" sz="1200" dirty="0"/>
              <a:t>поддержка)</a:t>
            </a:r>
          </a:p>
        </p:txBody>
      </p:sp>
    </p:spTree>
    <p:extLst>
      <p:ext uri="{BB962C8B-B14F-4D97-AF65-F5344CB8AC3E}">
        <p14:creationId xmlns:p14="http://schemas.microsoft.com/office/powerpoint/2010/main" val="2465746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Стратегические треки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20813"/>
            <a:ext cx="2357438" cy="543718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101315"/>
                </a:solidFill>
                <a:effectLst/>
                <a:latin typeface="Helvetica" pitchFamily="2" charset="0"/>
              </a:rPr>
              <a:t>2026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effectLst/>
                <a:latin typeface="Helvetica" pitchFamily="2" charset="0"/>
              </a:rPr>
              <a:t>Запуск </a:t>
            </a:r>
            <a:r>
              <a:rPr lang="en-US" sz="1100" dirty="0">
                <a:solidFill>
                  <a:srgbClr val="101315"/>
                </a:solidFill>
                <a:effectLst/>
                <a:latin typeface="Helvetica" pitchFamily="2" charset="0"/>
              </a:rPr>
              <a:t>MVP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itchFamily="2" charset="0"/>
              </a:rPr>
              <a:t> маркетплейса (на старте как витрина сервисов </a:t>
            </a:r>
            <a:r>
              <a:rPr lang="en-US" sz="1100" dirty="0">
                <a:solidFill>
                  <a:srgbClr val="101315"/>
                </a:solidFill>
                <a:effectLst/>
                <a:latin typeface="Helvetica" pitchFamily="2" charset="0"/>
              </a:rPr>
              <a:t>image base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itchFamily="2" charset="0"/>
              </a:rPr>
              <a:t>) + договорная обвязка по аналогии с конкурентами (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Организация </a:t>
            </a:r>
            <a:r>
              <a:rPr lang="en" sz="1100" dirty="0">
                <a:solidFill>
                  <a:srgbClr val="101315"/>
                </a:solidFill>
                <a:latin typeface="Helvetica" pitchFamily="2" charset="0"/>
              </a:rPr>
              <a:t>Revenue Share 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)</a:t>
            </a: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С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itchFamily="2" charset="0"/>
              </a:rPr>
              <a:t> возможностью </a:t>
            </a:r>
            <a:r>
              <a:rPr lang="ru-RU" sz="1100" dirty="0" err="1">
                <a:solidFill>
                  <a:srgbClr val="101315"/>
                </a:solidFill>
                <a:effectLst/>
                <a:latin typeface="Helvetica" pitchFamily="2" charset="0"/>
              </a:rPr>
              <a:t>паблишера</a:t>
            </a:r>
            <a:r>
              <a:rPr lang="ru-RU" sz="1100" dirty="0" err="1">
                <a:solidFill>
                  <a:srgbClr val="101315"/>
                </a:solidFill>
                <a:latin typeface="Helvetica" pitchFamily="2" charset="0"/>
              </a:rPr>
              <a:t>м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 самостоятельно выкладывать свое ПО (с валидацией провайдером перед публикацией)</a:t>
            </a:r>
          </a:p>
          <a:p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С возможностью работы приложений со сложной топологией (а не только с</a:t>
            </a:r>
            <a:r>
              <a:rPr lang="en-US" sz="1100" dirty="0">
                <a:solidFill>
                  <a:srgbClr val="101315"/>
                </a:solidFill>
                <a:latin typeface="Helvetica" pitchFamily="2" charset="0"/>
              </a:rPr>
              <a:t> image base)</a:t>
            </a: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Базовый биллинг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Первые 20 пилотных решений от внешних </a:t>
            </a:r>
            <a:r>
              <a:rPr lang="ru-RU" sz="1100" dirty="0" err="1">
                <a:solidFill>
                  <a:srgbClr val="101315"/>
                </a:solidFill>
                <a:latin typeface="Helvetica" pitchFamily="2" charset="0"/>
              </a:rPr>
              <a:t>паблишеров</a:t>
            </a: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Отработка модели партнёрства с </a:t>
            </a:r>
            <a:r>
              <a:rPr lang="ru-RU" sz="1100" dirty="0" err="1">
                <a:solidFill>
                  <a:srgbClr val="101315"/>
                </a:solidFill>
                <a:latin typeface="Helvetica" pitchFamily="2" charset="0"/>
              </a:rPr>
              <a:t>паблишерами</a:t>
            </a:r>
            <a:r>
              <a:rPr lang="en" sz="1100" dirty="0">
                <a:solidFill>
                  <a:srgbClr val="101315"/>
                </a:solidFill>
                <a:latin typeface="Helvetica" pitchFamily="2" charset="0"/>
              </a:rPr>
              <a:t>.</a:t>
            </a: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Font typeface="Arial"/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Синергия с продуктами ГК Ростелеком</a:t>
            </a:r>
          </a:p>
          <a:p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Отработка модели партнёрства с другими компаниями ГК</a:t>
            </a:r>
          </a:p>
          <a:p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Добавление в маркетплейс первые 10 приложений</a:t>
            </a:r>
          </a:p>
          <a:p>
            <a:pPr marL="0" indent="0">
              <a:buNone/>
            </a:pPr>
            <a:endParaRPr lang="en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AE7A6C-DEB1-0181-E259-DFE14AC2E099}"/>
              </a:ext>
            </a:extLst>
          </p:cNvPr>
          <p:cNvSpPr txBox="1">
            <a:spLocks/>
          </p:cNvSpPr>
          <p:nvPr/>
        </p:nvSpPr>
        <p:spPr>
          <a:xfrm>
            <a:off x="2286001" y="1435101"/>
            <a:ext cx="2357438" cy="5422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100" b="1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2027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Расширение возможностей маркетплейса – работа с сервисами со сложной топологией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Р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асширение каталога до 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60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решений 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от внешних </a:t>
            </a:r>
            <a:r>
              <a:rPr lang="ru-RU" sz="1100" dirty="0" err="1">
                <a:solidFill>
                  <a:srgbClr val="101315"/>
                </a:solidFill>
                <a:latin typeface="Helvetica" pitchFamily="2" charset="0"/>
              </a:rPr>
              <a:t>паблишеров</a:t>
            </a:r>
            <a:endParaRPr lang="ru-RU" sz="1100" dirty="0">
              <a:solidFill>
                <a:srgbClr val="101315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От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раслевые витрины (медицина, разработка, </a:t>
            </a:r>
            <a:r>
              <a:rPr lang="ru-RU" sz="1100" dirty="0" err="1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др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Публикация и развитие отраслевых сервисов</a:t>
            </a:r>
            <a:endParaRPr lang="ru-RU" sz="11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Provisioning;</a:t>
            </a:r>
            <a:endParaRPr lang="ru-RU" sz="1100" dirty="0">
              <a:solidFill>
                <a:srgbClr val="101315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" sz="1100" dirty="0" err="1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upport</a:t>
            </a:r>
            <a:r>
              <a:rPr lang="en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orchestration;</a:t>
            </a:r>
          </a:p>
          <a:p>
            <a:pPr marL="0" indent="0">
              <a:buNone/>
            </a:pPr>
            <a:r>
              <a:rPr lang="en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API 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для </a:t>
            </a:r>
            <a:r>
              <a:rPr lang="ru-RU" sz="1100" dirty="0" err="1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паблишеров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Assisted-support (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координация)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Пакеты внедрения и интеграций</a:t>
            </a:r>
          </a:p>
          <a:p>
            <a:pPr marL="0" indent="0">
              <a:buNone/>
            </a:pPr>
            <a:r>
              <a:rPr lang="en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Support tiers (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подписка)</a:t>
            </a:r>
          </a:p>
          <a:p>
            <a:pPr marL="0" indent="0">
              <a:buNone/>
            </a:pPr>
            <a:r>
              <a:rPr lang="en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Partner Success Management</a:t>
            </a:r>
            <a:endParaRPr lang="ru-RU" sz="1100" dirty="0">
              <a:solidFill>
                <a:srgbClr val="101315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Расширение продуктов ГК Ростелеком до 30 приложений</a:t>
            </a:r>
          </a:p>
          <a:p>
            <a:pPr marL="0" indent="0">
              <a:buNone/>
            </a:pPr>
            <a:endParaRPr lang="ru-RU" sz="11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D1FFEE-5C1A-9793-A51D-FBC6AE252D9C}"/>
              </a:ext>
            </a:extLst>
          </p:cNvPr>
          <p:cNvSpPr txBox="1">
            <a:spLocks/>
          </p:cNvSpPr>
          <p:nvPr/>
        </p:nvSpPr>
        <p:spPr>
          <a:xfrm>
            <a:off x="6786563" y="1417638"/>
            <a:ext cx="2324732" cy="5422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ru-RU" sz="1100" b="1" dirty="0">
                <a:solidFill>
                  <a:srgbClr val="101315"/>
                </a:solidFill>
                <a:latin typeface="Helvetica" pitchFamily="2" charset="0"/>
              </a:rPr>
              <a:t>2029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Р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itchFamily="2" charset="0"/>
              </a:rPr>
              <a:t>асширение каталога до 150 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решений 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от внешних </a:t>
            </a:r>
            <a:r>
              <a:rPr lang="ru-RU" sz="1100" dirty="0" err="1">
                <a:solidFill>
                  <a:srgbClr val="101315"/>
                </a:solidFill>
                <a:latin typeface="Helvetica" pitchFamily="2" charset="0"/>
              </a:rPr>
              <a:t>паблишеров</a:t>
            </a: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Полный переход от маркетплейса к управляемой экосистемы приложений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Частный Маркетплейс</a:t>
            </a:r>
            <a:r>
              <a:rPr lang="en" sz="1100" dirty="0">
                <a:solidFill>
                  <a:srgbClr val="101315"/>
                </a:solidFill>
                <a:latin typeface="Helvetica" pitchFamily="2" charset="0"/>
              </a:rPr>
              <a:t>– 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приватные витрины и внутренние каталоги для крупных клиентов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Маркетплейс как инструмент поставки приложений в частную инфраструктуру клиентов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Маркетплейс как универсальная платформа доставки приложений в экосистеме Ростелекома.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Присутствие в </a:t>
            </a:r>
            <a:r>
              <a:rPr lang="en-US" sz="1100" dirty="0" err="1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XaaS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до </a:t>
            </a:r>
            <a:r>
              <a:rPr lang="en-US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100%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продуктов</a:t>
            </a:r>
            <a:r>
              <a:rPr lang="en-US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bp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ГК Ростелеком</a:t>
            </a:r>
            <a:endParaRPr lang="ru-RU" sz="1800" dirty="0"/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Font typeface="Arial"/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Font typeface="Arial"/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558AB4-3814-C331-46BE-CB9D95C19C58}"/>
              </a:ext>
            </a:extLst>
          </p:cNvPr>
          <p:cNvSpPr txBox="1">
            <a:spLocks/>
          </p:cNvSpPr>
          <p:nvPr/>
        </p:nvSpPr>
        <p:spPr>
          <a:xfrm>
            <a:off x="4572000" y="1420813"/>
            <a:ext cx="2357438" cy="5008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100" b="1" dirty="0">
                <a:solidFill>
                  <a:srgbClr val="101315"/>
                </a:solidFill>
                <a:effectLst/>
                <a:latin typeface="Helvetica" pitchFamily="2" charset="0"/>
              </a:rPr>
              <a:t>2028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Старт переход маркетплейса от витрины сервисов к </a:t>
            </a:r>
            <a:r>
              <a:rPr lang="en-US" sz="1100" dirty="0" err="1">
                <a:solidFill>
                  <a:srgbClr val="101315"/>
                </a:solidFill>
                <a:latin typeface="Helvetica" pitchFamily="2" charset="0"/>
              </a:rPr>
              <a:t>XaaS</a:t>
            </a:r>
            <a:r>
              <a:rPr lang="en-US" sz="1100" dirty="0">
                <a:solidFill>
                  <a:srgbClr val="101315"/>
                </a:solidFill>
                <a:latin typeface="Helvetica" pitchFamily="2" charset="0"/>
              </a:rPr>
              <a:t> 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(подготовка договорной обвязки + внедрение процессов поддержки и координации)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Р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itchFamily="2" charset="0"/>
              </a:rPr>
              <a:t>асширение каталога до 120 </a:t>
            </a:r>
            <a:r>
              <a:rPr lang="ru-RU" sz="1100" dirty="0">
                <a:solidFill>
                  <a:srgbClr val="101315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решений 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от внешних </a:t>
            </a:r>
            <a:r>
              <a:rPr lang="ru-RU" sz="1100" dirty="0" err="1">
                <a:solidFill>
                  <a:srgbClr val="101315"/>
                </a:solidFill>
                <a:latin typeface="Helvetica" pitchFamily="2" charset="0"/>
              </a:rPr>
              <a:t>паблишеров</a:t>
            </a: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Интеграция лучших сервисов на рынке в комплексные решения для увеличения ценности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Интеграция </a:t>
            </a:r>
            <a:r>
              <a:rPr lang="en" sz="1100" dirty="0">
                <a:solidFill>
                  <a:srgbClr val="101315"/>
                </a:solidFill>
                <a:latin typeface="Helvetica" pitchFamily="2" charset="0"/>
              </a:rPr>
              <a:t>AI/ML-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сервисов в витрину (готовые модели и прикладные </a:t>
            </a:r>
            <a:r>
              <a:rPr lang="en" sz="1100" dirty="0">
                <a:solidFill>
                  <a:srgbClr val="101315"/>
                </a:solidFill>
                <a:latin typeface="Helvetica" pitchFamily="2" charset="0"/>
              </a:rPr>
              <a:t>AI-</a:t>
            </a:r>
            <a:r>
              <a:rPr lang="ru-RU" sz="1100" dirty="0">
                <a:solidFill>
                  <a:srgbClr val="101315"/>
                </a:solidFill>
                <a:latin typeface="Helvetica" pitchFamily="2" charset="0"/>
              </a:rPr>
              <a:t>сервисы).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Присутствие в </a:t>
            </a:r>
            <a:r>
              <a:rPr lang="en-US" sz="1100" dirty="0" err="1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XaaS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до 50</a:t>
            </a:r>
            <a:r>
              <a:rPr lang="en-US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%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продуктов</a:t>
            </a:r>
            <a:r>
              <a:rPr lang="en-US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bp</a:t>
            </a:r>
            <a:r>
              <a:rPr lang="ru-RU" sz="1100" dirty="0">
                <a:solidFill>
                  <a:srgbClr val="10131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ГК Ростелеком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97659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KPI </a:t>
            </a:r>
            <a:r>
              <a:rPr lang="ru-RU" dirty="0"/>
              <a:t>и метрики успеха</a:t>
            </a:r>
            <a:endParaRPr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A38A9F-B82B-3A3E-DC06-81890D891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114800" cy="5440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Финансовые</a:t>
            </a:r>
          </a:p>
          <a:p>
            <a:r>
              <a:rPr lang="ru-RU" sz="1200" dirty="0"/>
              <a:t>Выручка Маркетплейс и рост доли в рамках общей выручки</a:t>
            </a:r>
            <a:r>
              <a:rPr lang="en-US" sz="1200" dirty="0"/>
              <a:t>:</a:t>
            </a:r>
            <a:endParaRPr lang="ru-RU" sz="1200" dirty="0"/>
          </a:p>
          <a:p>
            <a:pPr lvl="1"/>
            <a:r>
              <a:rPr lang="en-US" sz="1200" dirty="0"/>
              <a:t>2026: 2 </a:t>
            </a:r>
            <a:r>
              <a:rPr lang="ru-RU" sz="1200" dirty="0"/>
              <a:t>млрд</a:t>
            </a:r>
            <a:r>
              <a:rPr lang="en-US" sz="1200" dirty="0"/>
              <a:t> </a:t>
            </a:r>
            <a:r>
              <a:rPr lang="ru-RU" sz="1200" dirty="0"/>
              <a:t>руб.</a:t>
            </a:r>
            <a:r>
              <a:rPr lang="en-US" sz="1200" dirty="0"/>
              <a:t> 10</a:t>
            </a:r>
            <a:r>
              <a:rPr lang="ru-RU" sz="1200" dirty="0"/>
              <a:t>% в общей выручки</a:t>
            </a:r>
            <a:r>
              <a:rPr lang="en-US" sz="1200" dirty="0"/>
              <a:t>;</a:t>
            </a:r>
          </a:p>
          <a:p>
            <a:pPr lvl="1"/>
            <a:r>
              <a:rPr lang="en-US" sz="1200" dirty="0"/>
              <a:t>2027: 3 </a:t>
            </a:r>
            <a:r>
              <a:rPr lang="ru-RU" sz="1200" dirty="0"/>
              <a:t>млрд руб. </a:t>
            </a:r>
            <a:r>
              <a:rPr lang="en-US" sz="1200" dirty="0"/>
              <a:t>1</a:t>
            </a:r>
            <a:r>
              <a:rPr lang="ru-RU" sz="1200" dirty="0"/>
              <a:t>5% в общей выручки</a:t>
            </a:r>
            <a:r>
              <a:rPr lang="en-US" sz="1200" dirty="0"/>
              <a:t>;</a:t>
            </a:r>
          </a:p>
          <a:p>
            <a:pPr lvl="1"/>
            <a:r>
              <a:rPr lang="ru-RU" sz="1200" dirty="0"/>
              <a:t>2028:</a:t>
            </a:r>
            <a:r>
              <a:rPr lang="en-US" sz="1200" dirty="0"/>
              <a:t> 5 </a:t>
            </a:r>
            <a:r>
              <a:rPr lang="ru-RU" sz="1200" dirty="0"/>
              <a:t>млрд руб. 20% в общей выручки</a:t>
            </a:r>
            <a:r>
              <a:rPr lang="en-US" sz="1200" dirty="0"/>
              <a:t>;</a:t>
            </a:r>
            <a:endParaRPr lang="en" sz="1200" dirty="0"/>
          </a:p>
          <a:p>
            <a:pPr lvl="1"/>
            <a:r>
              <a:rPr lang="en" sz="1200" dirty="0"/>
              <a:t>202</a:t>
            </a:r>
            <a:r>
              <a:rPr lang="ru-RU" sz="1200" dirty="0"/>
              <a:t>9</a:t>
            </a:r>
            <a:r>
              <a:rPr lang="en" sz="1200" dirty="0"/>
              <a:t>:  </a:t>
            </a:r>
            <a:r>
              <a:rPr lang="en-US" sz="1200" dirty="0"/>
              <a:t>9 </a:t>
            </a:r>
            <a:r>
              <a:rPr lang="ru-RU" sz="1200" dirty="0"/>
              <a:t>млрд руб.</a:t>
            </a:r>
            <a:r>
              <a:rPr lang="en-US" sz="1200" dirty="0"/>
              <a:t> </a:t>
            </a:r>
            <a:r>
              <a:rPr lang="ru-RU" sz="1200" dirty="0"/>
              <a:t>25% в общей выручки</a:t>
            </a:r>
            <a:r>
              <a:rPr lang="en-US" sz="1200" dirty="0"/>
              <a:t>;</a:t>
            </a:r>
            <a:endParaRPr lang="en" sz="1200" dirty="0"/>
          </a:p>
          <a:p>
            <a:pPr lvl="1"/>
            <a:r>
              <a:rPr lang="en" sz="1200" dirty="0"/>
              <a:t>2030: </a:t>
            </a:r>
            <a:r>
              <a:rPr lang="en-US" sz="1200" dirty="0"/>
              <a:t>15 </a:t>
            </a:r>
            <a:r>
              <a:rPr lang="ru-RU" sz="1200" dirty="0"/>
              <a:t>млрд</a:t>
            </a:r>
            <a:r>
              <a:rPr lang="en" sz="1200" dirty="0"/>
              <a:t> </a:t>
            </a:r>
            <a:r>
              <a:rPr lang="ru-RU" sz="1200" dirty="0"/>
              <a:t>руб. 30% в общей выручки.</a:t>
            </a:r>
            <a:endParaRPr lang="en" sz="1200" dirty="0"/>
          </a:p>
          <a:p>
            <a:r>
              <a:rPr lang="ru-RU" sz="1200" dirty="0"/>
              <a:t>Доля сервисной выручки (&gt;40%)</a:t>
            </a:r>
          </a:p>
          <a:p>
            <a:r>
              <a:rPr lang="en" sz="1200" dirty="0"/>
              <a:t>EBITDA </a:t>
            </a:r>
            <a:r>
              <a:rPr lang="ru-RU" sz="1200" dirty="0"/>
              <a:t>направления – 20-30</a:t>
            </a:r>
            <a:r>
              <a:rPr lang="en-US" sz="1200" dirty="0"/>
              <a:t>%</a:t>
            </a:r>
            <a:endParaRPr lang="ru-RU" sz="1200" dirty="0"/>
          </a:p>
          <a:p>
            <a:r>
              <a:rPr lang="en" sz="1200" dirty="0"/>
              <a:t>LTV / CAC  &gt;= 3,5×</a:t>
            </a:r>
            <a:br>
              <a:rPr lang="en" sz="1200" dirty="0"/>
            </a:br>
            <a:endParaRPr lang="en" sz="1200" dirty="0"/>
          </a:p>
          <a:p>
            <a:pPr marL="0" indent="0">
              <a:buNone/>
            </a:pPr>
            <a:r>
              <a:rPr lang="ru-RU" sz="1200" dirty="0"/>
              <a:t>Продуктовые</a:t>
            </a:r>
          </a:p>
          <a:p>
            <a:r>
              <a:rPr lang="ru-RU" sz="1200" dirty="0"/>
              <a:t>Кол-во активных решений</a:t>
            </a:r>
            <a:r>
              <a:rPr lang="en-US" sz="1200" dirty="0"/>
              <a:t> </a:t>
            </a:r>
            <a:r>
              <a:rPr lang="ru-RU" sz="1200" dirty="0"/>
              <a:t>от </a:t>
            </a:r>
            <a:r>
              <a:rPr lang="ru-RU" sz="1200" dirty="0" err="1"/>
              <a:t>Паблишеров</a:t>
            </a:r>
            <a:endParaRPr lang="en-US" sz="1200" dirty="0"/>
          </a:p>
          <a:p>
            <a:pPr lvl="1"/>
            <a:r>
              <a:rPr lang="ru-RU" sz="1200" dirty="0"/>
              <a:t>2028: 40–50</a:t>
            </a:r>
          </a:p>
          <a:p>
            <a:pPr lvl="1"/>
            <a:r>
              <a:rPr lang="ru-RU" sz="1200" dirty="0"/>
              <a:t>2029: 80–100</a:t>
            </a:r>
          </a:p>
          <a:p>
            <a:pPr lvl="1"/>
            <a:r>
              <a:rPr lang="ru-RU" sz="1200" dirty="0"/>
              <a:t>2030: 120–150</a:t>
            </a:r>
          </a:p>
          <a:p>
            <a:r>
              <a:rPr lang="en" sz="1200" dirty="0"/>
              <a:t>Time-to-Launch </a:t>
            </a:r>
            <a:r>
              <a:rPr lang="ru-RU" sz="1200" dirty="0" err="1"/>
              <a:t>Паблишера</a:t>
            </a:r>
            <a:r>
              <a:rPr lang="ru-RU" sz="1200" dirty="0"/>
              <a:t> (первая продажа) </a:t>
            </a:r>
            <a:r>
              <a:rPr lang="en-US" sz="1200" dirty="0"/>
              <a:t>&lt;</a:t>
            </a:r>
            <a:r>
              <a:rPr lang="en" sz="1200" dirty="0"/>
              <a:t>= 90 </a:t>
            </a:r>
            <a:r>
              <a:rPr lang="ru-RU" sz="1200" dirty="0"/>
              <a:t>дней (целевой 60 дней)</a:t>
            </a:r>
            <a:endParaRPr lang="en" sz="1200" dirty="0"/>
          </a:p>
          <a:p>
            <a:r>
              <a:rPr lang="en" sz="1200" dirty="0"/>
              <a:t>ARPU </a:t>
            </a:r>
            <a:r>
              <a:rPr lang="ru-RU" sz="1200" dirty="0"/>
              <a:t>по сегментам</a:t>
            </a:r>
          </a:p>
          <a:p>
            <a:pPr lvl="1"/>
            <a:r>
              <a:rPr lang="en" sz="1200" dirty="0"/>
              <a:t>Enterprise On-Prem 30–80 </a:t>
            </a:r>
            <a:r>
              <a:rPr lang="ru-RU" sz="1200" dirty="0"/>
              <a:t>млн руб.</a:t>
            </a:r>
          </a:p>
          <a:p>
            <a:pPr lvl="1"/>
            <a:r>
              <a:rPr lang="en" sz="1200" dirty="0"/>
              <a:t>Enterprise Cloud 10–25 </a:t>
            </a:r>
            <a:r>
              <a:rPr lang="ru-RU" sz="1200" dirty="0"/>
              <a:t>млн руб.</a:t>
            </a:r>
          </a:p>
          <a:p>
            <a:pPr lvl="1"/>
            <a:r>
              <a:rPr lang="en" sz="1200" dirty="0"/>
              <a:t>SME -2–6 </a:t>
            </a:r>
            <a:r>
              <a:rPr lang="ru-RU" sz="1200" dirty="0"/>
              <a:t>млн руб.</a:t>
            </a:r>
          </a:p>
          <a:p>
            <a:pPr lvl="1"/>
            <a:r>
              <a:rPr lang="en" sz="1200" dirty="0"/>
              <a:t>SMB - &lt;500 </a:t>
            </a:r>
            <a:r>
              <a:rPr lang="ru-RU" sz="1200" dirty="0" err="1"/>
              <a:t>тыс</a:t>
            </a:r>
            <a:r>
              <a:rPr lang="ru-RU" sz="1200" dirty="0"/>
              <a:t> руб.</a:t>
            </a:r>
          </a:p>
          <a:p>
            <a:r>
              <a:rPr lang="ru-RU" sz="1200" dirty="0"/>
              <a:t>Доля </a:t>
            </a:r>
            <a:r>
              <a:rPr lang="en" sz="1200" dirty="0"/>
              <a:t>Managed / Assisted </a:t>
            </a:r>
            <a:r>
              <a:rPr lang="ru-RU" sz="1200" dirty="0"/>
              <a:t>клиентов</a:t>
            </a:r>
            <a:r>
              <a:rPr lang="en-US" sz="1200" dirty="0"/>
              <a:t> </a:t>
            </a:r>
            <a:r>
              <a:rPr lang="en" sz="1200" dirty="0"/>
              <a:t>&gt;= 6</a:t>
            </a:r>
            <a:r>
              <a:rPr lang="ru-RU" sz="1200" dirty="0"/>
              <a:t>0</a:t>
            </a:r>
            <a:r>
              <a:rPr lang="en-US" sz="1200" dirty="0"/>
              <a:t>%</a:t>
            </a:r>
            <a:endParaRPr lang="ru-RU" sz="12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3A5F3A1-E7DD-E6D1-689B-9DF186496AC6}"/>
              </a:ext>
            </a:extLst>
          </p:cNvPr>
          <p:cNvSpPr txBox="1">
            <a:spLocks/>
          </p:cNvSpPr>
          <p:nvPr/>
        </p:nvSpPr>
        <p:spPr>
          <a:xfrm>
            <a:off x="4848226" y="1417638"/>
            <a:ext cx="3838574" cy="2425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Экосистемные</a:t>
            </a:r>
          </a:p>
          <a:p>
            <a:r>
              <a:rPr lang="ru-RU" sz="1200" dirty="0"/>
              <a:t>Активные </a:t>
            </a:r>
            <a:r>
              <a:rPr lang="ru-RU" sz="1200" dirty="0" err="1"/>
              <a:t>паблишеры</a:t>
            </a:r>
            <a:r>
              <a:rPr lang="en" sz="1200" dirty="0"/>
              <a:t> (</a:t>
            </a:r>
            <a:r>
              <a:rPr lang="ru-RU" sz="1200" dirty="0"/>
              <a:t>с продажами)</a:t>
            </a:r>
          </a:p>
          <a:p>
            <a:pPr lvl="1"/>
            <a:r>
              <a:rPr lang="ru-RU" sz="1200" dirty="0"/>
              <a:t>2028: 20–30</a:t>
            </a:r>
            <a:endParaRPr lang="en" sz="1200" dirty="0"/>
          </a:p>
          <a:p>
            <a:pPr lvl="1"/>
            <a:r>
              <a:rPr lang="en" sz="1200" dirty="0"/>
              <a:t>20</a:t>
            </a:r>
            <a:r>
              <a:rPr lang="ru-RU" sz="1200" dirty="0"/>
              <a:t>30</a:t>
            </a:r>
            <a:r>
              <a:rPr lang="en" sz="1200" dirty="0"/>
              <a:t>: </a:t>
            </a:r>
            <a:r>
              <a:rPr lang="ru-RU" sz="1200" dirty="0"/>
              <a:t>50</a:t>
            </a:r>
            <a:r>
              <a:rPr lang="en" sz="1200" dirty="0"/>
              <a:t>–</a:t>
            </a:r>
            <a:r>
              <a:rPr lang="ru-RU" sz="1200" dirty="0"/>
              <a:t>70</a:t>
            </a:r>
          </a:p>
          <a:p>
            <a:r>
              <a:rPr lang="ru-RU" sz="1200" dirty="0"/>
              <a:t>Доля выручки топ-10 партнёров </a:t>
            </a:r>
            <a:r>
              <a:rPr lang="en-US" sz="1200" dirty="0"/>
              <a:t>&lt;</a:t>
            </a:r>
            <a:r>
              <a:rPr lang="en" sz="1200" dirty="0"/>
              <a:t>= 6</a:t>
            </a:r>
            <a:r>
              <a:rPr lang="ru-RU" sz="1200" dirty="0"/>
              <a:t>0</a:t>
            </a:r>
            <a:r>
              <a:rPr lang="en-US" sz="1200" dirty="0"/>
              <a:t>-70%</a:t>
            </a:r>
            <a:endParaRPr lang="ru-RU" sz="1200" dirty="0"/>
          </a:p>
          <a:p>
            <a:r>
              <a:rPr lang="en" sz="1200" dirty="0"/>
              <a:t>NPS </a:t>
            </a:r>
            <a:r>
              <a:rPr lang="ru-RU" sz="1200" dirty="0"/>
              <a:t>клиентов Маркетплейса</a:t>
            </a:r>
            <a:r>
              <a:rPr lang="en" sz="1200" dirty="0"/>
              <a:t> &gt;= +45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0D4740-A58D-1FE3-6D1D-F1AC6819F50E}"/>
              </a:ext>
            </a:extLst>
          </p:cNvPr>
          <p:cNvSpPr txBox="1">
            <a:spLocks/>
          </p:cNvSpPr>
          <p:nvPr/>
        </p:nvSpPr>
        <p:spPr>
          <a:xfrm>
            <a:off x="4645152" y="3386931"/>
            <a:ext cx="4420934" cy="2425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Ключевые цели:</a:t>
            </a:r>
          </a:p>
          <a:p>
            <a:r>
              <a:rPr lang="ru-RU" sz="1200" dirty="0"/>
              <a:t>Войти в топ-3 маркетплейсов облачных приложений в России</a:t>
            </a:r>
          </a:p>
          <a:p>
            <a:r>
              <a:rPr lang="ru-RU" sz="1200" dirty="0"/>
              <a:t>Достичь 20% доли рынка </a:t>
            </a:r>
            <a:r>
              <a:rPr lang="en" sz="1200" dirty="0"/>
              <a:t>SaaS</a:t>
            </a:r>
            <a:r>
              <a:rPr lang="ru-RU" sz="1200" dirty="0"/>
              <a:t>/</a:t>
            </a:r>
            <a:r>
              <a:rPr lang="en-US" sz="1200" dirty="0"/>
              <a:t>PaaS</a:t>
            </a:r>
            <a:r>
              <a:rPr lang="en" sz="1200" dirty="0"/>
              <a:t> </a:t>
            </a:r>
            <a:r>
              <a:rPr lang="ru-RU" sz="1200" dirty="0"/>
              <a:t>в </a:t>
            </a:r>
            <a:r>
              <a:rPr lang="en" sz="1200" dirty="0"/>
              <a:t>B2B </a:t>
            </a:r>
            <a:r>
              <a:rPr lang="ru-RU" sz="1200" dirty="0"/>
              <a:t>сегменте.</a:t>
            </a:r>
          </a:p>
          <a:p>
            <a:r>
              <a:rPr lang="ru-RU" sz="1200" dirty="0"/>
              <a:t>Маркетплейс</a:t>
            </a:r>
            <a:r>
              <a:rPr lang="en" sz="1200" dirty="0"/>
              <a:t> </a:t>
            </a:r>
            <a:r>
              <a:rPr lang="ru-RU" sz="1200" dirty="0"/>
              <a:t>становится самостоятельным </a:t>
            </a:r>
            <a:r>
              <a:rPr lang="en" sz="1200" dirty="0"/>
              <a:t>P&amp;L-</a:t>
            </a:r>
            <a:r>
              <a:rPr lang="ru-RU" sz="1200" dirty="0"/>
              <a:t>направлением.</a:t>
            </a:r>
          </a:p>
          <a:p>
            <a:pPr marL="0" indent="0">
              <a:buNone/>
            </a:pPr>
            <a:endParaRPr lang="ru-RU" sz="1200" dirty="0"/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87165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dirty="0" err="1"/>
              <a:t>Операционная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: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роли</a:t>
            </a:r>
            <a:r>
              <a:rPr lang="ru-RU" dirty="0"/>
              <a:t> – необходимые ресурсы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Продуктовые</a:t>
            </a:r>
            <a:r>
              <a:rPr sz="1800" dirty="0"/>
              <a:t> </a:t>
            </a:r>
            <a:r>
              <a:rPr sz="1800" dirty="0" err="1"/>
              <a:t>менеджеры</a:t>
            </a:r>
            <a:r>
              <a:rPr sz="1800" dirty="0"/>
              <a:t>: </a:t>
            </a:r>
            <a:r>
              <a:rPr sz="1800" dirty="0" err="1"/>
              <a:t>развитие</a:t>
            </a:r>
            <a:r>
              <a:rPr sz="1800" dirty="0"/>
              <a:t> </a:t>
            </a:r>
            <a:r>
              <a:rPr sz="1800" dirty="0" err="1"/>
              <a:t>каталога</a:t>
            </a:r>
            <a:r>
              <a:rPr sz="1800" dirty="0"/>
              <a:t>, </a:t>
            </a:r>
            <a:r>
              <a:rPr sz="1800" dirty="0" err="1"/>
              <a:t>работа</a:t>
            </a:r>
            <a:r>
              <a:rPr sz="1800" dirty="0"/>
              <a:t> с </a:t>
            </a:r>
            <a:r>
              <a:rPr sz="1800" dirty="0" err="1"/>
              <a:t>партнёрами</a:t>
            </a:r>
            <a:r>
              <a:rPr sz="1800" dirty="0"/>
              <a:t> и </a:t>
            </a:r>
            <a:r>
              <a:rPr sz="1800" dirty="0" err="1"/>
              <a:t>клиентами</a:t>
            </a:r>
            <a:r>
              <a:rPr lang="en-US" sz="1800" dirty="0"/>
              <a:t> +2 FTE</a:t>
            </a:r>
            <a:endParaRPr sz="1800" dirty="0"/>
          </a:p>
          <a:p>
            <a:r>
              <a:rPr sz="1800" dirty="0" err="1"/>
              <a:t>Архитекторы</a:t>
            </a:r>
            <a:r>
              <a:rPr sz="1800" dirty="0"/>
              <a:t> и </a:t>
            </a:r>
            <a:r>
              <a:rPr sz="1800" dirty="0" err="1"/>
              <a:t>инженеры</a:t>
            </a:r>
            <a:r>
              <a:rPr sz="1800" dirty="0"/>
              <a:t>: </a:t>
            </a:r>
            <a:r>
              <a:rPr sz="1800" dirty="0" err="1"/>
              <a:t>интеграция</a:t>
            </a:r>
            <a:r>
              <a:rPr sz="1800" dirty="0"/>
              <a:t> </a:t>
            </a:r>
            <a:r>
              <a:rPr sz="1800" dirty="0" err="1"/>
              <a:t>приложений</a:t>
            </a:r>
            <a:r>
              <a:rPr sz="1800" dirty="0"/>
              <a:t>, DevOps, </a:t>
            </a:r>
            <a:r>
              <a:rPr sz="1800" dirty="0" err="1"/>
              <a:t>безопасность</a:t>
            </a:r>
            <a:r>
              <a:rPr lang="en-US" sz="1800" dirty="0"/>
              <a:t> +9 FTE</a:t>
            </a:r>
            <a:endParaRPr sz="1800" dirty="0"/>
          </a:p>
          <a:p>
            <a:r>
              <a:rPr sz="1800" dirty="0" err="1"/>
              <a:t>Отраслевые</a:t>
            </a:r>
            <a:r>
              <a:rPr sz="1800" dirty="0"/>
              <a:t> </a:t>
            </a:r>
            <a:r>
              <a:rPr sz="1800" dirty="0" err="1"/>
              <a:t>консультанты</a:t>
            </a:r>
            <a:r>
              <a:rPr sz="1800" dirty="0"/>
              <a:t>: </a:t>
            </a:r>
            <a:r>
              <a:rPr sz="1800" dirty="0" err="1"/>
              <a:t>адаптация</a:t>
            </a:r>
            <a:r>
              <a:rPr sz="1800" dirty="0"/>
              <a:t> </a:t>
            </a:r>
            <a:r>
              <a:rPr sz="1800" dirty="0" err="1"/>
              <a:t>решений</a:t>
            </a:r>
            <a:r>
              <a:rPr sz="1800" dirty="0"/>
              <a:t> </a:t>
            </a:r>
            <a:r>
              <a:rPr sz="1800" dirty="0" err="1"/>
              <a:t>под</a:t>
            </a:r>
            <a:r>
              <a:rPr sz="1800" dirty="0"/>
              <a:t> </a:t>
            </a:r>
            <a:r>
              <a:rPr sz="1800" dirty="0" err="1"/>
              <a:t>конкретные</a:t>
            </a:r>
            <a:r>
              <a:rPr sz="1800" dirty="0"/>
              <a:t> </a:t>
            </a:r>
            <a:r>
              <a:rPr sz="1800" dirty="0" err="1"/>
              <a:t>вертикали</a:t>
            </a:r>
            <a:r>
              <a:rPr lang="en-US" sz="1800" dirty="0"/>
              <a:t> +1 FTE </a:t>
            </a:r>
            <a:r>
              <a:rPr lang="ru-RU" sz="1800" dirty="0"/>
              <a:t>на старте</a:t>
            </a:r>
            <a:endParaRPr lang="en-US" sz="1800" dirty="0"/>
          </a:p>
          <a:p>
            <a:r>
              <a:rPr lang="ru-RU" sz="1800" dirty="0"/>
              <a:t>Координаторы</a:t>
            </a:r>
            <a:r>
              <a:rPr lang="en-US" sz="1800" dirty="0"/>
              <a:t>: </a:t>
            </a:r>
            <a:r>
              <a:rPr lang="ru-RU" sz="1800" dirty="0"/>
              <a:t>обеспечения единого пользовательского опыта между </a:t>
            </a:r>
            <a:r>
              <a:rPr lang="ru-RU" sz="1800" dirty="0" err="1"/>
              <a:t>паблишером</a:t>
            </a:r>
            <a:r>
              <a:rPr lang="ru-RU" sz="1800" dirty="0"/>
              <a:t> и </a:t>
            </a:r>
            <a:r>
              <a:rPr lang="en-US" sz="1800" dirty="0" err="1"/>
              <a:t>XaaS</a:t>
            </a:r>
            <a:r>
              <a:rPr lang="ru-RU" sz="1800" dirty="0"/>
              <a:t> </a:t>
            </a:r>
            <a:r>
              <a:rPr lang="en-US" sz="1800" dirty="0"/>
              <a:t>+2 FTE</a:t>
            </a:r>
            <a:r>
              <a:rPr lang="ru-RU" sz="1800" dirty="0"/>
              <a:t> на старте</a:t>
            </a:r>
            <a:endParaRPr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Ключевые риски и </a:t>
            </a:r>
            <a:r>
              <a:rPr lang="ru-RU" dirty="0" err="1"/>
              <a:t>митигация</a:t>
            </a:r>
            <a:r>
              <a:rPr lang="ru-RU" dirty="0"/>
              <a:t> 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491AED4-4D2C-75CD-7A3B-A11D65565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534905"/>
              </p:ext>
            </p:extLst>
          </p:nvPr>
        </p:nvGraphicFramePr>
        <p:xfrm>
          <a:off x="571499" y="1417638"/>
          <a:ext cx="8329614" cy="51942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8648">
                  <a:extLst>
                    <a:ext uri="{9D8B030D-6E8A-4147-A177-3AD203B41FA5}">
                      <a16:colId xmlns:a16="http://schemas.microsoft.com/office/drawing/2014/main" val="849093019"/>
                    </a:ext>
                  </a:extLst>
                </a:gridCol>
                <a:gridCol w="2006932">
                  <a:extLst>
                    <a:ext uri="{9D8B030D-6E8A-4147-A177-3AD203B41FA5}">
                      <a16:colId xmlns:a16="http://schemas.microsoft.com/office/drawing/2014/main" val="3728729132"/>
                    </a:ext>
                  </a:extLst>
                </a:gridCol>
                <a:gridCol w="3764034">
                  <a:extLst>
                    <a:ext uri="{9D8B030D-6E8A-4147-A177-3AD203B41FA5}">
                      <a16:colId xmlns:a16="http://schemas.microsoft.com/office/drawing/2014/main" val="2269218144"/>
                    </a:ext>
                  </a:extLst>
                </a:gridCol>
              </a:tblGrid>
              <a:tr h="404209">
                <a:tc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Риск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Следствие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Митигация</a:t>
                      </a:r>
                      <a:endParaRPr lang="en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865120"/>
                  </a:ext>
                </a:extLst>
              </a:tr>
              <a:tr h="725901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Топовые </a:t>
                      </a:r>
                      <a:r>
                        <a:rPr lang="ru-RU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паблишеры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будут смотреть на доказательства того, что Маркетплейс принесет им новых </a:t>
                      </a:r>
                      <a:r>
                        <a:rPr lang="ru-RU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лидов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каталоге могут оказаться только </a:t>
                      </a:r>
                      <a:r>
                        <a:rPr lang="en-US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OpenSource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продукты второго эшелона или собственные решения ГК.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Агрессивная программа заведения </a:t>
                      </a:r>
                      <a:r>
                        <a:rPr lang="ru-RU" sz="1400" dirty="0" err="1"/>
                        <a:t>партнерров</a:t>
                      </a:r>
                      <a:r>
                        <a:rPr lang="ru-RU" sz="1400" dirty="0"/>
                        <a:t> с пилотными внедрениями за счет внутренних клиентов Ростелекома/Турбо. Создание "истории успеха" для демонстрации. Ресурс Partner </a:t>
                      </a:r>
                      <a:r>
                        <a:rPr lang="ru-RU" sz="1400" dirty="0" err="1"/>
                        <a:t>Success</a:t>
                      </a:r>
                      <a:r>
                        <a:rPr lang="ru-RU" sz="1400" dirty="0"/>
                        <a:t> Manager критически важен с самого начала.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656057"/>
                  </a:ext>
                </a:extLst>
              </a:tr>
              <a:tr h="725901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Пассивные </a:t>
                      </a:r>
                      <a:r>
                        <a:rPr lang="ru-RU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паблишеры</a:t>
                      </a:r>
                      <a:endParaRPr lang="e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Разместились, но не продают и не развиваются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Сертификация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 Success Management;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Совместный маркетинг</a:t>
                      </a:r>
                      <a:r>
                        <a:rPr lang="en" sz="1400" dirty="0"/>
                        <a:t>;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Совместные </a:t>
                      </a:r>
                      <a:r>
                        <a:rPr lang="en" sz="1400" dirty="0"/>
                        <a:t>KPI;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Правил отключения/де-листинга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564254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сложность сервисов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Перегруз команд, рост себестоимости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Стандартизированные пакеты внедрения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62026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Юридические риски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Ожидание “единого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</a:t>
                      </a:r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ПО”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Чёткая граница ответственности: процесс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 </a:t>
                      </a:r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продукт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910291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Долгий </a:t>
                      </a:r>
                      <a:r>
                        <a:rPr lang="en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Time-to-Value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Клиент не видит эффекта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Быстрые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SaaS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PaaS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пилоты + поэтапное внедрение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434128"/>
                  </a:ext>
                </a:extLst>
              </a:tr>
              <a:tr h="565055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Ответ конкурентов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Провайдеры копируют 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Ранний выход, фокус на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Enterprise </a:t>
                      </a:r>
                      <a:r>
                        <a:rPr lang="ru-RU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On-Prem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13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58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Взаимодействие с партнерами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Партнёрская</a:t>
            </a:r>
            <a:r>
              <a:rPr sz="1800" dirty="0"/>
              <a:t> </a:t>
            </a:r>
            <a:r>
              <a:rPr sz="1800" dirty="0" err="1"/>
              <a:t>программа</a:t>
            </a:r>
            <a:r>
              <a:rPr sz="1800" dirty="0"/>
              <a:t>: </a:t>
            </a:r>
            <a:r>
              <a:rPr sz="1800" dirty="0" err="1"/>
              <a:t>прозрачная</a:t>
            </a:r>
            <a:r>
              <a:rPr sz="1800" dirty="0"/>
              <a:t> </a:t>
            </a:r>
            <a:r>
              <a:rPr sz="1800" dirty="0" err="1"/>
              <a:t>доля</a:t>
            </a:r>
            <a:r>
              <a:rPr sz="1800" dirty="0"/>
              <a:t> </a:t>
            </a:r>
            <a:r>
              <a:rPr sz="1800" dirty="0" err="1"/>
              <a:t>выручки</a:t>
            </a:r>
            <a:r>
              <a:rPr sz="1800" dirty="0"/>
              <a:t>, </a:t>
            </a:r>
            <a:r>
              <a:rPr sz="1800" dirty="0" err="1"/>
              <a:t>маркетинг</a:t>
            </a:r>
            <a:r>
              <a:rPr sz="1800" dirty="0"/>
              <a:t> </a:t>
            </a:r>
            <a:r>
              <a:rPr sz="1800" dirty="0" err="1"/>
              <a:t>и</a:t>
            </a:r>
            <a:r>
              <a:rPr sz="1800" dirty="0"/>
              <a:t> </a:t>
            </a:r>
            <a:r>
              <a:rPr sz="1800" dirty="0" err="1"/>
              <a:t>техподдержка</a:t>
            </a:r>
            <a:r>
              <a:rPr sz="1800" dirty="0"/>
              <a:t>.</a:t>
            </a:r>
          </a:p>
          <a:p>
            <a:r>
              <a:rPr sz="1800" dirty="0" err="1"/>
              <a:t>Инструменты</a:t>
            </a:r>
            <a:r>
              <a:rPr sz="1800" dirty="0"/>
              <a:t>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lang="ru-RU" sz="1800" dirty="0" err="1"/>
              <a:t>паблишеров</a:t>
            </a:r>
            <a:r>
              <a:rPr sz="1800" dirty="0"/>
              <a:t>: SDK/API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биллинга</a:t>
            </a:r>
            <a:r>
              <a:rPr sz="1800" dirty="0"/>
              <a:t> </a:t>
            </a:r>
            <a:r>
              <a:rPr sz="1800" dirty="0" err="1"/>
              <a:t>и</a:t>
            </a:r>
            <a:r>
              <a:rPr sz="1800" dirty="0"/>
              <a:t> </a:t>
            </a:r>
            <a:r>
              <a:rPr sz="1800" dirty="0" err="1"/>
              <a:t>интеграции</a:t>
            </a:r>
            <a:r>
              <a:rPr sz="1800" dirty="0"/>
              <a:t> </a:t>
            </a:r>
            <a:r>
              <a:rPr sz="1800" dirty="0" err="1"/>
              <a:t>с</a:t>
            </a:r>
            <a:r>
              <a:rPr sz="1800" dirty="0"/>
              <a:t> </a:t>
            </a:r>
            <a:r>
              <a:rPr sz="1800" dirty="0" err="1"/>
              <a:t>платформой</a:t>
            </a:r>
            <a:r>
              <a:rPr sz="1800" dirty="0"/>
              <a:t>.</a:t>
            </a:r>
          </a:p>
          <a:p>
            <a:r>
              <a:rPr lang="ru-RU" sz="1800" dirty="0"/>
              <a:t>Песочница </a:t>
            </a:r>
            <a:r>
              <a:rPr sz="1800" dirty="0" err="1"/>
              <a:t>и</a:t>
            </a:r>
            <a:r>
              <a:rPr sz="1800" dirty="0"/>
              <a:t> </a:t>
            </a:r>
            <a:r>
              <a:rPr sz="1800" dirty="0" err="1"/>
              <a:t>помощь</a:t>
            </a:r>
            <a:r>
              <a:rPr sz="1800" dirty="0"/>
              <a:t> </a:t>
            </a:r>
            <a:r>
              <a:rPr sz="1800" dirty="0" err="1"/>
              <a:t>в</a:t>
            </a:r>
            <a:r>
              <a:rPr sz="1800" dirty="0"/>
              <a:t> </a:t>
            </a:r>
            <a:r>
              <a:rPr sz="1800" dirty="0" err="1"/>
              <a:t>переносе</a:t>
            </a:r>
            <a:r>
              <a:rPr sz="1800" dirty="0"/>
              <a:t> </a:t>
            </a:r>
            <a:r>
              <a:rPr sz="1800" dirty="0" err="1"/>
              <a:t>решений</a:t>
            </a:r>
            <a:r>
              <a:rPr sz="1800" dirty="0"/>
              <a:t> </a:t>
            </a:r>
            <a:r>
              <a:rPr sz="1800" dirty="0" err="1"/>
              <a:t>в</a:t>
            </a:r>
            <a:r>
              <a:rPr sz="1800" dirty="0"/>
              <a:t> </a:t>
            </a:r>
            <a:r>
              <a:rPr lang="ru-RU" sz="1800" dirty="0"/>
              <a:t>Турбо </a:t>
            </a:r>
            <a:r>
              <a:rPr sz="1800" dirty="0" err="1"/>
              <a:t>облако</a:t>
            </a:r>
            <a:r>
              <a:rPr sz="1800" dirty="0"/>
              <a:t>.</a:t>
            </a:r>
          </a:p>
          <a:p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ключевых</a:t>
            </a:r>
            <a:r>
              <a:rPr sz="1800" dirty="0"/>
              <a:t> </a:t>
            </a:r>
            <a:r>
              <a:rPr lang="ru-RU" sz="1800" dirty="0" err="1"/>
              <a:t>паблишеров</a:t>
            </a:r>
            <a:r>
              <a:rPr sz="1800" dirty="0"/>
              <a:t> – </a:t>
            </a:r>
            <a:r>
              <a:rPr sz="1800" dirty="0" err="1"/>
              <a:t>персональные</a:t>
            </a:r>
            <a:r>
              <a:rPr sz="1800" dirty="0"/>
              <a:t> Partner Success Manager </a:t>
            </a:r>
            <a:r>
              <a:rPr sz="1800" dirty="0" err="1"/>
              <a:t>и</a:t>
            </a:r>
            <a:r>
              <a:rPr sz="1800" dirty="0"/>
              <a:t> </a:t>
            </a:r>
            <a:r>
              <a:rPr sz="1800" dirty="0" err="1"/>
              <a:t>совместные</a:t>
            </a:r>
            <a:r>
              <a:rPr sz="1800" dirty="0"/>
              <a:t> </a:t>
            </a:r>
            <a:r>
              <a:rPr sz="1800" dirty="0" err="1"/>
              <a:t>запуски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Сделано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800" dirty="0"/>
              <a:t>Проведены переговоры с эксплуатацией. Договорились </a:t>
            </a:r>
          </a:p>
          <a:p>
            <a:pPr lvl="1"/>
            <a:r>
              <a:rPr lang="ru-RU" sz="1400" dirty="0"/>
              <a:t>В текущим варианте маркетплейса добавляем до новых 5 сервисов </a:t>
            </a:r>
            <a:r>
              <a:rPr lang="en" sz="1400" dirty="0"/>
              <a:t>image base. </a:t>
            </a:r>
            <a:r>
              <a:rPr lang="ru-RU" sz="1400" dirty="0"/>
              <a:t>Актуальный список всегда в </a:t>
            </a:r>
            <a:r>
              <a:rPr lang="ru-RU" sz="1400" dirty="0">
                <a:hlinkClick r:id="rId2"/>
              </a:rPr>
              <a:t>пространство Конфлюенс</a:t>
            </a:r>
            <a:r>
              <a:rPr lang="ru-RU" sz="1400" dirty="0"/>
              <a:t>.</a:t>
            </a:r>
          </a:p>
          <a:p>
            <a:pPr lvl="1"/>
            <a:r>
              <a:rPr lang="ru-RU" sz="1400" dirty="0"/>
              <a:t>После согласования с руководством открываем доступ в маркетплейс, который в настоящий момент есть в </a:t>
            </a:r>
            <a:r>
              <a:rPr lang="ru-RU" sz="1400" dirty="0" err="1"/>
              <a:t>проде</a:t>
            </a:r>
            <a:r>
              <a:rPr lang="ru-RU" sz="1400" dirty="0"/>
              <a:t>, но закрыт от пользователей. В рамках текущего маркетплейса не готовим отдельные материалы по передаче в СЭ т.к. это часть СУОП;</a:t>
            </a:r>
          </a:p>
          <a:p>
            <a:pPr lvl="1"/>
            <a:r>
              <a:rPr lang="ru-RU" sz="1400" dirty="0"/>
              <a:t>В рамках данного маркетплейса доступны для заказа образы ОС (данные ОС уже доступны для заказа через раздел Виртуальные ресурсы. При заказе через Маркетплейс пользователя перекинет на тот же раздел с </a:t>
            </a:r>
            <a:r>
              <a:rPr lang="en" sz="1400" dirty="0"/>
              <a:t>IaaS </a:t>
            </a:r>
            <a:r>
              <a:rPr lang="ru-RU" sz="1400" dirty="0"/>
              <a:t>с уже перезаполненным полем с ранее выбранной ОС – см. скрин ниже)</a:t>
            </a:r>
            <a:endParaRPr lang="en" sz="1400" dirty="0"/>
          </a:p>
          <a:p>
            <a:pPr lvl="1"/>
            <a:r>
              <a:rPr lang="ru-RU" sz="1400" dirty="0"/>
              <a:t>В рамках реализации нового Маркетплейса в рамках Турбо готовим весь необходимый комплект документов для передачи в эксплуатацию как к новому продукту;</a:t>
            </a:r>
          </a:p>
          <a:p>
            <a:pPr marL="342900" lvl="1" indent="-342900">
              <a:buFont typeface="Arial"/>
              <a:buChar char="•"/>
            </a:pPr>
            <a:r>
              <a:rPr lang="ru-RU" sz="1800" dirty="0"/>
              <a:t>Проведены переговоры с ИБ. Договорились </a:t>
            </a:r>
          </a:p>
          <a:p>
            <a:pPr lvl="1"/>
            <a:r>
              <a:rPr lang="ru-RU" sz="1400" dirty="0"/>
              <a:t>Текущие дистрибутивы ОС и других </a:t>
            </a:r>
            <a:r>
              <a:rPr lang="en" sz="1400" dirty="0"/>
              <a:t>image base  </a:t>
            </a:r>
            <a:r>
              <a:rPr lang="ru-RU" sz="1400" dirty="0"/>
              <a:t>продуктов (например </a:t>
            </a:r>
            <a:r>
              <a:rPr lang="en" sz="1400" dirty="0"/>
              <a:t>Open VPN) </a:t>
            </a:r>
            <a:r>
              <a:rPr lang="ru-RU" sz="1400" dirty="0"/>
              <a:t>не проходили специализированную проверку перед тем как были добавлены реестр образов;</a:t>
            </a:r>
          </a:p>
          <a:p>
            <a:pPr lvl="1"/>
            <a:r>
              <a:rPr lang="ru-RU" sz="1400" dirty="0"/>
              <a:t>Планируемые к добавлению в маркетплейс решения (такие как например, </a:t>
            </a:r>
            <a:r>
              <a:rPr lang="en" sz="1400" dirty="0"/>
              <a:t>Grafana, WordPress, </a:t>
            </a:r>
            <a:r>
              <a:rPr lang="en" sz="1400" dirty="0" err="1"/>
              <a:t>BigBlueButton</a:t>
            </a:r>
            <a:r>
              <a:rPr lang="en" sz="1400" dirty="0"/>
              <a:t>, </a:t>
            </a:r>
            <a:r>
              <a:rPr lang="en" sz="1400" dirty="0" err="1"/>
              <a:t>etc</a:t>
            </a:r>
            <a:r>
              <a:rPr lang="en" sz="1400" dirty="0"/>
              <a:t>) </a:t>
            </a:r>
            <a:r>
              <a:rPr lang="ru-RU" sz="1400" dirty="0"/>
              <a:t>также не требуют дополнительно проверки от команды ИБ и реализация дополнительных процессов не целесообразна;</a:t>
            </a:r>
          </a:p>
          <a:p>
            <a:pPr lvl="2"/>
            <a:r>
              <a:rPr lang="ru-RU" sz="1300" dirty="0"/>
              <a:t>Возможные риски мы снимем в рамках договора оферты с конечным клиентом</a:t>
            </a:r>
          </a:p>
          <a:p>
            <a:pPr lvl="1"/>
            <a:r>
              <a:rPr lang="ru-RU" sz="1400" dirty="0"/>
              <a:t>После подготовки драфта договора оферты – он будет направлен через СЭД коллегам из команды ИБ на предмет корректности формулировок</a:t>
            </a:r>
          </a:p>
          <a:p>
            <a:pPr lvl="2"/>
            <a:r>
              <a:rPr lang="ru-RU" sz="1300" dirty="0"/>
              <a:t>В рамках обсуждения договора оферты потенциально возможно включения базовых проверок для обеспечения гигиенического минимума для соблюдения безопасности</a:t>
            </a:r>
          </a:p>
          <a:p>
            <a:pPr lvl="2"/>
            <a:r>
              <a:rPr lang="ru-RU" sz="1300" dirty="0"/>
              <a:t>В качестве варианта гигиенического минимума можно рассмотреть проверка хэш-сумм между в рамках обновлений между скаченной версией и </a:t>
            </a:r>
            <a:r>
              <a:rPr lang="ru-RU" sz="1100" b="0" i="0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"/>
              </a:rPr>
              <a:t>версией проверенной ФСЭК</a:t>
            </a:r>
            <a:r>
              <a:rPr lang="ru-RU" sz="11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ru-RU" sz="1300" dirty="0"/>
              <a:t>Данную проверку предварительно должна осуществлять СЭ перед обновлением версии дистрибутива.</a:t>
            </a:r>
          </a:p>
          <a:p>
            <a:pPr lvl="1"/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580320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Модель взаимодействия (</a:t>
            </a:r>
            <a:r>
              <a:rPr lang="en-US" dirty="0"/>
              <a:t>as is)</a:t>
            </a:r>
            <a:r>
              <a:rPr lang="ru-RU" dirty="0"/>
              <a:t> 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BD6CE5-069C-4532-4860-514CB2EB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49" y="1178966"/>
            <a:ext cx="6058302" cy="56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97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Модель взаимодействия (</a:t>
            </a:r>
            <a:r>
              <a:rPr lang="en-US" dirty="0"/>
              <a:t>to be)</a:t>
            </a:r>
            <a:r>
              <a:rPr lang="ru-RU" dirty="0"/>
              <a:t> 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55D97B-07AF-4793-B443-29BF7AE0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00" y="1179843"/>
            <a:ext cx="6458400" cy="557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79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Создать архитектуру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В рамках создания Маркетплейса необходимо проработка следующих технических задач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</a:t>
            </a:r>
            <a:r>
              <a:rPr lang="en" sz="1800" dirty="0"/>
              <a:t>illing;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800" dirty="0"/>
              <a:t>Provisioning;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800" dirty="0"/>
              <a:t>Support orchestration;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800" dirty="0"/>
              <a:t>API </a:t>
            </a:r>
            <a:r>
              <a:rPr lang="ru-RU" sz="1800" dirty="0"/>
              <a:t>для </a:t>
            </a:r>
            <a:r>
              <a:rPr lang="ru-RU" sz="1800" dirty="0" err="1"/>
              <a:t>паблишеров</a:t>
            </a:r>
            <a:r>
              <a:rPr lang="ru-RU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073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Добавление </a:t>
            </a:r>
            <a:r>
              <a:rPr lang="en-US" dirty="0"/>
              <a:t>image base </a:t>
            </a:r>
            <a:r>
              <a:rPr lang="ru-RU" dirty="0"/>
              <a:t>продуктов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517902"/>
            <a:ext cx="2223516" cy="217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Open Source 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1 </a:t>
            </a:r>
            <a:r>
              <a:rPr lang="ru-RU" sz="1800" dirty="0"/>
              <a:t>очередь</a:t>
            </a:r>
            <a:endParaRPr lang="en-US" sz="1400" dirty="0"/>
          </a:p>
          <a:p>
            <a:r>
              <a:rPr lang="en-US" sz="1400" dirty="0"/>
              <a:t>OpenVPN</a:t>
            </a:r>
          </a:p>
          <a:p>
            <a:r>
              <a:rPr lang="en-US" sz="1400" dirty="0"/>
              <a:t>Grafana</a:t>
            </a:r>
          </a:p>
          <a:p>
            <a:r>
              <a:rPr lang="en-US" sz="1400" dirty="0"/>
              <a:t>Zabbix</a:t>
            </a:r>
          </a:p>
          <a:p>
            <a:r>
              <a:rPr lang="en-US" sz="1400" dirty="0"/>
              <a:t>WordPress</a:t>
            </a:r>
          </a:p>
          <a:p>
            <a:r>
              <a:rPr lang="en-US" sz="1400" dirty="0" err="1"/>
              <a:t>BigBlueButton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BD9852-1695-663F-F1C7-9EDC26FD7C31}"/>
              </a:ext>
            </a:extLst>
          </p:cNvPr>
          <p:cNvSpPr txBox="1">
            <a:spLocks/>
          </p:cNvSpPr>
          <p:nvPr/>
        </p:nvSpPr>
        <p:spPr>
          <a:xfrm>
            <a:off x="3099816" y="1517902"/>
            <a:ext cx="3284982" cy="777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 err="1"/>
              <a:t>Вендорские</a:t>
            </a:r>
            <a:r>
              <a:rPr lang="ru-RU" sz="1800" dirty="0"/>
              <a:t> продукты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1 очередь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41D0E1-3826-9B2D-4BB3-ACD0E2138FF6}"/>
              </a:ext>
            </a:extLst>
          </p:cNvPr>
          <p:cNvSpPr txBox="1">
            <a:spLocks/>
          </p:cNvSpPr>
          <p:nvPr/>
        </p:nvSpPr>
        <p:spPr>
          <a:xfrm>
            <a:off x="890778" y="3511612"/>
            <a:ext cx="1943862" cy="172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2 </a:t>
            </a:r>
            <a:r>
              <a:rPr lang="ru-RU" sz="1800" dirty="0"/>
              <a:t>очередь</a:t>
            </a:r>
            <a:endParaRPr lang="en-US" sz="1800" dirty="0"/>
          </a:p>
          <a:p>
            <a:r>
              <a:rPr lang="en-US" sz="1400" dirty="0" err="1"/>
              <a:t>SambaDC</a:t>
            </a:r>
            <a:endParaRPr lang="en-US" sz="1400" dirty="0"/>
          </a:p>
          <a:p>
            <a:r>
              <a:rPr lang="en-US" sz="1400" dirty="0" err="1"/>
              <a:t>Pritunl</a:t>
            </a:r>
            <a:endParaRPr lang="en-US" sz="1400" dirty="0"/>
          </a:p>
          <a:p>
            <a:r>
              <a:rPr lang="en-US" sz="1400" dirty="0"/>
              <a:t>Gitlab</a:t>
            </a:r>
          </a:p>
          <a:p>
            <a:r>
              <a:rPr lang="en-US" sz="1400" dirty="0"/>
              <a:t>Nexus</a:t>
            </a:r>
          </a:p>
          <a:p>
            <a:r>
              <a:rPr lang="en-US" sz="1400" dirty="0"/>
              <a:t>Jenkins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0BBF72-0625-08CD-95C1-329E352B9FF9}"/>
              </a:ext>
            </a:extLst>
          </p:cNvPr>
          <p:cNvSpPr txBox="1">
            <a:spLocks/>
          </p:cNvSpPr>
          <p:nvPr/>
        </p:nvSpPr>
        <p:spPr>
          <a:xfrm>
            <a:off x="876300" y="5093369"/>
            <a:ext cx="2237994" cy="1764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3 </a:t>
            </a:r>
            <a:r>
              <a:rPr lang="ru-RU" sz="1800" dirty="0"/>
              <a:t>очередь</a:t>
            </a:r>
            <a:endParaRPr lang="ru-RU" sz="1400" dirty="0"/>
          </a:p>
          <a:p>
            <a:r>
              <a:rPr lang="en-US" sz="1500" dirty="0"/>
              <a:t>Prometheus Operator</a:t>
            </a:r>
          </a:p>
          <a:p>
            <a:r>
              <a:rPr lang="en-US" sz="1500" dirty="0" err="1"/>
              <a:t>ArgoCD</a:t>
            </a:r>
            <a:endParaRPr lang="en-US" sz="1500" dirty="0"/>
          </a:p>
          <a:p>
            <a:r>
              <a:rPr lang="en-US" sz="1500" dirty="0"/>
              <a:t>Drupal</a:t>
            </a:r>
          </a:p>
          <a:p>
            <a:r>
              <a:rPr lang="en-US" sz="1500" dirty="0"/>
              <a:t>Joomla</a:t>
            </a:r>
          </a:p>
          <a:p>
            <a:r>
              <a:rPr lang="en-US" sz="1500" dirty="0" err="1"/>
              <a:t>Keycloak</a:t>
            </a:r>
            <a:endParaRPr lang="en-US" sz="1500" dirty="0"/>
          </a:p>
          <a:p>
            <a:r>
              <a:rPr lang="en-US" sz="1500" dirty="0" err="1"/>
              <a:t>Hasicorp</a:t>
            </a:r>
            <a:r>
              <a:rPr lang="en-US" sz="1500" dirty="0"/>
              <a:t> Vault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2C6445F-EE3E-D053-0FEB-A630BFA628DE}"/>
              </a:ext>
            </a:extLst>
          </p:cNvPr>
          <p:cNvSpPr txBox="1">
            <a:spLocks/>
          </p:cNvSpPr>
          <p:nvPr/>
        </p:nvSpPr>
        <p:spPr>
          <a:xfrm>
            <a:off x="3114294" y="3511612"/>
            <a:ext cx="2223516" cy="158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2 очередь</a:t>
            </a:r>
            <a:endParaRPr lang="en-US" sz="1800" dirty="0"/>
          </a:p>
          <a:p>
            <a:r>
              <a:rPr lang="en-US" sz="1400" dirty="0" err="1"/>
              <a:t>GitFlic</a:t>
            </a:r>
            <a:endParaRPr lang="en-US" sz="1400" dirty="0"/>
          </a:p>
          <a:p>
            <a:r>
              <a:rPr lang="en-US" sz="1400" dirty="0" err="1"/>
              <a:t>ISPmanager</a:t>
            </a:r>
            <a:endParaRPr lang="en-US" sz="1400" dirty="0"/>
          </a:p>
          <a:p>
            <a:r>
              <a:rPr lang="en-US" sz="1400" dirty="0"/>
              <a:t>1C:</a:t>
            </a:r>
            <a:r>
              <a:rPr lang="ru-RU" sz="1400" dirty="0" err="1"/>
              <a:t>Битрикс</a:t>
            </a:r>
            <a:endParaRPr lang="ru-RU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9A2642-31B7-984E-54B0-C79F8A74066E}"/>
              </a:ext>
            </a:extLst>
          </p:cNvPr>
          <p:cNvSpPr txBox="1">
            <a:spLocks/>
          </p:cNvSpPr>
          <p:nvPr/>
        </p:nvSpPr>
        <p:spPr>
          <a:xfrm>
            <a:off x="3099816" y="5079571"/>
            <a:ext cx="2223516" cy="163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3 очередь</a:t>
            </a:r>
            <a:endParaRPr lang="en-US" sz="1400" dirty="0"/>
          </a:p>
          <a:p>
            <a:r>
              <a:rPr lang="en-US" sz="1400" dirty="0" err="1"/>
              <a:t>UserGate</a:t>
            </a:r>
            <a:r>
              <a:rPr lang="en-US" sz="1400" dirty="0"/>
              <a:t> NGFW</a:t>
            </a:r>
          </a:p>
          <a:p>
            <a:r>
              <a:rPr lang="en-US" sz="1400" dirty="0" err="1"/>
              <a:t>Unigate</a:t>
            </a:r>
            <a:endParaRPr lang="en-US" sz="14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FE852-5EB5-114A-DFF4-C70CAC3A6E93}"/>
              </a:ext>
            </a:extLst>
          </p:cNvPr>
          <p:cNvSpPr txBox="1">
            <a:spLocks/>
          </p:cNvSpPr>
          <p:nvPr/>
        </p:nvSpPr>
        <p:spPr>
          <a:xfrm>
            <a:off x="5820918" y="1517902"/>
            <a:ext cx="3284982" cy="777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Продукты из ГК Ростелеком  </a:t>
            </a:r>
          </a:p>
          <a:p>
            <a:pPr marL="0" indent="0">
              <a:buNone/>
            </a:pPr>
            <a:r>
              <a:rPr lang="ru-RU" sz="1800" dirty="0"/>
              <a:t>1 очередь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46CBDE-8B34-A8BF-FF02-B6B1DB646F76}"/>
              </a:ext>
            </a:extLst>
          </p:cNvPr>
          <p:cNvSpPr txBox="1">
            <a:spLocks/>
          </p:cNvSpPr>
          <p:nvPr/>
        </p:nvSpPr>
        <p:spPr>
          <a:xfrm>
            <a:off x="5820918" y="3511612"/>
            <a:ext cx="2223516" cy="158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2 очередь</a:t>
            </a:r>
            <a:endParaRPr lang="en-US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52C8A1-329D-351E-132D-B5ACB8ABE021}"/>
              </a:ext>
            </a:extLst>
          </p:cNvPr>
          <p:cNvSpPr txBox="1">
            <a:spLocks/>
          </p:cNvSpPr>
          <p:nvPr/>
        </p:nvSpPr>
        <p:spPr>
          <a:xfrm>
            <a:off x="5820918" y="5129939"/>
            <a:ext cx="2223516" cy="158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3 очередь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13064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Добавление продуктов со сложной топологией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517902"/>
            <a:ext cx="2223516" cy="1911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Open Source 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1 </a:t>
            </a:r>
            <a:r>
              <a:rPr lang="ru-RU" sz="1800" dirty="0"/>
              <a:t>очередь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BD9852-1695-663F-F1C7-9EDC26FD7C31}"/>
              </a:ext>
            </a:extLst>
          </p:cNvPr>
          <p:cNvSpPr txBox="1">
            <a:spLocks/>
          </p:cNvSpPr>
          <p:nvPr/>
        </p:nvSpPr>
        <p:spPr>
          <a:xfrm>
            <a:off x="3099816" y="1517902"/>
            <a:ext cx="3284982" cy="1266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 err="1"/>
              <a:t>Вендорские</a:t>
            </a:r>
            <a:r>
              <a:rPr lang="ru-RU" sz="1800" dirty="0"/>
              <a:t> продукты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1 очередь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41D0E1-3826-9B2D-4BB3-ACD0E2138FF6}"/>
              </a:ext>
            </a:extLst>
          </p:cNvPr>
          <p:cNvSpPr txBox="1">
            <a:spLocks/>
          </p:cNvSpPr>
          <p:nvPr/>
        </p:nvSpPr>
        <p:spPr>
          <a:xfrm>
            <a:off x="890778" y="3511612"/>
            <a:ext cx="1943862" cy="1618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2 </a:t>
            </a:r>
            <a:r>
              <a:rPr lang="ru-RU" sz="1800" dirty="0"/>
              <a:t>очередь</a:t>
            </a:r>
            <a:endParaRPr lang="en-US" sz="1800" dirty="0"/>
          </a:p>
          <a:p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0BBF72-0625-08CD-95C1-329E352B9FF9}"/>
              </a:ext>
            </a:extLst>
          </p:cNvPr>
          <p:cNvSpPr txBox="1">
            <a:spLocks/>
          </p:cNvSpPr>
          <p:nvPr/>
        </p:nvSpPr>
        <p:spPr>
          <a:xfrm>
            <a:off x="876300" y="5093369"/>
            <a:ext cx="2342388" cy="1764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3 </a:t>
            </a:r>
            <a:r>
              <a:rPr lang="ru-RU" sz="1800" dirty="0"/>
              <a:t>очередь</a:t>
            </a:r>
            <a:endParaRPr lang="ru-RU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2C6445F-EE3E-D053-0FEB-A630BFA628DE}"/>
              </a:ext>
            </a:extLst>
          </p:cNvPr>
          <p:cNvSpPr txBox="1">
            <a:spLocks/>
          </p:cNvSpPr>
          <p:nvPr/>
        </p:nvSpPr>
        <p:spPr>
          <a:xfrm>
            <a:off x="3114294" y="3511612"/>
            <a:ext cx="2706624" cy="15817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2 очередь</a:t>
            </a:r>
            <a:endParaRPr lang="en-US" sz="1800" dirty="0"/>
          </a:p>
          <a:p>
            <a:r>
              <a:rPr lang="ru-RU" sz="1400" dirty="0" err="1"/>
              <a:t>Кибер</a:t>
            </a:r>
            <a:r>
              <a:rPr lang="ru-RU" sz="1400" dirty="0"/>
              <a:t> Бэкап Облачный</a:t>
            </a:r>
          </a:p>
          <a:p>
            <a:r>
              <a:rPr lang="en-US" sz="1400" dirty="0" err="1"/>
              <a:t>Hystax</a:t>
            </a:r>
            <a:r>
              <a:rPr lang="en-US" sz="1400" dirty="0"/>
              <a:t> Acura Disaster Recovery</a:t>
            </a:r>
          </a:p>
          <a:p>
            <a:r>
              <a:rPr lang="en-US" sz="1400" dirty="0" err="1"/>
              <a:t>Hystax</a:t>
            </a:r>
            <a:r>
              <a:rPr lang="en-US" sz="1400" dirty="0"/>
              <a:t> Acura Migration</a:t>
            </a:r>
            <a:endParaRPr lang="ru-RU" sz="1400" dirty="0"/>
          </a:p>
          <a:p>
            <a:r>
              <a:rPr lang="ru-RU" sz="1400" dirty="0"/>
              <a:t>1С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9A2642-31B7-984E-54B0-C79F8A74066E}"/>
              </a:ext>
            </a:extLst>
          </p:cNvPr>
          <p:cNvSpPr txBox="1">
            <a:spLocks/>
          </p:cNvSpPr>
          <p:nvPr/>
        </p:nvSpPr>
        <p:spPr>
          <a:xfrm>
            <a:off x="3099816" y="5079571"/>
            <a:ext cx="2223516" cy="163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3 очередь</a:t>
            </a:r>
            <a:endParaRPr lang="en-US" sz="1400" dirty="0"/>
          </a:p>
          <a:p>
            <a:r>
              <a:rPr lang="ru-RU" sz="1400" dirty="0" err="1"/>
              <a:t>Клаудмастер</a:t>
            </a:r>
            <a:endParaRPr lang="ru-RU" sz="1400" dirty="0"/>
          </a:p>
          <a:p>
            <a:r>
              <a:rPr lang="ru-RU" sz="1400" b="0" i="0" dirty="0">
                <a:effectLst/>
                <a:latin typeface="YS Text"/>
              </a:rPr>
              <a:t>Мой офис</a:t>
            </a:r>
            <a:r>
              <a:rPr lang="ru-RU" sz="1000" b="0" i="0" dirty="0">
                <a:effectLst/>
                <a:latin typeface="YS Text"/>
              </a:rPr>
              <a:t> </a:t>
            </a:r>
            <a:endParaRPr lang="en-US" sz="1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FE852-5EB5-114A-DFF4-C70CAC3A6E93}"/>
              </a:ext>
            </a:extLst>
          </p:cNvPr>
          <p:cNvSpPr txBox="1">
            <a:spLocks/>
          </p:cNvSpPr>
          <p:nvPr/>
        </p:nvSpPr>
        <p:spPr>
          <a:xfrm>
            <a:off x="5820918" y="1517902"/>
            <a:ext cx="3284982" cy="777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Продукты из ГК Ростелеком  </a:t>
            </a:r>
          </a:p>
          <a:p>
            <a:pPr marL="0" indent="0">
              <a:buNone/>
            </a:pPr>
            <a:r>
              <a:rPr lang="ru-RU" sz="1800" dirty="0"/>
              <a:t>1 очередь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46CBDE-8B34-A8BF-FF02-B6B1DB646F76}"/>
              </a:ext>
            </a:extLst>
          </p:cNvPr>
          <p:cNvSpPr txBox="1">
            <a:spLocks/>
          </p:cNvSpPr>
          <p:nvPr/>
        </p:nvSpPr>
        <p:spPr>
          <a:xfrm>
            <a:off x="5820918" y="3511612"/>
            <a:ext cx="2223516" cy="158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2 очередь</a:t>
            </a:r>
            <a:endParaRPr lang="en-US" sz="1800" dirty="0"/>
          </a:p>
          <a:p>
            <a:r>
              <a:rPr lang="en-US" sz="1400" dirty="0"/>
              <a:t> </a:t>
            </a:r>
            <a:r>
              <a:rPr lang="ru-RU" sz="1400" dirty="0"/>
              <a:t>Феникс</a:t>
            </a:r>
          </a:p>
          <a:p>
            <a:r>
              <a:rPr lang="ru-RU" sz="1400" dirty="0"/>
              <a:t>Лукоморье</a:t>
            </a:r>
          </a:p>
          <a:p>
            <a:r>
              <a:rPr lang="ru-RU" sz="1400" dirty="0"/>
              <a:t>Яга</a:t>
            </a:r>
            <a:endParaRPr lang="en-US" sz="1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52C8A1-329D-351E-132D-B5ACB8ABE021}"/>
              </a:ext>
            </a:extLst>
          </p:cNvPr>
          <p:cNvSpPr txBox="1">
            <a:spLocks/>
          </p:cNvSpPr>
          <p:nvPr/>
        </p:nvSpPr>
        <p:spPr>
          <a:xfrm>
            <a:off x="5820918" y="5129939"/>
            <a:ext cx="2223516" cy="158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3 очередь</a:t>
            </a:r>
          </a:p>
          <a:p>
            <a:r>
              <a:rPr lang="ru-RU" sz="1400" dirty="0" err="1"/>
              <a:t>Акола</a:t>
            </a:r>
            <a:endParaRPr lang="ru-RU" sz="1400" dirty="0"/>
          </a:p>
          <a:p>
            <a:r>
              <a:rPr lang="ru-RU" sz="1400" dirty="0"/>
              <a:t>Платформа данных</a:t>
            </a:r>
          </a:p>
          <a:p>
            <a:r>
              <a:rPr lang="ru-RU" sz="1400" dirty="0"/>
              <a:t>Отраслевые продукты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007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Первые шаги</a:t>
            </a:r>
            <a:endParaRPr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7D794-EDF3-8D8B-1150-EB2076A0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На старте делаем упор на определенный класс решений - </a:t>
            </a:r>
            <a:r>
              <a:rPr lang="en" sz="1800" dirty="0" err="1"/>
              <a:t>DevSecOps</a:t>
            </a:r>
            <a:r>
              <a:rPr lang="en" sz="1800" dirty="0"/>
              <a:t> </a:t>
            </a:r>
            <a:r>
              <a:rPr lang="ru-RU" sz="1800" dirty="0"/>
              <a:t>решения, конвейеры разработки за счет продуктов Лукоморья (доверенный репозиторий ФЕНИКС является дифференциатором), а также на понятные и знакомые все </a:t>
            </a:r>
            <a:r>
              <a:rPr lang="en-US" sz="1800" dirty="0" err="1"/>
              <a:t>OpenSource</a:t>
            </a:r>
            <a:r>
              <a:rPr lang="en-US" sz="1800" dirty="0"/>
              <a:t>-</a:t>
            </a:r>
            <a:r>
              <a:rPr lang="ru-RU" sz="1800" dirty="0"/>
              <a:t>решения.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На старте мы не идем в отраслевые решения (например </a:t>
            </a:r>
            <a:r>
              <a:rPr lang="ru-RU" sz="1800" dirty="0" err="1"/>
              <a:t>Медскан</a:t>
            </a:r>
            <a:r>
              <a:rPr lang="ru-RU" sz="1800" dirty="0"/>
              <a:t>) т.к. это нишевый и специфический рынок, требующий отдельно проработки.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4206793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Заключение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Рынок</a:t>
            </a:r>
            <a:r>
              <a:rPr sz="1800" dirty="0"/>
              <a:t> </a:t>
            </a:r>
            <a:r>
              <a:rPr sz="1800" dirty="0" err="1"/>
              <a:t>готов</a:t>
            </a:r>
            <a:r>
              <a:rPr sz="1800" dirty="0"/>
              <a:t> к </a:t>
            </a:r>
            <a:r>
              <a:rPr sz="1800" dirty="0" err="1"/>
              <a:t>появлению</a:t>
            </a:r>
            <a:r>
              <a:rPr sz="1800" dirty="0"/>
              <a:t> </a:t>
            </a:r>
            <a:r>
              <a:rPr sz="1800" dirty="0" err="1"/>
              <a:t>сильного</a:t>
            </a:r>
            <a:r>
              <a:rPr sz="1800" dirty="0"/>
              <a:t> B2B-маркетплейса </a:t>
            </a:r>
            <a:r>
              <a:rPr sz="1800" dirty="0" err="1"/>
              <a:t>облачных</a:t>
            </a:r>
            <a:r>
              <a:rPr sz="1800" dirty="0"/>
              <a:t> </a:t>
            </a:r>
            <a:r>
              <a:rPr sz="1800" dirty="0" err="1"/>
              <a:t>приложений</a:t>
            </a:r>
            <a:r>
              <a:rPr sz="1800" dirty="0"/>
              <a:t>.</a:t>
            </a:r>
          </a:p>
          <a:p>
            <a:r>
              <a:rPr lang="ru-RU" sz="1800" dirty="0"/>
              <a:t>Турбо </a:t>
            </a:r>
            <a:r>
              <a:rPr sz="1800" dirty="0" err="1"/>
              <a:t>обладает</a:t>
            </a:r>
            <a:r>
              <a:rPr sz="1800" dirty="0"/>
              <a:t> </a:t>
            </a:r>
            <a:r>
              <a:rPr sz="1800" dirty="0" err="1"/>
              <a:t>уникальными</a:t>
            </a:r>
            <a:r>
              <a:rPr sz="1800" dirty="0"/>
              <a:t> </a:t>
            </a:r>
            <a:r>
              <a:rPr sz="1800" dirty="0" err="1"/>
              <a:t>активами</a:t>
            </a:r>
            <a:r>
              <a:rPr sz="1800" dirty="0"/>
              <a:t>: </a:t>
            </a:r>
            <a:r>
              <a:rPr sz="1800" dirty="0" err="1"/>
              <a:t>инфраструктура</a:t>
            </a:r>
            <a:r>
              <a:rPr sz="1800" dirty="0"/>
              <a:t>, </a:t>
            </a:r>
            <a:r>
              <a:rPr sz="1800" dirty="0" err="1"/>
              <a:t>телеком</a:t>
            </a:r>
            <a:r>
              <a:rPr sz="1800" dirty="0"/>
              <a:t>, </a:t>
            </a:r>
            <a:r>
              <a:rPr sz="1800" dirty="0" err="1"/>
              <a:t>доверие</a:t>
            </a:r>
            <a:r>
              <a:rPr sz="1800" dirty="0"/>
              <a:t> </a:t>
            </a:r>
            <a:r>
              <a:rPr sz="1800" dirty="0" err="1"/>
              <a:t>государства</a:t>
            </a:r>
            <a:r>
              <a:rPr sz="1800" dirty="0"/>
              <a:t>.</a:t>
            </a:r>
          </a:p>
          <a:p>
            <a:r>
              <a:rPr sz="1800" dirty="0" err="1"/>
              <a:t>Стратегия</a:t>
            </a:r>
            <a:r>
              <a:rPr sz="1800" dirty="0"/>
              <a:t> 2025–2030 </a:t>
            </a:r>
            <a:r>
              <a:rPr sz="1800" dirty="0" err="1"/>
              <a:t>превращает</a:t>
            </a:r>
            <a:r>
              <a:rPr sz="1800" dirty="0"/>
              <a:t> </a:t>
            </a:r>
            <a:r>
              <a:rPr sz="1800" dirty="0" err="1"/>
              <a:t>маркетплейс</a:t>
            </a:r>
            <a:r>
              <a:rPr sz="1800" dirty="0"/>
              <a:t> </a:t>
            </a:r>
            <a:r>
              <a:rPr sz="1800" dirty="0" err="1"/>
              <a:t>в</a:t>
            </a:r>
            <a:r>
              <a:rPr sz="1800" dirty="0"/>
              <a:t> </a:t>
            </a:r>
            <a:r>
              <a:rPr sz="1800" dirty="0" err="1"/>
              <a:t>ключевую</a:t>
            </a:r>
            <a:r>
              <a:rPr sz="1800" dirty="0"/>
              <a:t> </a:t>
            </a:r>
            <a:r>
              <a:rPr sz="1800" dirty="0" err="1"/>
              <a:t>точку</a:t>
            </a:r>
            <a:r>
              <a:rPr sz="1800" dirty="0"/>
              <a:t> </a:t>
            </a:r>
            <a:r>
              <a:rPr sz="1800" dirty="0" err="1"/>
              <a:t>роста</a:t>
            </a:r>
            <a:r>
              <a:rPr sz="1800" dirty="0"/>
              <a:t> </a:t>
            </a:r>
            <a:r>
              <a:rPr sz="1800" dirty="0" err="1"/>
              <a:t>бизнеса</a:t>
            </a:r>
            <a:r>
              <a:rPr sz="1800" dirty="0"/>
              <a:t>.</a:t>
            </a:r>
          </a:p>
          <a:p>
            <a:r>
              <a:rPr sz="1800" dirty="0" err="1"/>
              <a:t>Следующие</a:t>
            </a:r>
            <a:r>
              <a:rPr sz="1800" dirty="0"/>
              <a:t> </a:t>
            </a:r>
            <a:r>
              <a:rPr sz="1800" dirty="0" err="1"/>
              <a:t>шаги</a:t>
            </a:r>
            <a:r>
              <a:rPr sz="1800" dirty="0"/>
              <a:t>: </a:t>
            </a:r>
            <a:r>
              <a:rPr sz="1800" dirty="0" err="1"/>
              <a:t>утверждение</a:t>
            </a:r>
            <a:r>
              <a:rPr sz="1800" dirty="0"/>
              <a:t> </a:t>
            </a:r>
            <a:r>
              <a:rPr sz="1800" dirty="0" err="1"/>
              <a:t>стратегии</a:t>
            </a:r>
            <a:r>
              <a:rPr sz="1800" dirty="0"/>
              <a:t>, </a:t>
            </a:r>
            <a:r>
              <a:rPr sz="1800" dirty="0" err="1"/>
              <a:t>детализация</a:t>
            </a:r>
            <a:r>
              <a:rPr sz="1800" dirty="0"/>
              <a:t> </a:t>
            </a:r>
            <a:r>
              <a:rPr sz="1800" dirty="0" err="1"/>
              <a:t>инвестплана</a:t>
            </a:r>
            <a:r>
              <a:rPr sz="1800" dirty="0"/>
              <a:t> </a:t>
            </a:r>
            <a:r>
              <a:rPr sz="1800" dirty="0" err="1"/>
              <a:t>и</a:t>
            </a:r>
            <a:r>
              <a:rPr sz="1800" dirty="0"/>
              <a:t> </a:t>
            </a:r>
            <a:r>
              <a:rPr sz="1800" dirty="0" err="1"/>
              <a:t>запуск</a:t>
            </a:r>
            <a:r>
              <a:rPr sz="1800" dirty="0"/>
              <a:t> MVP.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2752"/>
            <a:ext cx="8229600" cy="23296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 dirty="0"/>
              <a:t>Backup</a:t>
            </a:r>
            <a:endParaRPr sz="16600" b="1" dirty="0"/>
          </a:p>
        </p:txBody>
      </p:sp>
    </p:spTree>
    <p:extLst>
      <p:ext uri="{BB962C8B-B14F-4D97-AF65-F5344CB8AC3E}">
        <p14:creationId xmlns:p14="http://schemas.microsoft.com/office/powerpoint/2010/main" val="1771499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Типы популярных типов</a:t>
            </a:r>
            <a:r>
              <a:rPr lang="en-US" dirty="0"/>
              <a:t> SaaS/PaaS</a:t>
            </a:r>
            <a:endParaRPr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7F80D61-DA70-2194-FD6A-A8967EBFB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17557"/>
            <a:ext cx="8229600" cy="340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По данным отчета</a:t>
            </a:r>
            <a:r>
              <a:rPr lang="en-US" sz="1200" dirty="0"/>
              <a:t> </a:t>
            </a:r>
            <a:r>
              <a:rPr lang="en-US" sz="1200" dirty="0" err="1"/>
              <a:t>iKS</a:t>
            </a:r>
            <a:r>
              <a:rPr lang="en-US" sz="1200" dirty="0"/>
              <a:t> “</a:t>
            </a:r>
            <a:r>
              <a:rPr lang="ru-RU" sz="1200" dirty="0"/>
              <a:t>Конкурентный анализ</a:t>
            </a:r>
            <a:r>
              <a:rPr lang="en-US" sz="1200" dirty="0"/>
              <a:t> </a:t>
            </a:r>
            <a:r>
              <a:rPr lang="ru-RU" sz="1200" dirty="0"/>
              <a:t>на </a:t>
            </a:r>
            <a:r>
              <a:rPr lang="en-US" sz="1200" dirty="0"/>
              <a:t>b2b-, b2c-, b2g- </a:t>
            </a:r>
            <a:r>
              <a:rPr lang="ru-RU" sz="1200" dirty="0"/>
              <a:t>рынках по </a:t>
            </a:r>
            <a:r>
              <a:rPr lang="en-US" sz="1200" dirty="0"/>
              <a:t>Cloud”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614683EB-0345-2C62-E962-80727197DACB}"/>
              </a:ext>
            </a:extLst>
          </p:cNvPr>
          <p:cNvGraphicFramePr>
            <a:graphicFrameLocks/>
          </p:cNvGraphicFramePr>
          <p:nvPr/>
        </p:nvGraphicFramePr>
        <p:xfrm>
          <a:off x="4453128" y="1170750"/>
          <a:ext cx="4690872" cy="4992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4197B9F-5C77-B630-D3AF-6C1D3EC17CDE}"/>
              </a:ext>
            </a:extLst>
          </p:cNvPr>
          <p:cNvGraphicFramePr>
            <a:graphicFrameLocks/>
          </p:cNvGraphicFramePr>
          <p:nvPr/>
        </p:nvGraphicFramePr>
        <p:xfrm>
          <a:off x="0" y="1170750"/>
          <a:ext cx="4773168" cy="4992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E18AF7-C8C8-8789-648B-400BEA1CCBC9}"/>
              </a:ext>
            </a:extLst>
          </p:cNvPr>
          <p:cNvSpPr txBox="1">
            <a:spLocks/>
          </p:cNvSpPr>
          <p:nvPr/>
        </p:nvSpPr>
        <p:spPr>
          <a:xfrm>
            <a:off x="457200" y="6170085"/>
            <a:ext cx="8229600" cy="340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Также сформировались лидирующие направления среди решений в каждом из рынков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2925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Конкурентный ландшафт </a:t>
            </a:r>
            <a:r>
              <a:rPr lang="en-US" dirty="0"/>
              <a:t>SaaS</a:t>
            </a:r>
            <a:endParaRPr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39CBB9E-8159-70D7-8326-E4133995A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869085"/>
              </p:ext>
            </p:extLst>
          </p:nvPr>
        </p:nvGraphicFramePr>
        <p:xfrm>
          <a:off x="1078991" y="1417638"/>
          <a:ext cx="6986017" cy="3292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2422">
                  <a:extLst>
                    <a:ext uri="{9D8B030D-6E8A-4147-A177-3AD203B41FA5}">
                      <a16:colId xmlns:a16="http://schemas.microsoft.com/office/drawing/2014/main" val="312272588"/>
                    </a:ext>
                  </a:extLst>
                </a:gridCol>
                <a:gridCol w="969650">
                  <a:extLst>
                    <a:ext uri="{9D8B030D-6E8A-4147-A177-3AD203B41FA5}">
                      <a16:colId xmlns:a16="http://schemas.microsoft.com/office/drawing/2014/main" val="2400303382"/>
                    </a:ext>
                  </a:extLst>
                </a:gridCol>
                <a:gridCol w="1092369">
                  <a:extLst>
                    <a:ext uri="{9D8B030D-6E8A-4147-A177-3AD203B41FA5}">
                      <a16:colId xmlns:a16="http://schemas.microsoft.com/office/drawing/2014/main" val="3753406893"/>
                    </a:ext>
                  </a:extLst>
                </a:gridCol>
                <a:gridCol w="1092369">
                  <a:extLst>
                    <a:ext uri="{9D8B030D-6E8A-4147-A177-3AD203B41FA5}">
                      <a16:colId xmlns:a16="http://schemas.microsoft.com/office/drawing/2014/main" val="2371486012"/>
                    </a:ext>
                  </a:extLst>
                </a:gridCol>
                <a:gridCol w="1092369">
                  <a:extLst>
                    <a:ext uri="{9D8B030D-6E8A-4147-A177-3AD203B41FA5}">
                      <a16:colId xmlns:a16="http://schemas.microsoft.com/office/drawing/2014/main" val="1845184540"/>
                    </a:ext>
                  </a:extLst>
                </a:gridCol>
                <a:gridCol w="938419">
                  <a:extLst>
                    <a:ext uri="{9D8B030D-6E8A-4147-A177-3AD203B41FA5}">
                      <a16:colId xmlns:a16="http://schemas.microsoft.com/office/drawing/2014/main" val="1936026289"/>
                    </a:ext>
                  </a:extLst>
                </a:gridCol>
                <a:gridCol w="938419">
                  <a:extLst>
                    <a:ext uri="{9D8B030D-6E8A-4147-A177-3AD203B41FA5}">
                      <a16:colId xmlns:a16="http://schemas.microsoft.com/office/drawing/2014/main" val="3690087731"/>
                    </a:ext>
                  </a:extLst>
                </a:gridCol>
              </a:tblGrid>
              <a:tr h="1978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  <a:latin typeface="+mn-lt"/>
                        </a:rPr>
                        <a:t>VK Cloud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u="none" strike="noStrike" dirty="0">
                          <a:effectLst/>
                          <a:latin typeface="+mn-lt"/>
                        </a:rPr>
                        <a:t>Yandex Cloud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u="none" strike="noStrike" dirty="0">
                          <a:effectLst/>
                          <a:latin typeface="+mn-lt"/>
                        </a:rPr>
                        <a:t> MWS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 Cloud</a:t>
                      </a: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u="none" strike="noStrike" dirty="0" err="1">
                          <a:effectLst/>
                          <a:latin typeface="+mn-lt"/>
                        </a:rPr>
                        <a:t>Selectel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BeeLine</a:t>
                      </a:r>
                      <a:r>
                        <a:rPr lang="e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Cloud</a:t>
                      </a: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Турбо</a:t>
                      </a: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extLst>
                  <a:ext uri="{0D108BD9-81ED-4DB2-BD59-A6C34878D82A}">
                    <a16:rowId xmlns:a16="http://schemas.microsoft.com/office/drawing/2014/main" val="536610288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 Testers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Яндекс </a:t>
                      </a:r>
                      <a:r>
                        <a:rPr lang="ru-RU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Трекер</a:t>
                      </a:r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ОФИС </a:t>
                      </a:r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MWS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Безопасный корпоративный Т1 Диск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Аренда сервера для 1С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Workspace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VDI Workspace</a:t>
                      </a:r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5322485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 Tax </a:t>
                      </a:r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Complaence</a:t>
                      </a:r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Yandex Forms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ОФИС ЛАЙТ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We.Cloud</a:t>
                      </a:r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Events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Готовое облако 1С</a:t>
                      </a:r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VDI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CommuniGate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</a:t>
                      </a:r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2852337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 </a:t>
                      </a:r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AutoML</a:t>
                      </a:r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Yandex Wiki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МТС ЛИНК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Аренда выделенного сервера для 1С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Beechat</a:t>
                      </a:r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Облачный диск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5305452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1С:Предприятие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Yandex </a:t>
                      </a:r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DataLens</a:t>
                      </a:r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MWS Softora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Облачная платформа бизнес-аналитик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1C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MINT</a:t>
                      </a:r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0631413"/>
                  </a:ext>
                </a:extLst>
              </a:tr>
              <a:tr h="299446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MWS Tables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Р7 Офис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5827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MWS </a:t>
                      </a:r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TeamStream</a:t>
                      </a:r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9041074"/>
                  </a:ext>
                </a:extLst>
              </a:tr>
              <a:tr h="145835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Корпоративный мессенджер </a:t>
                      </a:r>
                      <a:r>
                        <a:rPr lang="en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Squadus</a:t>
                      </a:r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8993066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VDI</a:t>
                      </a:r>
                      <a:b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Виртуальные рабочие места</a:t>
                      </a:r>
                    </a:p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99" marR="4899" marT="489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9996478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Комплекс услуг по 1</a:t>
                      </a:r>
                      <a:r>
                        <a:rPr lang="e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7457638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1С-хостинг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1494532"/>
                  </a:ext>
                </a:extLst>
              </a:tr>
              <a:tr h="111034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1С-сопровождение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5390819"/>
                  </a:ext>
                </a:extLst>
              </a:tr>
              <a:tr h="236744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Покупка и аренда лицензий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7211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Облако 1С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299810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34D2-0ED9-4C6C-E854-B613095DC2D6}"/>
              </a:ext>
            </a:extLst>
          </p:cNvPr>
          <p:cNvSpPr txBox="1">
            <a:spLocks/>
          </p:cNvSpPr>
          <p:nvPr/>
        </p:nvSpPr>
        <p:spPr>
          <a:xfrm>
            <a:off x="521208" y="5200394"/>
            <a:ext cx="8229600" cy="1580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В качестве выделенных </a:t>
            </a:r>
            <a:r>
              <a:rPr lang="en-US" sz="1200" dirty="0"/>
              <a:t>SaaS </a:t>
            </a:r>
            <a:r>
              <a:rPr lang="ru-RU" sz="1200" dirty="0"/>
              <a:t>провайдеры выделяют </a:t>
            </a:r>
          </a:p>
          <a:p>
            <a:r>
              <a:rPr lang="ru-RU" sz="1200" dirty="0"/>
              <a:t>Сервисы из периметра экосистемы, в которой находятся (</a:t>
            </a:r>
            <a:r>
              <a:rPr lang="en-US" sz="1200" dirty="0"/>
              <a:t>VK Cloud, </a:t>
            </a:r>
            <a:r>
              <a:rPr lang="en-US" sz="1200" dirty="0" err="1"/>
              <a:t>YandexCloud</a:t>
            </a:r>
            <a:r>
              <a:rPr lang="en-US" sz="1200" dirty="0"/>
              <a:t>, MWS, T 1Cloud)</a:t>
            </a:r>
          </a:p>
          <a:p>
            <a:r>
              <a:rPr lang="ru-RU" sz="1200" dirty="0"/>
              <a:t>Сервисы 1С (</a:t>
            </a:r>
            <a:r>
              <a:rPr lang="en-US" sz="1200" dirty="0"/>
              <a:t>VK Cloud, MWS, </a:t>
            </a:r>
            <a:r>
              <a:rPr lang="en-US" sz="1200" dirty="0" err="1"/>
              <a:t>Selectel</a:t>
            </a:r>
            <a:r>
              <a:rPr lang="en-US" sz="1200" dirty="0"/>
              <a:t>)</a:t>
            </a:r>
          </a:p>
          <a:p>
            <a:r>
              <a:rPr lang="ru-RU" sz="1200" dirty="0"/>
              <a:t>Сервисы на базе вендоров или </a:t>
            </a:r>
            <a:r>
              <a:rPr lang="en-US" sz="1200" dirty="0" err="1"/>
              <a:t>OpenSource</a:t>
            </a:r>
            <a:r>
              <a:rPr lang="ru-RU" sz="1200" dirty="0"/>
              <a:t> (Турбо, </a:t>
            </a:r>
            <a:r>
              <a:rPr lang="en-US" sz="1200" dirty="0"/>
              <a:t>Beeline Cloud)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200" dirty="0"/>
              <a:t>VK Cloud, Yandex Cloud </a:t>
            </a:r>
            <a:r>
              <a:rPr lang="ru-RU" sz="1200" dirty="0"/>
              <a:t>тоже могут предложить сервисы на базе </a:t>
            </a:r>
            <a:r>
              <a:rPr lang="ru-RU" sz="1200" dirty="0" err="1"/>
              <a:t>вендорского</a:t>
            </a:r>
            <a:r>
              <a:rPr lang="ru-RU" sz="1200" dirty="0"/>
              <a:t> решения, но как раз из Маркетплейса</a:t>
            </a:r>
          </a:p>
          <a:p>
            <a:pPr marL="0" indent="0">
              <a:buNone/>
            </a:pPr>
            <a:r>
              <a:rPr lang="en-US" sz="1200" dirty="0"/>
              <a:t>MWS </a:t>
            </a:r>
            <a:r>
              <a:rPr lang="ru-RU" sz="1200" dirty="0"/>
              <a:t>только начинает запуск маркетплейса</a:t>
            </a:r>
          </a:p>
        </p:txBody>
      </p:sp>
    </p:spTree>
    <p:extLst>
      <p:ext uri="{BB962C8B-B14F-4D97-AF65-F5344CB8AC3E}">
        <p14:creationId xmlns:p14="http://schemas.microsoft.com/office/powerpoint/2010/main" val="114153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32102</TotalTime>
  <Words>4503</Words>
  <Application>Microsoft Office PowerPoint</Application>
  <PresentationFormat>Экран (4:3)</PresentationFormat>
  <Paragraphs>665</Paragraphs>
  <Slides>33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Helvetica</vt:lpstr>
      <vt:lpstr>Montserrat</vt:lpstr>
      <vt:lpstr>Montserrat SemiBold</vt:lpstr>
      <vt:lpstr>YS Text</vt:lpstr>
      <vt:lpstr>Office Theme</vt:lpstr>
      <vt:lpstr>Стратегия направеления  SaaS и Маркетплейса приложений 2025–2030</vt:lpstr>
      <vt:lpstr>Executive summary</vt:lpstr>
      <vt:lpstr>Тренды и тенденции</vt:lpstr>
      <vt:lpstr>Объем рынка</vt:lpstr>
      <vt:lpstr>Текущее распределение рынка PaaS</vt:lpstr>
      <vt:lpstr>Текущее распределение рынка SaaS</vt:lpstr>
      <vt:lpstr>Текущее распределение рынка SaaS</vt:lpstr>
      <vt:lpstr>Конкурентный ландшафт - Маркетплейс</vt:lpstr>
      <vt:lpstr>Решаемые проблемы бизнеса</vt:lpstr>
      <vt:lpstr>Бизнес слабо покупает через витрины</vt:lpstr>
      <vt:lpstr>XaaS / УЭП</vt:lpstr>
      <vt:lpstr>Витрина или XaaS / УЭП</vt:lpstr>
      <vt:lpstr> TAM / SAM / SOM для XaaS / УЭП</vt:lpstr>
      <vt:lpstr>Сегментация и потребности</vt:lpstr>
      <vt:lpstr>Дифференциация и стратегическое преимущество</vt:lpstr>
      <vt:lpstr>SWOT анализ</vt:lpstr>
      <vt:lpstr>Модель экономики Маркетплейс</vt:lpstr>
      <vt:lpstr>Стратегические треки</vt:lpstr>
      <vt:lpstr>KPI и метрики успеха</vt:lpstr>
      <vt:lpstr>Операционная модель: команда и роли – необходимые ресурсы</vt:lpstr>
      <vt:lpstr>Ключевые риски и митигация </vt:lpstr>
      <vt:lpstr>Взаимодействие с партнерами</vt:lpstr>
      <vt:lpstr>Сделано</vt:lpstr>
      <vt:lpstr>Модель взаимодействия (as is) </vt:lpstr>
      <vt:lpstr>Модель взаимодействия (to be) </vt:lpstr>
      <vt:lpstr>Создать архитектуру</vt:lpstr>
      <vt:lpstr>Добавление image base продуктов </vt:lpstr>
      <vt:lpstr>Добавление продуктов со сложной топологией</vt:lpstr>
      <vt:lpstr>Первые шаги</vt:lpstr>
      <vt:lpstr>Заключение</vt:lpstr>
      <vt:lpstr>Презентация PowerPoint</vt:lpstr>
      <vt:lpstr>Типы популярных типов SaaS/PaaS</vt:lpstr>
      <vt:lpstr>Конкурентный ландшафт SaaS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маркетплейса облачных приложений Турбо 2025–2030</dc:title>
  <dc:subject/>
  <dc:creator>Склабовский Сергей Юрьевич</dc:creator>
  <cp:keywords/>
  <dc:description>generated using python-pptx</dc:description>
  <cp:lastModifiedBy>Склабовский Сергей Юрьевич</cp:lastModifiedBy>
  <cp:revision>60</cp:revision>
  <dcterms:created xsi:type="dcterms:W3CDTF">2013-01-27T09:14:16Z</dcterms:created>
  <dcterms:modified xsi:type="dcterms:W3CDTF">2025-12-26T08:26:39Z</dcterms:modified>
  <cp:category/>
</cp:coreProperties>
</file>