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147472197" r:id="rId2"/>
    <p:sldId id="2147472199" r:id="rId3"/>
    <p:sldId id="2147379005" r:id="rId4"/>
    <p:sldId id="2147378606" r:id="rId5"/>
    <p:sldId id="345" r:id="rId6"/>
    <p:sldId id="347" r:id="rId7"/>
    <p:sldId id="2147378382" r:id="rId8"/>
    <p:sldId id="2147378939" r:id="rId9"/>
    <p:sldId id="2147378945" r:id="rId10"/>
    <p:sldId id="2147472200" r:id="rId11"/>
    <p:sldId id="349" r:id="rId12"/>
    <p:sldId id="348" r:id="rId13"/>
    <p:sldId id="2147378936" r:id="rId14"/>
    <p:sldId id="2147378576" r:id="rId15"/>
    <p:sldId id="2147472198" r:id="rId16"/>
  </p:sldIdLst>
  <p:sldSz cx="12192000" cy="6858000"/>
  <p:notesSz cx="6858000" cy="9144000"/>
  <p:embeddedFontLst>
    <p:embeddedFont>
      <p:font typeface="Inter" panose="02000503000000020004" pitchFamily="50" charset="0"/>
      <p:regular r:id="rId18"/>
      <p:bold r:id="rId19"/>
      <p:italic r:id="rId20"/>
    </p:embeddedFont>
    <p:embeddedFont>
      <p:font typeface="Inter Medium" panose="02000603000000020004" pitchFamily="50" charset="0"/>
      <p:regular r:id="rId21"/>
      <p: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384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ериведмедь Елена" initials="ДЕ" lastIdx="1" clrIdx="0">
    <p:extLst>
      <p:ext uri="{19B8F6BF-5375-455C-9EA6-DF929625EA0E}">
        <p15:presenceInfo xmlns:p15="http://schemas.microsoft.com/office/powerpoint/2012/main" userId="S-1-5-21-1335179468-3694499134-2813637020-11200" providerId="AD"/>
      </p:ext>
    </p:extLst>
  </p:cmAuthor>
  <p:cmAuthor id="2" name="Калинин Никита" initials="КН" lastIdx="14" clrIdx="1">
    <p:extLst>
      <p:ext uri="{19B8F6BF-5375-455C-9EA6-DF929625EA0E}">
        <p15:presenceInfo xmlns:p15="http://schemas.microsoft.com/office/powerpoint/2012/main" userId="S-1-5-21-1335179468-3694499134-2813637020-8517" providerId="AD"/>
      </p:ext>
    </p:extLst>
  </p:cmAuthor>
  <p:cmAuthor id="3" name="Алина Романова" initials="АР" lastIdx="33" clrIdx="2">
    <p:extLst>
      <p:ext uri="{19B8F6BF-5375-455C-9EA6-DF929625EA0E}">
        <p15:presenceInfo xmlns:p15="http://schemas.microsoft.com/office/powerpoint/2012/main" userId="1dca1886c55ec480" providerId="Windows Live"/>
      </p:ext>
    </p:extLst>
  </p:cmAuthor>
  <p:cmAuthor id="4" name="Богачёв Алексей Дмитриевич" initials="БАД" lastIdx="4" clrIdx="3">
    <p:extLst>
      <p:ext uri="{19B8F6BF-5375-455C-9EA6-DF929625EA0E}">
        <p15:presenceInfo xmlns:p15="http://schemas.microsoft.com/office/powerpoint/2012/main" userId="S-1-5-21-1854609934-875238546-738898041-867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9AFF"/>
    <a:srgbClr val="E5F3FF"/>
    <a:srgbClr val="7B98B3"/>
    <a:srgbClr val="D5EBFF"/>
    <a:srgbClr val="ACD7FF"/>
    <a:srgbClr val="FFFFFF"/>
    <a:srgbClr val="BBC7CD"/>
    <a:srgbClr val="90A4AE"/>
    <a:srgbClr val="F8F9F9"/>
    <a:srgbClr val="EB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68833" autoAdjust="0"/>
  </p:normalViewPr>
  <p:slideViewPr>
    <p:cSldViewPr snapToGrid="0" showGuides="1">
      <p:cViewPr varScale="1">
        <p:scale>
          <a:sx n="56" d="100"/>
          <a:sy n="56" d="100"/>
        </p:scale>
        <p:origin x="1867" y="3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-1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330833284345201E-2"/>
          <c:y val="0.11552626175729869"/>
          <c:w val="0.95733833343130958"/>
          <c:h val="0.688593438524174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786</c:v>
                </c:pt>
                <c:pt idx="1">
                  <c:v>821</c:v>
                </c:pt>
                <c:pt idx="2">
                  <c:v>807</c:v>
                </c:pt>
                <c:pt idx="3">
                  <c:v>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61-4971-BD4D-E63F60D2D3A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accent4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935</c:v>
                </c:pt>
                <c:pt idx="1">
                  <c:v>968</c:v>
                </c:pt>
                <c:pt idx="2">
                  <c:v>927</c:v>
                </c:pt>
                <c:pt idx="3">
                  <c:v>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61-4971-BD4D-E63F60D2D3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8"/>
        <c:overlap val="-27"/>
        <c:axId val="1513057439"/>
        <c:axId val="1513043711"/>
      </c:barChart>
      <c:catAx>
        <c:axId val="1513057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ru-RU"/>
          </a:p>
        </c:txPr>
        <c:crossAx val="1513043711"/>
        <c:crosses val="autoZero"/>
        <c:auto val="1"/>
        <c:lblAlgn val="ctr"/>
        <c:lblOffset val="100"/>
        <c:noMultiLvlLbl val="0"/>
      </c:catAx>
      <c:valAx>
        <c:axId val="15130437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3057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3573380280507328E-2"/>
          <c:y val="3.2714854156216458E-2"/>
          <c:w val="0.23529481822602896"/>
          <c:h val="7.88687003100626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" panose="02000503000000020004" pitchFamily="50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" panose="02000503000000020004" pitchFamily="50" charset="0"/>
              </a:defRPr>
            </a:lvl1pPr>
          </a:lstStyle>
          <a:p>
            <a:fld id="{DBC9E4BB-CC9E-44C1-B429-B5F52567276B}" type="datetimeFigureOut">
              <a:rPr lang="ru-RU" smtClean="0"/>
              <a:pPr/>
              <a:t>26.08.2025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" panose="02000503000000020004" pitchFamily="50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" panose="02000503000000020004" pitchFamily="50" charset="0"/>
              </a:defRPr>
            </a:lvl1pPr>
          </a:lstStyle>
          <a:p>
            <a:fld id="{B85C0E31-6095-4F05-AC94-29A2497AD7C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15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" panose="0200050300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cs typeface="Inter" panose="02000503000000020004" pitchFamily="50" charset="0"/>
            </a:endParaRPr>
          </a:p>
        </p:txBody>
      </p:sp>
      <p:sp>
        <p:nvSpPr>
          <p:cNvPr id="648" name="Google Shape;6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Inter" panose="02000503000000020004" pitchFamily="50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Inter" panose="02000503000000020004" pitchFamily="50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9899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ea typeface="Inter" panose="02000503000000020004" pitchFamily="50" charset="0"/>
                <a:cs typeface="Times New Roman" panose="02020603050405020304" pitchFamily="18" charset="0"/>
              </a:rPr>
              <a:t>Максимальное внимание мы уделяем информационной и физической безопасности нашей инфраструктуры и размещаемых в ней информационных систем наших заказчиков.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ea typeface="Inter" panose="02000503000000020004" pitchFamily="50" charset="0"/>
                <a:cs typeface="Times New Roman" panose="02020603050405020304" pitchFamily="18" charset="0"/>
              </a:rPr>
              <a:t>Отдельно подчеркну, что мы обеспечиваем безопасность на разных уровнях при предоставлении облачных услуг. В том числе сертифицируем оборудование и инфраструктуру, а также проводим аттестацию наших сервисов для обеспечения высокого уровня сохранности данных и соответствия законодательным нормам.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ea typeface="Inter" panose="02000503000000020004" pitchFamily="50" charset="0"/>
                <a:cs typeface="Times New Roman" panose="02020603050405020304" pitchFamily="18" charset="0"/>
              </a:rPr>
              <a:t>Ресурсы облачной платформы Ростелеком аттестованы в соответствии с требованием 152-ФЗ, имеет аттестат соответствия 17 и 21 приказам ФСТЭК, а также аттестованы по международным стандартам.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ea typeface="Inter" panose="02000503000000020004" pitchFamily="50" charset="0"/>
                <a:cs typeface="Times New Roman" panose="02020603050405020304" pitchFamily="18" charset="0"/>
              </a:rPr>
              <a:t>По ссылке в презентации вы сможете перейти на страницу с информацией об актуальных лицензиях, сертификатах и аттестатах.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5C0E31-6095-4F05-AC94-29A2497AD7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78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/>
              <a:t>Субъекты и объекты КИИ, Отрасли.</a:t>
            </a:r>
          </a:p>
          <a:p>
            <a:endParaRPr lang="ru-RU" sz="1800" dirty="0"/>
          </a:p>
          <a:p>
            <a:r>
              <a:rPr lang="ru-RU" sz="1800" dirty="0"/>
              <a:t>1 января 2018 года вступил в силу ФЗ №187, который регламентирует меры защиты Значимых Объектов Критической Информационной Инфраструктуры.</a:t>
            </a:r>
          </a:p>
          <a:p>
            <a:r>
              <a:rPr lang="ru-RU" sz="1800" dirty="0"/>
              <a:t>Предпосылками для принятия данного закона стало увеличивающееся количество атак на объекты КИИ. Этот тренд сохраняется до сих пор и с начала СВО количество атак возросло еще больше. </a:t>
            </a:r>
            <a:r>
              <a:rPr lang="ru-RU" sz="1800" dirty="0">
                <a:solidFill>
                  <a:srgbClr val="FF0000"/>
                </a:solidFill>
              </a:rPr>
              <a:t>Тренд больше 10 лет.</a:t>
            </a:r>
          </a:p>
          <a:p>
            <a:r>
              <a:rPr lang="ru-RU" sz="1800" dirty="0"/>
              <a:t>Именно угроза вывода из строя критических сервисов в первую очередь заставляет задуматься о защите своей инфраструктуры.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5C0E31-6095-4F05-AC94-29A2497AD7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515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связи со все увеличивающимся числом атак, получила развитие тенденция по ужесточению требований к мерам защиты ЗО КИИ.</a:t>
            </a:r>
          </a:p>
          <a:p>
            <a:r>
              <a:rPr lang="ru-RU" dirty="0"/>
              <a:t>Одно из основных требований – импортозамещение оборудования и ПО, что должно снизить риски по использованию уязвимостей, заложенных в иностранных компонентах.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1391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Свод НПА постоянно актуализируется и уточняется.</a:t>
            </a:r>
          </a:p>
          <a:p>
            <a:r>
              <a:rPr lang="ru-RU" dirty="0"/>
              <a:t>В основе требований к мерам безопасности ЗО КИИ лежит федеральный закон №187.</a:t>
            </a:r>
          </a:p>
          <a:p>
            <a:r>
              <a:rPr lang="ru-RU" dirty="0"/>
              <a:t>Он дополняется довольно широким списком НПА, основные из которых, это:</a:t>
            </a:r>
          </a:p>
          <a:p>
            <a:pPr marL="171450" indent="-171450">
              <a:buFontTx/>
              <a:buChar char="-"/>
            </a:pPr>
            <a:r>
              <a:rPr lang="ru-RU" dirty="0"/>
              <a:t>Постановление правительства №1912, утверждающее порядок перехода на отечественные доверенные программно-аппаратные комплексы.</a:t>
            </a:r>
          </a:p>
          <a:p>
            <a:pPr marL="171450" indent="-171450">
              <a:buFontTx/>
              <a:buChar char="-"/>
            </a:pPr>
            <a:r>
              <a:rPr lang="ru-RU" dirty="0"/>
              <a:t>Указ Президента РФ №166, утверждающий меры по обеспечению технологической независимости и безопасности ЗО КИИ.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Приказ ФСТЭК №239, утверждающий требования по обеспечению безопасности ЗО КИИ.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5C0E31-6095-4F05-AC94-29A2497AD7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355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Нормативно – правовая база определяет список обязательных мер защиты, их кол-во и сложность увеличивается с развитием НПА.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143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6FD6-C2E8-34B4-00E1-C4DF0C30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B75869-02D2-2FCB-E8A9-48384743B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EA8667-63C2-1E76-E477-BE3209F5C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ru-RU" dirty="0"/>
              <a:t>По ГОСТу процесс выглядит так:</a:t>
            </a:r>
          </a:p>
          <a:p>
            <a:pPr marL="0" indent="0">
              <a:buFontTx/>
              <a:buNone/>
            </a:pPr>
            <a:r>
              <a:rPr lang="ru-RU" dirty="0"/>
              <a:t>Проектирование информационных систем в защищенном исполнении на базе собственной инфраструктуры состоит из 6 основных шагов:</a:t>
            </a:r>
          </a:p>
          <a:p>
            <a:pPr marL="171450" indent="-171450">
              <a:buFontTx/>
              <a:buChar char="-"/>
            </a:pPr>
            <a:r>
              <a:rPr lang="ru-RU" dirty="0"/>
              <a:t>Определение требований к защите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Разработка концепции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Проектирование архитектуры с учетом концепции защиты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Реализация архитектуры и ее тестирование.</a:t>
            </a:r>
          </a:p>
          <a:p>
            <a:pPr marL="171450" indent="-171450">
              <a:buFontTx/>
              <a:buChar char="-"/>
            </a:pPr>
            <a:r>
              <a:rPr lang="ru-RU" dirty="0"/>
              <a:t>Аттестация системы или проведение оценки соответствия ее определенной категории значимости</a:t>
            </a:r>
          </a:p>
          <a:p>
            <a:pPr marL="171450" indent="-171450">
              <a:buFontTx/>
              <a:buChar char="-"/>
            </a:pPr>
            <a:r>
              <a:rPr lang="ru-RU" dirty="0"/>
              <a:t>Последующие эксплуатация и мониторинг</a:t>
            </a:r>
          </a:p>
          <a:p>
            <a:pPr marL="171450" indent="-171450">
              <a:buFontTx/>
              <a:buChar char="-"/>
            </a:pPr>
            <a:endParaRPr lang="ru-RU" dirty="0"/>
          </a:p>
          <a:p>
            <a:pPr marL="0" indent="0">
              <a:buFontTx/>
              <a:buNone/>
            </a:pPr>
            <a:r>
              <a:rPr lang="ru-RU" dirty="0"/>
              <a:t>Важно отметить, что эти шаги сами по себе довольно трудоемкие и требуют высокой квалификации от исполнителей и проектировщиков.</a:t>
            </a:r>
          </a:p>
          <a:p>
            <a:pPr marL="0" indent="0">
              <a:buFontTx/>
              <a:buNone/>
            </a:pPr>
            <a:r>
              <a:rPr lang="ru-RU" dirty="0"/>
              <a:t>А с учетом особенностей требований к защите ЗО КИИ, некоторые из пунктов могут растягиваться по времени куда дальше целевых сроков.</a:t>
            </a:r>
          </a:p>
          <a:p>
            <a:pPr marL="0" indent="0">
              <a:buFontTx/>
              <a:buNone/>
            </a:pPr>
            <a:r>
              <a:rPr lang="ru-RU" dirty="0"/>
              <a:t>Если говорить про сравнение </a:t>
            </a:r>
            <a:r>
              <a:rPr lang="en-US" dirty="0"/>
              <a:t>on-premise</a:t>
            </a:r>
            <a:r>
              <a:rPr lang="ru-RU" dirty="0"/>
              <a:t> с размещением в Облаке, то здесь важно отметить, что хотя и Заказчику придется все равно пройти весь указанный путь, но он сможет сэкономить на времени, хотя бы потому что:</a:t>
            </a:r>
          </a:p>
          <a:p>
            <a:pPr marL="171450" indent="-171450">
              <a:buFontTx/>
              <a:buChar char="-"/>
            </a:pPr>
            <a:r>
              <a:rPr lang="ru-RU" b="1" dirty="0"/>
              <a:t>При разработке концепции защиты, ему не придется прорабатывать инфраструктурную часть</a:t>
            </a:r>
          </a:p>
          <a:p>
            <a:pPr marL="171450" indent="-171450">
              <a:buFontTx/>
              <a:buChar char="-"/>
            </a:pPr>
            <a:r>
              <a:rPr lang="ru-RU" b="1" dirty="0"/>
              <a:t>Архитектура на уровне инфраструктуры также уже будет проработана и закрывается аттестатом соответствия Облака</a:t>
            </a:r>
          </a:p>
          <a:p>
            <a:pPr marL="171450" indent="-171450">
              <a:buFontTx/>
              <a:buChar char="-"/>
            </a:pPr>
            <a:r>
              <a:rPr lang="ru-RU" b="1" dirty="0"/>
              <a:t>Не требуется тратить время на закупку оборудования и нет необходимости проводить его тестирование. Реализовать будет необходимо только то, что лежит выше слоя виртуализации.</a:t>
            </a:r>
          </a:p>
          <a:p>
            <a:pPr marL="0" indent="0">
              <a:buFontTx/>
              <a:buNone/>
            </a:pPr>
            <a:endParaRPr lang="ru-RU" dirty="0"/>
          </a:p>
          <a:p>
            <a:pPr marL="0" indent="0">
              <a:buFontTx/>
              <a:buNone/>
            </a:pPr>
            <a:r>
              <a:rPr lang="ru-RU" dirty="0"/>
              <a:t>Таким образом Заказчик сможет значительно сократить как временные затраты, так и финансовые.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2A5BC8-7F55-075C-FEAC-36FF1BA4E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8103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требуется тратить время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4й блок.</a:t>
            </a:r>
          </a:p>
          <a:p>
            <a:r>
              <a:rPr lang="ru-RU" dirty="0"/>
              <a:t>Обучение персонала</a:t>
            </a:r>
          </a:p>
          <a:p>
            <a:r>
              <a:rPr lang="ru-RU" dirty="0"/>
              <a:t>Компании/</a:t>
            </a:r>
            <a:r>
              <a:rPr lang="ru-RU" dirty="0" err="1"/>
              <a:t>закзачику</a:t>
            </a:r>
            <a:r>
              <a:rPr lang="ru-RU" dirty="0"/>
              <a:t> не нужно дополнительное обучение и дополнительный ФОТ на новых специалистов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3607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4E74-E3F7-D6D6-0985-3CFBB8D1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FF19E8-3ABE-C6B3-3927-D60D3833E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7AB4D4-55CD-5DC3-404E-B57FA3F63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Возвращаясь к общей дорожной карте, мы наглядно рассмотрим специфику каждого этапа с учетом нашего участия.</a:t>
            </a:r>
          </a:p>
          <a:p>
            <a:r>
              <a:rPr lang="ru-RU" dirty="0"/>
              <a:t>1 – Анализ НПА, бизнес процессов, ИС и их влияния на общ безопасность, экономику, </a:t>
            </a:r>
            <a:r>
              <a:rPr lang="ru-RU" dirty="0" err="1"/>
              <a:t>нац</a:t>
            </a:r>
            <a:r>
              <a:rPr lang="ru-RU" dirty="0"/>
              <a:t> безопасность, гос-во, определение целевой категории.</a:t>
            </a:r>
          </a:p>
          <a:p>
            <a:r>
              <a:rPr lang="ru-RU" dirty="0"/>
              <a:t>2 – Переход работы 1го этапа в документы. При этом, уже на этом этапе инфраструктурная часть закрывается нашим комплектом док-</a:t>
            </a:r>
            <a:r>
              <a:rPr lang="ru-RU" dirty="0" err="1"/>
              <a:t>тов</a:t>
            </a:r>
            <a:r>
              <a:rPr lang="ru-RU" dirty="0"/>
              <a:t> облака КИИ.</a:t>
            </a:r>
          </a:p>
          <a:p>
            <a:r>
              <a:rPr lang="ru-RU" dirty="0"/>
              <a:t>3- </a:t>
            </a:r>
          </a:p>
          <a:p>
            <a:r>
              <a:rPr lang="ru-RU" dirty="0"/>
              <a:t>4- Этап физической реализации на уже готовой </a:t>
            </a:r>
            <a:r>
              <a:rPr lang="ru-RU" dirty="0" err="1"/>
              <a:t>инфре</a:t>
            </a:r>
            <a:endParaRPr lang="ru-RU" dirty="0"/>
          </a:p>
          <a:p>
            <a:r>
              <a:rPr lang="ru-RU" dirty="0"/>
              <a:t>5-Взаимодействие с </a:t>
            </a:r>
            <a:r>
              <a:rPr lang="ru-RU" dirty="0" err="1"/>
              <a:t>аттестатором</a:t>
            </a:r>
            <a:r>
              <a:rPr lang="ru-RU" dirty="0"/>
              <a:t>, комментарии, доработки, </a:t>
            </a:r>
            <a:r>
              <a:rPr lang="ru-RU" dirty="0" err="1"/>
              <a:t>финально</a:t>
            </a:r>
            <a:r>
              <a:rPr lang="ru-RU" dirty="0"/>
              <a:t> выдается аттестат соответствия. Требования </a:t>
            </a:r>
            <a:r>
              <a:rPr lang="ru-RU" dirty="0" err="1"/>
              <a:t>аттестатора</a:t>
            </a:r>
            <a:r>
              <a:rPr lang="ru-RU" dirty="0"/>
              <a:t> по доработкам возникают всегда, без исключений. Отправка сведений во ФСТЭК, затем могут быть организованы проверки силами ФСТЭК.</a:t>
            </a:r>
          </a:p>
          <a:p>
            <a:endParaRPr lang="ru-RU" dirty="0"/>
          </a:p>
          <a:p>
            <a:r>
              <a:rPr lang="ru-RU" dirty="0"/>
              <a:t>Отдельно отмечу, что на выделенных этапах, размещение ресурсов в Облаке может значительно сократить издержки Заказчика, за счет использования документов</a:t>
            </a:r>
            <a:r>
              <a:rPr lang="en-US" dirty="0"/>
              <a:t> </a:t>
            </a:r>
            <a:r>
              <a:rPr lang="ru-RU" dirty="0"/>
              <a:t>и мер, реализованных в Облаке КИИ.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24B214-A3CB-F662-8BD4-5FEA4BC45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6874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Помимо классических проблем для </a:t>
            </a:r>
            <a:r>
              <a:rPr lang="en-US" sz="1200" dirty="0"/>
              <a:t>on-premise</a:t>
            </a:r>
            <a:r>
              <a:rPr lang="ru-RU" sz="1200" dirty="0"/>
              <a:t> решений, Заказчик сталкивается с проблемами аттестации инфраструктуры и соответствию всем требованиям законодательства в части защиты ЗО КИИ, что приводит к появлению множества неявных выгод размещения в Облаке, которые так или иначе делают размещение в Облаке куда более выгодным, нежели поддержание собственной инфраструктуры.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349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5C0E31-6095-4F05-AC94-29A2497AD7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299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Заказ услуги из СУОП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C0E31-6095-4F05-AC94-29A2497AD7C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3359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5C0E31-6095-4F05-AC94-29A2497AD7C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213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81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06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перебивка / Слайд-разделитель разделов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D229D-53CE-4F6A-9F10-7E2009E2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872930"/>
            <a:ext cx="7519687" cy="874619"/>
          </a:xfrm>
          <a:prstGeom prst="rect">
            <a:avLst/>
          </a:prstGeom>
          <a:noFill/>
        </p:spPr>
        <p:txBody>
          <a:bodyPr wrap="none" lIns="0" tIns="21600" rIns="0" bIns="21600" rtlCol="0">
            <a:spAutoFit/>
          </a:bodyPr>
          <a:lstStyle>
            <a:lvl1pPr>
              <a:defRPr lang="ru-RU" sz="6000">
                <a:solidFill>
                  <a:schemeClr val="bg2"/>
                </a:solidFill>
                <a:latin typeface="Inter" panose="02000503000000020004" pitchFamily="50" charset="0"/>
                <a:ea typeface="Lato" charset="0"/>
                <a:cs typeface="Lato" charset="0"/>
              </a:defRPr>
            </a:lvl1pPr>
          </a:lstStyle>
          <a:p>
            <a:pPr marL="0" lvl="0" defTabSz="914217"/>
            <a:r>
              <a:rPr lang="ru-RU" dirty="0"/>
              <a:t>Образец заголовка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83C6AFC-9FA7-4DD0-8A0F-0D71827F4539}"/>
              </a:ext>
            </a:extLst>
          </p:cNvPr>
          <p:cNvGrpSpPr/>
          <p:nvPr userDrawn="1"/>
        </p:nvGrpSpPr>
        <p:grpSpPr>
          <a:xfrm>
            <a:off x="371475" y="6363187"/>
            <a:ext cx="985647" cy="180001"/>
            <a:chOff x="2888788" y="4717544"/>
            <a:chExt cx="985647" cy="180001"/>
          </a:xfrm>
          <a:solidFill>
            <a:schemeClr val="bg2"/>
          </a:solidFill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0963124-90C9-4C40-B1CD-41C0F6AB76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8788" y="4717545"/>
              <a:ext cx="180000" cy="1800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Inter" panose="02000503000000020004" pitchFamily="50" charset="0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3B5A64D-1257-4C36-8AE9-7C7C720BF9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91611" y="4717544"/>
              <a:ext cx="180000" cy="1800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Inter" panose="02000503000000020004" pitchFamily="50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FB262F0C-7F6C-42C3-8ED3-72F16F452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4435" y="4717544"/>
              <a:ext cx="180000" cy="1800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Inter" panose="02000503000000020004" pitchFamily="50" charset="0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886D393-2576-4F95-8B13-640379B1B2F1}"/>
              </a:ext>
            </a:extLst>
          </p:cNvPr>
          <p:cNvGrpSpPr/>
          <p:nvPr userDrawn="1"/>
        </p:nvGrpSpPr>
        <p:grpSpPr>
          <a:xfrm>
            <a:off x="1717357" y="684790"/>
            <a:ext cx="10103168" cy="5774486"/>
            <a:chOff x="1717357" y="638490"/>
            <a:chExt cx="10103168" cy="5774486"/>
          </a:xfrm>
        </p:grpSpPr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0628A5A7-9E57-4793-BCEF-4DB530368528}"/>
                </a:ext>
              </a:extLst>
            </p:cNvPr>
            <p:cNvCxnSpPr>
              <a:cxnSpLocks/>
            </p:cNvCxnSpPr>
            <p:nvPr/>
          </p:nvCxnSpPr>
          <p:spPr>
            <a:xfrm>
              <a:off x="3345084" y="638490"/>
              <a:ext cx="847544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E6ECA00C-1B80-43FB-B6C4-D503D196CFA3}"/>
                </a:ext>
              </a:extLst>
            </p:cNvPr>
            <p:cNvCxnSpPr>
              <a:cxnSpLocks/>
            </p:cNvCxnSpPr>
            <p:nvPr/>
          </p:nvCxnSpPr>
          <p:spPr>
            <a:xfrm>
              <a:off x="11820525" y="638490"/>
              <a:ext cx="0" cy="576839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CC9BE215-50A2-4B0E-AF8C-3C125134A6DA}"/>
                </a:ext>
              </a:extLst>
            </p:cNvPr>
            <p:cNvCxnSpPr>
              <a:cxnSpLocks/>
            </p:cNvCxnSpPr>
            <p:nvPr/>
          </p:nvCxnSpPr>
          <p:spPr>
            <a:xfrm>
              <a:off x="1717357" y="6412976"/>
              <a:ext cx="1010316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D9E9B12-B309-43BA-96A6-E159B19110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137" y="202701"/>
            <a:ext cx="2550460" cy="9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0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в 1 стро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B2F98-D9CE-4718-904C-0B8B7E2D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4010713" cy="486820"/>
          </a:xfrm>
          <a:prstGeom prst="rect">
            <a:avLst/>
          </a:prstGeom>
          <a:noFill/>
        </p:spPr>
        <p:txBody>
          <a:bodyPr wrap="none" lIns="0" tIns="21600" rIns="0" bIns="21600" rtlCol="0">
            <a:spAutoFit/>
          </a:bodyPr>
          <a:lstStyle>
            <a:lvl1pPr>
              <a:defRPr lang="ru-RU" sz="3200">
                <a:solidFill>
                  <a:schemeClr val="tx1"/>
                </a:solidFill>
                <a:latin typeface="Inter" panose="02000503000000020004" pitchFamily="50" charset="0"/>
                <a:ea typeface="Lato" charset="0"/>
                <a:cs typeface="Lato" charset="0"/>
              </a:defRPr>
            </a:lvl1pPr>
          </a:lstStyle>
          <a:p>
            <a:pPr marL="0" lvl="0" defTabSz="914217"/>
            <a:r>
              <a:rPr lang="ru-RU" dirty="0"/>
              <a:t>Образец заголовка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C9DFC05D-4B98-4BE0-BECD-F25A03B4D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B6CC755-42E9-42F4-838B-F782248C562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7E9FA62-4351-4523-A998-9C78BEB37A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297" y="235405"/>
            <a:ext cx="1358847" cy="51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3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в 2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Номер слайда 3">
            <a:extLst>
              <a:ext uri="{FF2B5EF4-FFF2-40B4-BE49-F238E27FC236}">
                <a16:creationId xmlns:a16="http://schemas.microsoft.com/office/drawing/2014/main" id="{F0BEECFF-0794-43D6-8ADF-96ED54A0E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B6CC755-42E9-42F4-838B-F782248C562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E8F644AD-C67F-4A23-8C51-8119E3CB2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856" y="333460"/>
            <a:ext cx="4010713" cy="930018"/>
          </a:xfrm>
          <a:prstGeom prst="rect">
            <a:avLst/>
          </a:prstGeom>
          <a:noFill/>
        </p:spPr>
        <p:txBody>
          <a:bodyPr wrap="none" lIns="0" tIns="21600" rIns="0" bIns="21600" rtlCol="0">
            <a:spAutoFit/>
          </a:bodyPr>
          <a:lstStyle>
            <a:lvl1pPr>
              <a:defRPr lang="ru-RU" sz="3200">
                <a:solidFill>
                  <a:schemeClr val="tx1"/>
                </a:solidFill>
                <a:latin typeface="Inter" panose="02000503000000020004" pitchFamily="50" charset="0"/>
                <a:ea typeface="Lato" charset="0"/>
                <a:cs typeface="Lato" charset="0"/>
              </a:defRPr>
            </a:lvl1pPr>
          </a:lstStyle>
          <a:p>
            <a:pPr marL="0" lvl="0" defTabSz="914217"/>
            <a:r>
              <a:rPr lang="ru-RU" dirty="0"/>
              <a:t>Образец заголовка</a:t>
            </a:r>
            <a:br>
              <a:rPr lang="en-US" dirty="0"/>
            </a:br>
            <a:r>
              <a:rPr lang="ru-RU" dirty="0"/>
              <a:t>в 2 строки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31CB3FF-A14D-494B-90EE-9AAADA252A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297" y="235405"/>
            <a:ext cx="1358847" cy="51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2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Номер слайда 3">
            <a:extLst>
              <a:ext uri="{FF2B5EF4-FFF2-40B4-BE49-F238E27FC236}">
                <a16:creationId xmlns:a16="http://schemas.microsoft.com/office/drawing/2014/main" id="{F0BEECFF-0794-43D6-8ADF-96ED54A0E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B6CC755-42E9-42F4-838B-F782248C562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E8F644AD-C67F-4A23-8C51-8119E3CB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4510850" cy="542220"/>
          </a:xfrm>
          <a:prstGeom prst="rect">
            <a:avLst/>
          </a:prstGeom>
          <a:noFill/>
        </p:spPr>
        <p:txBody>
          <a:bodyPr wrap="none" lIns="0" tIns="21600" rIns="0" bIns="21600" rtlCol="0">
            <a:spAutoFit/>
          </a:bodyPr>
          <a:lstStyle>
            <a:lvl1pPr>
              <a:defRPr lang="ru-RU" sz="3600">
                <a:solidFill>
                  <a:schemeClr val="tx1"/>
                </a:solidFill>
                <a:latin typeface="Inter" panose="02000503000000020004" pitchFamily="50" charset="0"/>
                <a:ea typeface="Lato" charset="0"/>
                <a:cs typeface="Lato" charset="0"/>
              </a:defRPr>
            </a:lvl1pPr>
          </a:lstStyle>
          <a:p>
            <a:pPr marL="0" lvl="0" defTabSz="914217"/>
            <a:r>
              <a:rPr lang="ru-RU" dirty="0"/>
              <a:t>Образец заголовка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344F9485-8504-421F-B34D-7B153A7718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315" y="889530"/>
            <a:ext cx="5015865" cy="659175"/>
          </a:xfrm>
          <a:prstGeom prst="rect">
            <a:avLst/>
          </a:prstGeom>
          <a:noFill/>
        </p:spPr>
        <p:txBody>
          <a:bodyPr wrap="square" lIns="0" tIns="21600" rIns="0" bIns="21600" rtlCol="0">
            <a:spAutoFit/>
          </a:bodyPr>
          <a:lstStyle>
            <a:lvl1pPr marL="0" algn="l" defTabSz="914217" rtl="0" eaLnBrk="1" latinLnBrk="0" hangingPunct="1">
              <a:lnSpc>
                <a:spcPct val="100000"/>
              </a:lnSpc>
              <a:defRPr lang="ru-RU" sz="2000" kern="1200" dirty="0" smtClean="0">
                <a:solidFill>
                  <a:schemeClr val="tx1"/>
                </a:solidFill>
                <a:latin typeface="Inter" panose="02000503000000020004" pitchFamily="50" charset="0"/>
                <a:ea typeface="Lato" charset="0"/>
                <a:cs typeface="Lato" charset="0"/>
              </a:defRPr>
            </a:lvl1pPr>
          </a:lstStyle>
          <a:p>
            <a:pPr lvl="0" defTabSz="914217"/>
            <a:r>
              <a:rPr lang="ru-RU" dirty="0"/>
              <a:t>Пример длинного предлинного подзаголовка в 2 строки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E80D723-80E3-45E9-A4E3-CCAB34FC93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297" y="235405"/>
            <a:ext cx="1358847" cy="51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ей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4587C-B6E1-4EA0-B9B7-9085C27D14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3225" y="311320"/>
            <a:ext cx="10515600" cy="110337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lang="ru-RU" sz="3600" b="1" kern="1200" dirty="0">
                <a:solidFill>
                  <a:schemeClr val="tx1"/>
                </a:solidFill>
                <a:latin typeface="Inter" panose="02000503000000020004" pitchFamily="50" charset="0"/>
                <a:ea typeface="+mj-ea"/>
                <a:cs typeface="Inter" panose="02000503000000020004" pitchFamily="50" charset="0"/>
              </a:defRPr>
            </a:lvl1pPr>
          </a:lstStyle>
          <a:p>
            <a:r>
              <a:rPr lang="ru-RU" dirty="0"/>
              <a:t>Название сервиса —</a:t>
            </a:r>
            <a:br>
              <a:rPr lang="ru-RU" dirty="0"/>
            </a:br>
            <a:r>
              <a:rPr lang="ru-RU" dirty="0"/>
              <a:t>название проекта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806D6B-FA5B-449D-8E10-874B6FF18D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600" y="333460"/>
            <a:ext cx="924829" cy="8596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88752E-8184-4C7B-9FD0-B6259067534B}"/>
              </a:ext>
            </a:extLst>
          </p:cNvPr>
          <p:cNvSpPr txBox="1"/>
          <p:nvPr userDrawn="1"/>
        </p:nvSpPr>
        <p:spPr>
          <a:xfrm>
            <a:off x="310042" y="490160"/>
            <a:ext cx="1083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2"/>
                </a:solidFill>
                <a:latin typeface="Inter" panose="02000503000000020004" pitchFamily="50" charset="0"/>
              </a:rPr>
              <a:t>КЕЙС</a:t>
            </a:r>
          </a:p>
        </p:txBody>
      </p:sp>
      <p:sp>
        <p:nvSpPr>
          <p:cNvPr id="21" name="Номер слайда 3">
            <a:extLst>
              <a:ext uri="{FF2B5EF4-FFF2-40B4-BE49-F238E27FC236}">
                <a16:creationId xmlns:a16="http://schemas.microsoft.com/office/drawing/2014/main" id="{90FBB08A-33F8-4587-B9B4-72B9142AD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B6CC755-42E9-42F4-838B-F782248C562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A4EE7E6-C023-4065-858E-C7EC4CB612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7297" y="235405"/>
            <a:ext cx="1358847" cy="51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4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1E28CD0B-5010-48A7-95D1-64C4BC0FA6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63" y="2132013"/>
            <a:ext cx="3100387" cy="3098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Inter" panose="02000503000000020004" pitchFamily="50" charset="0"/>
                <a:cs typeface="Inter" panose="02000503000000020004" pitchFamily="50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29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2C832C98-9ED7-4675-A261-7493CFE86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1200">
                <a:solidFill>
                  <a:schemeClr val="tx1"/>
                </a:solidFill>
                <a:latin typeface="Inter" panose="02000503000000020004" pitchFamily="50" charset="0"/>
              </a:defRPr>
            </a:lvl1pPr>
          </a:lstStyle>
          <a:p>
            <a:fld id="{6B6CC755-42E9-42F4-838B-F782248C56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96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82" r:id="rId2"/>
    <p:sldLayoutId id="2147483784" r:id="rId3"/>
    <p:sldLayoutId id="2147483780" r:id="rId4"/>
    <p:sldLayoutId id="2147483781" r:id="rId5"/>
    <p:sldLayoutId id="2147483787" r:id="rId6"/>
    <p:sldLayoutId id="2147483788" r:id="rId7"/>
    <p:sldLayoutId id="214748378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00" userDrawn="1">
          <p15:clr>
            <a:srgbClr val="F26B43"/>
          </p15:clr>
        </p15:guide>
        <p15:guide id="6" pos="234" userDrawn="1">
          <p15:clr>
            <a:srgbClr val="F26B43"/>
          </p15:clr>
        </p15:guide>
        <p15:guide id="8" pos="7446" userDrawn="1">
          <p15:clr>
            <a:srgbClr val="F26B43"/>
          </p15:clr>
        </p15:guide>
        <p15:guide id="12" orient="horz" pos="4065" userDrawn="1">
          <p15:clr>
            <a:srgbClr val="F26B43"/>
          </p15:clr>
        </p15:guide>
        <p15:guide id="23" pos="3817" userDrawn="1">
          <p15:clr>
            <a:srgbClr val="F26B43"/>
          </p15:clr>
        </p15:guide>
        <p15:guide id="24" pos="38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hyperlink" Target="https://rt-dc.ru/about/licenses/" TargetMode="Externa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redsecurity.ru/news/red-security-soc-khakery-usilili-davlenie-na-kriticheskuyu-informatsionnuyu-infrastrukturu-rossii" TargetMode="External"/><Relationship Id="rId4" Type="http://schemas.openxmlformats.org/officeDocument/2006/relationships/hyperlink" Target="https://www.ptsecurity.com/ru-ru/research/analytics/aktualnye-kiberugrozy-iv-kvartal-2024-goda-i-kvartal-2025-goda/#id21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4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cloud.rt.ru/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36.svg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hyperlink" Target="https://www.cloud.rt.ru/showcase/services/kii_cloud" TargetMode="External"/><Relationship Id="rId9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85C439-912F-4B3B-99A1-785BAA2E0E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" t="2609" r="-1" b="1343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65C3DE-06B0-46E5-95FA-C5C70D83CF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57000">
                <a:srgbClr val="2F9AFF"/>
              </a:gs>
              <a:gs pos="100000">
                <a:schemeClr val="accent3">
                  <a:alpha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2F9AFF">
                  <a:lumMod val="40000"/>
                  <a:lumOff val="60000"/>
                </a:srgb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EC4804C-C82D-49CC-A010-088057AEABA3}"/>
              </a:ext>
            </a:extLst>
          </p:cNvPr>
          <p:cNvSpPr txBox="1">
            <a:spLocks/>
          </p:cNvSpPr>
          <p:nvPr/>
        </p:nvSpPr>
        <p:spPr>
          <a:xfrm>
            <a:off x="363283" y="2852669"/>
            <a:ext cx="11760709" cy="2236510"/>
          </a:xfrm>
          <a:prstGeom prst="rect">
            <a:avLst/>
          </a:prstGeom>
        </p:spPr>
        <p:txBody>
          <a:bodyPr l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j-ea"/>
                <a:cs typeface="Inter" panose="02000503000000020004" pitchFamily="50" charset="0"/>
              </a:rPr>
              <a:t>Облако КИИ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0"/>
              </a:spcAft>
              <a:buClrTx/>
              <a:buSzTx/>
              <a:buFontTx/>
              <a:buNone/>
              <a:tabLst/>
              <a:defRPr/>
            </a:pPr>
            <a:r>
              <a:rPr lang="ru-RU" sz="4800" dirty="0">
                <a:solidFill>
                  <a:prstClr val="white"/>
                </a:solidFill>
                <a:latin typeface="Inter"/>
                <a:cs typeface="Inter" panose="02000503000000020004" pitchFamily="50" charset="0"/>
              </a:rPr>
              <a:t>Особенности размещения ЗО КИИ</a:t>
            </a:r>
            <a:endParaRPr kumimoji="0" lang="ru-RU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j-ea"/>
              <a:cs typeface="Inter" panose="02000503000000020004" pitchFamily="50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4132D9-A8CD-4F81-A6B2-BDB8D72D3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632" y="690188"/>
            <a:ext cx="3398371" cy="12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4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4" name="Прямая со стрелкой 783">
            <a:extLst>
              <a:ext uri="{FF2B5EF4-FFF2-40B4-BE49-F238E27FC236}">
                <a16:creationId xmlns:a16="http://schemas.microsoft.com/office/drawing/2014/main" id="{4208716C-897E-4D09-B4C6-3D6DDB4F7477}"/>
              </a:ext>
            </a:extLst>
          </p:cNvPr>
          <p:cNvCxnSpPr>
            <a:cxnSpLocks/>
          </p:cNvCxnSpPr>
          <p:nvPr/>
        </p:nvCxnSpPr>
        <p:spPr>
          <a:xfrm>
            <a:off x="1021363" y="807943"/>
            <a:ext cx="10080000" cy="0"/>
          </a:xfrm>
          <a:prstGeom prst="straightConnector1">
            <a:avLst/>
          </a:prstGeom>
          <a:ln w="3175">
            <a:solidFill>
              <a:schemeClr val="accent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7A805B6-DE57-4D29-9D25-CAAC33459D88}"/>
              </a:ext>
            </a:extLst>
          </p:cNvPr>
          <p:cNvSpPr/>
          <p:nvPr/>
        </p:nvSpPr>
        <p:spPr>
          <a:xfrm>
            <a:off x="1403893" y="437834"/>
            <a:ext cx="1757119" cy="659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1029589-9893-4524-B000-D46778DAF029}"/>
              </a:ext>
            </a:extLst>
          </p:cNvPr>
          <p:cNvSpPr/>
          <p:nvPr/>
        </p:nvSpPr>
        <p:spPr>
          <a:xfrm>
            <a:off x="1403893" y="437834"/>
            <a:ext cx="1778045" cy="629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10E7BF2-BE40-4075-AA31-A31F7C30898F}"/>
              </a:ext>
            </a:extLst>
          </p:cNvPr>
          <p:cNvSpPr/>
          <p:nvPr/>
        </p:nvSpPr>
        <p:spPr>
          <a:xfrm>
            <a:off x="3599748" y="286118"/>
            <a:ext cx="995847" cy="930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4749D9-28C4-4FEC-AF85-AB2CA1EAF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893" y="437834"/>
            <a:ext cx="1757119" cy="615600"/>
          </a:xfrm>
          <a:prstGeom prst="rect">
            <a:avLst/>
          </a:prstGeom>
        </p:spPr>
      </p:pic>
      <p:sp>
        <p:nvSpPr>
          <p:cNvPr id="755" name="Прямоугольник 754">
            <a:extLst>
              <a:ext uri="{FF2B5EF4-FFF2-40B4-BE49-F238E27FC236}">
                <a16:creationId xmlns:a16="http://schemas.microsoft.com/office/drawing/2014/main" id="{3D99A69F-5FD2-4E74-A80A-33D87A881BDE}"/>
              </a:ext>
            </a:extLst>
          </p:cNvPr>
          <p:cNvSpPr/>
          <p:nvPr/>
        </p:nvSpPr>
        <p:spPr>
          <a:xfrm>
            <a:off x="347577" y="645620"/>
            <a:ext cx="1251309" cy="377026"/>
          </a:xfrm>
          <a:prstGeom prst="rect">
            <a:avLst/>
          </a:prstGeom>
        </p:spPr>
        <p:txBody>
          <a:bodyPr wrap="square" l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20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12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2F9AFF"/>
              </a:solidFill>
              <a:effectLst/>
              <a:uLnTx/>
              <a:uFillTx/>
              <a:latin typeface="Inter Medium" panose="02000603000000020004" pitchFamily="50" charset="0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9CF7796E-A10B-486F-861F-CECB5F56742D}"/>
              </a:ext>
            </a:extLst>
          </p:cNvPr>
          <p:cNvSpPr/>
          <p:nvPr/>
        </p:nvSpPr>
        <p:spPr>
          <a:xfrm>
            <a:off x="11194870" y="645620"/>
            <a:ext cx="900000" cy="377026"/>
          </a:xfrm>
          <a:prstGeom prst="rect">
            <a:avLst/>
          </a:prstGeom>
        </p:spPr>
        <p:txBody>
          <a:bodyPr wrap="square" l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025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2F9AFF"/>
              </a:solidFill>
              <a:effectLst/>
              <a:uLnTx/>
              <a:uFillTx/>
              <a:latin typeface="Inter Medium" panose="02000603000000020004" pitchFamily="50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6BE50C-89FB-462A-976E-9B1C53E4C5F2}"/>
              </a:ext>
            </a:extLst>
          </p:cNvPr>
          <p:cNvSpPr txBox="1"/>
          <p:nvPr/>
        </p:nvSpPr>
        <p:spPr>
          <a:xfrm>
            <a:off x="9900518" y="3462919"/>
            <a:ext cx="2149304" cy="51244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260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МВт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A5C685-3AC1-479D-9CDE-0D78E6C09FA0}"/>
              </a:ext>
            </a:extLst>
          </p:cNvPr>
          <p:cNvSpPr txBox="1"/>
          <p:nvPr/>
        </p:nvSpPr>
        <p:spPr>
          <a:xfrm>
            <a:off x="9900518" y="3972022"/>
            <a:ext cx="2232000" cy="22775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latin typeface="Rostelecom Basis Light" panose="020B03030306040401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4F1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мощность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4F65EE-9DD9-4B15-A89A-8364B7D600F4}"/>
              </a:ext>
            </a:extLst>
          </p:cNvPr>
          <p:cNvSpPr txBox="1"/>
          <p:nvPr/>
        </p:nvSpPr>
        <p:spPr>
          <a:xfrm>
            <a:off x="9900518" y="4865913"/>
            <a:ext cx="2149304" cy="51244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190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ПБ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A3FCBE-5810-49DB-9B95-8B635FDBFA04}"/>
              </a:ext>
            </a:extLst>
          </p:cNvPr>
          <p:cNvSpPr txBox="1"/>
          <p:nvPr/>
        </p:nvSpPr>
        <p:spPr>
          <a:xfrm>
            <a:off x="9900518" y="5398700"/>
            <a:ext cx="1963567" cy="2215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latin typeface="Rostelecom Basis Light" panose="020B03030306040401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4F1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объем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хранения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grpSp>
        <p:nvGrpSpPr>
          <p:cNvPr id="793" name="Группа 792">
            <a:extLst>
              <a:ext uri="{FF2B5EF4-FFF2-40B4-BE49-F238E27FC236}">
                <a16:creationId xmlns:a16="http://schemas.microsoft.com/office/drawing/2014/main" id="{8EACE0E8-B537-47A2-AC3F-E09A3308F246}"/>
              </a:ext>
            </a:extLst>
          </p:cNvPr>
          <p:cNvGrpSpPr/>
          <p:nvPr/>
        </p:nvGrpSpPr>
        <p:grpSpPr>
          <a:xfrm>
            <a:off x="8048296" y="549194"/>
            <a:ext cx="2609545" cy="590931"/>
            <a:chOff x="8428768" y="473258"/>
            <a:chExt cx="2609545" cy="590931"/>
          </a:xfrm>
        </p:grpSpPr>
        <p:sp>
          <p:nvSpPr>
            <p:cNvPr id="655" name="Прямоугольник 654">
              <a:extLst>
                <a:ext uri="{FF2B5EF4-FFF2-40B4-BE49-F238E27FC236}">
                  <a16:creationId xmlns:a16="http://schemas.microsoft.com/office/drawing/2014/main" id="{54484571-D32F-40E6-9809-8FAA284C1D2F}"/>
                </a:ext>
              </a:extLst>
            </p:cNvPr>
            <p:cNvSpPr/>
            <p:nvPr/>
          </p:nvSpPr>
          <p:spPr>
            <a:xfrm>
              <a:off x="8428768" y="473258"/>
              <a:ext cx="899999" cy="5909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Inter Medium" panose="02000603000000020004" pitchFamily="50" charset="0"/>
                  <a:ea typeface="+mn-ea"/>
                  <a:cs typeface="+mn-cs"/>
                </a:rPr>
                <a:t>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Inter Medium" panose="02000603000000020004" pitchFamily="50" charset="0"/>
                  <a:ea typeface="+mn-ea"/>
                  <a:cs typeface="+mn-cs"/>
                </a:rPr>
                <a:t>13</a:t>
              </a: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E1B19469-630C-4B20-9F5B-529E7FB8C668}"/>
                </a:ext>
              </a:extLst>
            </p:cNvPr>
            <p:cNvSpPr txBox="1"/>
            <p:nvPr/>
          </p:nvSpPr>
          <p:spPr>
            <a:xfrm>
              <a:off x="9114763" y="576414"/>
              <a:ext cx="1923550" cy="3877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72000" bIns="0" rtlCol="0" anchor="ctr">
              <a:spAutoFit/>
            </a:bodyPr>
            <a:lstStyle>
              <a:defPPr>
                <a:defRPr lang="ru-RU"/>
              </a:defPPr>
              <a:lvl1pPr marL="285750" indent="-285750"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>
                  <a:latin typeface="Rostelecom Basis Light" panose="020B0303030604040103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4F1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72F3D"/>
                  </a:solidFill>
                  <a:effectLst/>
                  <a:uLnTx/>
                  <a:uFillTx/>
                  <a:latin typeface="Inter" panose="02000503000000020004" pitchFamily="50" charset="0"/>
                  <a:ea typeface="+mn-ea"/>
                  <a:cs typeface="+mn-cs"/>
                </a:rPr>
                <a:t>лет на рынке</a:t>
              </a:r>
              <a:br>
                <a:rPr kumimoji="0" lang="ru-RU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72F3D"/>
                  </a:solidFill>
                  <a:effectLst/>
                  <a:uLnTx/>
                  <a:uFillTx/>
                  <a:latin typeface="Inter" panose="02000503000000020004" pitchFamily="50" charset="0"/>
                  <a:ea typeface="+mn-ea"/>
                  <a:cs typeface="+mn-cs"/>
                </a:rPr>
              </a:br>
              <a:r>
                <a:rPr lang="ru-RU" sz="1400" dirty="0">
                  <a:solidFill>
                    <a:srgbClr val="272F3D"/>
                  </a:solidFill>
                  <a:latin typeface="Inter" panose="02000503000000020004" pitchFamily="50" charset="0"/>
                </a:rPr>
                <a:t>облачных сервисов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</p:grpSp>
      <p:sp>
        <p:nvSpPr>
          <p:cNvPr id="792" name="Прямоугольник 791">
            <a:extLst>
              <a:ext uri="{FF2B5EF4-FFF2-40B4-BE49-F238E27FC236}">
                <a16:creationId xmlns:a16="http://schemas.microsoft.com/office/drawing/2014/main" id="{4888794F-D8B8-4DAF-A030-2812207035E5}"/>
              </a:ext>
            </a:extLst>
          </p:cNvPr>
          <p:cNvSpPr/>
          <p:nvPr/>
        </p:nvSpPr>
        <p:spPr>
          <a:xfrm>
            <a:off x="5042440" y="0"/>
            <a:ext cx="2693845" cy="1526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66E868-ABED-4085-83E4-83217ECD7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6654" y="415379"/>
            <a:ext cx="808021" cy="668707"/>
          </a:xfrm>
          <a:prstGeom prst="rect">
            <a:avLst/>
          </a:prstGeom>
        </p:spPr>
      </p:pic>
      <p:sp>
        <p:nvSpPr>
          <p:cNvPr id="331" name="Прямоугольник 330">
            <a:extLst>
              <a:ext uri="{FF2B5EF4-FFF2-40B4-BE49-F238E27FC236}">
                <a16:creationId xmlns:a16="http://schemas.microsoft.com/office/drawing/2014/main" id="{D06A8481-BC86-4C88-A34C-A2ECC9548132}"/>
              </a:ext>
            </a:extLst>
          </p:cNvPr>
          <p:cNvSpPr/>
          <p:nvPr/>
        </p:nvSpPr>
        <p:spPr>
          <a:xfrm>
            <a:off x="0" y="1302448"/>
            <a:ext cx="12192000" cy="51244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33A8B13C-1F8A-4EEF-A067-A361DB25FC25}"/>
              </a:ext>
            </a:extLst>
          </p:cNvPr>
          <p:cNvSpPr txBox="1"/>
          <p:nvPr/>
        </p:nvSpPr>
        <p:spPr>
          <a:xfrm>
            <a:off x="185738" y="1446210"/>
            <a:ext cx="11820525" cy="256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Единый партнёр по всем сервисам и решениям для построения надежной ИТ-инфраструктуры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8E84201-E044-A000-9481-C49B7784CADC}"/>
              </a:ext>
            </a:extLst>
          </p:cNvPr>
          <p:cNvSpPr/>
          <p:nvPr/>
        </p:nvSpPr>
        <p:spPr>
          <a:xfrm>
            <a:off x="2057368" y="2140475"/>
            <a:ext cx="1458409" cy="76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25 </a:t>
            </a:r>
            <a:br>
              <a:rPr kumimoji="0" lang="ru-RU" sz="5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дата-центров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548F551-EC38-48A0-82F0-432F453B9EDD}"/>
              </a:ext>
            </a:extLst>
          </p:cNvPr>
          <p:cNvSpPr txBox="1"/>
          <p:nvPr/>
        </p:nvSpPr>
        <p:spPr>
          <a:xfrm>
            <a:off x="3483508" y="2215934"/>
            <a:ext cx="496384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Крупнейшая 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геораспределенная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сеть дата-центров 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</a:b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Tier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 III с отказоустойчивой инфраструктурой 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05DD8EF-6E0A-4B5E-896B-6C934AC55B80}"/>
              </a:ext>
            </a:extLst>
          </p:cNvPr>
          <p:cNvCxnSpPr/>
          <p:nvPr/>
        </p:nvCxnSpPr>
        <p:spPr>
          <a:xfrm>
            <a:off x="3555975" y="2730867"/>
            <a:ext cx="4644000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Прямая соединительная линия 334">
            <a:extLst>
              <a:ext uri="{FF2B5EF4-FFF2-40B4-BE49-F238E27FC236}">
                <a16:creationId xmlns:a16="http://schemas.microsoft.com/office/drawing/2014/main" id="{5F6E23D6-3C50-4CB1-8991-8D2121163C86}"/>
              </a:ext>
            </a:extLst>
          </p:cNvPr>
          <p:cNvCxnSpPr/>
          <p:nvPr/>
        </p:nvCxnSpPr>
        <p:spPr>
          <a:xfrm>
            <a:off x="3555975" y="2121267"/>
            <a:ext cx="4644000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8F2A9498-7E56-44E4-87A4-98FA9E8E9A59}"/>
              </a:ext>
            </a:extLst>
          </p:cNvPr>
          <p:cNvSpPr txBox="1"/>
          <p:nvPr/>
        </p:nvSpPr>
        <p:spPr>
          <a:xfrm>
            <a:off x="353423" y="3462919"/>
            <a:ext cx="2596114" cy="4985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30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 000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+mn-ea"/>
              <a:cs typeface="+mn-cs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BA63D7D5-2571-4F2E-B08D-8E11B91FD8EE}"/>
              </a:ext>
            </a:extLst>
          </p:cNvPr>
          <p:cNvSpPr txBox="1"/>
          <p:nvPr/>
        </p:nvSpPr>
        <p:spPr>
          <a:xfrm>
            <a:off x="353423" y="3972022"/>
            <a:ext cx="2232000" cy="22775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latin typeface="Rostelecom Basis Light" panose="020B03030306040401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4F1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физических ядер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979C9E4E-E983-4D64-9134-BE4F2E417419}"/>
              </a:ext>
            </a:extLst>
          </p:cNvPr>
          <p:cNvSpPr txBox="1"/>
          <p:nvPr/>
        </p:nvSpPr>
        <p:spPr>
          <a:xfrm>
            <a:off x="353423" y="4865913"/>
            <a:ext cx="2149304" cy="51244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2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7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000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7BBC20BC-E1C0-4C60-BCE6-9D959AF3F07B}"/>
              </a:ext>
            </a:extLst>
          </p:cNvPr>
          <p:cNvSpPr txBox="1"/>
          <p:nvPr/>
        </p:nvSpPr>
        <p:spPr>
          <a:xfrm>
            <a:off x="353423" y="5398700"/>
            <a:ext cx="2232000" cy="22775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latin typeface="Rostelecom Basis Light" panose="020B03030306040401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4F1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стоек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334" name="Рисунок 333">
            <a:extLst>
              <a:ext uri="{FF2B5EF4-FFF2-40B4-BE49-F238E27FC236}">
                <a16:creationId xmlns:a16="http://schemas.microsoft.com/office/drawing/2014/main" id="{41CF444F-45C9-4B49-BD09-BF6ACA631B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8542" y="256300"/>
            <a:ext cx="2124465" cy="803134"/>
          </a:xfrm>
          <a:prstGeom prst="rect">
            <a:avLst/>
          </a:prstGeom>
        </p:spPr>
      </p:pic>
      <p:sp>
        <p:nvSpPr>
          <p:cNvPr id="336" name="Номер слайда 2">
            <a:extLst>
              <a:ext uri="{FF2B5EF4-FFF2-40B4-BE49-F238E27FC236}">
                <a16:creationId xmlns:a16="http://schemas.microsoft.com/office/drawing/2014/main" id="{CA0F04E8-233A-4465-8110-B600A76E96C1}"/>
              </a:ext>
            </a:extLst>
          </p:cNvPr>
          <p:cNvSpPr txBox="1">
            <a:spLocks/>
          </p:cNvSpPr>
          <p:nvPr/>
        </p:nvSpPr>
        <p:spPr>
          <a:xfrm>
            <a:off x="9077325" y="6442710"/>
            <a:ext cx="27432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ru-RU"/>
            </a:defPPr>
            <a:lvl1pPr algn="r">
              <a:defRPr sz="120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CC755-42E9-42F4-838B-F782248C5624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301BBB-EDFF-4098-914B-E3CE00BEBE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592" y="2307376"/>
            <a:ext cx="767925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4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228B3-0E84-4694-AE11-80DDF0CD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8702703" cy="486820"/>
          </a:xfrm>
        </p:spPr>
        <p:txBody>
          <a:bodyPr/>
          <a:lstStyle/>
          <a:p>
            <a:r>
              <a:rPr lang="ru-RU" dirty="0"/>
              <a:t>Безопасное и надёжное хранение данных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285B21F-E1D0-47B8-B0B0-528D1475B3D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2271" y="1010613"/>
            <a:ext cx="8504238" cy="6604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600" dirty="0">
                <a:latin typeface="Inter Medium" panose="02000603000000020004" pitchFamily="50" charset="0"/>
                <a:cs typeface="Inter" panose="02000503000000020004" pitchFamily="50" charset="0"/>
              </a:rPr>
              <a:t>Облачные сервисы РТК-ЦОД базируются </a:t>
            </a:r>
            <a:br>
              <a:rPr lang="ru-RU" sz="1600" dirty="0">
                <a:latin typeface="Inter Medium" panose="02000603000000020004" pitchFamily="50" charset="0"/>
                <a:cs typeface="Inter" panose="02000503000000020004" pitchFamily="50" charset="0"/>
              </a:rPr>
            </a:br>
            <a:r>
              <a:rPr lang="ru-RU" sz="1600" dirty="0">
                <a:latin typeface="Inter Medium" panose="02000603000000020004" pitchFamily="50" charset="0"/>
                <a:cs typeface="Inter" panose="02000503000000020004" pitchFamily="50" charset="0"/>
              </a:rPr>
              <a:t>в дата-центрах </a:t>
            </a:r>
            <a:r>
              <a:rPr lang="ru-RU" sz="1600" dirty="0" err="1">
                <a:latin typeface="Inter Medium" panose="02000603000000020004" pitchFamily="50" charset="0"/>
                <a:cs typeface="Inter" panose="02000503000000020004" pitchFamily="50" charset="0"/>
              </a:rPr>
              <a:t>Tier</a:t>
            </a:r>
            <a:r>
              <a:rPr lang="ru-RU" sz="1600" dirty="0">
                <a:latin typeface="Inter Medium" panose="02000603000000020004" pitchFamily="50" charset="0"/>
                <a:cs typeface="Inter" panose="02000503000000020004" pitchFamily="50" charset="0"/>
              </a:rPr>
              <a:t> III с отказоустойчивой инфраструктурой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BB95C55-2CD2-42D0-BE4A-505F13FE6AF8}"/>
              </a:ext>
            </a:extLst>
          </p:cNvPr>
          <p:cNvSpPr/>
          <p:nvPr/>
        </p:nvSpPr>
        <p:spPr>
          <a:xfrm>
            <a:off x="9504650" y="847980"/>
            <a:ext cx="2687350" cy="6010013"/>
          </a:xfrm>
          <a:prstGeom prst="rect">
            <a:avLst/>
          </a:prstGeom>
          <a:solidFill>
            <a:srgbClr val="E5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Inter" panose="02000503000000020004" pitchFamily="50" charset="0"/>
            </a:endParaRPr>
          </a:p>
        </p:txBody>
      </p:sp>
      <p:sp>
        <p:nvSpPr>
          <p:cNvPr id="30" name="Скругленный прямоугольник 2">
            <a:extLst>
              <a:ext uri="{FF2B5EF4-FFF2-40B4-BE49-F238E27FC236}">
                <a16:creationId xmlns:a16="http://schemas.microsoft.com/office/drawing/2014/main" id="{D458776B-731F-4E25-AF0F-3349D5739527}"/>
              </a:ext>
            </a:extLst>
          </p:cNvPr>
          <p:cNvSpPr/>
          <p:nvPr/>
        </p:nvSpPr>
        <p:spPr>
          <a:xfrm>
            <a:off x="391494" y="5227972"/>
            <a:ext cx="6136005" cy="88831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10800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Сертификаты международного образца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соответствия требованиям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ISO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/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IEC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 27001:2013,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ISO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/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IEC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 27017:2015,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ISO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/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IEC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 27018:2019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Сертификат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PCI DSS v4.0.1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B0B20B1-CF20-4957-BA59-BB8FE152BF19}"/>
              </a:ext>
            </a:extLst>
          </p:cNvPr>
          <p:cNvSpPr/>
          <p:nvPr/>
        </p:nvSpPr>
        <p:spPr>
          <a:xfrm>
            <a:off x="403069" y="2376709"/>
            <a:ext cx="4860683" cy="54168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B8D140"/>
              </a:buClr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Inter" panose="02000503000000020004" pitchFamily="50" charset="0"/>
              </a:rPr>
              <a:t>Физическая безопасность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Inter" panose="02000503000000020004" pitchFamily="50" charset="0"/>
              </a:rPr>
              <a:t>размещения в собственных ЦОД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18719F-88A6-4472-AC4F-8E12FA51859C}"/>
              </a:ext>
            </a:extLst>
          </p:cNvPr>
          <p:cNvSpPr txBox="1"/>
          <p:nvPr/>
        </p:nvSpPr>
        <p:spPr>
          <a:xfrm>
            <a:off x="391494" y="3125872"/>
            <a:ext cx="5153622" cy="15901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Контроль и управление доступом с физически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огражденным периметром безопасности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Отказоустойчивость платформы: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все узлы и компоненты продублированы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Охранно-пожарная сигнализация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Автоматическое пожаротушение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Круглосуточная охрана и видеонаблюдение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EC45E13D-0C15-4D7A-888D-ACD55C5EB6F7}"/>
              </a:ext>
            </a:extLst>
          </p:cNvPr>
          <p:cNvGrpSpPr>
            <a:grpSpLocks noChangeAspect="1"/>
          </p:cNvGrpSpPr>
          <p:nvPr/>
        </p:nvGrpSpPr>
        <p:grpSpPr>
          <a:xfrm>
            <a:off x="403067" y="1853995"/>
            <a:ext cx="324842" cy="396000"/>
            <a:chOff x="779520" y="1705851"/>
            <a:chExt cx="491940" cy="599699"/>
          </a:xfrm>
          <a:solidFill>
            <a:schemeClr val="accent4"/>
          </a:solidFill>
        </p:grpSpPr>
        <p:sp>
          <p:nvSpPr>
            <p:cNvPr id="34" name="Полилиния: фигура 25">
              <a:extLst>
                <a:ext uri="{FF2B5EF4-FFF2-40B4-BE49-F238E27FC236}">
                  <a16:creationId xmlns:a16="http://schemas.microsoft.com/office/drawing/2014/main" id="{D25D8440-9B60-47FA-AB5D-FACF1AF25985}"/>
                </a:ext>
              </a:extLst>
            </p:cNvPr>
            <p:cNvSpPr/>
            <p:nvPr/>
          </p:nvSpPr>
          <p:spPr>
            <a:xfrm>
              <a:off x="943500" y="1800725"/>
              <a:ext cx="23425" cy="23425"/>
            </a:xfrm>
            <a:custGeom>
              <a:avLst/>
              <a:gdLst>
                <a:gd name="connsiteX0" fmla="*/ 11713 w 23425"/>
                <a:gd name="connsiteY0" fmla="*/ 23426 h 23425"/>
                <a:gd name="connsiteX1" fmla="*/ 23426 w 23425"/>
                <a:gd name="connsiteY1" fmla="*/ 11713 h 23425"/>
                <a:gd name="connsiteX2" fmla="*/ 11713 w 23425"/>
                <a:gd name="connsiteY2" fmla="*/ 0 h 23425"/>
                <a:gd name="connsiteX3" fmla="*/ 0 w 23425"/>
                <a:gd name="connsiteY3" fmla="*/ 11713 h 23425"/>
                <a:gd name="connsiteX4" fmla="*/ 11713 w 23425"/>
                <a:gd name="connsiteY4" fmla="*/ 23426 h 2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25" h="23425">
                  <a:moveTo>
                    <a:pt x="11713" y="23426"/>
                  </a:moveTo>
                  <a:cubicBezTo>
                    <a:pt x="18178" y="23426"/>
                    <a:pt x="23426" y="18178"/>
                    <a:pt x="23426" y="11713"/>
                  </a:cubicBezTo>
                  <a:cubicBezTo>
                    <a:pt x="23426" y="5248"/>
                    <a:pt x="18178" y="0"/>
                    <a:pt x="11713" y="0"/>
                  </a:cubicBezTo>
                  <a:cubicBezTo>
                    <a:pt x="5247" y="0"/>
                    <a:pt x="0" y="5248"/>
                    <a:pt x="0" y="11713"/>
                  </a:cubicBezTo>
                  <a:cubicBezTo>
                    <a:pt x="0" y="18178"/>
                    <a:pt x="5247" y="23426"/>
                    <a:pt x="11713" y="23426"/>
                  </a:cubicBezTo>
                  <a:close/>
                </a:path>
              </a:pathLst>
            </a:custGeom>
            <a:grpFill/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35" name="Полилиния: фигура 26">
              <a:extLst>
                <a:ext uri="{FF2B5EF4-FFF2-40B4-BE49-F238E27FC236}">
                  <a16:creationId xmlns:a16="http://schemas.microsoft.com/office/drawing/2014/main" id="{8C474DDD-1E76-4900-AABE-D3B8BD2D13A8}"/>
                </a:ext>
              </a:extLst>
            </p:cNvPr>
            <p:cNvSpPr/>
            <p:nvPr/>
          </p:nvSpPr>
          <p:spPr>
            <a:xfrm>
              <a:off x="779520" y="1705851"/>
              <a:ext cx="491940" cy="599699"/>
            </a:xfrm>
            <a:custGeom>
              <a:avLst/>
              <a:gdLst>
                <a:gd name="connsiteX0" fmla="*/ 480228 w 491940"/>
                <a:gd name="connsiteY0" fmla="*/ 94334 h 599699"/>
                <a:gd name="connsiteX1" fmla="*/ 400311 w 491940"/>
                <a:gd name="connsiteY1" fmla="*/ 9444 h 599699"/>
                <a:gd name="connsiteX2" fmla="*/ 388822 w 491940"/>
                <a:gd name="connsiteY2" fmla="*/ 0 h 599699"/>
                <a:gd name="connsiteX3" fmla="*/ 103119 w 491940"/>
                <a:gd name="connsiteY3" fmla="*/ 0 h 599699"/>
                <a:gd name="connsiteX4" fmla="*/ 91630 w 491940"/>
                <a:gd name="connsiteY4" fmla="*/ 9444 h 599699"/>
                <a:gd name="connsiteX5" fmla="*/ 11713 w 491940"/>
                <a:gd name="connsiteY5" fmla="*/ 94334 h 599699"/>
                <a:gd name="connsiteX6" fmla="*/ 0 w 491940"/>
                <a:gd name="connsiteY6" fmla="*/ 106047 h 599699"/>
                <a:gd name="connsiteX7" fmla="*/ 0 w 491940"/>
                <a:gd name="connsiteY7" fmla="*/ 295471 h 599699"/>
                <a:gd name="connsiteX8" fmla="*/ 242269 w 491940"/>
                <a:gd name="connsiteY8" fmla="*/ 599099 h 599699"/>
                <a:gd name="connsiteX9" fmla="*/ 245970 w 491940"/>
                <a:gd name="connsiteY9" fmla="*/ 599699 h 599699"/>
                <a:gd name="connsiteX10" fmla="*/ 249672 w 491940"/>
                <a:gd name="connsiteY10" fmla="*/ 599099 h 599699"/>
                <a:gd name="connsiteX11" fmla="*/ 491941 w 491940"/>
                <a:gd name="connsiteY11" fmla="*/ 295471 h 599699"/>
                <a:gd name="connsiteX12" fmla="*/ 491941 w 491940"/>
                <a:gd name="connsiteY12" fmla="*/ 106047 h 599699"/>
                <a:gd name="connsiteX13" fmla="*/ 480228 w 491940"/>
                <a:gd name="connsiteY13" fmla="*/ 94334 h 599699"/>
                <a:gd name="connsiteX14" fmla="*/ 468515 w 491940"/>
                <a:gd name="connsiteY14" fmla="*/ 295471 h 599699"/>
                <a:gd name="connsiteX15" fmla="*/ 245970 w 491940"/>
                <a:gd name="connsiteY15" fmla="*/ 575615 h 599699"/>
                <a:gd name="connsiteX16" fmla="*/ 23426 w 491940"/>
                <a:gd name="connsiteY16" fmla="*/ 295471 h 599699"/>
                <a:gd name="connsiteX17" fmla="*/ 23426 w 491940"/>
                <a:gd name="connsiteY17" fmla="*/ 117206 h 599699"/>
                <a:gd name="connsiteX18" fmla="*/ 112576 w 491940"/>
                <a:gd name="connsiteY18" fmla="*/ 23426 h 599699"/>
                <a:gd name="connsiteX19" fmla="*/ 379365 w 491940"/>
                <a:gd name="connsiteY19" fmla="*/ 23426 h 599699"/>
                <a:gd name="connsiteX20" fmla="*/ 468515 w 491940"/>
                <a:gd name="connsiteY20" fmla="*/ 117206 h 599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1940" h="599699">
                  <a:moveTo>
                    <a:pt x="480228" y="94334"/>
                  </a:moveTo>
                  <a:cubicBezTo>
                    <a:pt x="436561" y="94334"/>
                    <a:pt x="411914" y="68154"/>
                    <a:pt x="400311" y="9444"/>
                  </a:cubicBezTo>
                  <a:cubicBezTo>
                    <a:pt x="399226" y="3953"/>
                    <a:pt x="394412" y="0"/>
                    <a:pt x="388822" y="0"/>
                  </a:cubicBezTo>
                  <a:lnTo>
                    <a:pt x="103119" y="0"/>
                  </a:lnTo>
                  <a:cubicBezTo>
                    <a:pt x="97528" y="0"/>
                    <a:pt x="92715" y="3953"/>
                    <a:pt x="91630" y="9444"/>
                  </a:cubicBezTo>
                  <a:cubicBezTo>
                    <a:pt x="80027" y="68154"/>
                    <a:pt x="55380" y="94334"/>
                    <a:pt x="11713" y="94334"/>
                  </a:cubicBezTo>
                  <a:cubicBezTo>
                    <a:pt x="5243" y="94334"/>
                    <a:pt x="0" y="99578"/>
                    <a:pt x="0" y="106047"/>
                  </a:cubicBezTo>
                  <a:lnTo>
                    <a:pt x="0" y="295471"/>
                  </a:lnTo>
                  <a:cubicBezTo>
                    <a:pt x="0" y="433756"/>
                    <a:pt x="111940" y="555656"/>
                    <a:pt x="242269" y="599099"/>
                  </a:cubicBezTo>
                  <a:cubicBezTo>
                    <a:pt x="243467" y="599498"/>
                    <a:pt x="244722" y="599699"/>
                    <a:pt x="245970" y="599699"/>
                  </a:cubicBezTo>
                  <a:cubicBezTo>
                    <a:pt x="247219" y="599699"/>
                    <a:pt x="248473" y="599498"/>
                    <a:pt x="249672" y="599099"/>
                  </a:cubicBezTo>
                  <a:cubicBezTo>
                    <a:pt x="379771" y="555735"/>
                    <a:pt x="491941" y="433953"/>
                    <a:pt x="491941" y="295471"/>
                  </a:cubicBezTo>
                  <a:lnTo>
                    <a:pt x="491941" y="106047"/>
                  </a:lnTo>
                  <a:cubicBezTo>
                    <a:pt x="491941" y="99578"/>
                    <a:pt x="486697" y="94334"/>
                    <a:pt x="480228" y="94334"/>
                  </a:cubicBezTo>
                  <a:close/>
                  <a:moveTo>
                    <a:pt x="468515" y="295471"/>
                  </a:moveTo>
                  <a:cubicBezTo>
                    <a:pt x="468515" y="429222"/>
                    <a:pt x="357183" y="537012"/>
                    <a:pt x="245970" y="575615"/>
                  </a:cubicBezTo>
                  <a:cubicBezTo>
                    <a:pt x="134758" y="537008"/>
                    <a:pt x="23426" y="429217"/>
                    <a:pt x="23426" y="295471"/>
                  </a:cubicBezTo>
                  <a:lnTo>
                    <a:pt x="23426" y="117206"/>
                  </a:lnTo>
                  <a:cubicBezTo>
                    <a:pt x="75182" y="112155"/>
                    <a:pt x="100689" y="74244"/>
                    <a:pt x="112576" y="23426"/>
                  </a:cubicBezTo>
                  <a:lnTo>
                    <a:pt x="379365" y="23426"/>
                  </a:lnTo>
                  <a:cubicBezTo>
                    <a:pt x="391251" y="74244"/>
                    <a:pt x="416750" y="112155"/>
                    <a:pt x="468515" y="117206"/>
                  </a:cubicBezTo>
                  <a:close/>
                </a:path>
              </a:pathLst>
            </a:custGeom>
            <a:grpFill/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36" name="Полилиния: фигура 28">
              <a:extLst>
                <a:ext uri="{FF2B5EF4-FFF2-40B4-BE49-F238E27FC236}">
                  <a16:creationId xmlns:a16="http://schemas.microsoft.com/office/drawing/2014/main" id="{78CE357A-9B4A-4930-8AF9-4BE24ADE9BC8}"/>
                </a:ext>
              </a:extLst>
            </p:cNvPr>
            <p:cNvSpPr/>
            <p:nvPr/>
          </p:nvSpPr>
          <p:spPr>
            <a:xfrm>
              <a:off x="826371" y="1752807"/>
              <a:ext cx="398237" cy="502857"/>
            </a:xfrm>
            <a:custGeom>
              <a:avLst/>
              <a:gdLst>
                <a:gd name="connsiteX0" fmla="*/ 317299 w 398237"/>
                <a:gd name="connsiteY0" fmla="*/ 7746 h 502857"/>
                <a:gd name="connsiteX1" fmla="*/ 306278 w 398237"/>
                <a:gd name="connsiteY1" fmla="*/ 0 h 502857"/>
                <a:gd name="connsiteX2" fmla="*/ 91960 w 398237"/>
                <a:gd name="connsiteY2" fmla="*/ 0 h 502857"/>
                <a:gd name="connsiteX3" fmla="*/ 80938 w 398237"/>
                <a:gd name="connsiteY3" fmla="*/ 7746 h 502857"/>
                <a:gd name="connsiteX4" fmla="*/ 7860 w 398237"/>
                <a:gd name="connsiteY4" fmla="*/ 87376 h 502857"/>
                <a:gd name="connsiteX5" fmla="*/ 0 w 398237"/>
                <a:gd name="connsiteY5" fmla="*/ 98434 h 502857"/>
                <a:gd name="connsiteX6" fmla="*/ 0 w 398237"/>
                <a:gd name="connsiteY6" fmla="*/ 248524 h 502857"/>
                <a:gd name="connsiteX7" fmla="*/ 194758 w 398237"/>
                <a:gd name="connsiteY7" fmla="*/ 502015 h 502857"/>
                <a:gd name="connsiteX8" fmla="*/ 199119 w 398237"/>
                <a:gd name="connsiteY8" fmla="*/ 502857 h 502857"/>
                <a:gd name="connsiteX9" fmla="*/ 203480 w 398237"/>
                <a:gd name="connsiteY9" fmla="*/ 502015 h 502857"/>
                <a:gd name="connsiteX10" fmla="*/ 398238 w 398237"/>
                <a:gd name="connsiteY10" fmla="*/ 248524 h 502857"/>
                <a:gd name="connsiteX11" fmla="*/ 398238 w 398237"/>
                <a:gd name="connsiteY11" fmla="*/ 98434 h 502857"/>
                <a:gd name="connsiteX12" fmla="*/ 390377 w 398237"/>
                <a:gd name="connsiteY12" fmla="*/ 87376 h 502857"/>
                <a:gd name="connsiteX13" fmla="*/ 317299 w 398237"/>
                <a:gd name="connsiteY13" fmla="*/ 7746 h 502857"/>
                <a:gd name="connsiteX14" fmla="*/ 374812 w 398237"/>
                <a:gd name="connsiteY14" fmla="*/ 248524 h 502857"/>
                <a:gd name="connsiteX15" fmla="*/ 199119 w 398237"/>
                <a:gd name="connsiteY15" fmla="*/ 478485 h 502857"/>
                <a:gd name="connsiteX16" fmla="*/ 23426 w 398237"/>
                <a:gd name="connsiteY16" fmla="*/ 248524 h 502857"/>
                <a:gd name="connsiteX17" fmla="*/ 23426 w 398237"/>
                <a:gd name="connsiteY17" fmla="*/ 106482 h 502857"/>
                <a:gd name="connsiteX18" fmla="*/ 100030 w 398237"/>
                <a:gd name="connsiteY18" fmla="*/ 23307 h 502857"/>
                <a:gd name="connsiteX19" fmla="*/ 298207 w 398237"/>
                <a:gd name="connsiteY19" fmla="*/ 23307 h 502857"/>
                <a:gd name="connsiteX20" fmla="*/ 374812 w 398237"/>
                <a:gd name="connsiteY20" fmla="*/ 106482 h 50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8237" h="502857">
                  <a:moveTo>
                    <a:pt x="317299" y="7746"/>
                  </a:moveTo>
                  <a:cubicBezTo>
                    <a:pt x="315630" y="3098"/>
                    <a:pt x="311219" y="0"/>
                    <a:pt x="306278" y="0"/>
                  </a:cubicBezTo>
                  <a:lnTo>
                    <a:pt x="91960" y="0"/>
                  </a:lnTo>
                  <a:cubicBezTo>
                    <a:pt x="87018" y="0"/>
                    <a:pt x="82607" y="3098"/>
                    <a:pt x="80938" y="7746"/>
                  </a:cubicBezTo>
                  <a:cubicBezTo>
                    <a:pt x="66114" y="48933"/>
                    <a:pt x="41526" y="75649"/>
                    <a:pt x="7860" y="87376"/>
                  </a:cubicBezTo>
                  <a:cubicBezTo>
                    <a:pt x="3152" y="89013"/>
                    <a:pt x="0" y="93451"/>
                    <a:pt x="0" y="98434"/>
                  </a:cubicBezTo>
                  <a:lnTo>
                    <a:pt x="0" y="248524"/>
                  </a:lnTo>
                  <a:cubicBezTo>
                    <a:pt x="0" y="359965"/>
                    <a:pt x="90432" y="460174"/>
                    <a:pt x="194758" y="502015"/>
                  </a:cubicBezTo>
                  <a:cubicBezTo>
                    <a:pt x="196159" y="502578"/>
                    <a:pt x="197636" y="502857"/>
                    <a:pt x="199119" y="502857"/>
                  </a:cubicBezTo>
                  <a:cubicBezTo>
                    <a:pt x="200602" y="502857"/>
                    <a:pt x="202079" y="502578"/>
                    <a:pt x="203480" y="502015"/>
                  </a:cubicBezTo>
                  <a:cubicBezTo>
                    <a:pt x="307439" y="460321"/>
                    <a:pt x="398238" y="360276"/>
                    <a:pt x="398238" y="248524"/>
                  </a:cubicBezTo>
                  <a:lnTo>
                    <a:pt x="398238" y="98434"/>
                  </a:lnTo>
                  <a:cubicBezTo>
                    <a:pt x="398238" y="93451"/>
                    <a:pt x="395086" y="89013"/>
                    <a:pt x="390377" y="87376"/>
                  </a:cubicBezTo>
                  <a:cubicBezTo>
                    <a:pt x="356712" y="75649"/>
                    <a:pt x="332124" y="48938"/>
                    <a:pt x="317299" y="7746"/>
                  </a:cubicBezTo>
                  <a:close/>
                  <a:moveTo>
                    <a:pt x="374812" y="248524"/>
                  </a:moveTo>
                  <a:cubicBezTo>
                    <a:pt x="374812" y="356305"/>
                    <a:pt x="284577" y="442564"/>
                    <a:pt x="199119" y="478485"/>
                  </a:cubicBezTo>
                  <a:cubicBezTo>
                    <a:pt x="113661" y="442564"/>
                    <a:pt x="23426" y="356305"/>
                    <a:pt x="23426" y="248524"/>
                  </a:cubicBezTo>
                  <a:lnTo>
                    <a:pt x="23426" y="106482"/>
                  </a:lnTo>
                  <a:cubicBezTo>
                    <a:pt x="57906" y="92011"/>
                    <a:pt x="83624" y="64091"/>
                    <a:pt x="100030" y="23307"/>
                  </a:cubicBezTo>
                  <a:lnTo>
                    <a:pt x="298207" y="23307"/>
                  </a:lnTo>
                  <a:cubicBezTo>
                    <a:pt x="314614" y="64091"/>
                    <a:pt x="340333" y="92011"/>
                    <a:pt x="374812" y="106482"/>
                  </a:cubicBezTo>
                  <a:close/>
                </a:path>
              </a:pathLst>
            </a:custGeom>
            <a:grpFill/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37" name="Полилиния: фигура 29">
              <a:extLst>
                <a:ext uri="{FF2B5EF4-FFF2-40B4-BE49-F238E27FC236}">
                  <a16:creationId xmlns:a16="http://schemas.microsoft.com/office/drawing/2014/main" id="{6506B7A8-E7F9-4F2C-BC70-5A85EE2AB9E6}"/>
                </a:ext>
              </a:extLst>
            </p:cNvPr>
            <p:cNvSpPr/>
            <p:nvPr/>
          </p:nvSpPr>
          <p:spPr>
            <a:xfrm>
              <a:off x="943500" y="1876858"/>
              <a:ext cx="163980" cy="234257"/>
            </a:xfrm>
            <a:custGeom>
              <a:avLst/>
              <a:gdLst>
                <a:gd name="connsiteX0" fmla="*/ 152267 w 163980"/>
                <a:gd name="connsiteY0" fmla="*/ 93703 h 234257"/>
                <a:gd name="connsiteX1" fmla="*/ 140554 w 163980"/>
                <a:gd name="connsiteY1" fmla="*/ 93703 h 234257"/>
                <a:gd name="connsiteX2" fmla="*/ 140554 w 163980"/>
                <a:gd name="connsiteY2" fmla="*/ 58564 h 234257"/>
                <a:gd name="connsiteX3" fmla="*/ 123397 w 163980"/>
                <a:gd name="connsiteY3" fmla="*/ 17157 h 234257"/>
                <a:gd name="connsiteX4" fmla="*/ 81990 w 163980"/>
                <a:gd name="connsiteY4" fmla="*/ 0 h 234257"/>
                <a:gd name="connsiteX5" fmla="*/ 23426 w 163980"/>
                <a:gd name="connsiteY5" fmla="*/ 58564 h 234257"/>
                <a:gd name="connsiteX6" fmla="*/ 23426 w 163980"/>
                <a:gd name="connsiteY6" fmla="*/ 93703 h 234257"/>
                <a:gd name="connsiteX7" fmla="*/ 11713 w 163980"/>
                <a:gd name="connsiteY7" fmla="*/ 93703 h 234257"/>
                <a:gd name="connsiteX8" fmla="*/ 0 w 163980"/>
                <a:gd name="connsiteY8" fmla="*/ 105416 h 234257"/>
                <a:gd name="connsiteX9" fmla="*/ 0 w 163980"/>
                <a:gd name="connsiteY9" fmla="*/ 222545 h 234257"/>
                <a:gd name="connsiteX10" fmla="*/ 11713 w 163980"/>
                <a:gd name="connsiteY10" fmla="*/ 234257 h 234257"/>
                <a:gd name="connsiteX11" fmla="*/ 152267 w 163980"/>
                <a:gd name="connsiteY11" fmla="*/ 234257 h 234257"/>
                <a:gd name="connsiteX12" fmla="*/ 163980 w 163980"/>
                <a:gd name="connsiteY12" fmla="*/ 222545 h 234257"/>
                <a:gd name="connsiteX13" fmla="*/ 163980 w 163980"/>
                <a:gd name="connsiteY13" fmla="*/ 105416 h 234257"/>
                <a:gd name="connsiteX14" fmla="*/ 152267 w 163980"/>
                <a:gd name="connsiteY14" fmla="*/ 93703 h 234257"/>
                <a:gd name="connsiteX15" fmla="*/ 46851 w 163980"/>
                <a:gd name="connsiteY15" fmla="*/ 58564 h 234257"/>
                <a:gd name="connsiteX16" fmla="*/ 81990 w 163980"/>
                <a:gd name="connsiteY16" fmla="*/ 23426 h 234257"/>
                <a:gd name="connsiteX17" fmla="*/ 106834 w 163980"/>
                <a:gd name="connsiteY17" fmla="*/ 33720 h 234257"/>
                <a:gd name="connsiteX18" fmla="*/ 117129 w 163980"/>
                <a:gd name="connsiteY18" fmla="*/ 58564 h 234257"/>
                <a:gd name="connsiteX19" fmla="*/ 117129 w 163980"/>
                <a:gd name="connsiteY19" fmla="*/ 93703 h 234257"/>
                <a:gd name="connsiteX20" fmla="*/ 46851 w 163980"/>
                <a:gd name="connsiteY20" fmla="*/ 93703 h 234257"/>
                <a:gd name="connsiteX21" fmla="*/ 140554 w 163980"/>
                <a:gd name="connsiteY21" fmla="*/ 210832 h 234257"/>
                <a:gd name="connsiteX22" fmla="*/ 23426 w 163980"/>
                <a:gd name="connsiteY22" fmla="*/ 210832 h 234257"/>
                <a:gd name="connsiteX23" fmla="*/ 23426 w 163980"/>
                <a:gd name="connsiteY23" fmla="*/ 117129 h 234257"/>
                <a:gd name="connsiteX24" fmla="*/ 140554 w 163980"/>
                <a:gd name="connsiteY24" fmla="*/ 117129 h 234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3980" h="234257">
                  <a:moveTo>
                    <a:pt x="152267" y="93703"/>
                  </a:moveTo>
                  <a:lnTo>
                    <a:pt x="140554" y="93703"/>
                  </a:lnTo>
                  <a:lnTo>
                    <a:pt x="140554" y="58564"/>
                  </a:lnTo>
                  <a:cubicBezTo>
                    <a:pt x="140554" y="42925"/>
                    <a:pt x="134460" y="28226"/>
                    <a:pt x="123397" y="17157"/>
                  </a:cubicBezTo>
                  <a:cubicBezTo>
                    <a:pt x="112329" y="6094"/>
                    <a:pt x="97629" y="0"/>
                    <a:pt x="81990" y="0"/>
                  </a:cubicBezTo>
                  <a:cubicBezTo>
                    <a:pt x="49698" y="0"/>
                    <a:pt x="23426" y="26272"/>
                    <a:pt x="23426" y="58564"/>
                  </a:cubicBezTo>
                  <a:lnTo>
                    <a:pt x="23426" y="93703"/>
                  </a:lnTo>
                  <a:lnTo>
                    <a:pt x="11713" y="93703"/>
                  </a:lnTo>
                  <a:cubicBezTo>
                    <a:pt x="5244" y="93703"/>
                    <a:pt x="0" y="98947"/>
                    <a:pt x="0" y="105416"/>
                  </a:cubicBezTo>
                  <a:lnTo>
                    <a:pt x="0" y="222545"/>
                  </a:lnTo>
                  <a:cubicBezTo>
                    <a:pt x="0" y="229014"/>
                    <a:pt x="5244" y="234257"/>
                    <a:pt x="11713" y="234257"/>
                  </a:cubicBezTo>
                  <a:lnTo>
                    <a:pt x="152267" y="234257"/>
                  </a:lnTo>
                  <a:cubicBezTo>
                    <a:pt x="158736" y="234257"/>
                    <a:pt x="163980" y="229014"/>
                    <a:pt x="163980" y="222545"/>
                  </a:cubicBezTo>
                  <a:lnTo>
                    <a:pt x="163980" y="105416"/>
                  </a:lnTo>
                  <a:cubicBezTo>
                    <a:pt x="163980" y="98947"/>
                    <a:pt x="158736" y="93703"/>
                    <a:pt x="152267" y="93703"/>
                  </a:cubicBezTo>
                  <a:close/>
                  <a:moveTo>
                    <a:pt x="46851" y="58564"/>
                  </a:moveTo>
                  <a:cubicBezTo>
                    <a:pt x="46851" y="39188"/>
                    <a:pt x="62613" y="23426"/>
                    <a:pt x="81990" y="23426"/>
                  </a:cubicBezTo>
                  <a:cubicBezTo>
                    <a:pt x="91370" y="23426"/>
                    <a:pt x="100191" y="27081"/>
                    <a:pt x="106834" y="33720"/>
                  </a:cubicBezTo>
                  <a:cubicBezTo>
                    <a:pt x="113473" y="40364"/>
                    <a:pt x="117129" y="49185"/>
                    <a:pt x="117129" y="58564"/>
                  </a:cubicBezTo>
                  <a:lnTo>
                    <a:pt x="117129" y="93703"/>
                  </a:lnTo>
                  <a:lnTo>
                    <a:pt x="46851" y="93703"/>
                  </a:lnTo>
                  <a:close/>
                  <a:moveTo>
                    <a:pt x="140554" y="210832"/>
                  </a:moveTo>
                  <a:lnTo>
                    <a:pt x="23426" y="210832"/>
                  </a:lnTo>
                  <a:lnTo>
                    <a:pt x="23426" y="117129"/>
                  </a:lnTo>
                  <a:lnTo>
                    <a:pt x="140554" y="117129"/>
                  </a:lnTo>
                  <a:close/>
                </a:path>
              </a:pathLst>
            </a:custGeom>
            <a:grpFill/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38" name="Полилиния: фигура 30">
              <a:extLst>
                <a:ext uri="{FF2B5EF4-FFF2-40B4-BE49-F238E27FC236}">
                  <a16:creationId xmlns:a16="http://schemas.microsoft.com/office/drawing/2014/main" id="{8719E256-EA5B-4AA5-A1F2-D12A8D8B53FD}"/>
                </a:ext>
              </a:extLst>
            </p:cNvPr>
            <p:cNvSpPr/>
            <p:nvPr/>
          </p:nvSpPr>
          <p:spPr>
            <a:xfrm>
              <a:off x="1013777" y="2017413"/>
              <a:ext cx="23425" cy="46851"/>
            </a:xfrm>
            <a:custGeom>
              <a:avLst/>
              <a:gdLst>
                <a:gd name="connsiteX0" fmla="*/ 11713 w 23425"/>
                <a:gd name="connsiteY0" fmla="*/ 0 h 46851"/>
                <a:gd name="connsiteX1" fmla="*/ 0 w 23425"/>
                <a:gd name="connsiteY1" fmla="*/ 11713 h 46851"/>
                <a:gd name="connsiteX2" fmla="*/ 0 w 23425"/>
                <a:gd name="connsiteY2" fmla="*/ 35139 h 46851"/>
                <a:gd name="connsiteX3" fmla="*/ 11713 w 23425"/>
                <a:gd name="connsiteY3" fmla="*/ 46851 h 46851"/>
                <a:gd name="connsiteX4" fmla="*/ 23426 w 23425"/>
                <a:gd name="connsiteY4" fmla="*/ 35139 h 46851"/>
                <a:gd name="connsiteX5" fmla="*/ 23426 w 23425"/>
                <a:gd name="connsiteY5" fmla="*/ 11713 h 46851"/>
                <a:gd name="connsiteX6" fmla="*/ 11713 w 23425"/>
                <a:gd name="connsiteY6" fmla="*/ 0 h 4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425" h="46851">
                  <a:moveTo>
                    <a:pt x="11713" y="0"/>
                  </a:moveTo>
                  <a:cubicBezTo>
                    <a:pt x="5244" y="0"/>
                    <a:pt x="0" y="5244"/>
                    <a:pt x="0" y="11713"/>
                  </a:cubicBezTo>
                  <a:lnTo>
                    <a:pt x="0" y="35139"/>
                  </a:lnTo>
                  <a:cubicBezTo>
                    <a:pt x="0" y="41608"/>
                    <a:pt x="5244" y="46851"/>
                    <a:pt x="11713" y="46851"/>
                  </a:cubicBezTo>
                  <a:cubicBezTo>
                    <a:pt x="18182" y="46851"/>
                    <a:pt x="23426" y="41608"/>
                    <a:pt x="23426" y="35139"/>
                  </a:cubicBezTo>
                  <a:lnTo>
                    <a:pt x="23426" y="11713"/>
                  </a:lnTo>
                  <a:cubicBezTo>
                    <a:pt x="23426" y="5244"/>
                    <a:pt x="18182" y="0"/>
                    <a:pt x="11713" y="0"/>
                  </a:cubicBezTo>
                  <a:close/>
                </a:path>
              </a:pathLst>
            </a:custGeom>
            <a:grpFill/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39" name="Полилиния: фигура 31">
              <a:extLst>
                <a:ext uri="{FF2B5EF4-FFF2-40B4-BE49-F238E27FC236}">
                  <a16:creationId xmlns:a16="http://schemas.microsoft.com/office/drawing/2014/main" id="{DE9E4643-FC1F-4F95-8FC8-CE1A94244ECC}"/>
                </a:ext>
              </a:extLst>
            </p:cNvPr>
            <p:cNvSpPr/>
            <p:nvPr/>
          </p:nvSpPr>
          <p:spPr>
            <a:xfrm>
              <a:off x="990351" y="1800725"/>
              <a:ext cx="117128" cy="23425"/>
            </a:xfrm>
            <a:custGeom>
              <a:avLst/>
              <a:gdLst>
                <a:gd name="connsiteX0" fmla="*/ 105416 w 117128"/>
                <a:gd name="connsiteY0" fmla="*/ 0 h 23425"/>
                <a:gd name="connsiteX1" fmla="*/ 11713 w 117128"/>
                <a:gd name="connsiteY1" fmla="*/ 0 h 23425"/>
                <a:gd name="connsiteX2" fmla="*/ 0 w 117128"/>
                <a:gd name="connsiteY2" fmla="*/ 11713 h 23425"/>
                <a:gd name="connsiteX3" fmla="*/ 11713 w 117128"/>
                <a:gd name="connsiteY3" fmla="*/ 23426 h 23425"/>
                <a:gd name="connsiteX4" fmla="*/ 105416 w 117128"/>
                <a:gd name="connsiteY4" fmla="*/ 23426 h 23425"/>
                <a:gd name="connsiteX5" fmla="*/ 117129 w 117128"/>
                <a:gd name="connsiteY5" fmla="*/ 11713 h 23425"/>
                <a:gd name="connsiteX6" fmla="*/ 105416 w 117128"/>
                <a:gd name="connsiteY6" fmla="*/ 0 h 2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8" h="23425">
                  <a:moveTo>
                    <a:pt x="105416" y="0"/>
                  </a:moveTo>
                  <a:lnTo>
                    <a:pt x="11713" y="0"/>
                  </a:lnTo>
                  <a:cubicBezTo>
                    <a:pt x="5244" y="0"/>
                    <a:pt x="0" y="5243"/>
                    <a:pt x="0" y="11713"/>
                  </a:cubicBezTo>
                  <a:cubicBezTo>
                    <a:pt x="0" y="18182"/>
                    <a:pt x="5244" y="23426"/>
                    <a:pt x="11713" y="23426"/>
                  </a:cubicBezTo>
                  <a:lnTo>
                    <a:pt x="105416" y="23426"/>
                  </a:lnTo>
                  <a:cubicBezTo>
                    <a:pt x="111885" y="23426"/>
                    <a:pt x="117129" y="18182"/>
                    <a:pt x="117129" y="11713"/>
                  </a:cubicBezTo>
                  <a:cubicBezTo>
                    <a:pt x="117129" y="5243"/>
                    <a:pt x="111885" y="0"/>
                    <a:pt x="105416" y="0"/>
                  </a:cubicBezTo>
                  <a:close/>
                </a:path>
              </a:pathLst>
            </a:custGeom>
            <a:grpFill/>
            <a:ln w="1153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</p:grp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C31E1B7-E34D-41EE-9EA2-1F6687592579}"/>
              </a:ext>
            </a:extLst>
          </p:cNvPr>
          <p:cNvSpPr/>
          <p:nvPr/>
        </p:nvSpPr>
        <p:spPr>
          <a:xfrm>
            <a:off x="4687444" y="2376709"/>
            <a:ext cx="3601486" cy="54168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B8D140"/>
              </a:buClr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Inter" panose="02000503000000020004" pitchFamily="50" charset="0"/>
              </a:rPr>
              <a:t>Информационная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F9AFF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Inter" panose="02000503000000020004" pitchFamily="50" charset="0"/>
              </a:rPr>
              <a:t>безопасность (ИБ)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8487C6-2C67-402E-84AE-1F8EDBFC637E}"/>
              </a:ext>
            </a:extLst>
          </p:cNvPr>
          <p:cNvSpPr txBox="1"/>
          <p:nvPr/>
        </p:nvSpPr>
        <p:spPr>
          <a:xfrm>
            <a:off x="4687444" y="3125872"/>
            <a:ext cx="5153622" cy="16414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9AFF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Регистрация и учет действий администраторов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9AFF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Криптографическая защита каналов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9AFF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Межсетевое экранирование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9AFF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Антивирусная защита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9AFF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Защита от </a:t>
            </a: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DDoS-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атак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9AFF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Применение сертифицированных ФСТЭК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и ФСБ средств защиты информации 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435D9006-56BA-4362-A64B-B55F1A745C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7443" y="1874930"/>
            <a:ext cx="396000" cy="396000"/>
          </a:xfrm>
          <a:prstGeom prst="rect">
            <a:avLst/>
          </a:prstGeom>
        </p:spPr>
      </p:pic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9BDDBF12-AD8C-4486-A925-E9DDAA60F4FB}"/>
              </a:ext>
            </a:extLst>
          </p:cNvPr>
          <p:cNvCxnSpPr>
            <a:cxnSpLocks/>
          </p:cNvCxnSpPr>
          <p:nvPr/>
        </p:nvCxnSpPr>
        <p:spPr>
          <a:xfrm>
            <a:off x="4687444" y="2918396"/>
            <a:ext cx="36720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Скругленный прямоугольник 2">
            <a:extLst>
              <a:ext uri="{FF2B5EF4-FFF2-40B4-BE49-F238E27FC236}">
                <a16:creationId xmlns:a16="http://schemas.microsoft.com/office/drawing/2014/main" id="{70CEEC06-5FC3-405F-AF75-DEB18BDC7BC7}"/>
              </a:ext>
            </a:extLst>
          </p:cNvPr>
          <p:cNvSpPr/>
          <p:nvPr/>
        </p:nvSpPr>
        <p:spPr>
          <a:xfrm>
            <a:off x="4687444" y="5227972"/>
            <a:ext cx="4604660" cy="84983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10800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Инфраструктура аттестована в соответствие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требованиям 17-го и 21-го приказа ФСТЭК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по защите персональных данных согласно 152-ФЗ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</a:rPr>
              <a:t>Соответствие «банковскому» ГОСТ Р 57580.1-2017</a:t>
            </a: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341A2E19-ABB3-4096-99C4-E67DF6FD510B}"/>
              </a:ext>
            </a:extLst>
          </p:cNvPr>
          <p:cNvCxnSpPr>
            <a:cxnSpLocks/>
          </p:cNvCxnSpPr>
          <p:nvPr/>
        </p:nvCxnSpPr>
        <p:spPr>
          <a:xfrm>
            <a:off x="403069" y="2918396"/>
            <a:ext cx="3672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B902144F-3964-4443-B7C5-0B997FB2496C}"/>
              </a:ext>
            </a:extLst>
          </p:cNvPr>
          <p:cNvCxnSpPr>
            <a:cxnSpLocks/>
          </p:cNvCxnSpPr>
          <p:nvPr/>
        </p:nvCxnSpPr>
        <p:spPr>
          <a:xfrm>
            <a:off x="4687444" y="5035956"/>
            <a:ext cx="3672000" cy="0"/>
          </a:xfrm>
          <a:prstGeom prst="line">
            <a:avLst/>
          </a:prstGeom>
          <a:ln w="190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D37079C8-D40F-4AA0-A3D3-370DD0B05AC4}"/>
              </a:ext>
            </a:extLst>
          </p:cNvPr>
          <p:cNvCxnSpPr>
            <a:cxnSpLocks/>
          </p:cNvCxnSpPr>
          <p:nvPr/>
        </p:nvCxnSpPr>
        <p:spPr>
          <a:xfrm>
            <a:off x="403069" y="5035956"/>
            <a:ext cx="3672000" cy="0"/>
          </a:xfrm>
          <a:prstGeom prst="line">
            <a:avLst/>
          </a:prstGeom>
          <a:ln w="190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EC7B57C-5B9D-4BC7-8D24-0B832B9977D0}"/>
              </a:ext>
            </a:extLst>
          </p:cNvPr>
          <p:cNvSpPr/>
          <p:nvPr/>
        </p:nvSpPr>
        <p:spPr>
          <a:xfrm>
            <a:off x="10028889" y="1729448"/>
            <a:ext cx="1565970" cy="872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Лицензии, сертификаты 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 аттестаты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20116D7F-A4F5-4917-943A-52E5ACA75D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35890" y="2797762"/>
            <a:ext cx="1951968" cy="1951968"/>
          </a:xfrm>
          <a:prstGeom prst="rect">
            <a:avLst/>
          </a:prstGeom>
        </p:spPr>
      </p:pic>
      <p:sp>
        <p:nvSpPr>
          <p:cNvPr id="27" name="Номер слайда 3">
            <a:extLst>
              <a:ext uri="{FF2B5EF4-FFF2-40B4-BE49-F238E27FC236}">
                <a16:creationId xmlns:a16="http://schemas.microsoft.com/office/drawing/2014/main" id="{755EAB26-1756-45E2-B77A-881AAF686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>
            <a:sp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CC755-42E9-42F4-838B-F782248C56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272F3D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272F3D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92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Диаграмма 83">
            <a:extLst>
              <a:ext uri="{FF2B5EF4-FFF2-40B4-BE49-F238E27FC236}">
                <a16:creationId xmlns:a16="http://schemas.microsoft.com/office/drawing/2014/main" id="{8E3F9C6E-10C2-4854-94FE-5E54B9D5FB20}"/>
              </a:ext>
            </a:extLst>
          </p:cNvPr>
          <p:cNvGraphicFramePr/>
          <p:nvPr/>
        </p:nvGraphicFramePr>
        <p:xfrm>
          <a:off x="279442" y="2957499"/>
          <a:ext cx="6549205" cy="3847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E4747A8-1D1E-4082-80BB-D80EA16C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5967980" cy="499131"/>
          </a:xfrm>
        </p:spPr>
        <p:txBody>
          <a:bodyPr/>
          <a:lstStyle/>
          <a:p>
            <a:r>
              <a:rPr lang="ru-RU" dirty="0"/>
              <a:t>Актуальность защиты ЗО КИИ</a:t>
            </a: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A04A615A-1C1B-4F9A-AB91-2F2F7C832BB7}"/>
              </a:ext>
            </a:extLst>
          </p:cNvPr>
          <p:cNvCxnSpPr>
            <a:cxnSpLocks/>
          </p:cNvCxnSpPr>
          <p:nvPr/>
        </p:nvCxnSpPr>
        <p:spPr>
          <a:xfrm rot="16200000">
            <a:off x="6586687" y="4251304"/>
            <a:ext cx="432000" cy="828000"/>
          </a:xfrm>
          <a:prstGeom prst="bentConnector3">
            <a:avLst>
              <a:gd name="adj1" fmla="val 240581"/>
            </a:avLst>
          </a:prstGeom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AF2F7C1-965A-48D9-8757-B3EC2A34EA90}"/>
              </a:ext>
            </a:extLst>
          </p:cNvPr>
          <p:cNvSpPr txBox="1"/>
          <p:nvPr/>
        </p:nvSpPr>
        <p:spPr>
          <a:xfrm>
            <a:off x="371476" y="1044026"/>
            <a:ext cx="1108295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1 января 2018 года вступил в силу №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187-ФЗ от 26.07.2017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«О безопасности критической информационной инфраструктуры РФ»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FAADD-D67B-4B6A-81D9-C255485E36D5}"/>
              </a:ext>
            </a:extLst>
          </p:cNvPr>
          <p:cNvSpPr txBox="1"/>
          <p:nvPr/>
        </p:nvSpPr>
        <p:spPr>
          <a:xfrm>
            <a:off x="607368" y="2228007"/>
            <a:ext cx="5415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Сохраняется тренд </a:t>
            </a:r>
            <a:r>
              <a:rPr lang="ru-RU" dirty="0">
                <a:solidFill>
                  <a:schemeClr val="accent4"/>
                </a:solidFill>
                <a:latin typeface="Inter Medium" panose="02000603000000020004" pitchFamily="50" charset="0"/>
              </a:rPr>
              <a:t>на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постоянный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Inter Medium" panose="02000603000000020004" pitchFamily="50" charset="0"/>
                <a:ea typeface="+mn-ea"/>
                <a:cs typeface="+mn-cs"/>
              </a:rPr>
              <a:t>рост количества инцидентов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A6E660C6-01BA-4312-AC46-F9DA3650D407}"/>
              </a:ext>
            </a:extLst>
          </p:cNvPr>
          <p:cNvSpPr/>
          <p:nvPr/>
        </p:nvSpPr>
        <p:spPr>
          <a:xfrm>
            <a:off x="7161893" y="2060291"/>
            <a:ext cx="4658631" cy="4392897"/>
          </a:xfrm>
          <a:prstGeom prst="roundRect">
            <a:avLst>
              <a:gd name="adj" fmla="val 340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634D60-5973-40C6-8623-AD57CD58150F}"/>
              </a:ext>
            </a:extLst>
          </p:cNvPr>
          <p:cNvSpPr txBox="1"/>
          <p:nvPr/>
        </p:nvSpPr>
        <p:spPr>
          <a:xfrm>
            <a:off x="7439292" y="4295051"/>
            <a:ext cx="43812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  <a:sym typeface="Arial"/>
              </a:rPr>
              <a:t>6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  <a:sym typeface="Arial"/>
              </a:rPr>
              <a:t>4</a:t>
            </a:r>
            <a:r>
              <a:rPr kumimoji="0" lang="ru-RU" sz="3600" b="1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Inter" panose="02000503000000020004" pitchFamily="50" charset="0"/>
                <a:sym typeface="Arial"/>
              </a:rPr>
              <a:t>%</a:t>
            </a:r>
            <a:endParaRPr kumimoji="0" lang="en-US" sz="3600" b="1" i="0" u="none" strike="noStrike" kern="120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ea typeface="Lato" charset="0"/>
                <a:cs typeface="Lato" charset="0"/>
              </a:rPr>
              <a:t>инцидентов по итогам 2024 года</a:t>
            </a:r>
            <a:b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ea typeface="Lato" charset="0"/>
                <a:cs typeface="Lato" charset="0"/>
              </a:rPr>
            </a:br>
            <a: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ea typeface="Lato" charset="0"/>
                <a:cs typeface="Lato" charset="0"/>
              </a:rPr>
              <a:t>связано с организациями </a:t>
            </a:r>
            <a:b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ea typeface="Lato" charset="0"/>
                <a:cs typeface="Lato" charset="0"/>
              </a:rPr>
            </a:br>
            <a: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ea typeface="Lato" charset="0"/>
                <a:cs typeface="Lato" charset="0"/>
              </a:rPr>
              <a:t>из отраслей КИИ</a:t>
            </a:r>
          </a:p>
        </p:txBody>
      </p:sp>
      <p:sp>
        <p:nvSpPr>
          <p:cNvPr id="18" name="Номер слайда 1">
            <a:extLst>
              <a:ext uri="{FF2B5EF4-FFF2-40B4-BE49-F238E27FC236}">
                <a16:creationId xmlns:a16="http://schemas.microsoft.com/office/drawing/2014/main" id="{D352E6CE-1C4C-460E-8CB4-E3BF9CAC3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86" name="Прямоугольник: скругленные углы 85">
            <a:extLst>
              <a:ext uri="{FF2B5EF4-FFF2-40B4-BE49-F238E27FC236}">
                <a16:creationId xmlns:a16="http://schemas.microsoft.com/office/drawing/2014/main" id="{3A18BF18-DBB2-404D-8EDC-9E17BA8D1DD3}"/>
              </a:ext>
            </a:extLst>
          </p:cNvPr>
          <p:cNvSpPr/>
          <p:nvPr/>
        </p:nvSpPr>
        <p:spPr>
          <a:xfrm>
            <a:off x="371476" y="2060291"/>
            <a:ext cx="6549205" cy="4382419"/>
          </a:xfrm>
          <a:prstGeom prst="roundRect">
            <a:avLst>
              <a:gd name="adj" fmla="val 2989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Inter" panose="02000503000000020004" pitchFamily="50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BEFC5F-5F3A-431F-A1C7-819614A9BCC0}"/>
              </a:ext>
            </a:extLst>
          </p:cNvPr>
          <p:cNvSpPr txBox="1"/>
          <p:nvPr/>
        </p:nvSpPr>
        <p:spPr>
          <a:xfrm>
            <a:off x="394264" y="6535043"/>
            <a:ext cx="3872936" cy="17081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latin typeface="Rostelecom Basis Light" panose="020B0303030604040103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4F1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По данным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  <a:hlinkClick r:id="rId4"/>
              </a:rPr>
              <a:t>Positive Technologies</a:t>
            </a:r>
            <a:r>
              <a:rPr lang="ru-RU" sz="1200" dirty="0">
                <a:latin typeface="Inter" panose="02000503000000020004" pitchFamily="50" charset="0"/>
              </a:rPr>
              <a:t> и</a:t>
            </a:r>
            <a:r>
              <a:rPr lang="en-US" sz="1200" dirty="0">
                <a:latin typeface="Inter" panose="02000503000000020004" pitchFamily="50" charset="0"/>
              </a:rPr>
              <a:t> </a:t>
            </a:r>
            <a:r>
              <a:rPr lang="en-US" sz="1200" dirty="0">
                <a:latin typeface="Inter" panose="02000503000000020004" pitchFamily="50" charset="0"/>
                <a:hlinkClick r:id="rId5"/>
              </a:rPr>
              <a:t>RED Security</a:t>
            </a:r>
            <a:r>
              <a:rPr lang="ru-RU" sz="1200" dirty="0">
                <a:latin typeface="Inter" panose="02000503000000020004" pitchFamily="50" charset="0"/>
              </a:rPr>
              <a:t>.</a:t>
            </a:r>
            <a:r>
              <a:rPr lang="en-US" sz="1200" dirty="0">
                <a:latin typeface="Inter" panose="02000503000000020004" pitchFamily="50" charset="0"/>
              </a:rPr>
              <a:t> </a:t>
            </a:r>
            <a:r>
              <a:rPr lang="ru-RU" sz="1200" dirty="0">
                <a:latin typeface="Inter" panose="02000503000000020004" pitchFamily="50" charset="0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45" name="Google Shape;333;p24">
            <a:extLst>
              <a:ext uri="{FF2B5EF4-FFF2-40B4-BE49-F238E27FC236}">
                <a16:creationId xmlns:a16="http://schemas.microsoft.com/office/drawing/2014/main" id="{B7EE05DF-0CC8-4CE7-A238-8E787ACC846C}"/>
              </a:ext>
            </a:extLst>
          </p:cNvPr>
          <p:cNvSpPr/>
          <p:nvPr/>
        </p:nvSpPr>
        <p:spPr>
          <a:xfrm>
            <a:off x="7546927" y="2551172"/>
            <a:ext cx="208131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3600" b="1" dirty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  <a:sym typeface="Arial"/>
              </a:rPr>
              <a:t>+16</a:t>
            </a:r>
            <a:r>
              <a:rPr lang="ru-RU" sz="3600" b="1" baseline="30000" dirty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  <a:sym typeface="Arial"/>
              </a:rPr>
              <a:t>%</a:t>
            </a:r>
            <a:endParaRPr lang="ru-RU" sz="3600" b="1" baseline="30000" dirty="0">
              <a:solidFill>
                <a:schemeClr val="bg1"/>
              </a:solidFill>
              <a:latin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BCBA23-B26D-4239-B9C9-69F615D3519B}"/>
              </a:ext>
            </a:extLst>
          </p:cNvPr>
          <p:cNvSpPr txBox="1"/>
          <p:nvPr/>
        </p:nvSpPr>
        <p:spPr>
          <a:xfrm>
            <a:off x="7546927" y="3196556"/>
            <a:ext cx="39948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defTabSz="914217">
              <a:defRPr sz="2000">
                <a:solidFill>
                  <a:schemeClr val="accent3"/>
                </a:solidFill>
                <a:latin typeface="+mj-lt"/>
                <a:ea typeface="Lato" charset="0"/>
                <a:cs typeface="Lato" charset="0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рост количества инцидентов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по итогам 2024 года</a:t>
            </a:r>
          </a:p>
        </p:txBody>
      </p:sp>
    </p:spTree>
    <p:extLst>
      <p:ext uri="{BB962C8B-B14F-4D97-AF65-F5344CB8AC3E}">
        <p14:creationId xmlns:p14="http://schemas.microsoft.com/office/powerpoint/2010/main" val="361823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52">
            <a:extLst>
              <a:ext uri="{FF2B5EF4-FFF2-40B4-BE49-F238E27FC236}">
                <a16:creationId xmlns:a16="http://schemas.microsoft.com/office/drawing/2014/main" id="{7A86BAAA-A071-4C96-B1AF-6D2F53A92390}"/>
              </a:ext>
            </a:extLst>
          </p:cNvPr>
          <p:cNvSpPr/>
          <p:nvPr/>
        </p:nvSpPr>
        <p:spPr>
          <a:xfrm>
            <a:off x="371475" y="2105084"/>
            <a:ext cx="3728470" cy="61555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Ужесточение требований </a:t>
            </a:r>
            <a:b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</a:br>
            <a: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к объектам КИИ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D62D03B-F62E-4526-9124-C3DF0C7D7D9A}"/>
              </a:ext>
            </a:extLst>
          </p:cNvPr>
          <p:cNvSpPr/>
          <p:nvPr/>
        </p:nvSpPr>
        <p:spPr>
          <a:xfrm>
            <a:off x="0" y="5054800"/>
            <a:ext cx="12192001" cy="10821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Inter" panose="02000503000000020004" pitchFamily="50" charset="0"/>
            </a:endParaRPr>
          </a:p>
        </p:txBody>
      </p:sp>
      <p:pic>
        <p:nvPicPr>
          <p:cNvPr id="42" name="Graphic 29">
            <a:extLst>
              <a:ext uri="{FF2B5EF4-FFF2-40B4-BE49-F238E27FC236}">
                <a16:creationId xmlns:a16="http://schemas.microsoft.com/office/drawing/2014/main" id="{1B607BA6-4659-480D-8444-E5C9F7881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72" b="972"/>
          <a:stretch/>
        </p:blipFill>
        <p:spPr>
          <a:xfrm>
            <a:off x="4351734" y="1262131"/>
            <a:ext cx="561716" cy="550800"/>
          </a:xfrm>
          <a:prstGeom prst="rect">
            <a:avLst/>
          </a:prstGeom>
        </p:spPr>
      </p:pic>
      <p:sp>
        <p:nvSpPr>
          <p:cNvPr id="26" name="Прямоугольник: скругленные углы 52">
            <a:extLst>
              <a:ext uri="{FF2B5EF4-FFF2-40B4-BE49-F238E27FC236}">
                <a16:creationId xmlns:a16="http://schemas.microsoft.com/office/drawing/2014/main" id="{22C4ECFF-7CEC-4EA8-BDC6-DFA7AE4ED689}"/>
              </a:ext>
            </a:extLst>
          </p:cNvPr>
          <p:cNvSpPr/>
          <p:nvPr/>
        </p:nvSpPr>
        <p:spPr>
          <a:xfrm>
            <a:off x="371474" y="2940992"/>
            <a:ext cx="3621791" cy="138499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Усиление контроля 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за категорированием 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объектов КИИ 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и выполнением 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мер защиты</a:t>
            </a:r>
          </a:p>
        </p:txBody>
      </p:sp>
      <p:pic>
        <p:nvPicPr>
          <p:cNvPr id="27" name="Graphic 29">
            <a:extLst>
              <a:ext uri="{FF2B5EF4-FFF2-40B4-BE49-F238E27FC236}">
                <a16:creationId xmlns:a16="http://schemas.microsoft.com/office/drawing/2014/main" id="{9968214B-ABC5-4E5D-B2C3-B841CEBD9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972" b="972"/>
          <a:stretch/>
        </p:blipFill>
        <p:spPr>
          <a:xfrm>
            <a:off x="371475" y="1261509"/>
            <a:ext cx="562987" cy="55204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732EE36-7E3D-4EA3-AB70-A8844CEEE7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996" y="1262131"/>
            <a:ext cx="428055" cy="550800"/>
          </a:xfrm>
          <a:prstGeom prst="rect">
            <a:avLst/>
          </a:prstGeom>
        </p:spPr>
      </p:pic>
      <p:sp>
        <p:nvSpPr>
          <p:cNvPr id="33" name="Прямоугольник: скругленные углы 52">
            <a:extLst>
              <a:ext uri="{FF2B5EF4-FFF2-40B4-BE49-F238E27FC236}">
                <a16:creationId xmlns:a16="http://schemas.microsoft.com/office/drawing/2014/main" id="{303ADE34-CB64-4159-A916-B0E25EEC7003}"/>
              </a:ext>
            </a:extLst>
          </p:cNvPr>
          <p:cNvSpPr/>
          <p:nvPr/>
        </p:nvSpPr>
        <p:spPr>
          <a:xfrm>
            <a:off x="4351735" y="2105084"/>
            <a:ext cx="3728470" cy="61555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Изменения </a:t>
            </a:r>
            <a:b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</a:br>
            <a: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в законодательстве</a:t>
            </a:r>
          </a:p>
        </p:txBody>
      </p:sp>
      <p:sp>
        <p:nvSpPr>
          <p:cNvPr id="34" name="Прямоугольник: скругленные углы 52">
            <a:extLst>
              <a:ext uri="{FF2B5EF4-FFF2-40B4-BE49-F238E27FC236}">
                <a16:creationId xmlns:a16="http://schemas.microsoft.com/office/drawing/2014/main" id="{B38618BA-7B73-47A0-B204-16620C127B0B}"/>
              </a:ext>
            </a:extLst>
          </p:cNvPr>
          <p:cNvSpPr/>
          <p:nvPr/>
        </p:nvSpPr>
        <p:spPr>
          <a:xfrm>
            <a:off x="4351734" y="2940992"/>
            <a:ext cx="3242865" cy="193899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Предпосылки к отмене  заявительного принципа отнесения информационных систем (ИС) к объектам КИИ РФ, что позволит однозначно сформировать перечень объектов</a:t>
            </a:r>
          </a:p>
        </p:txBody>
      </p:sp>
      <p:sp>
        <p:nvSpPr>
          <p:cNvPr id="35" name="Прямоугольник: скругленные углы 52">
            <a:extLst>
              <a:ext uri="{FF2B5EF4-FFF2-40B4-BE49-F238E27FC236}">
                <a16:creationId xmlns:a16="http://schemas.microsoft.com/office/drawing/2014/main" id="{2969C9E3-4FD2-4B17-9FAE-31E95DB9D2BB}"/>
              </a:ext>
            </a:extLst>
          </p:cNvPr>
          <p:cNvSpPr/>
          <p:nvPr/>
        </p:nvSpPr>
        <p:spPr>
          <a:xfrm>
            <a:off x="8331997" y="2105084"/>
            <a:ext cx="3728470" cy="61555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Требование</a:t>
            </a:r>
            <a:b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</a:br>
            <a:r>
              <a:rPr lang="ru-RU" sz="2000" dirty="0">
                <a:solidFill>
                  <a:schemeClr val="accent4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по импортозамещению</a:t>
            </a:r>
          </a:p>
        </p:txBody>
      </p:sp>
      <p:sp>
        <p:nvSpPr>
          <p:cNvPr id="36" name="Прямоугольник: скругленные углы 52">
            <a:extLst>
              <a:ext uri="{FF2B5EF4-FFF2-40B4-BE49-F238E27FC236}">
                <a16:creationId xmlns:a16="http://schemas.microsoft.com/office/drawing/2014/main" id="{79DB7E70-F739-4082-B430-00F5D1A957F7}"/>
              </a:ext>
            </a:extLst>
          </p:cNvPr>
          <p:cNvSpPr/>
          <p:nvPr/>
        </p:nvSpPr>
        <p:spPr>
          <a:xfrm>
            <a:off x="8331996" y="2940992"/>
            <a:ext cx="3741656" cy="193899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Необходимо обеспечить все значимые объекты КИИ российским ПО с 1 января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2025 года согласно требованиям указа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Президента РФ </a:t>
            </a:r>
            <a:b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от 30.03.2022 №</a:t>
            </a:r>
            <a:r>
              <a:rPr lang="ru-RU" sz="800" dirty="0">
                <a:solidFill>
                  <a:schemeClr val="tx1"/>
                </a:solidFill>
                <a:latin typeface="Inter" panose="02000503000000020004" pitchFamily="50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</a:rPr>
              <a:t>166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C7BF18-1D75-4319-BB7D-D99FBAF15ED1}"/>
              </a:ext>
            </a:extLst>
          </p:cNvPr>
          <p:cNvSpPr txBox="1"/>
          <p:nvPr/>
        </p:nvSpPr>
        <p:spPr>
          <a:xfrm>
            <a:off x="355856" y="5305310"/>
            <a:ext cx="2284528" cy="61555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ru-RU"/>
            </a:defPPr>
            <a:lvl1pPr>
              <a:spcBef>
                <a:spcPts val="500"/>
              </a:spcBef>
              <a:defRPr sz="2000">
                <a:solidFill>
                  <a:schemeClr val="accent1"/>
                </a:solidFill>
                <a:latin typeface="+mj-lt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Федеральный закон №</a:t>
            </a:r>
            <a:r>
              <a:rPr lang="ru-RU" sz="800" dirty="0">
                <a:solidFill>
                  <a:schemeClr val="bg1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Inter Medium" panose="02000603000000020004" pitchFamily="50" charset="0"/>
                <a:cs typeface="Inter" panose="02000503000000020004" pitchFamily="50" charset="0"/>
              </a:rPr>
              <a:t>187-ФЗ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D6815B-B87F-4096-92EE-FC2F67A14674}"/>
              </a:ext>
            </a:extLst>
          </p:cNvPr>
          <p:cNvSpPr txBox="1"/>
          <p:nvPr/>
        </p:nvSpPr>
        <p:spPr>
          <a:xfrm>
            <a:off x="2765169" y="5220604"/>
            <a:ext cx="95465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Inter" panose="02000503000000020004" pitchFamily="50" charset="0"/>
              </a:rPr>
              <a:t>Основной нормативный правовой документ, регулирующий взаимодействие </a:t>
            </a:r>
            <a:br>
              <a:rPr lang="ru-RU" sz="1600" dirty="0">
                <a:solidFill>
                  <a:schemeClr val="bg1"/>
                </a:solidFill>
                <a:latin typeface="Inter" panose="02000503000000020004" pitchFamily="50" charset="0"/>
              </a:rPr>
            </a:br>
            <a:r>
              <a:rPr lang="ru-RU" sz="1600" dirty="0">
                <a:solidFill>
                  <a:schemeClr val="bg1"/>
                </a:solidFill>
                <a:latin typeface="Inter" panose="02000503000000020004" pitchFamily="50" charset="0"/>
              </a:rPr>
              <a:t>различных субъектов в сфере КИИ, — Федеральный закон от 26.07.2017 №</a:t>
            </a:r>
            <a:r>
              <a:rPr lang="ru-RU" sz="800" dirty="0">
                <a:solidFill>
                  <a:schemeClr val="bg1"/>
                </a:solidFill>
                <a:latin typeface="Inter" panose="02000503000000020004" pitchFamily="50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50" charset="0"/>
              </a:rPr>
              <a:t>187-ФЗ </a:t>
            </a:r>
            <a:br>
              <a:rPr lang="ru-RU" sz="1600" dirty="0">
                <a:solidFill>
                  <a:schemeClr val="bg1"/>
                </a:solidFill>
                <a:latin typeface="Inter" panose="02000503000000020004" pitchFamily="50" charset="0"/>
              </a:rPr>
            </a:br>
            <a:r>
              <a:rPr lang="ru-RU" sz="1600" dirty="0">
                <a:solidFill>
                  <a:schemeClr val="bg1"/>
                </a:solidFill>
                <a:latin typeface="Inter" panose="02000503000000020004" pitchFamily="50" charset="0"/>
              </a:rPr>
              <a:t>«О безопасности критической информационной инфраструктуры Российской Федерации»</a:t>
            </a: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72EFDD18-CC01-48EF-9D79-6D9332A5E009}"/>
              </a:ext>
            </a:extLst>
          </p:cNvPr>
          <p:cNvCxnSpPr>
            <a:cxnSpLocks/>
          </p:cNvCxnSpPr>
          <p:nvPr/>
        </p:nvCxnSpPr>
        <p:spPr>
          <a:xfrm>
            <a:off x="2640384" y="5274532"/>
            <a:ext cx="0" cy="6771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7D1F3E1A-A362-4713-A438-3ADC88A0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7173439" cy="556070"/>
          </a:xfrm>
        </p:spPr>
        <p:txBody>
          <a:bodyPr/>
          <a:lstStyle/>
          <a:p>
            <a:r>
              <a:rPr lang="ru-RU" dirty="0"/>
              <a:t>Тенденции в сфере защиты КИИ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AD667D2-1629-4FA2-A83F-C3D221C2933A}"/>
              </a:ext>
            </a:extLst>
          </p:cNvPr>
          <p:cNvCxnSpPr>
            <a:cxnSpLocks/>
          </p:cNvCxnSpPr>
          <p:nvPr/>
        </p:nvCxnSpPr>
        <p:spPr>
          <a:xfrm>
            <a:off x="371475" y="2755362"/>
            <a:ext cx="314722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27D0141-75C5-4900-9815-C8EE674CD4DB}"/>
              </a:ext>
            </a:extLst>
          </p:cNvPr>
          <p:cNvCxnSpPr>
            <a:cxnSpLocks/>
          </p:cNvCxnSpPr>
          <p:nvPr/>
        </p:nvCxnSpPr>
        <p:spPr>
          <a:xfrm>
            <a:off x="4349688" y="2755362"/>
            <a:ext cx="314722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7B030BD-20A0-454F-893E-2D6F32D802AF}"/>
              </a:ext>
            </a:extLst>
          </p:cNvPr>
          <p:cNvCxnSpPr>
            <a:cxnSpLocks/>
          </p:cNvCxnSpPr>
          <p:nvPr/>
        </p:nvCxnSpPr>
        <p:spPr>
          <a:xfrm>
            <a:off x="8331996" y="2755362"/>
            <a:ext cx="348852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Номер слайда 1">
            <a:extLst>
              <a:ext uri="{FF2B5EF4-FFF2-40B4-BE49-F238E27FC236}">
                <a16:creationId xmlns:a16="http://schemas.microsoft.com/office/drawing/2014/main" id="{32C7D480-AF74-43C0-A2B5-EC3D7D018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94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4C95AB47-5767-4BBC-95D7-A70532C4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9331081" cy="930018"/>
          </a:xfrm>
        </p:spPr>
        <p:txBody>
          <a:bodyPr/>
          <a:lstStyle/>
          <a:p>
            <a:r>
              <a:rPr lang="ru-RU" dirty="0"/>
              <a:t>Нормативная правовая база по защите КИИ </a:t>
            </a:r>
            <a:br>
              <a:rPr lang="ru-RU" dirty="0"/>
            </a:br>
            <a:r>
              <a:rPr lang="ru-RU" dirty="0"/>
              <a:t>постоянно актуализируется и ужесточается</a:t>
            </a:r>
          </a:p>
        </p:txBody>
      </p:sp>
      <p:sp>
        <p:nvSpPr>
          <p:cNvPr id="31" name="Номер слайда 1">
            <a:extLst>
              <a:ext uri="{FF2B5EF4-FFF2-40B4-BE49-F238E27FC236}">
                <a16:creationId xmlns:a16="http://schemas.microsoft.com/office/drawing/2014/main" id="{06ABB41C-8F76-47E2-B0AC-882F56CFA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7B154DB8-9CA4-48F1-B540-AE6342ED648D}"/>
              </a:ext>
            </a:extLst>
          </p:cNvPr>
          <p:cNvSpPr/>
          <p:nvPr/>
        </p:nvSpPr>
        <p:spPr>
          <a:xfrm>
            <a:off x="6671337" y="1582072"/>
            <a:ext cx="5149187" cy="4439905"/>
          </a:xfrm>
          <a:prstGeom prst="roundRect">
            <a:avLst>
              <a:gd name="adj" fmla="val 3407"/>
            </a:avLst>
          </a:prstGeom>
          <a:solidFill>
            <a:srgbClr val="2F9AFF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451064-BF56-44F3-85C2-E641D2A629E0}"/>
              </a:ext>
            </a:extLst>
          </p:cNvPr>
          <p:cNvSpPr txBox="1"/>
          <p:nvPr/>
        </p:nvSpPr>
        <p:spPr>
          <a:xfrm>
            <a:off x="265520" y="1582072"/>
            <a:ext cx="6451234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chemeClr val="accent3"/>
                </a:solidFill>
              </a:rPr>
              <a:t>Федеральный закон №</a:t>
            </a:r>
            <a:r>
              <a:rPr lang="ru-RU" sz="1000" b="1" dirty="0">
                <a:solidFill>
                  <a:schemeClr val="accent3"/>
                </a:solidFill>
              </a:rPr>
              <a:t> </a:t>
            </a:r>
            <a:r>
              <a:rPr lang="ru-RU" b="1" dirty="0">
                <a:solidFill>
                  <a:schemeClr val="accent3"/>
                </a:solidFill>
              </a:rPr>
              <a:t>187 </a:t>
            </a:r>
          </a:p>
          <a:p>
            <a:pPr>
              <a:spcAft>
                <a:spcPts val="1200"/>
              </a:spcAft>
            </a:pPr>
            <a:r>
              <a:rPr lang="ru-RU" dirty="0"/>
              <a:t>Содержит основные требования </a:t>
            </a:r>
            <a:br>
              <a:rPr lang="ru-RU" dirty="0"/>
            </a:br>
            <a:r>
              <a:rPr lang="ru-RU" dirty="0"/>
              <a:t>к мерам безопасности ЗО КИИ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ru-RU" b="1" dirty="0">
                <a:solidFill>
                  <a:schemeClr val="accent3"/>
                </a:solidFill>
              </a:rPr>
              <a:t>Постановление правительства №</a:t>
            </a:r>
            <a:r>
              <a:rPr lang="ru-RU" sz="1000" b="1" dirty="0">
                <a:solidFill>
                  <a:schemeClr val="accent3"/>
                </a:solidFill>
              </a:rPr>
              <a:t> </a:t>
            </a:r>
            <a:r>
              <a:rPr lang="ru-RU" b="1" dirty="0">
                <a:solidFill>
                  <a:schemeClr val="accent3"/>
                </a:solidFill>
              </a:rPr>
              <a:t>1912</a:t>
            </a:r>
          </a:p>
          <a:p>
            <a:pPr>
              <a:spcAft>
                <a:spcPts val="1200"/>
              </a:spcAft>
            </a:pPr>
            <a:r>
              <a:rPr lang="ru-RU" dirty="0"/>
              <a:t>Утверждает порядок перехода на отечественные доверенные программно-аппаратные комплексы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ru-RU" b="1" dirty="0">
                <a:solidFill>
                  <a:schemeClr val="accent3"/>
                </a:solidFill>
              </a:rPr>
              <a:t>Указ Президента РФ №</a:t>
            </a:r>
            <a:r>
              <a:rPr lang="ru-RU" sz="1000" b="1" dirty="0">
                <a:solidFill>
                  <a:schemeClr val="accent3"/>
                </a:solidFill>
              </a:rPr>
              <a:t> </a:t>
            </a:r>
            <a:r>
              <a:rPr lang="ru-RU" b="1" dirty="0">
                <a:solidFill>
                  <a:schemeClr val="accent3"/>
                </a:solidFill>
              </a:rPr>
              <a:t>166</a:t>
            </a:r>
          </a:p>
          <a:p>
            <a:pPr>
              <a:spcAft>
                <a:spcPts val="1200"/>
              </a:spcAft>
            </a:pPr>
            <a:r>
              <a:rPr lang="ru-RU" dirty="0"/>
              <a:t>Утверждает меры по обеспечению технологической независимости и безопасности ЗО КИИ 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lang="ru-RU" b="1" dirty="0">
                <a:solidFill>
                  <a:schemeClr val="accent3"/>
                </a:solidFill>
              </a:rPr>
              <a:t>Приказ ФСТЭК №</a:t>
            </a:r>
            <a:r>
              <a:rPr lang="ru-RU" sz="1000" b="1" dirty="0">
                <a:solidFill>
                  <a:schemeClr val="accent3"/>
                </a:solidFill>
              </a:rPr>
              <a:t> </a:t>
            </a:r>
            <a:r>
              <a:rPr lang="ru-RU" b="1" dirty="0">
                <a:solidFill>
                  <a:schemeClr val="accent3"/>
                </a:solidFill>
              </a:rPr>
              <a:t>239</a:t>
            </a:r>
          </a:p>
          <a:p>
            <a:pPr>
              <a:spcAft>
                <a:spcPts val="1200"/>
              </a:spcAft>
            </a:pPr>
            <a:r>
              <a:rPr lang="ru-RU" dirty="0"/>
              <a:t>Утверждает требования </a:t>
            </a:r>
            <a:br>
              <a:rPr lang="ru-RU" dirty="0"/>
            </a:br>
            <a:r>
              <a:rPr lang="ru-RU" dirty="0"/>
              <a:t>по обеспечению безопасности ЗО КИИ </a:t>
            </a:r>
          </a:p>
        </p:txBody>
      </p:sp>
      <p:sp>
        <p:nvSpPr>
          <p:cNvPr id="39" name="Google Shape;333;p24">
            <a:extLst>
              <a:ext uri="{FF2B5EF4-FFF2-40B4-BE49-F238E27FC236}">
                <a16:creationId xmlns:a16="http://schemas.microsoft.com/office/drawing/2014/main" id="{3A4DF787-631D-4DF3-B520-F5B20C2BAE9C}"/>
              </a:ext>
            </a:extLst>
          </p:cNvPr>
          <p:cNvSpPr/>
          <p:nvPr/>
        </p:nvSpPr>
        <p:spPr>
          <a:xfrm>
            <a:off x="7023086" y="2407444"/>
            <a:ext cx="449110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  <a:sym typeface="Arial"/>
              </a:rPr>
              <a:t>… и ещё более </a:t>
            </a:r>
            <a:r>
              <a:rPr lang="ru-RU" sz="3600" b="1" dirty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  <a:sym typeface="Arial"/>
              </a:rPr>
              <a:t>30 НПА</a:t>
            </a:r>
            <a:endParaRPr lang="ru-RU" sz="3600" b="1" baseline="30000" dirty="0">
              <a:solidFill>
                <a:schemeClr val="bg1"/>
              </a:solidFill>
              <a:latin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7F2AB9-3EDE-48FC-9DBB-9F85CA9E4751}"/>
              </a:ext>
            </a:extLst>
          </p:cNvPr>
          <p:cNvSpPr txBox="1"/>
          <p:nvPr/>
        </p:nvSpPr>
        <p:spPr>
          <a:xfrm>
            <a:off x="7023087" y="3330536"/>
            <a:ext cx="3994833" cy="1800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ru-RU"/>
            </a:defPPr>
            <a:lvl1pPr defTabSz="914217">
              <a:defRPr sz="2000">
                <a:solidFill>
                  <a:schemeClr val="accent3"/>
                </a:solidFill>
                <a:latin typeface="+mj-lt"/>
                <a:ea typeface="Lato" charset="0"/>
                <a:cs typeface="Lato" charset="0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Федеральные законы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Указы Президента РФ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chemeClr val="bg1"/>
                </a:solidFill>
                <a:latin typeface="Inter Medium" panose="02000603000000020004" pitchFamily="50" charset="0"/>
              </a:rPr>
              <a:t>Постановления Правительства РФ</a:t>
            </a:r>
          </a:p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Medium" panose="02000603000000020004" pitchFamily="50" charset="0"/>
                <a:ea typeface="Lato" charset="0"/>
                <a:cs typeface="Lato" charset="0"/>
              </a:rPr>
              <a:t>Приказы</a:t>
            </a:r>
            <a:r>
              <a:rPr lang="ru-RU" sz="1800" dirty="0">
                <a:solidFill>
                  <a:schemeClr val="bg1"/>
                </a:solidFill>
                <a:latin typeface="Inter Medium" panose="02000603000000020004" pitchFamily="50" charset="0"/>
              </a:rPr>
              <a:t> ФСТЭК России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 Medium" panose="02000603000000020004" pitchFamily="50" charset="0"/>
              <a:ea typeface="Lato" charset="0"/>
              <a:cs typeface="Lato" charset="0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012B604-EDEC-4FAB-BFFF-E66C1C41AD45}"/>
              </a:ext>
            </a:extLst>
          </p:cNvPr>
          <p:cNvCxnSpPr>
            <a:cxnSpLocks/>
          </p:cNvCxnSpPr>
          <p:nvPr/>
        </p:nvCxnSpPr>
        <p:spPr>
          <a:xfrm>
            <a:off x="7023086" y="3124200"/>
            <a:ext cx="417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87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8D4B150-CDD0-4021-865A-743C895CC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288481"/>
              </p:ext>
            </p:extLst>
          </p:nvPr>
        </p:nvGraphicFramePr>
        <p:xfrm>
          <a:off x="380909" y="1278658"/>
          <a:ext cx="4598301" cy="5007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4122587174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2210380842"/>
                    </a:ext>
                  </a:extLst>
                </a:gridCol>
                <a:gridCol w="26301">
                  <a:extLst>
                    <a:ext uri="{9D8B030D-6E8A-4147-A177-3AD203B41FA5}">
                      <a16:colId xmlns:a16="http://schemas.microsoft.com/office/drawing/2014/main" val="3732074764"/>
                    </a:ext>
                  </a:extLst>
                </a:gridCol>
              </a:tblGrid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VM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Анализ защищенности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accent3"/>
                        </a:solidFill>
                        <a:effectLst/>
                        <a:latin typeface="Inter Medium" panose="020006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359427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AV1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Антивирусная защита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063505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СРК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Резервное копирование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080334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ФИЗ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Физическая защита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41527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UPD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Управление обновлениями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9603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СОВ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Обнаружение вторжений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642305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FW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Межсетевое экранирование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168025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WAF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Защита веб-приложений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30692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ОРД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Комплекс организационных мер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04219"/>
                  </a:ext>
                </a:extLst>
              </a:tr>
              <a:tr h="5007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TEST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fontAlgn="ctr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dirty="0">
                          <a:effectLst/>
                          <a:latin typeface="+mn-lt"/>
                        </a:rPr>
                        <a:t>Тестовая среда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224106"/>
                  </a:ext>
                </a:extLst>
              </a:tr>
            </a:tbl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65990E5-AE3B-4A75-B784-434623DA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5974392" cy="930018"/>
          </a:xfrm>
        </p:spPr>
        <p:txBody>
          <a:bodyPr/>
          <a:lstStyle/>
          <a:p>
            <a:r>
              <a:rPr lang="ru-RU"/>
              <a:t>Список мер </a:t>
            </a:r>
            <a:r>
              <a:rPr lang="ru-RU" dirty="0"/>
              <a:t>защиты ЗО КИИ </a:t>
            </a:r>
            <a:br>
              <a:rPr lang="ru-RU" dirty="0"/>
            </a:br>
            <a:r>
              <a:rPr lang="ru-RU" dirty="0"/>
              <a:t>согласно правовой базе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101B1CEE-A1D3-468B-A2F8-203E66858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47574"/>
              </p:ext>
            </p:extLst>
          </p:nvPr>
        </p:nvGraphicFramePr>
        <p:xfrm>
          <a:off x="5462068" y="1278658"/>
          <a:ext cx="6421087" cy="500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4122587174"/>
                    </a:ext>
                  </a:extLst>
                </a:gridCol>
                <a:gridCol w="4824000">
                  <a:extLst>
                    <a:ext uri="{9D8B030D-6E8A-4147-A177-3AD203B41FA5}">
                      <a16:colId xmlns:a16="http://schemas.microsoft.com/office/drawing/2014/main" val="2210380842"/>
                    </a:ext>
                  </a:extLst>
                </a:gridCol>
                <a:gridCol w="49087">
                  <a:extLst>
                    <a:ext uri="{9D8B030D-6E8A-4147-A177-3AD203B41FA5}">
                      <a16:colId xmlns:a16="http://schemas.microsoft.com/office/drawing/2014/main" val="3732074764"/>
                    </a:ext>
                  </a:extLst>
                </a:gridCol>
              </a:tblGrid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PAM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Контроль действий </a:t>
                      </a:r>
                      <a:b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привилегированных пользователей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84302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СЗИ от НСД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Защита от НСД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022213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ЗСВ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Защита среды виртуализации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713971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SIEM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Мониторинг событий ИБ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80996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СКЗИ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Криптографическая защита информации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9AFF"/>
                        </a:solidFill>
                        <a:effectLst/>
                        <a:uLnTx/>
                        <a:uFillTx/>
                        <a:latin typeface="Inter Medium" panose="02000603000000020004" pitchFamily="50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21922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NTA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 сетевого трафика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946297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 err="1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SandBox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Эмуляция вредоносной активности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88610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AV2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Антивирусная защита </a:t>
                      </a:r>
                      <a:b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отразличных</a:t>
                      </a: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производителей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781041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ППО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Механизмы защиты прикладного ПО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620370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1" u="none" strike="noStrike" dirty="0">
                          <a:solidFill>
                            <a:schemeClr val="bg1"/>
                          </a:solidFill>
                          <a:effectLst/>
                          <a:latin typeface="Inter" panose="02000503000000020004" pitchFamily="50" charset="0"/>
                        </a:rPr>
                        <a:t>ИДЧОР</a:t>
                      </a:r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fontAlgn="ctr" latinLnBrk="0" hangingPunct="1">
                        <a:lnSpc>
                          <a:spcPct val="90000"/>
                        </a:lnSpc>
                        <a:buClr>
                          <a:schemeClr val="accent3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ru-RU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 доступа через общие ресурсы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00503000000020004" pitchFamily="50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646506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5BE800F-8CBC-4196-8FBB-C3BBB912BED7}"/>
              </a:ext>
            </a:extLst>
          </p:cNvPr>
          <p:cNvSpPr/>
          <p:nvPr/>
        </p:nvSpPr>
        <p:spPr>
          <a:xfrm>
            <a:off x="0" y="6389031"/>
            <a:ext cx="12191999" cy="4689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Inter" panose="02000503000000020004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2FF86-6C49-49F1-987A-BA38C0F1F6A3}"/>
              </a:ext>
            </a:extLst>
          </p:cNvPr>
          <p:cNvSpPr txBox="1"/>
          <p:nvPr/>
        </p:nvSpPr>
        <p:spPr>
          <a:xfrm>
            <a:off x="1049759" y="6445209"/>
            <a:ext cx="9546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Inter" panose="02000503000000020004" pitchFamily="50" charset="0"/>
              </a:rPr>
              <a:t>ГЕОРЕЗЕРВИРОВАНИЕ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40147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A70B-1013-FBC6-5F8C-12B4E421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DB9794-8280-4299-BA53-E4DF8C96B09B}"/>
              </a:ext>
            </a:extLst>
          </p:cNvPr>
          <p:cNvSpPr/>
          <p:nvPr/>
        </p:nvSpPr>
        <p:spPr>
          <a:xfrm>
            <a:off x="5813712" y="775503"/>
            <a:ext cx="6006814" cy="4673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BDEE13B7-3C97-4089-9EDC-360CC3DD1212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0" y="4678829"/>
            <a:ext cx="8827254" cy="0"/>
          </a:xfrm>
          <a:prstGeom prst="line">
            <a:avLst/>
          </a:prstGeom>
          <a:ln w="25400" cap="rnd">
            <a:solidFill>
              <a:schemeClr val="tx2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Номер слайда 1">
            <a:extLst>
              <a:ext uri="{FF2B5EF4-FFF2-40B4-BE49-F238E27FC236}">
                <a16:creationId xmlns:a16="http://schemas.microsoft.com/office/drawing/2014/main" id="{1B7DD153-C60D-6E62-4A2A-6A4D5FCEC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8</a:t>
            </a:fld>
            <a:endParaRPr lang="ru-RU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3101890-4B2A-41F2-A6B8-AA88A19EF51C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516541" y="1847470"/>
            <a:ext cx="11675459" cy="0"/>
          </a:xfrm>
          <a:prstGeom prst="line">
            <a:avLst/>
          </a:prstGeom>
          <a:ln w="25400" cap="rnd">
            <a:solidFill>
              <a:schemeClr val="tx2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CEDE3E7-6EBA-45D3-A3CB-644A4189D117}"/>
              </a:ext>
            </a:extLst>
          </p:cNvPr>
          <p:cNvSpPr/>
          <p:nvPr/>
        </p:nvSpPr>
        <p:spPr>
          <a:xfrm>
            <a:off x="379480" y="2287701"/>
            <a:ext cx="3142800" cy="10926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Определение требований к защите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chemeClr val="bg1"/>
                </a:solidFill>
                <a:highlight>
                  <a:srgbClr val="2F9AFF"/>
                </a:highlight>
                <a:latin typeface="+mj-lt"/>
              </a:rPr>
              <a:t> 1 месяц</a:t>
            </a:r>
            <a:r>
              <a:rPr lang="ru-RU" sz="2000" dirty="0">
                <a:solidFill>
                  <a:schemeClr val="bg1"/>
                </a:solidFill>
                <a:latin typeface="+mj-lt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EDA89E1-51EC-4DE4-9EDD-45AEA288E9F2}"/>
              </a:ext>
            </a:extLst>
          </p:cNvPr>
          <p:cNvSpPr/>
          <p:nvPr/>
        </p:nvSpPr>
        <p:spPr>
          <a:xfrm>
            <a:off x="4241635" y="2287701"/>
            <a:ext cx="3144153" cy="10926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buClr>
                <a:srgbClr val="7700FF"/>
              </a:buClr>
              <a:defRPr/>
            </a:pPr>
            <a:r>
              <a:rPr lang="ru-RU" sz="2000" dirty="0">
                <a:latin typeface="+mj-lt"/>
              </a:rPr>
              <a:t>Разработка </a:t>
            </a:r>
            <a:br>
              <a:rPr lang="ru-RU" sz="2000" dirty="0">
                <a:latin typeface="+mj-lt"/>
              </a:rPr>
            </a:br>
            <a:r>
              <a:rPr lang="ru-RU" sz="2000" dirty="0">
                <a:latin typeface="+mj-lt"/>
              </a:rPr>
              <a:t>концепции защиты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2F9AFF"/>
                </a:highlight>
                <a:uLnTx/>
                <a:uFillTx/>
                <a:latin typeface="Inter"/>
                <a:ea typeface="+mn-ea"/>
                <a:cs typeface="+mn-cs"/>
              </a:rPr>
              <a:t> 1 месяц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2F9AFF"/>
              </a:highlight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E87819A-851D-4DC7-91E3-B78F2EA96A8D}"/>
              </a:ext>
            </a:extLst>
          </p:cNvPr>
          <p:cNvSpPr/>
          <p:nvPr/>
        </p:nvSpPr>
        <p:spPr>
          <a:xfrm>
            <a:off x="379480" y="5083364"/>
            <a:ext cx="3617537" cy="10926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buClr>
                <a:srgbClr val="7700FF"/>
              </a:buClr>
              <a:defRPr/>
            </a:pPr>
            <a:r>
              <a:rPr lang="ru-RU" sz="2000" dirty="0">
                <a:latin typeface="+mj-lt"/>
              </a:rPr>
              <a:t>Реализация </a:t>
            </a:r>
            <a:br>
              <a:rPr lang="ru-RU" sz="2000" dirty="0">
                <a:latin typeface="+mj-lt"/>
              </a:rPr>
            </a:br>
            <a:r>
              <a:rPr lang="ru-RU" sz="2000" dirty="0">
                <a:latin typeface="+mj-lt"/>
              </a:rPr>
              <a:t>и тестирование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2F9AFF"/>
                </a:highlight>
                <a:uLnTx/>
                <a:uFillTx/>
                <a:latin typeface="Inter"/>
                <a:ea typeface="+mn-ea"/>
                <a:cs typeface="+mn-cs"/>
              </a:rPr>
              <a:t> 2–6 месяцев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2F9AFF"/>
              </a:highlight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AD95B2E-55D9-4C73-95D2-82FB7974B26A}"/>
              </a:ext>
            </a:extLst>
          </p:cNvPr>
          <p:cNvSpPr/>
          <p:nvPr/>
        </p:nvSpPr>
        <p:spPr>
          <a:xfrm>
            <a:off x="8696943" y="2287701"/>
            <a:ext cx="3142800" cy="10926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2000" dirty="0">
                <a:latin typeface="+mj-lt"/>
              </a:rPr>
              <a:t>Проектирование архитектуры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2F9AFF"/>
                </a:highlight>
                <a:uLnTx/>
                <a:uFillTx/>
                <a:latin typeface="Inter"/>
                <a:ea typeface="+mn-ea"/>
                <a:cs typeface="+mn-cs"/>
              </a:rPr>
              <a:t> 1–2 месяца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2F9AFF"/>
              </a:highlight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0B59ECA-21CA-4CC3-B14B-34E2B24FD75B}"/>
              </a:ext>
            </a:extLst>
          </p:cNvPr>
          <p:cNvGrpSpPr/>
          <p:nvPr/>
        </p:nvGrpSpPr>
        <p:grpSpPr>
          <a:xfrm>
            <a:off x="379480" y="1510317"/>
            <a:ext cx="674304" cy="674304"/>
            <a:chOff x="2395244" y="2417807"/>
            <a:chExt cx="206520" cy="206520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5812061E-B892-4F6A-92D9-804D9A332316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943DDEED-0CF2-45B2-BAF3-534ECA8CCC70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+mj-lt"/>
                </a:rPr>
                <a:t>1</a:t>
              </a:r>
              <a:endParaRPr lang="ru-RU" sz="24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55512783-69F9-4356-90D2-D3130EC2996B}"/>
              </a:ext>
            </a:extLst>
          </p:cNvPr>
          <p:cNvGrpSpPr/>
          <p:nvPr/>
        </p:nvGrpSpPr>
        <p:grpSpPr>
          <a:xfrm>
            <a:off x="4246699" y="1510317"/>
            <a:ext cx="674304" cy="674304"/>
            <a:chOff x="2395244" y="2417807"/>
            <a:chExt cx="206520" cy="206520"/>
          </a:xfrm>
          <a:solidFill>
            <a:srgbClr val="7B98B3"/>
          </a:solidFill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751CDB46-1EED-461A-8A77-00DBBCD89711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A24B30AC-979D-4498-9192-31B77BFA941A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5BF23AAC-97C8-4EC1-B0F8-AAD90E6F3690}"/>
              </a:ext>
            </a:extLst>
          </p:cNvPr>
          <p:cNvGrpSpPr/>
          <p:nvPr/>
        </p:nvGrpSpPr>
        <p:grpSpPr>
          <a:xfrm>
            <a:off x="8690193" y="1510317"/>
            <a:ext cx="674304" cy="674304"/>
            <a:chOff x="2395244" y="2417807"/>
            <a:chExt cx="206520" cy="206520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5DC4CE1C-DFB2-4DD7-B44E-CB2C6DD22E54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83E36819-995C-4FDE-A192-85DCFD409860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994F1DD2-A116-4983-8D1C-A5E3961BC8F4}"/>
              </a:ext>
            </a:extLst>
          </p:cNvPr>
          <p:cNvGrpSpPr/>
          <p:nvPr/>
        </p:nvGrpSpPr>
        <p:grpSpPr>
          <a:xfrm>
            <a:off x="379480" y="4341676"/>
            <a:ext cx="674304" cy="674304"/>
            <a:chOff x="2395244" y="2417807"/>
            <a:chExt cx="206520" cy="206520"/>
          </a:xfrm>
        </p:grpSpPr>
        <p:sp>
          <p:nvSpPr>
            <p:cNvPr id="51" name="Овал 50">
              <a:extLst>
                <a:ext uri="{FF2B5EF4-FFF2-40B4-BE49-F238E27FC236}">
                  <a16:creationId xmlns:a16="http://schemas.microsoft.com/office/drawing/2014/main" id="{694E18A6-AB18-4355-9213-FF69576EF74C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52" name="Овал 51">
              <a:extLst>
                <a:ext uri="{FF2B5EF4-FFF2-40B4-BE49-F238E27FC236}">
                  <a16:creationId xmlns:a16="http://schemas.microsoft.com/office/drawing/2014/main" id="{922A3B2E-B429-4B31-8146-B5AA790134D9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</p:grp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36274811-B209-4B9D-B5C5-D5FE31A3A05D}"/>
              </a:ext>
            </a:extLst>
          </p:cNvPr>
          <p:cNvSpPr/>
          <p:nvPr/>
        </p:nvSpPr>
        <p:spPr>
          <a:xfrm>
            <a:off x="8690193" y="5083364"/>
            <a:ext cx="3313578" cy="101566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buClr>
                <a:srgbClr val="7700FF"/>
              </a:buClr>
              <a:defRPr/>
            </a:pPr>
            <a:r>
              <a:rPr lang="ru-RU" sz="2000" dirty="0">
                <a:latin typeface="+mj-lt"/>
              </a:rPr>
              <a:t>Отправка сведений </a:t>
            </a:r>
            <a:br>
              <a:rPr lang="ru-RU" sz="2000" dirty="0">
                <a:latin typeface="+mj-lt"/>
              </a:rPr>
            </a:br>
            <a:r>
              <a:rPr lang="ru-RU" sz="2000" dirty="0">
                <a:latin typeface="+mj-lt"/>
              </a:rPr>
              <a:t>о категорировании </a:t>
            </a:r>
            <a:br>
              <a:rPr lang="ru-RU" sz="2000" dirty="0">
                <a:latin typeface="+mj-lt"/>
              </a:rPr>
            </a:br>
            <a:r>
              <a:rPr lang="ru-RU" sz="2000" dirty="0">
                <a:latin typeface="+mj-lt"/>
              </a:rPr>
              <a:t>во ФСТЭК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000000"/>
              </a:highlight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</a:endParaRP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10DF520-FD5A-45C7-8BEA-B39ABFF41C4A}"/>
              </a:ext>
            </a:extLst>
          </p:cNvPr>
          <p:cNvGrpSpPr/>
          <p:nvPr/>
        </p:nvGrpSpPr>
        <p:grpSpPr>
          <a:xfrm>
            <a:off x="4246699" y="4341676"/>
            <a:ext cx="674304" cy="674304"/>
            <a:chOff x="2395244" y="2417807"/>
            <a:chExt cx="206520" cy="206520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67B23498-44FF-406D-95DB-8DCA892D6BA1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93795A78-DAC6-4276-8ED8-6219315315D2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</p:grp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33881EA-2974-4EF3-AF84-44E37490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11551239" cy="930018"/>
          </a:xfrm>
        </p:spPr>
        <p:txBody>
          <a:bodyPr/>
          <a:lstStyle/>
          <a:p>
            <a:r>
              <a:rPr lang="en-US" dirty="0"/>
              <a:t>On-premise</a:t>
            </a:r>
            <a:r>
              <a:rPr lang="ru-RU" dirty="0"/>
              <a:t>: проектирование, создание </a:t>
            </a:r>
            <a:br>
              <a:rPr lang="ru-RU" dirty="0"/>
            </a:br>
            <a:r>
              <a:rPr lang="ru-RU" dirty="0"/>
              <a:t>архитектуры и внедрение </a:t>
            </a:r>
            <a:r>
              <a:rPr lang="ru-RU" dirty="0">
                <a:solidFill>
                  <a:schemeClr val="bg1"/>
                </a:solidFill>
              </a:rPr>
              <a:t>может занять 12–15 месяцев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D6F1A1CC-BB5B-4CBF-8E2C-4D265440FEF7}"/>
              </a:ext>
            </a:extLst>
          </p:cNvPr>
          <p:cNvSpPr/>
          <p:nvPr/>
        </p:nvSpPr>
        <p:spPr>
          <a:xfrm>
            <a:off x="4241635" y="5083364"/>
            <a:ext cx="3460428" cy="10926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buClr>
                <a:srgbClr val="7700FF"/>
              </a:buClr>
              <a:defRPr/>
            </a:pPr>
            <a:r>
              <a:rPr lang="ru-RU" sz="2000" dirty="0">
                <a:latin typeface="+mj-lt"/>
              </a:rPr>
              <a:t>Аттестация, доработки </a:t>
            </a:r>
            <a:br>
              <a:rPr lang="ru-RU" sz="2000" dirty="0">
                <a:latin typeface="+mj-lt"/>
              </a:rPr>
            </a:br>
            <a:r>
              <a:rPr lang="ru-RU" sz="2000" dirty="0">
                <a:latin typeface="+mj-lt"/>
              </a:rPr>
              <a:t>и ввод в эксплуатацию</a:t>
            </a:r>
          </a:p>
          <a:p>
            <a:pPr>
              <a:spcAft>
                <a:spcPts val="600"/>
              </a:spcAft>
              <a:buClr>
                <a:srgbClr val="7700FF"/>
              </a:buClr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2F9AFF"/>
                </a:highlight>
                <a:uLnTx/>
                <a:uFillTx/>
                <a:latin typeface="Inter"/>
                <a:ea typeface="+mn-ea"/>
                <a:cs typeface="+mn-cs"/>
              </a:rPr>
              <a:t> 3–4 месяца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2F9AFF"/>
              </a:highlight>
              <a:uLnTx/>
              <a:uFillTx/>
              <a:latin typeface="Inter" panose="02000503000000020004" pitchFamily="50" charset="0"/>
              <a:ea typeface="+mn-ea"/>
              <a:cs typeface="Inter" panose="02000503000000020004" pitchFamily="50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742C82A0-1C3A-42E0-85C6-9BC33912336C}"/>
              </a:ext>
            </a:extLst>
          </p:cNvPr>
          <p:cNvGrpSpPr/>
          <p:nvPr/>
        </p:nvGrpSpPr>
        <p:grpSpPr>
          <a:xfrm>
            <a:off x="8690193" y="4341676"/>
            <a:ext cx="674304" cy="674304"/>
            <a:chOff x="2395244" y="2417807"/>
            <a:chExt cx="206520" cy="206520"/>
          </a:xfrm>
        </p:grpSpPr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B38277FC-951B-42C9-85A6-BE883A6DC2C8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6E30AC48-C6C1-4ED5-95AB-118C115A4347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139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57432-5079-4F08-A955-15165A21427A}"/>
              </a:ext>
            </a:extLst>
          </p:cNvPr>
          <p:cNvSpPr/>
          <p:nvPr/>
        </p:nvSpPr>
        <p:spPr>
          <a:xfrm>
            <a:off x="0" y="1402914"/>
            <a:ext cx="12192000" cy="5455085"/>
          </a:xfrm>
          <a:prstGeom prst="rect">
            <a:avLst/>
          </a:prstGeom>
          <a:solidFill>
            <a:srgbClr val="E5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BF0E4-1616-4B92-92C7-B89DBE2E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8883842" cy="930018"/>
          </a:xfrm>
        </p:spPr>
        <p:txBody>
          <a:bodyPr/>
          <a:lstStyle/>
          <a:p>
            <a:r>
              <a:rPr lang="ru-RU" dirty="0"/>
              <a:t>Сокращение затрат времени на разных </a:t>
            </a:r>
            <a:br>
              <a:rPr lang="ru-RU" dirty="0"/>
            </a:br>
            <a:r>
              <a:rPr lang="ru-RU" dirty="0"/>
              <a:t>этапах за счёт использования Облака КИИ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490B26-3ABD-4E6C-83CB-D108C1963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6CC755-42E9-42F4-838B-F782248C5624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D439F8-1861-40DB-9B83-BB267D6ED594}"/>
              </a:ext>
            </a:extLst>
          </p:cNvPr>
          <p:cNvSpPr txBox="1"/>
          <p:nvPr/>
        </p:nvSpPr>
        <p:spPr>
          <a:xfrm>
            <a:off x="361751" y="2213631"/>
            <a:ext cx="4412059" cy="13593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spcAft>
                <a:spcPts val="4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Inter" panose="02000503000000020004" pitchFamily="50" charset="0"/>
              </a:rPr>
              <a:t>Концепция защиты</a:t>
            </a:r>
          </a:p>
          <a:p>
            <a:pPr>
              <a:spcAft>
                <a:spcPts val="1800"/>
              </a:spcAft>
            </a:pPr>
            <a:r>
              <a:rPr lang="ru-RU" sz="1900" dirty="0">
                <a:latin typeface="+mj-lt"/>
              </a:rPr>
              <a:t>Не придется прорабатывать инфраструктурную часть при разработке концепции защиты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1B7154-A9C7-43FB-AEC1-040CA4565FA2}"/>
              </a:ext>
            </a:extLst>
          </p:cNvPr>
          <p:cNvSpPr txBox="1"/>
          <p:nvPr/>
        </p:nvSpPr>
        <p:spPr>
          <a:xfrm>
            <a:off x="6717465" y="2213631"/>
            <a:ext cx="5474535" cy="132856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Aft>
                <a:spcPts val="400"/>
              </a:spcAft>
              <a:buClr>
                <a:srgbClr val="7700FF"/>
              </a:buClr>
              <a:defRPr/>
            </a:pPr>
            <a:r>
              <a:rPr lang="ru-RU" sz="2000" b="1" dirty="0">
                <a:latin typeface="+mj-lt"/>
                <a:cs typeface="Inter" panose="02000503000000020004" pitchFamily="50" charset="0"/>
              </a:rPr>
              <a:t>Архитектура</a:t>
            </a:r>
          </a:p>
          <a:p>
            <a:pPr marL="0" marR="0" lvl="0" indent="0" algn="l" defTabSz="914400" rtl="0" eaLnBrk="1" fontAlgn="auto" latinLnBrk="0" hangingPunct="1">
              <a:spcAft>
                <a:spcPts val="18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1900" dirty="0">
                <a:latin typeface="+mj-lt"/>
              </a:rPr>
              <a:t>Архитектура на уровне инфраструктуры </a:t>
            </a:r>
            <a:br>
              <a:rPr lang="ru-RU" sz="1900" dirty="0">
                <a:latin typeface="+mj-lt"/>
              </a:rPr>
            </a:br>
            <a:r>
              <a:rPr lang="ru-RU" sz="1900" dirty="0">
                <a:latin typeface="+mj-lt"/>
              </a:rPr>
              <a:t>уже проработана и закрывается </a:t>
            </a:r>
            <a:br>
              <a:rPr lang="ru-RU" sz="1900" dirty="0">
                <a:latin typeface="+mj-lt"/>
              </a:rPr>
            </a:br>
            <a:r>
              <a:rPr lang="ru-RU" sz="1900" dirty="0">
                <a:latin typeface="+mj-lt"/>
              </a:rPr>
              <a:t>аттестатом соответствия Облака КИИ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3CE960-5A1A-4581-A97B-0B8367CDEEA5}"/>
              </a:ext>
            </a:extLst>
          </p:cNvPr>
          <p:cNvSpPr txBox="1"/>
          <p:nvPr/>
        </p:nvSpPr>
        <p:spPr>
          <a:xfrm>
            <a:off x="361751" y="4247446"/>
            <a:ext cx="5338009" cy="196464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R="0" lvl="0" indent="0" fontAlgn="auto">
              <a:spcAft>
                <a:spcPts val="4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2000" b="1" dirty="0">
                <a:latin typeface="+mj-lt"/>
                <a:cs typeface="Inter" panose="02000503000000020004" pitchFamily="50" charset="0"/>
              </a:rPr>
              <a:t>Оборудование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defRPr/>
            </a:pPr>
            <a:r>
              <a:rPr lang="ru-RU" sz="1900" dirty="0">
                <a:latin typeface="+mj-lt"/>
              </a:rPr>
              <a:t>Не требуется тратить время на закупку оборудования, нет необходимости проводить его тестирование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7700FF"/>
              </a:buClr>
              <a:defRPr/>
            </a:pPr>
            <a:r>
              <a:rPr lang="ru-RU" sz="1900" dirty="0">
                <a:latin typeface="+mj-lt"/>
              </a:rPr>
              <a:t>Необходимо реализовать только то, </a:t>
            </a:r>
            <a:br>
              <a:rPr lang="ru-RU" sz="1900" dirty="0">
                <a:latin typeface="+mj-lt"/>
              </a:rPr>
            </a:br>
            <a:r>
              <a:rPr lang="ru-RU" sz="1900" dirty="0">
                <a:latin typeface="+mj-lt"/>
              </a:rPr>
              <a:t>что лежит выше слоя виртуализации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2215F13-E0CE-41DF-9C52-255BD7FEF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276429" y="1715448"/>
            <a:ext cx="468000" cy="46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A10869B-F621-4278-B783-03FB26F65A0E}"/>
              </a:ext>
            </a:extLst>
          </p:cNvPr>
          <p:cNvSpPr txBox="1"/>
          <p:nvPr/>
        </p:nvSpPr>
        <p:spPr>
          <a:xfrm>
            <a:off x="6742245" y="4247446"/>
            <a:ext cx="5240840" cy="162095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spcAft>
                <a:spcPts val="4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lang="ru-RU" sz="2000" b="1" dirty="0">
                <a:latin typeface="+mj-lt"/>
                <a:cs typeface="Inter" panose="02000503000000020004" pitchFamily="50" charset="0"/>
              </a:rPr>
              <a:t>Обучение персонала</a:t>
            </a:r>
          </a:p>
          <a:p>
            <a:pPr>
              <a:spcAft>
                <a:spcPts val="1800"/>
              </a:spcAft>
            </a:pPr>
            <a:r>
              <a:rPr lang="ru-RU" sz="1900" dirty="0">
                <a:latin typeface="+mj-lt"/>
              </a:rPr>
              <a:t>Заказчику не нужно организовывать дополнительное обучение </a:t>
            </a:r>
            <a:br>
              <a:rPr lang="ru-RU" sz="1900" dirty="0">
                <a:latin typeface="+mj-lt"/>
              </a:rPr>
            </a:br>
            <a:r>
              <a:rPr lang="ru-RU" sz="1900" dirty="0">
                <a:latin typeface="+mj-lt"/>
              </a:rPr>
              <a:t>и планировать дополнительный </a:t>
            </a:r>
            <a:br>
              <a:rPr lang="ru-RU" sz="1900" dirty="0">
                <a:latin typeface="+mj-lt"/>
              </a:rPr>
            </a:br>
            <a:r>
              <a:rPr lang="ru-RU" sz="1900" dirty="0">
                <a:latin typeface="+mj-lt"/>
              </a:rPr>
              <a:t>ФОТ на новых специалистов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46E8C37-EFDA-41AD-BC2F-33019A430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603743" y="1715448"/>
            <a:ext cx="468000" cy="4680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11E3082-CFB2-4985-9CFD-F5C46BD1E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276429" y="3780915"/>
            <a:ext cx="468000" cy="4680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1048BAA-F43A-40D0-A6DB-D42071B4D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603743" y="3780915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0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5BFD9-686C-9302-4937-06341A93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FD07EFB3-7B91-48F7-9EB1-3FF1AB7AC114}"/>
              </a:ext>
            </a:extLst>
          </p:cNvPr>
          <p:cNvCxnSpPr>
            <a:cxnSpLocks/>
          </p:cNvCxnSpPr>
          <p:nvPr/>
        </p:nvCxnSpPr>
        <p:spPr>
          <a:xfrm>
            <a:off x="-1" y="4426326"/>
            <a:ext cx="11844000" cy="0"/>
          </a:xfrm>
          <a:prstGeom prst="line">
            <a:avLst/>
          </a:prstGeom>
          <a:ln w="25400" cap="rnd">
            <a:solidFill>
              <a:schemeClr val="tx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77CC6CA-54DE-425D-AE98-ADE8AC884FB0}"/>
              </a:ext>
            </a:extLst>
          </p:cNvPr>
          <p:cNvCxnSpPr>
            <a:cxnSpLocks/>
          </p:cNvCxnSpPr>
          <p:nvPr/>
        </p:nvCxnSpPr>
        <p:spPr>
          <a:xfrm>
            <a:off x="516541" y="2005380"/>
            <a:ext cx="11675459" cy="0"/>
          </a:xfrm>
          <a:prstGeom prst="line">
            <a:avLst/>
          </a:prstGeom>
          <a:ln w="25400" cap="rnd">
            <a:solidFill>
              <a:schemeClr val="tx2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Номер слайда 1">
            <a:extLst>
              <a:ext uri="{FF2B5EF4-FFF2-40B4-BE49-F238E27FC236}">
                <a16:creationId xmlns:a16="http://schemas.microsoft.com/office/drawing/2014/main" id="{D591ED9F-93F7-91A6-4A95-E08708FFE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1FC23BD-4564-A5C8-80EB-6E051EE9093E}"/>
              </a:ext>
            </a:extLst>
          </p:cNvPr>
          <p:cNvSpPr/>
          <p:nvPr/>
        </p:nvSpPr>
        <p:spPr>
          <a:xfrm>
            <a:off x="371475" y="2281848"/>
            <a:ext cx="3636000" cy="18107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Определение требований </a:t>
            </a:r>
            <a:b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</a:br>
            <a:r>
              <a:rPr kumimoji="0" lang="ru-RU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к защите информации</a:t>
            </a:r>
            <a:endParaRPr kumimoji="0" lang="ru-RU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  <a:p>
            <a:pPr marL="180000" marR="0" lvl="0" indent="-1800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Анализ нормативных требований</a:t>
            </a:r>
          </a:p>
          <a:p>
            <a:pPr marL="180000" marR="0" lvl="0" indent="-1800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Классификация информации </a:t>
            </a:r>
            <a:b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по степени конфиденциальности </a:t>
            </a:r>
            <a:b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и критичности</a:t>
            </a:r>
          </a:p>
          <a:p>
            <a:pPr marL="180000" marR="0" lvl="0" indent="-1800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Оценка угроз </a:t>
            </a:r>
            <a:br>
              <a:rPr lang="en-US" sz="1400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и рисков безопасности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C6577FC-BB2B-8548-6B09-1BB96D4B96C1}"/>
              </a:ext>
            </a:extLst>
          </p:cNvPr>
          <p:cNvSpPr/>
          <p:nvPr/>
        </p:nvSpPr>
        <p:spPr>
          <a:xfrm>
            <a:off x="4241488" y="2257028"/>
            <a:ext cx="3636000" cy="1648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  <a:defRPr/>
            </a:pP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Разработка </a:t>
            </a:r>
            <a:b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концепции защиты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Формирование политик </a:t>
            </a:r>
            <a:b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безопасности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Выбор методов защиты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Определение архитектуры безопасности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A53CC0E-D75F-54DE-E758-1338936C4B4C}"/>
              </a:ext>
            </a:extLst>
          </p:cNvPr>
          <p:cNvSpPr/>
          <p:nvPr/>
        </p:nvSpPr>
        <p:spPr>
          <a:xfrm>
            <a:off x="8306055" y="2257028"/>
            <a:ext cx="3636000" cy="186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Проектирование </a:t>
            </a:r>
            <a:b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защищенной архитектуры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Разделение компонентов </a:t>
            </a:r>
            <a:b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ИС по уровням защищенности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Реализация механизмов </a:t>
            </a:r>
            <a:b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контроля доступа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Внедрение средств криптозащиты: ГОСТ Р 34.10-2012, ГОСТ Р 34.11-2012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8C6FE67-A1F8-5DF8-D6B5-FBC64B49F0E5}"/>
              </a:ext>
            </a:extLst>
          </p:cNvPr>
          <p:cNvSpPr/>
          <p:nvPr/>
        </p:nvSpPr>
        <p:spPr>
          <a:xfrm>
            <a:off x="371475" y="4682247"/>
            <a:ext cx="3636000" cy="1849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  <a:defRPr/>
            </a:pP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Реализация </a:t>
            </a:r>
            <a:b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и тестирование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Выбор и закупка оборудования и ПО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Разработка кода с учётом безопасного программирования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Динамическое тестирование кода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Проведение проверок на соответствие требованиям ФСТЭК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AD6C8D6-6934-0DEF-265B-A64D67C3BCA4}"/>
              </a:ext>
            </a:extLst>
          </p:cNvPr>
          <p:cNvSpPr/>
          <p:nvPr/>
        </p:nvSpPr>
        <p:spPr>
          <a:xfrm>
            <a:off x="4241487" y="4682247"/>
            <a:ext cx="4064567" cy="1926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Аттестация / доработки </a:t>
            </a:r>
            <a:b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и ввод в эксплуатацию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Проведение ПНР и ПСИ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Обучение персонала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Подготовка нормативной документации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Оценка соответствия ИС</a:t>
            </a: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1400" dirty="0">
                <a:solidFill>
                  <a:schemeClr val="tx1"/>
                </a:solidFill>
                <a:latin typeface="Inter" panose="02000503000000020004" pitchFamily="50" charset="0"/>
              </a:rPr>
              <a:t>Отправка сведений во ФСТЭК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B1B5A2C-FF40-5432-7A87-2E5E4C7E152B}"/>
              </a:ext>
            </a:extLst>
          </p:cNvPr>
          <p:cNvSpPr/>
          <p:nvPr/>
        </p:nvSpPr>
        <p:spPr>
          <a:xfrm>
            <a:off x="8306055" y="4682247"/>
            <a:ext cx="3636000" cy="1915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  <a:defRPr/>
            </a:pP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Эксплуатация </a:t>
            </a:r>
            <a:b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1500" b="1" dirty="0">
                <a:solidFill>
                  <a:schemeClr val="tx1"/>
                </a:solidFill>
                <a:latin typeface="Inter" panose="02000503000000020004" pitchFamily="50" charset="0"/>
              </a:rPr>
              <a:t>и мониторинг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Организация контроля безопасности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Реагирование на инциденты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Постоянный аудит </a:t>
            </a:r>
            <a:b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</a:br>
            <a:r>
              <a:rPr lang="ru-RU" sz="1400" dirty="0">
                <a:solidFill>
                  <a:schemeClr val="bg1"/>
                </a:solidFill>
                <a:highlight>
                  <a:srgbClr val="2F9AFF"/>
                </a:highlight>
                <a:latin typeface="Inter" panose="02000503000000020004" pitchFamily="50" charset="0"/>
              </a:rPr>
              <a:t>и обновление систем защиты</a:t>
            </a:r>
          </a:p>
          <a:p>
            <a:pPr marL="180000" indent="-180000">
              <a:spcAft>
                <a:spcPts val="3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/>
            </a:pPr>
            <a:endParaRPr lang="ru-RU" sz="1400" dirty="0">
              <a:solidFill>
                <a:schemeClr val="tx1"/>
              </a:solidFill>
              <a:latin typeface="Inter" panose="02000503000000020004" pitchFamily="50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883904D-8646-4E2F-B88F-EEA4632E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9757479" cy="930018"/>
          </a:xfrm>
        </p:spPr>
        <p:txBody>
          <a:bodyPr/>
          <a:lstStyle/>
          <a:p>
            <a:r>
              <a:rPr lang="ru-RU" dirty="0"/>
              <a:t>На каждом этапе необходимы глубокая </a:t>
            </a:r>
            <a:br>
              <a:rPr lang="ru-RU" dirty="0"/>
            </a:br>
            <a:r>
              <a:rPr lang="ru-RU" dirty="0"/>
              <a:t>экспертиза и наличие компетенций у команды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54BF29-B87E-4971-BDDF-4D932216BCB7}"/>
              </a:ext>
            </a:extLst>
          </p:cNvPr>
          <p:cNvSpPr txBox="1"/>
          <p:nvPr/>
        </p:nvSpPr>
        <p:spPr>
          <a:xfrm>
            <a:off x="378588" y="1333757"/>
            <a:ext cx="11457556" cy="349702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lIns="108000" tIns="36000" rIns="36000" b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prstClr val="white"/>
                </a:solidFill>
                <a:latin typeface="Inter" panose="02000503000000020004" pitchFamily="50" charset="0"/>
              </a:rPr>
              <a:t>Размещение ресурсов в Облаке КИИ может значительно сократить издержки заказчика 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A7FD50E-D35B-4E3C-9CDF-E080167F97C0}"/>
              </a:ext>
            </a:extLst>
          </p:cNvPr>
          <p:cNvGrpSpPr/>
          <p:nvPr/>
        </p:nvGrpSpPr>
        <p:grpSpPr>
          <a:xfrm>
            <a:off x="378588" y="1838290"/>
            <a:ext cx="319767" cy="319767"/>
            <a:chOff x="2395244" y="2417807"/>
            <a:chExt cx="206520" cy="206520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9825DF76-8AF6-4EC5-8BEB-0F4BBBE06EC8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sz="1100">
                <a:solidFill>
                  <a:schemeClr val="tx1"/>
                </a:solidFill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2CB778CB-C798-41C4-A45D-D25BB4BA96BC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1</a:t>
              </a:r>
              <a:endParaRPr lang="ru-RU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9FDDE4FF-B2A6-4BEA-9C43-0C27BA6B984E}"/>
              </a:ext>
            </a:extLst>
          </p:cNvPr>
          <p:cNvGrpSpPr/>
          <p:nvPr/>
        </p:nvGrpSpPr>
        <p:grpSpPr>
          <a:xfrm>
            <a:off x="378588" y="4259905"/>
            <a:ext cx="319767" cy="319767"/>
            <a:chOff x="2395244" y="2417807"/>
            <a:chExt cx="206520" cy="206520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7F8B2B5-A783-4DCD-8B64-F4762F0CF059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sz="1100">
                <a:solidFill>
                  <a:schemeClr val="tx1"/>
                </a:solidFill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FD840EFC-8E62-45E9-9C6A-B68E24998799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BF5161B-CF0C-4E95-8F2E-2BA474016665}"/>
              </a:ext>
            </a:extLst>
          </p:cNvPr>
          <p:cNvGrpSpPr/>
          <p:nvPr/>
        </p:nvGrpSpPr>
        <p:grpSpPr>
          <a:xfrm>
            <a:off x="4241487" y="1838290"/>
            <a:ext cx="319767" cy="319767"/>
            <a:chOff x="2395244" y="2417807"/>
            <a:chExt cx="206520" cy="206520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A29F6EDB-DC2F-49CC-AD44-92440323CA4D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sz="1100">
                <a:solidFill>
                  <a:schemeClr val="tx1"/>
                </a:solidFill>
              </a:endParaRP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7619312-E309-4EA7-A917-ABA83D7F95C9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BA71FE1-8058-4120-841B-E7931A8E9FDF}"/>
              </a:ext>
            </a:extLst>
          </p:cNvPr>
          <p:cNvGrpSpPr/>
          <p:nvPr/>
        </p:nvGrpSpPr>
        <p:grpSpPr>
          <a:xfrm>
            <a:off x="4241487" y="4259905"/>
            <a:ext cx="319767" cy="319767"/>
            <a:chOff x="2395244" y="2417807"/>
            <a:chExt cx="206520" cy="206520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A28AEA88-2D79-43CA-BD8F-25AE06B23A2C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sz="1100">
                <a:solidFill>
                  <a:schemeClr val="tx1"/>
                </a:solidFill>
              </a:endParaRPr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350C619E-6C4A-48E3-B0C1-97E23B18838D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FEDB2D45-E833-4389-9189-CEEB5A75F472}"/>
              </a:ext>
            </a:extLst>
          </p:cNvPr>
          <p:cNvGrpSpPr/>
          <p:nvPr/>
        </p:nvGrpSpPr>
        <p:grpSpPr>
          <a:xfrm>
            <a:off x="8299920" y="1838290"/>
            <a:ext cx="319767" cy="319767"/>
            <a:chOff x="2395244" y="2417807"/>
            <a:chExt cx="206520" cy="206520"/>
          </a:xfrm>
        </p:grpSpPr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052352B1-1220-4BD6-ABE1-408CB2AE8090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sz="1100">
                <a:solidFill>
                  <a:schemeClr val="tx1"/>
                </a:solidFill>
              </a:endParaRPr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9AC65F80-8346-49E7-AF30-EC72FDC5988B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881D84B1-699A-498C-B609-BA923F295BBF}"/>
              </a:ext>
            </a:extLst>
          </p:cNvPr>
          <p:cNvGrpSpPr/>
          <p:nvPr/>
        </p:nvGrpSpPr>
        <p:grpSpPr>
          <a:xfrm>
            <a:off x="8299920" y="4259905"/>
            <a:ext cx="319767" cy="319767"/>
            <a:chOff x="2395244" y="2417807"/>
            <a:chExt cx="206520" cy="20652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F7C46AAA-BBB5-4071-A2D9-69F1F8F07002}"/>
                </a:ext>
              </a:extLst>
            </p:cNvPr>
            <p:cNvSpPr/>
            <p:nvPr/>
          </p:nvSpPr>
          <p:spPr>
            <a:xfrm>
              <a:off x="2395244" y="2417807"/>
              <a:ext cx="206520" cy="206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sz="1100">
                <a:solidFill>
                  <a:schemeClr val="tx1"/>
                </a:solidFill>
              </a:endParaRPr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EE2F6D36-F99F-4E82-ABF6-820DE424D715}"/>
                </a:ext>
              </a:extLst>
            </p:cNvPr>
            <p:cNvSpPr/>
            <p:nvPr/>
          </p:nvSpPr>
          <p:spPr>
            <a:xfrm>
              <a:off x="2437222" y="2459785"/>
              <a:ext cx="122565" cy="1225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∞</a:t>
              </a:r>
              <a:endParaRPr lang="ru-RU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95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Блок-схема: ручной ввод 5">
            <a:extLst>
              <a:ext uri="{FF2B5EF4-FFF2-40B4-BE49-F238E27FC236}">
                <a16:creationId xmlns:a16="http://schemas.microsoft.com/office/drawing/2014/main" id="{D93B78EE-287C-4D9E-A3EC-B5DFBDE4E454}"/>
              </a:ext>
            </a:extLst>
          </p:cNvPr>
          <p:cNvSpPr/>
          <p:nvPr/>
        </p:nvSpPr>
        <p:spPr>
          <a:xfrm rot="5400000" flipV="1">
            <a:off x="5583952" y="259331"/>
            <a:ext cx="5870416" cy="7345680"/>
          </a:xfrm>
          <a:prstGeom prst="flowChartManualInput">
            <a:avLst/>
          </a:prstGeom>
          <a:solidFill>
            <a:srgbClr val="2F9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49C2A1A-B860-4003-BD6D-5DCB62673692}"/>
              </a:ext>
            </a:extLst>
          </p:cNvPr>
          <p:cNvSpPr/>
          <p:nvPr/>
        </p:nvSpPr>
        <p:spPr>
          <a:xfrm>
            <a:off x="6688521" y="2561805"/>
            <a:ext cx="391221" cy="39122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E0FB46EF-B732-461B-9413-A7BC1B6CE223}"/>
              </a:ext>
            </a:extLst>
          </p:cNvPr>
          <p:cNvSpPr/>
          <p:nvPr/>
        </p:nvSpPr>
        <p:spPr>
          <a:xfrm>
            <a:off x="6688521" y="3086061"/>
            <a:ext cx="391221" cy="39122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82177F45-711C-4404-BBA3-B06DAF2AFD29}"/>
              </a:ext>
            </a:extLst>
          </p:cNvPr>
          <p:cNvSpPr/>
          <p:nvPr/>
        </p:nvSpPr>
        <p:spPr>
          <a:xfrm>
            <a:off x="6688521" y="3932171"/>
            <a:ext cx="391221" cy="39122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DE333C30-61C0-45F8-AA6B-FD5E35FD06DA}"/>
              </a:ext>
            </a:extLst>
          </p:cNvPr>
          <p:cNvSpPr/>
          <p:nvPr/>
        </p:nvSpPr>
        <p:spPr>
          <a:xfrm>
            <a:off x="6688521" y="4902669"/>
            <a:ext cx="391221" cy="39122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DAAB1E20-13FC-4F91-86B6-1E14FED2239C}"/>
              </a:ext>
            </a:extLst>
          </p:cNvPr>
          <p:cNvSpPr/>
          <p:nvPr/>
        </p:nvSpPr>
        <p:spPr>
          <a:xfrm>
            <a:off x="6688521" y="5780493"/>
            <a:ext cx="391221" cy="39122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2CAE253-000D-4035-8C89-16646BE4991A}"/>
              </a:ext>
            </a:extLst>
          </p:cNvPr>
          <p:cNvSpPr/>
          <p:nvPr/>
        </p:nvSpPr>
        <p:spPr>
          <a:xfrm>
            <a:off x="6688521" y="2026119"/>
            <a:ext cx="391221" cy="39122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Номер слайда 1">
            <a:extLst>
              <a:ext uri="{FF2B5EF4-FFF2-40B4-BE49-F238E27FC236}">
                <a16:creationId xmlns:a16="http://schemas.microsoft.com/office/drawing/2014/main" id="{67E65A54-8664-48FE-8748-FD11FAAD0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D22E94-910D-4FD9-5296-61F345017F58}"/>
              </a:ext>
            </a:extLst>
          </p:cNvPr>
          <p:cNvSpPr/>
          <p:nvPr/>
        </p:nvSpPr>
        <p:spPr>
          <a:xfrm>
            <a:off x="923215" y="2071367"/>
            <a:ext cx="4658631" cy="423192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  <a:t>Полный контроль над ресурсами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  <a:t>Высокие капитальные затраты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Сложность масштабирования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  <a:t>Сложность проектирования архитектуры и ИС с учётом требований к ЗО КИИ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  <a:t>Сложность обслуживания оборудования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  <a:t>Длительные сроки реализации </a:t>
            </a:r>
            <a:b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</a:br>
            <a:r>
              <a:rPr lang="ru-RU" sz="2000" dirty="0">
                <a:solidFill>
                  <a:schemeClr val="tx1"/>
                </a:solidFill>
                <a:latin typeface="Inter" panose="02000503000000020004" pitchFamily="50" charset="0"/>
              </a:rPr>
              <a:t>и проблемы аттестации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7216D-780C-40A9-8AEB-9A11D32CB45B}"/>
              </a:ext>
            </a:extLst>
          </p:cNvPr>
          <p:cNvSpPr txBox="1"/>
          <p:nvPr/>
        </p:nvSpPr>
        <p:spPr>
          <a:xfrm>
            <a:off x="355856" y="1276145"/>
            <a:ext cx="401802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200" dirty="0">
                <a:solidFill>
                  <a:schemeClr val="accent3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O</a:t>
            </a:r>
            <a:r>
              <a:rPr lang="en-US" sz="3200" dirty="0">
                <a:solidFill>
                  <a:schemeClr val="accent3"/>
                </a:solidFill>
                <a:effectLst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n-premise </a:t>
            </a:r>
            <a:endParaRPr lang="ru-RU" sz="3200" dirty="0">
              <a:solidFill>
                <a:schemeClr val="accent3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58DEE-3644-4E58-9047-6B31D413F7AC}"/>
              </a:ext>
            </a:extLst>
          </p:cNvPr>
          <p:cNvSpPr txBox="1"/>
          <p:nvPr/>
        </p:nvSpPr>
        <p:spPr>
          <a:xfrm>
            <a:off x="6710620" y="1276145"/>
            <a:ext cx="993938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Облако КИИ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5C4262E-36C1-4DD6-A25D-F08C3B959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90" y="2604774"/>
            <a:ext cx="306000" cy="306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29AA37-6455-45A2-897B-B3710FD5A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826" y="2070094"/>
            <a:ext cx="306169" cy="306169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769E6AC-34CC-4907-9B10-9D18BB23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8366073" cy="486820"/>
          </a:xfrm>
        </p:spPr>
        <p:txBody>
          <a:bodyPr/>
          <a:lstStyle/>
          <a:p>
            <a:r>
              <a:rPr lang="ru-RU" dirty="0"/>
              <a:t>Сравнение вариантов размещения КИИ 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553DDE6-5B70-468E-ABE6-F754DAD25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90" y="3132281"/>
            <a:ext cx="306000" cy="306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CEAAE79-2B2A-4C5A-B2AD-64FAE66D4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90" y="3981477"/>
            <a:ext cx="306000" cy="3060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1D90811-D4F7-4ECA-8F5C-B74B9CD54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90" y="4951543"/>
            <a:ext cx="306000" cy="306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B212DF3-8830-4992-8209-C52426A6B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90" y="5817437"/>
            <a:ext cx="306000" cy="306000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53B95EC-23EE-4D20-BCD5-061BB4393F5A}"/>
              </a:ext>
            </a:extLst>
          </p:cNvPr>
          <p:cNvSpPr/>
          <p:nvPr/>
        </p:nvSpPr>
        <p:spPr>
          <a:xfrm>
            <a:off x="7277980" y="2071367"/>
            <a:ext cx="4658631" cy="423192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Внешняя инфраструктура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Сервисная модель затрат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Гибкое масштабирование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Сокращение затрат </a:t>
            </a:r>
            <a:b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</a:b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на проработку концепции защиты </a:t>
            </a:r>
            <a:b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</a:b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и проектирование архитектуры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Обслуживание оборудования </a:t>
            </a:r>
            <a:b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</a:b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на стороне провайдера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Оперативная реализация </a:t>
            </a:r>
            <a:b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</a:br>
            <a:r>
              <a:rPr lang="ru-RU" sz="2000" dirty="0">
                <a:solidFill>
                  <a:schemeClr val="bg1"/>
                </a:solidFill>
                <a:latin typeface="Inter" panose="02000503000000020004" pitchFamily="50" charset="0"/>
              </a:rPr>
              <a:t>и аттестованная инфраструктура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553029C-61F3-4674-BC1F-9AEA93EB2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47" y="2604774"/>
            <a:ext cx="306169" cy="30616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0BC6842-EC03-4550-BF63-336EA7E87C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47" y="3132197"/>
            <a:ext cx="306169" cy="30616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3159743-C1D0-4BB1-9014-B05A13112A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47" y="3981393"/>
            <a:ext cx="306169" cy="30616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46F14A1-080E-43A2-8A8A-DAB8736C09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47" y="4951459"/>
            <a:ext cx="306169" cy="30616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6011135-4088-4D45-B69C-F6CE7FD6A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47" y="5817437"/>
            <a:ext cx="306169" cy="30616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6064E66-B658-48A7-936B-6C787FA3F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131" y="2070263"/>
            <a:ext cx="306000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8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0D701F7-99CD-4EAD-B0FF-732A6D27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5826916" cy="486820"/>
          </a:xfrm>
        </p:spPr>
        <p:txBody>
          <a:bodyPr/>
          <a:lstStyle/>
          <a:p>
            <a:r>
              <a:rPr lang="ru-RU" dirty="0"/>
              <a:t>Преимущества Облака КИИ</a:t>
            </a:r>
          </a:p>
        </p:txBody>
      </p:sp>
      <p:sp>
        <p:nvSpPr>
          <p:cNvPr id="44" name="Номер слайда 1">
            <a:extLst>
              <a:ext uri="{FF2B5EF4-FFF2-40B4-BE49-F238E27FC236}">
                <a16:creationId xmlns:a16="http://schemas.microsoft.com/office/drawing/2014/main" id="{FEE2ACC1-9B87-421B-9829-C5395B7A7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CF8EA5-2C4E-4036-9B13-501B5170CA50}"/>
              </a:ext>
            </a:extLst>
          </p:cNvPr>
          <p:cNvSpPr txBox="1"/>
          <p:nvPr/>
        </p:nvSpPr>
        <p:spPr>
          <a:xfrm>
            <a:off x="349327" y="1132588"/>
            <a:ext cx="3371928" cy="646331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accent3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Arial"/>
              </a:rPr>
              <a:t>Обеспечение возможности аттестации ИС заказчика</a:t>
            </a:r>
            <a:endParaRPr kumimoji="0" lang="ru-RU" sz="160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BDF8C8-AB79-4623-8FEF-03D3D776FB18}"/>
              </a:ext>
            </a:extLst>
          </p:cNvPr>
          <p:cNvSpPr txBox="1"/>
          <p:nvPr/>
        </p:nvSpPr>
        <p:spPr>
          <a:xfrm>
            <a:off x="349327" y="2759332"/>
            <a:ext cx="2932539" cy="646331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Arial"/>
              </a:rPr>
              <a:t>Импортозамещение оборудования и ПО</a:t>
            </a:r>
            <a:endParaRPr kumimoji="0" lang="ru-RU" sz="160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2C538F-E360-4794-A99C-D88FB5AE44FD}"/>
              </a:ext>
            </a:extLst>
          </p:cNvPr>
          <p:cNvSpPr txBox="1"/>
          <p:nvPr/>
        </p:nvSpPr>
        <p:spPr>
          <a:xfrm>
            <a:off x="349327" y="4296707"/>
            <a:ext cx="2801604" cy="646331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accent3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Arial"/>
              </a:rPr>
              <a:t>Ресурсы </a:t>
            </a:r>
            <a:br>
              <a:rPr lang="en-US" dirty="0">
                <a:solidFill>
                  <a:schemeClr val="accent3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Arial"/>
              </a:rPr>
            </a:br>
            <a:r>
              <a:rPr lang="ru-RU" dirty="0">
                <a:solidFill>
                  <a:schemeClr val="accent3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Arial"/>
              </a:rPr>
              <a:t>и масштабируемость</a:t>
            </a:r>
            <a:endParaRPr kumimoji="0" lang="ru-RU" sz="160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D99672-D665-487E-B3A5-6DE36A64F1E9}"/>
              </a:ext>
            </a:extLst>
          </p:cNvPr>
          <p:cNvSpPr txBox="1"/>
          <p:nvPr/>
        </p:nvSpPr>
        <p:spPr>
          <a:xfrm>
            <a:off x="4232782" y="1040255"/>
            <a:ext cx="7787623" cy="830997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lvl="0">
              <a:spcAft>
                <a:spcPts val="1000"/>
              </a:spcAft>
              <a:buClr>
                <a:srgbClr val="7700FF"/>
              </a:buClr>
              <a:defRPr/>
            </a:pPr>
            <a:r>
              <a:rPr lang="ru-RU" sz="1600" dirty="0"/>
              <a:t>Заказчик получает инфраструктуру, аттестованную по 187-ФЗ</a:t>
            </a:r>
            <a:br>
              <a:rPr lang="ru-RU" sz="1600" dirty="0"/>
            </a:br>
            <a:r>
              <a:rPr lang="ru-RU" sz="1600" dirty="0"/>
              <a:t>и соответствующую требованиям ГИС К1 и УЗ-1 ИСПД, что облегчает дальнейшую аттестацию его информационной системы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A49BD1-25A7-4039-A3CB-4031A980505E}"/>
              </a:ext>
            </a:extLst>
          </p:cNvPr>
          <p:cNvSpPr txBox="1"/>
          <p:nvPr/>
        </p:nvSpPr>
        <p:spPr>
          <a:xfrm>
            <a:off x="4232782" y="2499203"/>
            <a:ext cx="8090338" cy="1077218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>
              <a:spcAft>
                <a:spcPts val="1000"/>
              </a:spcAft>
              <a:buClr>
                <a:srgbClr val="7700FF"/>
              </a:buClr>
              <a:defRPr/>
            </a:pPr>
            <a:r>
              <a:rPr lang="ru-RU" sz="1600" dirty="0">
                <a:solidFill>
                  <a:prstClr val="black"/>
                </a:solidFill>
              </a:rPr>
              <a:t>Облако построено только на отечественных решениях в части инфраструктуры и ПО и соответствует требованиям приказа</a:t>
            </a:r>
            <a:br>
              <a:rPr lang="ru-RU" sz="1600" dirty="0">
                <a:solidFill>
                  <a:prstClr val="black"/>
                </a:solidFill>
              </a:rPr>
            </a:br>
            <a:r>
              <a:rPr lang="ru-RU" sz="1600" dirty="0">
                <a:solidFill>
                  <a:prstClr val="black"/>
                </a:solidFill>
              </a:rPr>
              <a:t>ФСТЭК №</a:t>
            </a:r>
            <a:r>
              <a:rPr lang="ru-RU" sz="8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239</a:t>
            </a:r>
            <a:r>
              <a:rPr lang="ru-RU" sz="1600" dirty="0">
                <a:solidFill>
                  <a:prstClr val="black"/>
                </a:solidFill>
              </a:rPr>
              <a:t> на уровне инфраструктуры, с которой заказчик</a:t>
            </a:r>
            <a:br>
              <a:rPr lang="ru-RU" sz="1600" dirty="0">
                <a:solidFill>
                  <a:prstClr val="black"/>
                </a:solidFill>
              </a:rPr>
            </a:br>
            <a:r>
              <a:rPr lang="ru-RU" sz="1600" dirty="0">
                <a:solidFill>
                  <a:prstClr val="black"/>
                </a:solidFill>
              </a:rPr>
              <a:t>сможет пройти проверку регуляторов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718C92-74CB-408E-B96B-ECC199F39534}"/>
              </a:ext>
            </a:extLst>
          </p:cNvPr>
          <p:cNvSpPr txBox="1"/>
          <p:nvPr/>
        </p:nvSpPr>
        <p:spPr>
          <a:xfrm>
            <a:off x="4232782" y="4204374"/>
            <a:ext cx="7237858" cy="830997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Легко изменять состав и количество ресурсов для ИС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заказчика без дополнительных усилий на переаттестацию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системы и не закладывая дополнительный CAPEX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F6BA6CA7-57A0-40B5-893D-14D04795DD79}"/>
              </a:ext>
            </a:extLst>
          </p:cNvPr>
          <p:cNvCxnSpPr>
            <a:cxnSpLocks/>
          </p:cNvCxnSpPr>
          <p:nvPr/>
        </p:nvCxnSpPr>
        <p:spPr>
          <a:xfrm>
            <a:off x="384000" y="2246783"/>
            <a:ext cx="11436525" cy="0"/>
          </a:xfrm>
          <a:prstGeom prst="line">
            <a:avLst/>
          </a:prstGeom>
          <a:ln w="19050">
            <a:solidFill>
              <a:srgbClr val="D5EB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E6000905-3928-4353-95D8-FAD6811E4EE3}"/>
              </a:ext>
            </a:extLst>
          </p:cNvPr>
          <p:cNvGrpSpPr>
            <a:grpSpLocks noChangeAspect="1"/>
          </p:cNvGrpSpPr>
          <p:nvPr/>
        </p:nvGrpSpPr>
        <p:grpSpPr>
          <a:xfrm>
            <a:off x="3678285" y="2713811"/>
            <a:ext cx="308967" cy="648000"/>
            <a:chOff x="5232443" y="1610253"/>
            <a:chExt cx="327245" cy="686337"/>
          </a:xfrm>
        </p:grpSpPr>
        <p:sp>
          <p:nvSpPr>
            <p:cNvPr id="52" name="Стрелка: шеврон 51">
              <a:extLst>
                <a:ext uri="{FF2B5EF4-FFF2-40B4-BE49-F238E27FC236}">
                  <a16:creationId xmlns:a16="http://schemas.microsoft.com/office/drawing/2014/main" id="{F76FCC74-FB2E-4035-908D-74C68BAB8AA6}"/>
                </a:ext>
              </a:extLst>
            </p:cNvPr>
            <p:cNvSpPr/>
            <p:nvPr/>
          </p:nvSpPr>
          <p:spPr>
            <a:xfrm>
              <a:off x="523244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53" name="Стрелка: шеврон 52">
              <a:extLst>
                <a:ext uri="{FF2B5EF4-FFF2-40B4-BE49-F238E27FC236}">
                  <a16:creationId xmlns:a16="http://schemas.microsoft.com/office/drawing/2014/main" id="{483291F0-E9EA-4156-9711-F56A7D038D04}"/>
                </a:ext>
              </a:extLst>
            </p:cNvPr>
            <p:cNvSpPr/>
            <p:nvPr/>
          </p:nvSpPr>
          <p:spPr>
            <a:xfrm>
              <a:off x="534420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18CC604A-9C65-4EAA-96B2-C076F22DBAB7}"/>
              </a:ext>
            </a:extLst>
          </p:cNvPr>
          <p:cNvGrpSpPr>
            <a:grpSpLocks noChangeAspect="1"/>
          </p:cNvGrpSpPr>
          <p:nvPr/>
        </p:nvGrpSpPr>
        <p:grpSpPr>
          <a:xfrm>
            <a:off x="3678285" y="1131753"/>
            <a:ext cx="308967" cy="648000"/>
            <a:chOff x="5232443" y="1610253"/>
            <a:chExt cx="327245" cy="686337"/>
          </a:xfrm>
        </p:grpSpPr>
        <p:sp>
          <p:nvSpPr>
            <p:cNvPr id="55" name="Стрелка: шеврон 54">
              <a:extLst>
                <a:ext uri="{FF2B5EF4-FFF2-40B4-BE49-F238E27FC236}">
                  <a16:creationId xmlns:a16="http://schemas.microsoft.com/office/drawing/2014/main" id="{5B0AEB92-5485-43A5-81F5-F4E3C293F37F}"/>
                </a:ext>
              </a:extLst>
            </p:cNvPr>
            <p:cNvSpPr/>
            <p:nvPr/>
          </p:nvSpPr>
          <p:spPr>
            <a:xfrm>
              <a:off x="523244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56" name="Стрелка: шеврон 55">
              <a:extLst>
                <a:ext uri="{FF2B5EF4-FFF2-40B4-BE49-F238E27FC236}">
                  <a16:creationId xmlns:a16="http://schemas.microsoft.com/office/drawing/2014/main" id="{0C18E87D-4761-4937-807F-C8C0C1D5C6AC}"/>
                </a:ext>
              </a:extLst>
            </p:cNvPr>
            <p:cNvSpPr/>
            <p:nvPr/>
          </p:nvSpPr>
          <p:spPr>
            <a:xfrm>
              <a:off x="534420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257A446D-5877-4757-AB24-2D489E590212}"/>
              </a:ext>
            </a:extLst>
          </p:cNvPr>
          <p:cNvGrpSpPr>
            <a:grpSpLocks noChangeAspect="1"/>
          </p:cNvGrpSpPr>
          <p:nvPr/>
        </p:nvGrpSpPr>
        <p:grpSpPr>
          <a:xfrm>
            <a:off x="3678285" y="4295872"/>
            <a:ext cx="308967" cy="648000"/>
            <a:chOff x="5232443" y="1610253"/>
            <a:chExt cx="327245" cy="686337"/>
          </a:xfrm>
        </p:grpSpPr>
        <p:sp>
          <p:nvSpPr>
            <p:cNvPr id="58" name="Стрелка: шеврон 57">
              <a:extLst>
                <a:ext uri="{FF2B5EF4-FFF2-40B4-BE49-F238E27FC236}">
                  <a16:creationId xmlns:a16="http://schemas.microsoft.com/office/drawing/2014/main" id="{E63F964A-BE84-4CB9-936E-FDD0D070B949}"/>
                </a:ext>
              </a:extLst>
            </p:cNvPr>
            <p:cNvSpPr/>
            <p:nvPr/>
          </p:nvSpPr>
          <p:spPr>
            <a:xfrm>
              <a:off x="523244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59" name="Стрелка: шеврон 58">
              <a:extLst>
                <a:ext uri="{FF2B5EF4-FFF2-40B4-BE49-F238E27FC236}">
                  <a16:creationId xmlns:a16="http://schemas.microsoft.com/office/drawing/2014/main" id="{D23E3EF7-1DDF-4D71-B9B5-91387B50AB5A}"/>
                </a:ext>
              </a:extLst>
            </p:cNvPr>
            <p:cNvSpPr/>
            <p:nvPr/>
          </p:nvSpPr>
          <p:spPr>
            <a:xfrm>
              <a:off x="534420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</p:grp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9798F0E2-92AC-405A-BFA8-7861733CF139}"/>
              </a:ext>
            </a:extLst>
          </p:cNvPr>
          <p:cNvCxnSpPr>
            <a:cxnSpLocks/>
          </p:cNvCxnSpPr>
          <p:nvPr/>
        </p:nvCxnSpPr>
        <p:spPr>
          <a:xfrm>
            <a:off x="384000" y="3828842"/>
            <a:ext cx="11436525" cy="0"/>
          </a:xfrm>
          <a:prstGeom prst="line">
            <a:avLst/>
          </a:prstGeom>
          <a:ln w="19050">
            <a:solidFill>
              <a:srgbClr val="D5EB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C5E9DB4-F528-4276-A064-26A9F36F65D3}"/>
              </a:ext>
            </a:extLst>
          </p:cNvPr>
          <p:cNvSpPr txBox="1"/>
          <p:nvPr/>
        </p:nvSpPr>
        <p:spPr>
          <a:xfrm>
            <a:off x="349327" y="5811334"/>
            <a:ext cx="2801604" cy="369332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>
                <a:solidFill>
                  <a:schemeClr val="accent3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Arial"/>
              </a:rPr>
              <a:t>Георезервирование</a:t>
            </a:r>
            <a:endParaRPr kumimoji="0" lang="ru-RU" sz="160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692D2A-4967-43D1-96D7-29645A83DB6E}"/>
              </a:ext>
            </a:extLst>
          </p:cNvPr>
          <p:cNvSpPr txBox="1"/>
          <p:nvPr/>
        </p:nvSpPr>
        <p:spPr>
          <a:xfrm>
            <a:off x="4232782" y="5828740"/>
            <a:ext cx="6580113" cy="33855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7700FF"/>
              </a:buClr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Облако реализовано на базе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геораспределенных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площадок</a:t>
            </a:r>
          </a:p>
        </p:txBody>
      </p: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E532D213-C37C-40D3-B2B6-79C8DD4A9E29}"/>
              </a:ext>
            </a:extLst>
          </p:cNvPr>
          <p:cNvGrpSpPr>
            <a:grpSpLocks noChangeAspect="1"/>
          </p:cNvGrpSpPr>
          <p:nvPr/>
        </p:nvGrpSpPr>
        <p:grpSpPr>
          <a:xfrm>
            <a:off x="3678285" y="5672000"/>
            <a:ext cx="308967" cy="648000"/>
            <a:chOff x="5232443" y="1610253"/>
            <a:chExt cx="327245" cy="686337"/>
          </a:xfrm>
        </p:grpSpPr>
        <p:sp>
          <p:nvSpPr>
            <p:cNvPr id="64" name="Стрелка: шеврон 63">
              <a:extLst>
                <a:ext uri="{FF2B5EF4-FFF2-40B4-BE49-F238E27FC236}">
                  <a16:creationId xmlns:a16="http://schemas.microsoft.com/office/drawing/2014/main" id="{BDC872E2-3630-417E-8B25-09150E746183}"/>
                </a:ext>
              </a:extLst>
            </p:cNvPr>
            <p:cNvSpPr/>
            <p:nvPr/>
          </p:nvSpPr>
          <p:spPr>
            <a:xfrm>
              <a:off x="523244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  <p:sp>
          <p:nvSpPr>
            <p:cNvPr id="65" name="Стрелка: шеврон 64">
              <a:extLst>
                <a:ext uri="{FF2B5EF4-FFF2-40B4-BE49-F238E27FC236}">
                  <a16:creationId xmlns:a16="http://schemas.microsoft.com/office/drawing/2014/main" id="{C89EAD47-5641-407F-AE95-9F1FBAA19425}"/>
                </a:ext>
              </a:extLst>
            </p:cNvPr>
            <p:cNvSpPr/>
            <p:nvPr/>
          </p:nvSpPr>
          <p:spPr>
            <a:xfrm>
              <a:off x="5344203" y="1610253"/>
              <a:ext cx="215485" cy="686337"/>
            </a:xfrm>
            <a:prstGeom prst="chevron">
              <a:avLst>
                <a:gd name="adj" fmla="val 96921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endParaRPr>
            </a:p>
          </p:txBody>
        </p:sp>
      </p:grp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0DBD7931-90FD-40CF-8C73-C24B3FCC299F}"/>
              </a:ext>
            </a:extLst>
          </p:cNvPr>
          <p:cNvCxnSpPr>
            <a:cxnSpLocks/>
          </p:cNvCxnSpPr>
          <p:nvPr/>
        </p:nvCxnSpPr>
        <p:spPr>
          <a:xfrm>
            <a:off x="384000" y="5413821"/>
            <a:ext cx="11436525" cy="0"/>
          </a:xfrm>
          <a:prstGeom prst="line">
            <a:avLst/>
          </a:prstGeom>
          <a:ln w="19050">
            <a:solidFill>
              <a:srgbClr val="D5EB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49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2235A2B9-F6D0-4C6F-8175-607B3F3495A2}"/>
              </a:ext>
            </a:extLst>
          </p:cNvPr>
          <p:cNvSpPr txBox="1"/>
          <p:nvPr/>
        </p:nvSpPr>
        <p:spPr>
          <a:xfrm>
            <a:off x="366742" y="3398520"/>
            <a:ext cx="3434905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6000" indent="-216000" algn="l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ru-RU" sz="1400" dirty="0">
                <a:latin typeface="Inter" panose="02000503000000020004" pitchFamily="50" charset="0"/>
              </a:rPr>
              <a:t>Комплексная защита, включая аттестацию и обеспечение информационной безопасности</a:t>
            </a:r>
          </a:p>
          <a:p>
            <a:pPr marL="216000" indent="-216000" algn="l">
              <a:buClr>
                <a:schemeClr val="accent3"/>
              </a:buClr>
              <a:buFont typeface="Wingdings" panose="05000000000000000000" pitchFamily="2" charset="2"/>
              <a:buChar char="§"/>
            </a:pPr>
            <a:endParaRPr lang="ru-RU" sz="1400" dirty="0">
              <a:latin typeface="Inter" panose="02000503000000020004" pitchFamily="50" charset="0"/>
            </a:endParaRPr>
          </a:p>
          <a:p>
            <a:pPr marL="216000" indent="-216000" algn="l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ru-RU" sz="1400" dirty="0">
                <a:latin typeface="Inter" panose="02000503000000020004" pitchFamily="50" charset="0"/>
              </a:rPr>
              <a:t>Подключение к </a:t>
            </a:r>
            <a:r>
              <a:rPr lang="ru-RU" sz="1400" dirty="0" err="1">
                <a:latin typeface="Inter" panose="02000503000000020004" pitchFamily="50" charset="0"/>
              </a:rPr>
              <a:t>ГосСОПКА</a:t>
            </a:r>
            <a:r>
              <a:rPr lang="ru-RU" sz="1400" dirty="0">
                <a:latin typeface="Inter" panose="02000503000000020004" pitchFamily="50" charset="0"/>
              </a:rPr>
              <a:t>, взаимодействие с НКЦКИ </a:t>
            </a:r>
            <a:br>
              <a:rPr lang="en-US" sz="1400" dirty="0">
                <a:latin typeface="Inter" panose="02000503000000020004" pitchFamily="50" charset="0"/>
              </a:rPr>
            </a:br>
            <a:r>
              <a:rPr lang="ru-RU" sz="1400" dirty="0">
                <a:latin typeface="Inter" panose="02000503000000020004" pitchFamily="50" charset="0"/>
              </a:rPr>
              <a:t>по обмену информацией </a:t>
            </a:r>
            <a:br>
              <a:rPr lang="en-US" sz="1400" dirty="0">
                <a:latin typeface="Inter" panose="02000503000000020004" pitchFamily="50" charset="0"/>
              </a:rPr>
            </a:br>
            <a:r>
              <a:rPr lang="ru-RU" sz="1400" dirty="0">
                <a:latin typeface="Inter" panose="02000503000000020004" pitchFamily="50" charset="0"/>
              </a:rPr>
              <a:t>об</a:t>
            </a:r>
            <a:r>
              <a:rPr lang="en-US" sz="1400" dirty="0">
                <a:latin typeface="Inter" panose="02000503000000020004" pitchFamily="50" charset="0"/>
              </a:rPr>
              <a:t> </a:t>
            </a:r>
            <a:r>
              <a:rPr lang="ru-RU" sz="1400" dirty="0">
                <a:latin typeface="Inter" panose="02000503000000020004" pitchFamily="50" charset="0"/>
              </a:rPr>
              <a:t>инцидентах ИБ </a:t>
            </a:r>
            <a:br>
              <a:rPr lang="ru-RU" sz="1400" dirty="0">
                <a:latin typeface="Inter" panose="02000503000000020004" pitchFamily="50" charset="0"/>
              </a:rPr>
            </a:br>
            <a:r>
              <a:rPr lang="ru-RU" sz="1400" dirty="0">
                <a:latin typeface="Inter" panose="02000503000000020004" pitchFamily="50" charset="0"/>
              </a:rPr>
              <a:t>и проведение расследований</a:t>
            </a:r>
          </a:p>
          <a:p>
            <a:pPr marL="216000" indent="-216000" algn="l">
              <a:buClr>
                <a:schemeClr val="accent3"/>
              </a:buClr>
              <a:buFont typeface="Wingdings" panose="05000000000000000000" pitchFamily="2" charset="2"/>
              <a:buChar char="§"/>
            </a:pPr>
            <a:endParaRPr lang="ru-RU" sz="1400" dirty="0">
              <a:latin typeface="Inter" panose="02000503000000020004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F7F4C7-0FD5-4B69-804A-2A3B318FFBAF}"/>
              </a:ext>
            </a:extLst>
          </p:cNvPr>
          <p:cNvSpPr txBox="1"/>
          <p:nvPr/>
        </p:nvSpPr>
        <p:spPr>
          <a:xfrm>
            <a:off x="8137257" y="2432076"/>
            <a:ext cx="3935138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>
              <a:buClr>
                <a:schemeClr val="accent3"/>
              </a:buClr>
              <a:defRPr>
                <a:latin typeface="+mj-lt"/>
              </a:defRPr>
            </a:lvl1pPr>
          </a:lstStyle>
          <a:p>
            <a:r>
              <a:rPr lang="ru-RU" sz="1400" dirty="0">
                <a:latin typeface="Inter Medium" panose="02000603000000020004" pitchFamily="50" charset="0"/>
              </a:rPr>
              <a:t>Ресурсы компании: информационные </a:t>
            </a:r>
            <a:br>
              <a:rPr lang="ru-RU" sz="1400" dirty="0">
                <a:latin typeface="Inter Medium" panose="02000603000000020004" pitchFamily="50" charset="0"/>
              </a:rPr>
            </a:br>
            <a:r>
              <a:rPr lang="ru-RU" sz="1400" dirty="0">
                <a:latin typeface="Inter Medium" panose="02000603000000020004" pitchFamily="50" charset="0"/>
              </a:rPr>
              <a:t>системы, виртуальные машины (ВМ)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A5BEDB-339B-4408-BF66-6E482759537F}"/>
              </a:ext>
            </a:extLst>
          </p:cNvPr>
          <p:cNvSpPr txBox="1"/>
          <p:nvPr/>
        </p:nvSpPr>
        <p:spPr>
          <a:xfrm>
            <a:off x="380797" y="2432076"/>
            <a:ext cx="4085561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l">
              <a:buClr>
                <a:schemeClr val="accent3"/>
              </a:buClr>
            </a:pPr>
            <a:r>
              <a:rPr lang="ru-RU" sz="1400" dirty="0">
                <a:latin typeface="Inter Medium" panose="02000603000000020004" pitchFamily="50" charset="0"/>
              </a:rPr>
              <a:t>Облачная инфраструктура </a:t>
            </a:r>
            <a:br>
              <a:rPr lang="ru-RU" sz="1400" dirty="0">
                <a:latin typeface="Inter Medium" panose="02000603000000020004" pitchFamily="50" charset="0"/>
              </a:rPr>
            </a:br>
            <a:r>
              <a:rPr lang="ru-RU" sz="1400" dirty="0">
                <a:latin typeface="Inter Medium" panose="02000603000000020004" pitchFamily="50" charset="0"/>
              </a:rPr>
              <a:t>для размещения объектов КИИ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14CCD90-6E46-4167-8ADE-D4B89B0F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" y="333460"/>
            <a:ext cx="7389844" cy="930018"/>
          </a:xfrm>
        </p:spPr>
        <p:txBody>
          <a:bodyPr/>
          <a:lstStyle/>
          <a:p>
            <a:r>
              <a:rPr lang="ru-RU" dirty="0"/>
              <a:t>Зона ответственности провайдера </a:t>
            </a:r>
            <a:br>
              <a:rPr lang="ru-RU" dirty="0"/>
            </a:br>
            <a:r>
              <a:rPr lang="ru-RU" dirty="0">
                <a:solidFill>
                  <a:schemeClr val="accent3"/>
                </a:solidFill>
              </a:rPr>
              <a:t>→ уровень инфраструктуры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D2FA40-11FD-4B24-BCAC-B6A9A87D8FD5}"/>
              </a:ext>
            </a:extLst>
          </p:cNvPr>
          <p:cNvSpPr txBox="1"/>
          <p:nvPr/>
        </p:nvSpPr>
        <p:spPr>
          <a:xfrm>
            <a:off x="8137257" y="1665264"/>
            <a:ext cx="251546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>
              <a:buClr>
                <a:schemeClr val="accent3"/>
              </a:buClr>
              <a:defRPr>
                <a:latin typeface="+mj-lt"/>
              </a:defRPr>
            </a:lvl1pPr>
          </a:lstStyle>
          <a:p>
            <a:r>
              <a:rPr lang="ru-RU" b="1" dirty="0">
                <a:latin typeface="Inter" panose="02000503000000020004" pitchFamily="50" charset="0"/>
              </a:rPr>
              <a:t>Заказчик</a:t>
            </a: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DC8327A8-120E-4602-9FCD-AD363CF2BF17}"/>
              </a:ext>
            </a:extLst>
          </p:cNvPr>
          <p:cNvCxnSpPr/>
          <p:nvPr/>
        </p:nvCxnSpPr>
        <p:spPr>
          <a:xfrm>
            <a:off x="366741" y="2191343"/>
            <a:ext cx="3132000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9603E0F0-AED4-40ED-835E-0238F316263A}"/>
              </a:ext>
            </a:extLst>
          </p:cNvPr>
          <p:cNvCxnSpPr>
            <a:cxnSpLocks/>
          </p:cNvCxnSpPr>
          <p:nvPr/>
        </p:nvCxnSpPr>
        <p:spPr>
          <a:xfrm>
            <a:off x="366741" y="3086345"/>
            <a:ext cx="3132000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50F4648-E4FE-4CA2-927F-B9268D674321}"/>
              </a:ext>
            </a:extLst>
          </p:cNvPr>
          <p:cNvCxnSpPr>
            <a:cxnSpLocks/>
          </p:cNvCxnSpPr>
          <p:nvPr/>
        </p:nvCxnSpPr>
        <p:spPr>
          <a:xfrm>
            <a:off x="8137257" y="2191343"/>
            <a:ext cx="3661780" cy="0"/>
          </a:xfrm>
          <a:prstGeom prst="lin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F503BFC7-DBE3-45F6-97CB-8BE3F42D4950}"/>
              </a:ext>
            </a:extLst>
          </p:cNvPr>
          <p:cNvCxnSpPr>
            <a:cxnSpLocks/>
          </p:cNvCxnSpPr>
          <p:nvPr/>
        </p:nvCxnSpPr>
        <p:spPr>
          <a:xfrm>
            <a:off x="8137256" y="3086345"/>
            <a:ext cx="3661200" cy="0"/>
          </a:xfrm>
          <a:prstGeom prst="lin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BFE5A2A6-A805-46B6-B3FB-87C9BE5EBF0A}"/>
              </a:ext>
            </a:extLst>
          </p:cNvPr>
          <p:cNvGrpSpPr/>
          <p:nvPr/>
        </p:nvGrpSpPr>
        <p:grpSpPr>
          <a:xfrm>
            <a:off x="3275531" y="2387238"/>
            <a:ext cx="5012600" cy="4823330"/>
            <a:chOff x="3040488" y="2230886"/>
            <a:chExt cx="5012600" cy="4823330"/>
          </a:xfrm>
        </p:grpSpPr>
        <p:pic>
          <p:nvPicPr>
            <p:cNvPr id="40" name="Рисунок 39" descr="Облако со сплошной заливкой">
              <a:extLst>
                <a:ext uri="{FF2B5EF4-FFF2-40B4-BE49-F238E27FC236}">
                  <a16:creationId xmlns:a16="http://schemas.microsoft.com/office/drawing/2014/main" id="{EA4EEF79-F3A8-41EE-8EDB-F4A95E5EA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0488" y="2230886"/>
              <a:ext cx="5012600" cy="4823330"/>
            </a:xfrm>
            <a:prstGeom prst="rect">
              <a:avLst/>
            </a:prstGeom>
          </p:spPr>
        </p:pic>
        <p:pic>
          <p:nvPicPr>
            <p:cNvPr id="39" name="Рисунок 38" descr="Облако со сплошной заливкой">
              <a:extLst>
                <a:ext uri="{FF2B5EF4-FFF2-40B4-BE49-F238E27FC236}">
                  <a16:creationId xmlns:a16="http://schemas.microsoft.com/office/drawing/2014/main" id="{1982ADB3-F982-4768-96B1-1D1EB0122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44313" y="3061515"/>
              <a:ext cx="2792776" cy="2687324"/>
            </a:xfrm>
            <a:prstGeom prst="rect">
              <a:avLst/>
            </a:prstGeom>
          </p:spPr>
        </p:pic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BD423B2A-E8D9-44DD-B9A4-E863ECAA2EFD}"/>
                </a:ext>
              </a:extLst>
            </p:cNvPr>
            <p:cNvGrpSpPr/>
            <p:nvPr/>
          </p:nvGrpSpPr>
          <p:grpSpPr>
            <a:xfrm>
              <a:off x="5654975" y="2415149"/>
              <a:ext cx="1901600" cy="1980428"/>
              <a:chOff x="5953113" y="2256099"/>
              <a:chExt cx="1901600" cy="1980428"/>
            </a:xfrm>
          </p:grpSpPr>
          <p:cxnSp>
            <p:nvCxnSpPr>
              <p:cNvPr id="10" name="Соединитель: уступ 9">
                <a:extLst>
                  <a:ext uri="{FF2B5EF4-FFF2-40B4-BE49-F238E27FC236}">
                    <a16:creationId xmlns:a16="http://schemas.microsoft.com/office/drawing/2014/main" id="{183487F1-FDFF-4F2B-A64F-AD9272FD81B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980579" y="2351113"/>
                <a:ext cx="1867746" cy="1800000"/>
              </a:xfrm>
              <a:prstGeom prst="bentConnector2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8B6F2589-89E0-4ECC-A620-0AD3CE013CBD}"/>
                  </a:ext>
                </a:extLst>
              </p:cNvPr>
              <p:cNvSpPr/>
              <p:nvPr/>
            </p:nvSpPr>
            <p:spPr>
              <a:xfrm>
                <a:off x="7732035" y="2256099"/>
                <a:ext cx="122678" cy="122678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Inter" panose="02000503000000020004" pitchFamily="50" charset="0"/>
                </a:endParaRPr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C65463C1-0636-45FC-9E08-BECA471F2304}"/>
                  </a:ext>
                </a:extLst>
              </p:cNvPr>
              <p:cNvSpPr/>
              <p:nvPr/>
            </p:nvSpPr>
            <p:spPr>
              <a:xfrm>
                <a:off x="5953113" y="4113849"/>
                <a:ext cx="122678" cy="12267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Inter" panose="02000503000000020004" pitchFamily="50" charset="0"/>
                </a:endParaRPr>
              </a:p>
            </p:txBody>
          </p:sp>
        </p:grpSp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58383365-97C2-4EEF-8D00-F8699E21BD13}"/>
                </a:ext>
              </a:extLst>
            </p:cNvPr>
            <p:cNvGrpSpPr/>
            <p:nvPr/>
          </p:nvGrpSpPr>
          <p:grpSpPr>
            <a:xfrm>
              <a:off x="4049266" y="2414951"/>
              <a:ext cx="1184386" cy="1166679"/>
              <a:chOff x="4437706" y="2414951"/>
              <a:chExt cx="1184386" cy="1166679"/>
            </a:xfrm>
          </p:grpSpPr>
          <p:cxnSp>
            <p:nvCxnSpPr>
              <p:cNvPr id="41" name="Соединитель: уступ 40">
                <a:extLst>
                  <a:ext uri="{FF2B5EF4-FFF2-40B4-BE49-F238E27FC236}">
                    <a16:creationId xmlns:a16="http://schemas.microsoft.com/office/drawing/2014/main" id="{0C87EA98-B7AB-431C-A9F0-0509BD89683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4510693" y="2470230"/>
                <a:ext cx="1044000" cy="1056120"/>
              </a:xfrm>
              <a:prstGeom prst="bentConnector2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66AF3237-91D6-4298-8B3A-458FE5B1650A}"/>
                  </a:ext>
                </a:extLst>
              </p:cNvPr>
              <p:cNvSpPr/>
              <p:nvPr/>
            </p:nvSpPr>
            <p:spPr>
              <a:xfrm>
                <a:off x="5499414" y="3458952"/>
                <a:ext cx="122678" cy="12267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Inter" panose="02000503000000020004" pitchFamily="50" charset="0"/>
                </a:endParaRPr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A5060C37-5B81-423D-AB2B-8C2562222A29}"/>
                  </a:ext>
                </a:extLst>
              </p:cNvPr>
              <p:cNvSpPr/>
              <p:nvPr/>
            </p:nvSpPr>
            <p:spPr>
              <a:xfrm>
                <a:off x="4437706" y="2414951"/>
                <a:ext cx="122678" cy="122678"/>
              </a:xfrm>
              <a:prstGeom prst="ellipse">
                <a:avLst/>
              </a:prstGeom>
              <a:solidFill>
                <a:schemeClr val="accent3"/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Inter" panose="02000503000000020004" pitchFamily="50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4BB3C9-FE7A-413A-9051-3EA625C1080C}"/>
                </a:ext>
              </a:extLst>
            </p:cNvPr>
            <p:cNvSpPr txBox="1"/>
            <p:nvPr/>
          </p:nvSpPr>
          <p:spPr>
            <a:xfrm>
              <a:off x="4110605" y="5141715"/>
              <a:ext cx="2684184" cy="584775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ru-RU" sz="2000" b="1" dirty="0">
                  <a:solidFill>
                    <a:schemeClr val="bg2"/>
                  </a:solidFill>
                  <a:latin typeface="Inter" panose="02000503000000020004" pitchFamily="50" charset="0"/>
                </a:rPr>
                <a:t>Облако КИИ</a:t>
              </a:r>
            </a:p>
            <a:p>
              <a:pPr algn="ctr">
                <a:buClr>
                  <a:schemeClr val="accent3"/>
                </a:buClr>
              </a:pPr>
              <a:r>
                <a:rPr lang="en-US" dirty="0">
                  <a:solidFill>
                    <a:schemeClr val="bg2"/>
                  </a:solidFill>
                  <a:latin typeface="Inter" panose="02000503000000020004" pitchFamily="50" charset="0"/>
                </a:rPr>
                <a:t>[c</a:t>
              </a:r>
              <a:r>
                <a:rPr lang="ru-RU" dirty="0" err="1">
                  <a:solidFill>
                    <a:schemeClr val="bg2"/>
                  </a:solidFill>
                  <a:latin typeface="Inter" panose="02000503000000020004" pitchFamily="50" charset="0"/>
                </a:rPr>
                <a:t>лой</a:t>
              </a:r>
              <a:r>
                <a:rPr lang="ru-RU" dirty="0">
                  <a:solidFill>
                    <a:schemeClr val="bg2"/>
                  </a:solidFill>
                  <a:latin typeface="Inter" panose="02000503000000020004" pitchFamily="50" charset="0"/>
                </a:rPr>
                <a:t> инфраструктуры</a:t>
              </a:r>
              <a:r>
                <a:rPr lang="en-US" dirty="0">
                  <a:solidFill>
                    <a:schemeClr val="bg2"/>
                  </a:solidFill>
                  <a:latin typeface="Inter" panose="02000503000000020004" pitchFamily="50" charset="0"/>
                </a:rPr>
                <a:t>]</a:t>
              </a:r>
              <a:endParaRPr lang="ru-RU" sz="1400" dirty="0">
                <a:solidFill>
                  <a:schemeClr val="bg2"/>
                </a:solidFill>
                <a:latin typeface="Inter" panose="02000503000000020004" pitchFamily="50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969346-1E2C-4DB1-998C-BF5999FA6EFD}"/>
                </a:ext>
              </a:extLst>
            </p:cNvPr>
            <p:cNvSpPr txBox="1"/>
            <p:nvPr/>
          </p:nvSpPr>
          <p:spPr>
            <a:xfrm>
              <a:off x="4050181" y="4543693"/>
              <a:ext cx="2833951" cy="276999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ru-RU" b="1" dirty="0">
                  <a:latin typeface="Inter" panose="02000503000000020004" pitchFamily="50" charset="0"/>
                </a:rPr>
                <a:t>ВМ и ИС заказчика 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BB7C019-AEBF-44EB-A7AC-A6C45F23C2BD}"/>
              </a:ext>
            </a:extLst>
          </p:cNvPr>
          <p:cNvSpPr txBox="1"/>
          <p:nvPr/>
        </p:nvSpPr>
        <p:spPr>
          <a:xfrm>
            <a:off x="8137257" y="3398520"/>
            <a:ext cx="3539038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6000" indent="-216000" algn="l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sz="1400" dirty="0">
                <a:latin typeface="Inter" panose="02000503000000020004" pitchFamily="50" charset="0"/>
              </a:rPr>
              <a:t>Определение категории </a:t>
            </a:r>
            <a:br>
              <a:rPr lang="ru-RU" sz="1400" dirty="0">
                <a:latin typeface="Inter" panose="02000503000000020004" pitchFamily="50" charset="0"/>
              </a:rPr>
            </a:br>
            <a:r>
              <a:rPr lang="ru-RU" sz="1400" dirty="0">
                <a:latin typeface="Inter" panose="02000503000000020004" pitchFamily="50" charset="0"/>
              </a:rPr>
              <a:t>значимости своих объектов КИИ</a:t>
            </a:r>
          </a:p>
          <a:p>
            <a:pPr marL="216000" indent="-216000" algn="l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ru-RU" sz="1400" dirty="0">
              <a:latin typeface="Inter" panose="02000503000000020004" pitchFamily="50" charset="0"/>
            </a:endParaRPr>
          </a:p>
          <a:p>
            <a:pPr marL="216000" indent="-21600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sz="1400" dirty="0">
                <a:latin typeface="Inter" panose="02000503000000020004" pitchFamily="50" charset="0"/>
              </a:rPr>
              <a:t>Использование средств ИБ для </a:t>
            </a:r>
            <a:br>
              <a:rPr lang="ru-RU" sz="1400" dirty="0">
                <a:latin typeface="Inter" panose="02000503000000020004" pitchFamily="50" charset="0"/>
              </a:rPr>
            </a:br>
            <a:r>
              <a:rPr lang="ru-RU" sz="1400" dirty="0">
                <a:latin typeface="Inter" panose="02000503000000020004" pitchFamily="50" charset="0"/>
              </a:rPr>
              <a:t>защиты пула ресурсов компании</a:t>
            </a:r>
          </a:p>
          <a:p>
            <a:pPr marL="216000" indent="-216000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ru-RU" sz="1400" dirty="0">
              <a:latin typeface="Inter" panose="02000503000000020004" pitchFamily="50" charset="0"/>
            </a:endParaRPr>
          </a:p>
          <a:p>
            <a:pPr marL="216000" indent="-216000" algn="l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sz="1400" dirty="0">
                <a:latin typeface="Inter" panose="02000503000000020004" pitchFamily="50" charset="0"/>
              </a:rPr>
              <a:t>Аттестация и подключение </a:t>
            </a:r>
            <a:br>
              <a:rPr lang="ru-RU" sz="1400" dirty="0">
                <a:latin typeface="Inter" panose="02000503000000020004" pitchFamily="50" charset="0"/>
              </a:rPr>
            </a:br>
            <a:r>
              <a:rPr lang="ru-RU" sz="1400" dirty="0">
                <a:latin typeface="Inter" panose="02000503000000020004" pitchFamily="50" charset="0"/>
              </a:rPr>
              <a:t>ИС компании к </a:t>
            </a:r>
            <a:r>
              <a:rPr lang="ru-RU" sz="1400" dirty="0" err="1">
                <a:latin typeface="Inter" panose="02000503000000020004" pitchFamily="50" charset="0"/>
              </a:rPr>
              <a:t>ГосСОПКА</a:t>
            </a:r>
            <a:r>
              <a:rPr lang="ru-RU" sz="1400" dirty="0">
                <a:latin typeface="Inter" panose="02000503000000020004" pitchFamily="50" charset="0"/>
              </a:rPr>
              <a:t> </a:t>
            </a:r>
          </a:p>
          <a:p>
            <a:pPr marL="216000" indent="-216000" algn="l">
              <a:buClr>
                <a:schemeClr val="accent3"/>
              </a:buClr>
              <a:buFont typeface="Wingdings" panose="05000000000000000000" pitchFamily="2" charset="2"/>
              <a:buChar char="§"/>
            </a:pPr>
            <a:endParaRPr lang="ru-RU" sz="1400" dirty="0">
              <a:latin typeface="Inter" panose="02000503000000020004" pitchFamily="50" charset="0"/>
            </a:endParaRPr>
          </a:p>
        </p:txBody>
      </p:sp>
      <p:sp>
        <p:nvSpPr>
          <p:cNvPr id="38" name="Номер слайда 1">
            <a:extLst>
              <a:ext uri="{FF2B5EF4-FFF2-40B4-BE49-F238E27FC236}">
                <a16:creationId xmlns:a16="http://schemas.microsoft.com/office/drawing/2014/main" id="{1943DA04-E206-4B62-A93B-66F7D1AF0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5" y="6442710"/>
            <a:ext cx="2743200" cy="184666"/>
          </a:xfrm>
        </p:spPr>
        <p:txBody>
          <a:bodyPr/>
          <a:lstStyle/>
          <a:p>
            <a:fld id="{6B6CC755-42E9-42F4-838B-F782248C5624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02855FBF-CF34-40A7-8957-1C98970AE5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797" y="1549837"/>
            <a:ext cx="1358847" cy="51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25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hlinkClick r:id="rId3"/>
            <a:extLst>
              <a:ext uri="{FF2B5EF4-FFF2-40B4-BE49-F238E27FC236}">
                <a16:creationId xmlns:a16="http://schemas.microsoft.com/office/drawing/2014/main" id="{BB08AE05-5BDE-4472-9C3D-B0247B1D2E6C}"/>
              </a:ext>
            </a:extLst>
          </p:cNvPr>
          <p:cNvSpPr txBox="1"/>
          <p:nvPr/>
        </p:nvSpPr>
        <p:spPr>
          <a:xfrm>
            <a:off x="7876659" y="1678681"/>
            <a:ext cx="3364738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700"/>
              </a:lnSpc>
              <a:spcBef>
                <a:spcPts val="1000"/>
              </a:spcBef>
              <a:defRPr sz="4200">
                <a:solidFill>
                  <a:srgbClr val="FFFFFF"/>
                </a:solidFill>
                <a:latin typeface="Rostelecom Basis Medium"/>
                <a:ea typeface="Rostelecom Basis Medium"/>
                <a:cs typeface="Rostelecom Basis Medium"/>
                <a:sym typeface="Rostelecom Basis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sym typeface="Rostelecom Basis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cloud.rt.ru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  <a:sym typeface="Rostelecom Basis Medium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BD2A0C7-F0BC-4D27-81BC-BB1617D1E48E}"/>
              </a:ext>
            </a:extLst>
          </p:cNvPr>
          <p:cNvGrpSpPr/>
          <p:nvPr/>
        </p:nvGrpSpPr>
        <p:grpSpPr>
          <a:xfrm>
            <a:off x="321013" y="1727321"/>
            <a:ext cx="7591908" cy="4412798"/>
            <a:chOff x="2792661" y="1077913"/>
            <a:chExt cx="9558424" cy="555583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5477542-0897-4573-B81A-1C6E08DB4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792661" y="1077913"/>
              <a:ext cx="9558424" cy="5555836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9D699A09-00E1-43CC-B296-E3DFEB46C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225" r="3225"/>
            <a:stretch/>
          </p:blipFill>
          <p:spPr>
            <a:xfrm>
              <a:off x="3832707" y="1345203"/>
              <a:ext cx="7469746" cy="4806361"/>
            </a:xfrm>
            <a:prstGeom prst="roundRect">
              <a:avLst>
                <a:gd name="adj" fmla="val 1257"/>
              </a:avLst>
            </a:prstGeom>
          </p:spPr>
        </p:pic>
      </p:grp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06F0FF6-37C7-4782-9AEE-C53306DF33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2216" y="566092"/>
            <a:ext cx="2234994" cy="84491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94C813-92F8-407F-91F0-021B6FA52E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249482" y="2520701"/>
            <a:ext cx="2655353" cy="265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6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FE3B9BC-EED9-42DA-A368-574BCD784465}"/>
              </a:ext>
            </a:extLst>
          </p:cNvPr>
          <p:cNvGrpSpPr/>
          <p:nvPr/>
        </p:nvGrpSpPr>
        <p:grpSpPr>
          <a:xfrm>
            <a:off x="6744054" y="1283011"/>
            <a:ext cx="4074173" cy="4074173"/>
            <a:chOff x="7546694" y="1678445"/>
            <a:chExt cx="4074173" cy="4074173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C108776F-B6C3-446F-8E41-B3DA9FD43007}"/>
                </a:ext>
              </a:extLst>
            </p:cNvPr>
            <p:cNvSpPr/>
            <p:nvPr/>
          </p:nvSpPr>
          <p:spPr>
            <a:xfrm>
              <a:off x="7546694" y="1678445"/>
              <a:ext cx="4074173" cy="4074173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endParaRP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6D218420-0B50-44A0-B7B5-22731BE2B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590523" y="1722274"/>
              <a:ext cx="3986514" cy="3986514"/>
            </a:xfrm>
            <a:prstGeom prst="roundRect">
              <a:avLst>
                <a:gd name="adj" fmla="val 4009"/>
              </a:avLst>
            </a:prstGeom>
          </p:spPr>
        </p:pic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1C13BCC-4320-43FA-93EF-9A89612CE765}"/>
              </a:ext>
            </a:extLst>
          </p:cNvPr>
          <p:cNvGrpSpPr/>
          <p:nvPr/>
        </p:nvGrpSpPr>
        <p:grpSpPr>
          <a:xfrm>
            <a:off x="943252" y="1111143"/>
            <a:ext cx="6647271" cy="4240280"/>
            <a:chOff x="943252" y="1154972"/>
            <a:chExt cx="6647271" cy="4240280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8065EA2-F8D6-44C8-A6AF-C637E7C04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3252" y="1154972"/>
              <a:ext cx="3500783" cy="132343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E29803-A7D2-40E8-91FB-D9B2B6B9C337}"/>
                </a:ext>
              </a:extLst>
            </p:cNvPr>
            <p:cNvSpPr txBox="1"/>
            <p:nvPr/>
          </p:nvSpPr>
          <p:spPr>
            <a:xfrm>
              <a:off x="943252" y="3363927"/>
              <a:ext cx="6647271" cy="20313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Алексей </a:t>
              </a:r>
              <a:br>
                <a:rPr kumimoji="0" lang="ru-RU" sz="6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</a:br>
              <a:r>
                <a:rPr kumimoji="0" lang="ru-RU" sz="6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ter"/>
                  <a:ea typeface="+mn-ea"/>
                  <a:cs typeface="+mn-cs"/>
                </a:rPr>
                <a:t>Богачёв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9771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РТК_ЦОД голубая">
      <a:dk1>
        <a:srgbClr val="272F3D"/>
      </a:dk1>
      <a:lt1>
        <a:sysClr val="window" lastClr="FFFFFF"/>
      </a:lt1>
      <a:dk2>
        <a:srgbClr val="7B98B3"/>
      </a:dk2>
      <a:lt2>
        <a:srgbClr val="FFFFFF"/>
      </a:lt2>
      <a:accent1>
        <a:srgbClr val="273A64"/>
      </a:accent1>
      <a:accent2>
        <a:srgbClr val="57D9BB"/>
      </a:accent2>
      <a:accent3>
        <a:srgbClr val="2F9AFF"/>
      </a:accent3>
      <a:accent4>
        <a:srgbClr val="0464B2"/>
      </a:accent4>
      <a:accent5>
        <a:srgbClr val="7700FF"/>
      </a:accent5>
      <a:accent6>
        <a:srgbClr val="F8D962"/>
      </a:accent6>
      <a:hlink>
        <a:srgbClr val="272F3D"/>
      </a:hlink>
      <a:folHlink>
        <a:srgbClr val="94A4E6"/>
      </a:folHlink>
    </a:clrScheme>
    <a:fontScheme name="РТК-ЦОД 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spAutoFit/>
      </a:bodyPr>
      <a:lstStyle>
        <a:defPPr algn="l">
          <a:defRPr sz="14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18259</TotalTime>
  <Words>1887</Words>
  <Application>Microsoft Office PowerPoint</Application>
  <PresentationFormat>Широкоэкранный</PresentationFormat>
  <Paragraphs>286</Paragraphs>
  <Slides>15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Inter</vt:lpstr>
      <vt:lpstr>Inter Medium</vt:lpstr>
      <vt:lpstr>Wingdings</vt:lpstr>
      <vt:lpstr>Arial</vt:lpstr>
      <vt:lpstr>Тема Office</vt:lpstr>
      <vt:lpstr>Презентация PowerPoint</vt:lpstr>
      <vt:lpstr>Презентация PowerPoint</vt:lpstr>
      <vt:lpstr>Безопасное и надёжное хранение данных</vt:lpstr>
      <vt:lpstr>Актуальность защиты ЗО КИИ</vt:lpstr>
      <vt:lpstr>Тенденции в сфере защиты КИИ</vt:lpstr>
      <vt:lpstr>Нормативная правовая база по защите КИИ  постоянно актуализируется и ужесточается</vt:lpstr>
      <vt:lpstr>Список мер защиты ЗО КИИ  согласно правовой базе</vt:lpstr>
      <vt:lpstr>On-premise: проектирование, создание  архитектуры и внедрение может занять 12–15 месяцев</vt:lpstr>
      <vt:lpstr>Сокращение затрат времени на разных  этапах за счёт использования Облака КИИ</vt:lpstr>
      <vt:lpstr>На каждом этапе необходимы глубокая  экспертиза и наличие компетенций у команды</vt:lpstr>
      <vt:lpstr>Сравнение вариантов размещения КИИ </vt:lpstr>
      <vt:lpstr>Преимущества Облака КИИ</vt:lpstr>
      <vt:lpstr>Зона ответственности провайдера  → уровень инфраструктуры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РТК-ЦОД | Облако КИИ</dc:title>
  <dc:subject>РТК-ЦОД | Облако КИИ</dc:subject>
  <dc:creator>Абашева Елена Викторовна</dc:creator>
  <cp:keywords>РТК-ЦОД |;Облако КИИ</cp:keywords>
  <cp:lastModifiedBy>Абашева Елена Викторовна</cp:lastModifiedBy>
  <cp:revision>1117</cp:revision>
  <dcterms:created xsi:type="dcterms:W3CDTF">2020-04-27T07:46:09Z</dcterms:created>
  <dcterms:modified xsi:type="dcterms:W3CDTF">2025-08-26T10:04:47Z</dcterms:modified>
</cp:coreProperties>
</file>