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28"/>
  </p:notesMasterIdLst>
  <p:sldIdLst>
    <p:sldId id="256" r:id="rId2"/>
    <p:sldId id="296" r:id="rId3"/>
    <p:sldId id="2147328839" r:id="rId4"/>
    <p:sldId id="263" r:id="rId5"/>
    <p:sldId id="2147328815" r:id="rId6"/>
    <p:sldId id="286" r:id="rId7"/>
    <p:sldId id="2147328836" r:id="rId8"/>
    <p:sldId id="2966" r:id="rId9"/>
    <p:sldId id="2147328833" r:id="rId10"/>
    <p:sldId id="2147328834" r:id="rId11"/>
    <p:sldId id="2147328837" r:id="rId12"/>
    <p:sldId id="308" r:id="rId13"/>
    <p:sldId id="2147328840" r:id="rId14"/>
    <p:sldId id="2147328845" r:id="rId15"/>
    <p:sldId id="2147328848" r:id="rId16"/>
    <p:sldId id="2147328846" r:id="rId17"/>
    <p:sldId id="2147328841" r:id="rId18"/>
    <p:sldId id="2147328842" r:id="rId19"/>
    <p:sldId id="2147328843" r:id="rId20"/>
    <p:sldId id="2147328844" r:id="rId21"/>
    <p:sldId id="260" r:id="rId22"/>
    <p:sldId id="2147328838" r:id="rId23"/>
    <p:sldId id="2969" r:id="rId24"/>
    <p:sldId id="2970" r:id="rId25"/>
    <p:sldId id="2971" r:id="rId26"/>
    <p:sldId id="297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2547" userDrawn="1">
          <p15:clr>
            <a:srgbClr val="A4A3A4"/>
          </p15:clr>
        </p15:guide>
        <p15:guide id="5" orient="horz" pos="7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77A84D-A527-023F-9D7C-889C5C58AB21}" name="Alexander Bychuk" initials="AB" userId="S::Alexander.Bychuk@kaspersky.com::55a9de79-d0ad-4b3f-b810-0f2283448d3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митрий Костян" initials="" lastIdx="1" clrIdx="0"/>
  <p:cmAuthor id="2" name="Dmitry" initials="DL" lastIdx="5" clrIdx="1">
    <p:extLst>
      <p:ext uri="{19B8F6BF-5375-455C-9EA6-DF929625EA0E}">
        <p15:presenceInfo xmlns:p15="http://schemas.microsoft.com/office/powerpoint/2012/main" userId="Dmit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FF"/>
    <a:srgbClr val="B9E0B6"/>
    <a:srgbClr val="88CB83"/>
    <a:srgbClr val="FF7D7D"/>
    <a:srgbClr val="E9F5FA"/>
    <a:srgbClr val="D9D9D9"/>
    <a:srgbClr val="FFFFB9"/>
    <a:srgbClr val="7DECF8"/>
    <a:srgbClr val="EBF4F9"/>
    <a:srgbClr val="E7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1" autoAdjust="0"/>
    <p:restoredTop sz="93808" autoAdjust="0"/>
  </p:normalViewPr>
  <p:slideViewPr>
    <p:cSldViewPr snapToGrid="0" snapToObjects="1" showGuides="1">
      <p:cViewPr>
        <p:scale>
          <a:sx n="100" d="100"/>
          <a:sy n="100" d="100"/>
        </p:scale>
        <p:origin x="702" y="144"/>
      </p:cViewPr>
      <p:guideLst>
        <p:guide orient="horz" pos="2160"/>
        <p:guide pos="3840"/>
        <p:guide pos="2547"/>
        <p:guide orient="horz" pos="777"/>
      </p:guideLst>
    </p:cSldViewPr>
  </p:slideViewPr>
  <p:outlineViewPr>
    <p:cViewPr>
      <p:scale>
        <a:sx n="33" d="100"/>
        <a:sy n="33" d="100"/>
      </p:scale>
      <p:origin x="0" y="-3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0632911392405063E-2"/>
          <c:y val="2.2817025010969723E-2"/>
          <c:w val="0.89873417721518989"/>
          <c:h val="0.9543659499780605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01260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7.151516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11-45F6-AA32-99F754282043}"/>
            </c:ext>
          </c:extLst>
        </c:ser>
        <c:ser>
          <c:idx val="1"/>
          <c:order val="1"/>
          <c:spPr>
            <a:solidFill>
              <a:srgbClr val="CEA0ED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0.97469999999999946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11-45F6-AA32-99F754282043}"/>
            </c:ext>
          </c:extLst>
        </c:ser>
        <c:ser>
          <c:idx val="2"/>
          <c:order val="2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0.5389999999999997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11-45F6-AA32-99F754282043}"/>
            </c:ext>
          </c:extLst>
        </c:ser>
        <c:ser>
          <c:idx val="3"/>
          <c:order val="3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0.85278399999999976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11-45F6-AA32-99F754282043}"/>
            </c:ext>
          </c:extLst>
        </c:ser>
        <c:ser>
          <c:idx val="4"/>
          <c:order val="4"/>
          <c:spPr>
            <a:solidFill>
              <a:srgbClr val="00747F"/>
            </a:solidFill>
            <a:ln>
              <a:noFill/>
            </a:ln>
          </c:spPr>
          <c:invertIfNegative val="0"/>
          <c:val>
            <c:numRef>
              <c:f>Sheet1!$A$5</c:f>
              <c:numCache>
                <c:formatCode>General</c:formatCode>
                <c:ptCount val="1"/>
                <c:pt idx="0">
                  <c:v>1.0660000000000007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11-45F6-AA32-99F754282043}"/>
            </c:ext>
          </c:extLst>
        </c:ser>
        <c:ser>
          <c:idx val="5"/>
          <c:order val="5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1.8179999999999996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711-45F6-AA32-99F754282043}"/>
            </c:ext>
          </c:extLst>
        </c:ser>
        <c:ser>
          <c:idx val="6"/>
          <c:order val="6"/>
          <c:spPr>
            <a:solidFill>
              <a:srgbClr val="99F6FF"/>
            </a:solidFill>
            <a:ln>
              <a:noFill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2.1940000000000008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11-45F6-AA32-99F7542820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0695056"/>
        <c:axId val="1"/>
      </c:barChart>
      <c:catAx>
        <c:axId val="17106950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.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106950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0632911392405063E-2"/>
          <c:y val="2.357207615593835E-2"/>
          <c:w val="0.89873417721518989"/>
          <c:h val="0.9528558476881232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0.13139999999999999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68-4909-9255-5918F3C14BED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0.17600000000000002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68-4909-9255-5918F3C14BED}"/>
            </c:ext>
          </c:extLst>
        </c:ser>
        <c:ser>
          <c:idx val="2"/>
          <c:order val="2"/>
          <c:spPr>
            <a:solidFill>
              <a:srgbClr val="CBD0D7"/>
            </a:solidFill>
            <a:ln>
              <a:noFill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0.28220000000000001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68-4909-9255-5918F3C14BED}"/>
            </c:ext>
          </c:extLst>
        </c:ser>
        <c:ser>
          <c:idx val="3"/>
          <c:order val="3"/>
          <c:spPr>
            <a:solidFill>
              <a:srgbClr val="4C6C9C"/>
            </a:solidFill>
            <a:ln>
              <a:noFill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0.15600000000000003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68-4909-9255-5918F3C14BED}"/>
            </c:ext>
          </c:extLst>
        </c:ser>
        <c:ser>
          <c:idx val="4"/>
          <c:order val="4"/>
          <c:spPr>
            <a:solidFill>
              <a:srgbClr val="00747F"/>
            </a:solidFill>
            <a:ln>
              <a:noFill/>
            </a:ln>
          </c:spPr>
          <c:invertIfNegative val="0"/>
          <c:val>
            <c:numRef>
              <c:f>Sheet1!$A$5</c:f>
              <c:numCache>
                <c:formatCode>General</c:formatCode>
                <c:ptCount val="1"/>
                <c:pt idx="0">
                  <c:v>7.0000000000000062E-3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68-4909-9255-5918F3C14BED}"/>
            </c:ext>
          </c:extLst>
        </c:ser>
        <c:ser>
          <c:idx val="5"/>
          <c:order val="5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0.47450000000000003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E68-4909-9255-5918F3C14BED}"/>
            </c:ext>
          </c:extLst>
        </c:ser>
        <c:ser>
          <c:idx val="6"/>
          <c:order val="6"/>
          <c:spPr>
            <a:solidFill>
              <a:srgbClr val="99F6FF"/>
            </a:solidFill>
            <a:ln>
              <a:noFill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0.48750000000000004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68-4909-9255-5918F3C14B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67433632"/>
        <c:axId val="1"/>
      </c:barChart>
      <c:catAx>
        <c:axId val="17674336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71460000000000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674336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797018851380975E-2"/>
          <c:y val="0.16175621028307338"/>
          <c:w val="0.95440596229723806"/>
          <c:h val="0.726747544771808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454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935297515886770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93E-4299-967B-5084A4333184}"/>
                </c:ext>
              </c:extLst>
            </c:dLbl>
            <c:dLbl>
              <c:idx val="1"/>
              <c:layout>
                <c:manualLayout>
                  <c:x val="0"/>
                  <c:y val="-0.2501444251877527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93E-4299-967B-5084A4333184}"/>
                </c:ext>
              </c:extLst>
            </c:dLbl>
            <c:dLbl>
              <c:idx val="2"/>
              <c:layout>
                <c:manualLayout>
                  <c:x val="0"/>
                  <c:y val="-0.2934719815135759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93E-4299-967B-5084A4333184}"/>
                </c:ext>
              </c:extLst>
            </c:dLbl>
            <c:dLbl>
              <c:idx val="3"/>
              <c:layout>
                <c:manualLayout>
                  <c:x val="0"/>
                  <c:y val="-0.3466204506065858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93E-4299-967B-5084A4333184}"/>
                </c:ext>
              </c:extLst>
            </c:dLbl>
            <c:dLbl>
              <c:idx val="4"/>
              <c:layout>
                <c:manualLayout>
                  <c:x val="0"/>
                  <c:y val="-0.4136337377238590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93E-4299-967B-5084A43331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14.596</c:v>
                </c:pt>
                <c:pt idx="1">
                  <c:v>20.353999999999999</c:v>
                </c:pt>
                <c:pt idx="2">
                  <c:v>24.756071420614077</c:v>
                </c:pt>
                <c:pt idx="3">
                  <c:v>30.210396337446959</c:v>
                </c:pt>
                <c:pt idx="4">
                  <c:v>36.991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3E-4299-967B-5084A4333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74461552"/>
        <c:axId val="1"/>
      </c:barChart>
      <c:catAx>
        <c:axId val="20744615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6.99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744615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49756280464942E-2"/>
          <c:y val="0.16908212560386474"/>
          <c:w val="0.96100487439070115"/>
          <c:h val="0.7143719806763284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9.9033816425120769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823-4EB7-BC86-DA631C3FA420}"/>
                </c:ext>
              </c:extLst>
            </c:dLbl>
            <c:dLbl>
              <c:idx val="1"/>
              <c:layout>
                <c:manualLayout>
                  <c:x val="0"/>
                  <c:y val="-0.1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823-4EB7-BC86-DA631C3FA420}"/>
                </c:ext>
              </c:extLst>
            </c:dLbl>
            <c:dLbl>
              <c:idx val="2"/>
              <c:layout>
                <c:manualLayout>
                  <c:x val="0"/>
                  <c:y val="-0.1606280193236714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823-4EB7-BC86-DA631C3FA420}"/>
                </c:ext>
              </c:extLst>
            </c:dLbl>
            <c:dLbl>
              <c:idx val="3"/>
              <c:layout>
                <c:manualLayout>
                  <c:x val="0"/>
                  <c:y val="-0.2125603864734299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823-4EB7-BC86-DA631C3FA420}"/>
                </c:ext>
              </c:extLst>
            </c:dLbl>
            <c:dLbl>
              <c:idx val="4"/>
              <c:layout>
                <c:manualLayout>
                  <c:x val="0"/>
                  <c:y val="-0.2916666666666666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823-4EB7-BC86-DA631C3FA42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0.85278400000000021</c:v>
                </c:pt>
                <c:pt idx="1">
                  <c:v>1.1245160000000001</c:v>
                </c:pt>
                <c:pt idx="2">
                  <c:v>1.6740000000000002</c:v>
                </c:pt>
                <c:pt idx="3">
                  <c:v>2.4919841069402304</c:v>
                </c:pt>
                <c:pt idx="4">
                  <c:v>3.7096683328809426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23-4EB7-BC86-DA631C3FA42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3"/>
              <c:layout>
                <c:manualLayout>
                  <c:x val="0"/>
                  <c:y val="-0.2524154589371980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823-4EB7-BC86-DA631C3FA420}"/>
                </c:ext>
              </c:extLst>
            </c:dLbl>
            <c:dLbl>
              <c:idx val="4"/>
              <c:layout>
                <c:manualLayout>
                  <c:x val="0"/>
                  <c:y val="-0.4100241545893719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823-4EB7-BC86-DA631C3FA42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3">
                  <c:v>3.1</c:v>
                </c:pt>
                <c:pt idx="4">
                  <c:v>5.5486499999999994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23-4EB7-BC86-DA631C3FA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1813307904"/>
        <c:axId val="1"/>
      </c:barChart>
      <c:catAx>
        <c:axId val="1813307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.548649999999999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13307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C727B-68B7-6148-93A0-F6B6EA8E8875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3F7D6-CB3D-674B-937F-620C52CD6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59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55e780da13_2_2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g255e780da13_2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6" name="Google Shape;3896;g31255f78857_0_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7" name="Google Shape;3897;g31255f78857_0_7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8" name="Google Shape;3898;g31255f78857_0_7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g3146948ada2_4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7" name="Google Shape;3167;g3146948ada2_4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g3146948ada2_4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47890-7035-186D-10DC-D2A8EE1C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49E110-1621-E4F6-9FE5-C8B88A05B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EFFA7A-BE4E-063C-64D9-3445CF7ED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128693-D2C5-1BB1-34C3-2F04D2386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116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6" name="Google Shape;3636;g31255f7885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7" name="Google Shape;3637;g31255f78857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8" name="Google Shape;3638;g31255f78857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B8A2-FC5D-AFC8-7D70-714E16B3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5AE7981-26E4-58BB-AFBC-1D79AD11D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3A4549-8AA3-1415-DD46-735EA8B53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E25B5B-2603-B348-1D49-658EFA453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65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9FAD-A256-116F-F686-DE818D7D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C47F41-549A-0257-779C-8DFB841DC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BE7A68-7BA6-EC93-88FE-221B16A3D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BCF944-90C4-1895-E602-4EE2C145C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235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AF01-AD1F-AED4-CE40-CED84CE0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2E7DFF-0E6A-BA81-C751-93DC080E5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7D33E21-0103-3F1A-CBB1-496DB45BA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ADD15-8DE4-C711-D3E1-B2F44B5D7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086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CF9F-6C42-D44F-BD1E-03535831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B2D4C5-323A-BA02-56BD-9A651CCA6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09B071-F804-99DC-6ED3-2B5BB026D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92832B-3227-A17A-13DF-5F48F2F34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144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g3146948ada2_1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2" name="Google Shape;4102;g3146948ada2_1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3" name="Google Shape;4103;g3146948ada2_1_1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0">
          <a:extLst>
            <a:ext uri="{FF2B5EF4-FFF2-40B4-BE49-F238E27FC236}">
              <a16:creationId xmlns:a16="http://schemas.microsoft.com/office/drawing/2014/main" id="{85975714-08D5-0BCC-FE31-01683F0C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g3146948ada2_1_180:notes">
            <a:extLst>
              <a:ext uri="{FF2B5EF4-FFF2-40B4-BE49-F238E27FC236}">
                <a16:creationId xmlns:a16="http://schemas.microsoft.com/office/drawing/2014/main" id="{8500DA1D-97B3-5F3B-7A26-1B7A9D4EC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2" name="Google Shape;4102;g3146948ada2_1_180:notes">
            <a:extLst>
              <a:ext uri="{FF2B5EF4-FFF2-40B4-BE49-F238E27FC236}">
                <a16:creationId xmlns:a16="http://schemas.microsoft.com/office/drawing/2014/main" id="{1E465767-C5D9-D0F3-D947-3794015DD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3" name="Google Shape;4103;g3146948ada2_1_180:notes">
            <a:extLst>
              <a:ext uri="{FF2B5EF4-FFF2-40B4-BE49-F238E27FC236}">
                <a16:creationId xmlns:a16="http://schemas.microsoft.com/office/drawing/2014/main" id="{CBD046A5-094C-0D79-528E-A1F69E1AAE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208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5378E-20F1-FBEA-F8D4-AEE03EC6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C1F8851-64A8-7919-1E82-D44D1DC66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D87B92-4627-BC4A-AD19-79E98BCFE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9DDCC8-CDE6-B56F-0E2C-C743E90E2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528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31C5-973C-6267-088B-57DADE4B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174198-9B8B-8F9A-95D5-3C5D9C16E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C9AB53-2E97-4D97-199D-63C575474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857701-9748-3695-51E8-9BA849B2A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578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5481-5748-BD88-C587-0D67163C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F64521-47EF-254B-AE8D-250FD3AD8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748770E-790A-CE18-0798-4AFE98940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DB1AA3-7AA5-0FCD-FFBE-688656CC3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259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C79B-B43E-23D8-5708-1A002CF0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EC17011-280D-FB19-E92B-A3600E95A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1E28D4-7235-EB6A-8E39-660908E63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A3F17C-9A2F-A78E-893F-45D7BDAC6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225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2356-C1A9-175F-1F1B-38185FCD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53467F-B223-21D1-4E0C-423A0ECD4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60768F-0B04-E101-631A-18D362C1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4FED7B-6174-A151-95CE-275DE3756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455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E2EE-AD2B-5C02-363D-503F1D0E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96F5824-C391-5D31-15E0-2F9F4FAB0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FA7F73D-924B-E287-DA0E-57C5DD203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743C63-A5EC-3BB4-08BA-5B6522E0A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358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CEBC-AB46-3EBB-B514-2CECF48A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116841-D02B-21F6-C1BB-B141E32A4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9AA05A-545D-163B-1CB4-9DFA22733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200" dirty="0"/>
              <a:t>То о чем мы говорили на прошлом слайде как о бизнес-задачах, здесь представлено в конкретных функциях нашей платформы.</a:t>
            </a:r>
          </a:p>
          <a:p>
            <a:endParaRPr lang="ru-RU" sz="3200" dirty="0"/>
          </a:p>
          <a:p>
            <a:endParaRPr lang="ru-RU" sz="3200" dirty="0"/>
          </a:p>
          <a:p>
            <a:r>
              <a:rPr lang="ru-RU" sz="3200" dirty="0"/>
              <a:t>Здесь и функции </a:t>
            </a:r>
            <a:r>
              <a:rPr lang="ru-RU" sz="3200" dirty="0" err="1"/>
              <a:t>обзервабилити</a:t>
            </a:r>
            <a:r>
              <a:rPr lang="ru-RU" sz="3200" dirty="0"/>
              <a:t> и контроля – мониторинг, </a:t>
            </a:r>
            <a:r>
              <a:rPr lang="ru-RU" sz="3200" dirty="0" err="1"/>
              <a:t>логи</a:t>
            </a:r>
            <a:r>
              <a:rPr lang="ru-RU" sz="3200" dirty="0"/>
              <a:t> и аудит как сервисы. И новые </a:t>
            </a:r>
            <a:r>
              <a:rPr lang="en-US" sz="3200" dirty="0"/>
              <a:t>SDN</a:t>
            </a:r>
            <a:r>
              <a:rPr lang="ru-RU" sz="3200" dirty="0"/>
              <a:t>, функции </a:t>
            </a:r>
            <a:r>
              <a:rPr lang="en-US" sz="3200" dirty="0"/>
              <a:t>Public DNS </a:t>
            </a:r>
            <a:r>
              <a:rPr lang="ru-RU" sz="3200" dirty="0"/>
              <a:t>как примеры функций улучшающих сетевую подсистему. Здесь и централизованное управления </a:t>
            </a:r>
            <a:r>
              <a:rPr lang="en-US" sz="3200" dirty="0"/>
              <a:t>S3</a:t>
            </a:r>
            <a:r>
              <a:rPr lang="ru-RU" sz="3200" dirty="0"/>
              <a:t> и нашего портала, а так же опция </a:t>
            </a:r>
            <a:r>
              <a:rPr lang="en-US" sz="3200" dirty="0" err="1"/>
              <a:t>HighIOPS</a:t>
            </a:r>
            <a:r>
              <a:rPr lang="en-US" sz="3200" dirty="0"/>
              <a:t>-</a:t>
            </a:r>
            <a:r>
              <a:rPr lang="ru-RU" sz="3200" dirty="0"/>
              <a:t>дисков для расширения сценариев работы с данными и ВМ.</a:t>
            </a:r>
          </a:p>
          <a:p>
            <a:endParaRPr lang="ru-RU" sz="2000" dirty="0"/>
          </a:p>
          <a:p>
            <a:r>
              <a:rPr lang="ru-RU" sz="2000" dirty="0"/>
              <a:t>В рамках нашей работы над улучшением надежности и функций </a:t>
            </a:r>
            <a:r>
              <a:rPr lang="en-US" sz="2000" dirty="0"/>
              <a:t>BCDR </a:t>
            </a:r>
            <a:r>
              <a:rPr lang="ru-RU" sz="2000" dirty="0"/>
              <a:t>мы работаем над полноценной поддержкой зон доступности, а так же высокой доступности </a:t>
            </a:r>
            <a:r>
              <a:rPr lang="en-US" sz="2000" dirty="0"/>
              <a:t>VM.</a:t>
            </a:r>
          </a:p>
          <a:p>
            <a:endParaRPr lang="en-US" sz="2000" dirty="0"/>
          </a:p>
          <a:p>
            <a:r>
              <a:rPr lang="ru-RU" sz="2000" dirty="0"/>
              <a:t>Список новых опций хранения и обработки данных перед вами – это новые для нашей платформы СУБД как сервис </a:t>
            </a:r>
            <a:r>
              <a:rPr lang="en-US" sz="2000" dirty="0" err="1"/>
              <a:t>PostgrePro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 err="1"/>
              <a:t>Tarantool</a:t>
            </a:r>
            <a:r>
              <a:rPr lang="ru-RU" sz="2000" dirty="0"/>
              <a:t>, а так же результат нашего партнерства с </a:t>
            </a:r>
            <a:r>
              <a:rPr lang="ru-RU" sz="2000" dirty="0" err="1"/>
              <a:t>Аренадата</a:t>
            </a:r>
            <a:r>
              <a:rPr lang="ru-RU" sz="2000" dirty="0"/>
              <a:t> – решения </a:t>
            </a:r>
            <a:r>
              <a:rPr lang="en-US" sz="2000" dirty="0"/>
              <a:t>Hadoop, Greenplum </a:t>
            </a:r>
            <a:r>
              <a:rPr lang="ru-RU" sz="2000" dirty="0"/>
              <a:t>и </a:t>
            </a:r>
            <a:r>
              <a:rPr lang="en-US" sz="2000" dirty="0"/>
              <a:t>ADS (Kafka).</a:t>
            </a:r>
          </a:p>
          <a:p>
            <a:endParaRPr lang="en-US" sz="2000" dirty="0"/>
          </a:p>
          <a:p>
            <a:r>
              <a:rPr lang="ru-RU" sz="2000" dirty="0"/>
              <a:t>Прочее мы уже обсудили – </a:t>
            </a:r>
            <a:r>
              <a:rPr lang="en-US" sz="2000" dirty="0"/>
              <a:t>Marketplace, </a:t>
            </a:r>
            <a:r>
              <a:rPr lang="ru-RU" sz="2000" dirty="0" err="1"/>
              <a:t>ДевПалфторма</a:t>
            </a:r>
            <a:r>
              <a:rPr lang="ru-RU" sz="2000" dirty="0"/>
              <a:t> и инструменты для разработчиков, иерархия </a:t>
            </a:r>
            <a:r>
              <a:rPr lang="ru-RU" sz="2000" dirty="0" err="1"/>
              <a:t>тенатов</a:t>
            </a:r>
            <a:r>
              <a:rPr lang="ru-RU" sz="2000" dirty="0"/>
              <a:t> и биллинг по квотам – наше видение на будущие выпуски платформы.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F1B600-0C66-F844-E7AD-09BD0DB44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3F7D6-CB3D-674B-937F-620C52CD618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909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55e780da13_2_9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g255e780da13_2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F7ABA-9207-F14B-ABD3-93944D691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171652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E5408C-4056-F34C-9874-98FB37FC1B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43363" y="692150"/>
            <a:ext cx="7489825" cy="5508625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tabLst/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 pitchFamily="2" charset="0"/>
              </a:defRPr>
            </a:lvl4pPr>
          </a:lstStyle>
          <a:p>
            <a:pPr lvl="0"/>
            <a:r>
              <a:rPr lang="ru-RU" dirty="0"/>
              <a:t>Раскройте содержание презентации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3F11BB92-6739-9747-9A25-62A737177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527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02D26E4A-0B0F-A33D-01D9-CE78474194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12125" y="0"/>
            <a:ext cx="4079875" cy="6858000"/>
          </a:xfrm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F7ABA-9207-F14B-ABD3-93944D691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418666" cy="64424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ru-RU" dirty="0"/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3F11BB92-6739-9747-9A25-62A737177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9495E1B3-84D7-FF87-D750-3CB105B890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800371"/>
            <a:ext cx="5418667" cy="4365480"/>
          </a:xfrm>
        </p:spPr>
        <p:txBody>
          <a:bodyPr>
            <a:normAutofit/>
          </a:bodyPr>
          <a:lstStyle>
            <a:lvl1pPr marL="457200" indent="-457200">
              <a:buClr>
                <a:srgbClr val="0077FF"/>
              </a:buClr>
              <a:buFont typeface="+mj-lt"/>
              <a:buAutoNum type="arabicPeriod"/>
              <a:defRPr sz="2000">
                <a:solidFill>
                  <a:schemeClr val="tx1"/>
                </a:solidFill>
                <a:latin typeface="+mj-lt"/>
              </a:defRPr>
            </a:lvl1pPr>
            <a:lvl2pPr marL="846138" indent="-317500">
              <a:buClr>
                <a:srgbClr val="0077FF"/>
              </a:buClr>
              <a:tabLst/>
              <a:defRPr sz="1200">
                <a:solidFill>
                  <a:schemeClr val="tx1"/>
                </a:solidFill>
              </a:defRPr>
            </a:lvl2pPr>
            <a:lvl3pPr marL="1208088" indent="-287338"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40000">
              <a:buClr>
                <a:schemeClr val="tx2">
                  <a:lumMod val="40000"/>
                  <a:lumOff val="60000"/>
                </a:schemeClr>
              </a:buClr>
              <a:defRPr sz="1000">
                <a:latin typeface="VK Sans Display" pitchFamily="2" charset="0"/>
              </a:defRPr>
            </a:lvl4pPr>
          </a:lstStyle>
          <a:p>
            <a:pPr lvl="0"/>
            <a:r>
              <a:rPr lang="ru-RU" dirty="0"/>
              <a:t>Раскройте содержание презентации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30599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2E05B426-79EC-CB71-7628-9221F7FF4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84A6275A-BE05-B121-E026-D4F1DF09D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844799"/>
            <a:ext cx="2687637" cy="33559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Рисунок 12">
            <a:extLst>
              <a:ext uri="{FF2B5EF4-FFF2-40B4-BE49-F238E27FC236}">
                <a16:creationId xmlns:a16="http://schemas.microsoft.com/office/drawing/2014/main" id="{B94135D2-4EB1-321E-2ECE-281C283BDB1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43363" y="0"/>
            <a:ext cx="8148637" cy="6858000"/>
          </a:xfrm>
          <a:prstGeom prst="rect">
            <a:avLst/>
          </a:prstGeom>
          <a:solidFill>
            <a:srgbClr val="EBF4F9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030461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12">
            <a:extLst>
              <a:ext uri="{FF2B5EF4-FFF2-40B4-BE49-F238E27FC236}">
                <a16:creationId xmlns:a16="http://schemas.microsoft.com/office/drawing/2014/main" id="{B94135D2-4EB1-321E-2ECE-281C283BDB1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" y="0"/>
            <a:ext cx="4043362" cy="6858000"/>
          </a:xfrm>
          <a:prstGeom prst="rect">
            <a:avLst/>
          </a:prstGeom>
          <a:solidFill>
            <a:srgbClr val="EBF4F9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7" name="Заголовок 2">
            <a:extLst>
              <a:ext uri="{FF2B5EF4-FFF2-40B4-BE49-F238E27FC236}">
                <a16:creationId xmlns:a16="http://schemas.microsoft.com/office/drawing/2014/main" id="{2E05B426-79EC-CB71-7628-9221F7FF4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2681816" cy="148660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84A6275A-BE05-B121-E026-D4F1DF09DD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844799"/>
            <a:ext cx="2687637" cy="33559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45143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C7141D29-68FB-141E-6203-601F7A7B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3200" dirty="0"/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D25A303-E0C4-E19F-83A0-3C3CA897B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31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483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3C1226-071C-F54E-9AFB-D71CEE5305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F3D3D73E-3070-D547-A8E4-656E5B9A0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472DBB-6B6D-FBB1-1658-B8E31A596CCC}"/>
              </a:ext>
            </a:extLst>
          </p:cNvPr>
          <p:cNvSpPr/>
          <p:nvPr userDrawn="1"/>
        </p:nvSpPr>
        <p:spPr>
          <a:xfrm>
            <a:off x="518414" y="6294411"/>
            <a:ext cx="1171575" cy="358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388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44C34BA-F094-3041-A38F-24178A9450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13" y="1142874"/>
            <a:ext cx="10861675" cy="509441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F4419-792A-8B49-AAC6-9EEE75A6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55738041-44B9-C64F-82DF-90E7BDAF6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3317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468BC43-A0EA-2640-92C8-A83C3C0DB36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37E7F-40AD-5149-98E4-38551143E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C18D3D36-B394-FA4D-A40B-0FEB3D5AF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447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в 2 строки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3BEACB4-8163-3E40-BF64-24FF99F488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11901" y="692150"/>
            <a:ext cx="5208586" cy="5545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61399616-6E49-8E44-8C89-A3666C96B1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3" y="2040889"/>
            <a:ext cx="5424487" cy="41598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3AF0A0D2-84CC-344E-B015-430C5FC9D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A971A-57C4-6343-8BDB-405151F309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418666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</p:spTree>
    <p:extLst>
      <p:ext uri="{BB962C8B-B14F-4D97-AF65-F5344CB8AC3E}">
        <p14:creationId xmlns:p14="http://schemas.microsoft.com/office/powerpoint/2010/main" val="1832780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2">
            <a:extLst>
              <a:ext uri="{FF2B5EF4-FFF2-40B4-BE49-F238E27FC236}">
                <a16:creationId xmlns:a16="http://schemas.microsoft.com/office/drawing/2014/main" id="{A9426BBD-A776-444D-B36C-4238DF4DCB3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CB2A238B-52D5-314D-828E-2A8FE49A990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14F15-239B-C248-A014-C6BD3EB2E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0" name="Нижний колонтитул 2">
            <a:extLst>
              <a:ext uri="{FF2B5EF4-FFF2-40B4-BE49-F238E27FC236}">
                <a16:creationId xmlns:a16="http://schemas.microsoft.com/office/drawing/2014/main" id="{9B37AD88-5570-DA46-8C1C-B8ED3572A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5714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692151"/>
            <a:ext cx="5437188" cy="550862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5165527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01523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+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>
            <a:extLst>
              <a:ext uri="{FF2B5EF4-FFF2-40B4-BE49-F238E27FC236}">
                <a16:creationId xmlns:a16="http://schemas.microsoft.com/office/drawing/2014/main" id="{CE65941D-C389-5B4D-A763-47A56D7D5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7334" y="1773238"/>
            <a:ext cx="5304365" cy="442753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2122BA3E-4A40-5E4B-BD71-5F8C8E5AA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8824" y="1773239"/>
            <a:ext cx="5304364" cy="442753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3DAE1-F094-1A41-AC85-CC27A78472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7" name="Нижний колонтитул 2">
            <a:extLst>
              <a:ext uri="{FF2B5EF4-FFF2-40B4-BE49-F238E27FC236}">
                <a16:creationId xmlns:a16="http://schemas.microsoft.com/office/drawing/2014/main" id="{3FF5B35A-DAF3-3E4F-A984-4FE261073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6588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актои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D528D5E-3BE6-8334-3246-988128C558BE}"/>
              </a:ext>
            </a:extLst>
          </p:cNvPr>
          <p:cNvGrpSpPr/>
          <p:nvPr userDrawn="1"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rgbClr val="EBF4F9"/>
          </a:solidFill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FE0ED83-FF49-42BF-ED94-843F6531B12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025B1CF-02BE-3F32-2389-A89AA12FA076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8409062-21BC-2632-4C07-D10806544C39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0807175-A027-A3BE-0DD7-DFD604AE9EC6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070CEFA-320B-6CC0-D0BD-1052AE615E7E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DE9AE618-0CF0-8CA8-2AF0-B274DC7466C7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ABFB45E-FF7A-42F6-94A2-6D8FE53C4268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CE8A6B2-B4AE-6D2F-8FF7-9AA9FE2E72DD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351D055-6FB2-85E0-A61D-3636EDA96D29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0D5F65EA-35A2-B99E-1980-2A71DE8EBC77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79537CE2-04DE-EA8F-C38D-5629A63BFC89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649715DF-B6FC-E811-F8B1-86471E68D8EC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6115344-8B09-B6A9-6FA0-E54242E23C37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285BDF54-418D-599A-114D-4CA8B8AA3960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B8E150A3-E9BE-CB1D-90A5-458408F27FCD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9FE6B2D3-BCC3-BE9C-07FD-4F17651861C5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577F7EB3-4BA2-C78B-7C8A-BA546B51BB69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3BB4A21A-19FD-D53C-C952-C1E96F096EC2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11B67161-9F7B-C40B-5283-948906C62C26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5B95E61C-8146-F54C-8830-8A6E0089DE72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" name="Текст 8">
            <a:extLst>
              <a:ext uri="{FF2B5EF4-FFF2-40B4-BE49-F238E27FC236}">
                <a16:creationId xmlns:a16="http://schemas.microsoft.com/office/drawing/2014/main" id="{138EA146-EFC4-BC46-B652-2B6E60138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ACBEC698-5D83-A94F-A145-EFF18FED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06DC70-DE67-F141-BF3F-4BA1D1F1C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2"/>
                </a:solidFill>
                <a:latin typeface="VK Sans Display Medium" pitchFamily="2" charset="0"/>
              </a:defRPr>
            </a:lvl1pPr>
            <a:lvl2pPr>
              <a:defRPr sz="18000">
                <a:latin typeface="TT Commons" pitchFamily="2" charset="-52"/>
              </a:defRPr>
            </a:lvl2pPr>
            <a:lvl3pPr>
              <a:defRPr sz="18000">
                <a:latin typeface="TT Commons" pitchFamily="2" charset="-52"/>
              </a:defRPr>
            </a:lvl3pPr>
            <a:lvl4pPr>
              <a:defRPr sz="18000">
                <a:latin typeface="TT Commons" pitchFamily="2" charset="-52"/>
              </a:defRPr>
            </a:lvl4pPr>
            <a:lvl5pPr>
              <a:defRPr sz="18000">
                <a:latin typeface="TT Commons" pitchFamily="2" charset="-52"/>
              </a:defRPr>
            </a:lvl5pPr>
          </a:lstStyle>
          <a:p>
            <a:pPr lvl="0"/>
            <a:r>
              <a:rPr lang="ru-RU" dirty="0"/>
              <a:t>70 МЛН</a:t>
            </a:r>
          </a:p>
        </p:txBody>
      </p:sp>
    </p:spTree>
    <p:extLst>
      <p:ext uri="{BB962C8B-B14F-4D97-AF65-F5344CB8AC3E}">
        <p14:creationId xmlns:p14="http://schemas.microsoft.com/office/powerpoint/2010/main" val="4117345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фактоид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D528D5E-3BE6-8334-3246-988128C558BE}"/>
              </a:ext>
            </a:extLst>
          </p:cNvPr>
          <p:cNvGrpSpPr/>
          <p:nvPr userDrawn="1"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chemeClr val="bg1"/>
          </a:solidFill>
        </p:grpSpPr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FE0ED83-FF49-42BF-ED94-843F6531B12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025B1CF-02BE-3F32-2389-A89AA12FA076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8409062-21BC-2632-4C07-D10806544C39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0807175-A027-A3BE-0DD7-DFD604AE9EC6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070CEFA-320B-6CC0-D0BD-1052AE615E7E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DE9AE618-0CF0-8CA8-2AF0-B274DC7466C7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ABFB45E-FF7A-42F6-94A2-6D8FE53C4268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CE8A6B2-B4AE-6D2F-8FF7-9AA9FE2E72DD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C351D055-6FB2-85E0-A61D-3636EDA96D29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0D5F65EA-35A2-B99E-1980-2A71DE8EBC77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79537CE2-04DE-EA8F-C38D-5629A63BFC89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649715DF-B6FC-E811-F8B1-86471E68D8EC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6115344-8B09-B6A9-6FA0-E54242E23C37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285BDF54-418D-599A-114D-4CA8B8AA3960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B8E150A3-E9BE-CB1D-90A5-458408F27FCD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9FE6B2D3-BCC3-BE9C-07FD-4F17651861C5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577F7EB3-4BA2-C78B-7C8A-BA546B51BB69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3BB4A21A-19FD-D53C-C952-C1E96F096EC2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11B67161-9F7B-C40B-5283-948906C62C26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5B95E61C-8146-F54C-8830-8A6E0089DE72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2" name="Текст 8">
            <a:extLst>
              <a:ext uri="{FF2B5EF4-FFF2-40B4-BE49-F238E27FC236}">
                <a16:creationId xmlns:a16="http://schemas.microsoft.com/office/drawing/2014/main" id="{138EA146-EFC4-BC46-B652-2B6E60138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13" y="4363180"/>
            <a:ext cx="10224000" cy="5252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ACBEC698-5D83-A94F-A145-EFF18FED9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106DC70-DE67-F141-BF3F-4BA1D1F1C1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1773238"/>
            <a:ext cx="10223999" cy="24070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700" b="0" i="0">
                <a:solidFill>
                  <a:schemeClr val="tx1"/>
                </a:solidFill>
                <a:latin typeface="VK Sans Display Medium" pitchFamily="2" charset="0"/>
              </a:defRPr>
            </a:lvl1pPr>
            <a:lvl2pPr>
              <a:defRPr sz="18000">
                <a:latin typeface="TT Commons" pitchFamily="2" charset="-52"/>
              </a:defRPr>
            </a:lvl2pPr>
            <a:lvl3pPr>
              <a:defRPr sz="18000">
                <a:latin typeface="TT Commons" pitchFamily="2" charset="-52"/>
              </a:defRPr>
            </a:lvl3pPr>
            <a:lvl4pPr>
              <a:defRPr sz="18000">
                <a:latin typeface="TT Commons" pitchFamily="2" charset="-52"/>
              </a:defRPr>
            </a:lvl4pPr>
            <a:lvl5pPr>
              <a:defRPr sz="18000">
                <a:latin typeface="TT Commons" pitchFamily="2" charset="-52"/>
              </a:defRPr>
            </a:lvl5pPr>
          </a:lstStyle>
          <a:p>
            <a:pPr lvl="0"/>
            <a:r>
              <a:rPr lang="ru-RU" dirty="0"/>
              <a:t>70 МЛН</a:t>
            </a:r>
          </a:p>
        </p:txBody>
      </p:sp>
    </p:spTree>
    <p:extLst>
      <p:ext uri="{BB962C8B-B14F-4D97-AF65-F5344CB8AC3E}">
        <p14:creationId xmlns:p14="http://schemas.microsoft.com/office/powerpoint/2010/main" val="2265890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B944C61-111D-4A5C-A99C-DC3F4AB6485C}"/>
              </a:ext>
            </a:extLst>
          </p:cNvPr>
          <p:cNvGrpSpPr/>
          <p:nvPr userDrawn="1"/>
        </p:nvGrpSpPr>
        <p:grpSpPr>
          <a:xfrm>
            <a:off x="7156015" y="0"/>
            <a:ext cx="5016892" cy="6858000"/>
            <a:chOff x="7127683" y="0"/>
            <a:chExt cx="5045224" cy="6896730"/>
          </a:xfrm>
          <a:solidFill>
            <a:srgbClr val="EBF4F9">
              <a:alpha val="99000"/>
            </a:srgbClr>
          </a:solidFill>
        </p:grpSpPr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0B067637-9874-1FA1-4501-61A76F355ECE}"/>
                </a:ext>
              </a:extLst>
            </p:cNvPr>
            <p:cNvSpPr/>
            <p:nvPr/>
          </p:nvSpPr>
          <p:spPr>
            <a:xfrm>
              <a:off x="7127683" y="0"/>
              <a:ext cx="1181730" cy="1379149"/>
            </a:xfrm>
            <a:custGeom>
              <a:avLst/>
              <a:gdLst>
                <a:gd name="connsiteX0" fmla="*/ 301638 w 675557"/>
                <a:gd name="connsiteY0" fmla="*/ 0 h 788415"/>
                <a:gd name="connsiteX1" fmla="*/ 675557 w 675557"/>
                <a:gd name="connsiteY1" fmla="*/ 788415 h 788415"/>
                <a:gd name="connsiteX2" fmla="*/ 301650 w 675557"/>
                <a:gd name="connsiteY2" fmla="*/ 788415 h 788415"/>
                <a:gd name="connsiteX3" fmla="*/ 0 w 675557"/>
                <a:gd name="connsiteY3" fmla="*/ 0 h 788415"/>
                <a:gd name="connsiteX4" fmla="*/ 301638 w 675557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5">
                  <a:moveTo>
                    <a:pt x="301638" y="0"/>
                  </a:moveTo>
                  <a:cubicBezTo>
                    <a:pt x="353326" y="298239"/>
                    <a:pt x="485738" y="568815"/>
                    <a:pt x="675557" y="788415"/>
                  </a:cubicBezTo>
                  <a:lnTo>
                    <a:pt x="301650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E1D243BD-2069-7ED3-B8A5-F7A84EEB1700}"/>
                </a:ext>
              </a:extLst>
            </p:cNvPr>
            <p:cNvSpPr/>
            <p:nvPr/>
          </p:nvSpPr>
          <p:spPr>
            <a:xfrm>
              <a:off x="7127683" y="1379410"/>
              <a:ext cx="1181730" cy="1379144"/>
            </a:xfrm>
            <a:custGeom>
              <a:avLst/>
              <a:gdLst>
                <a:gd name="connsiteX0" fmla="*/ 301638 w 675557"/>
                <a:gd name="connsiteY0" fmla="*/ 0 h 788412"/>
                <a:gd name="connsiteX1" fmla="*/ 675557 w 675557"/>
                <a:gd name="connsiteY1" fmla="*/ 788413 h 788412"/>
                <a:gd name="connsiteX2" fmla="*/ 301650 w 675557"/>
                <a:gd name="connsiteY2" fmla="*/ 788413 h 788412"/>
                <a:gd name="connsiteX3" fmla="*/ 0 w 675557"/>
                <a:gd name="connsiteY3" fmla="*/ 0 h 788412"/>
                <a:gd name="connsiteX4" fmla="*/ 301638 w 675557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2">
                  <a:moveTo>
                    <a:pt x="301638" y="0"/>
                  </a:moveTo>
                  <a:cubicBezTo>
                    <a:pt x="353326" y="298240"/>
                    <a:pt x="485738" y="568819"/>
                    <a:pt x="675557" y="788413"/>
                  </a:cubicBezTo>
                  <a:lnTo>
                    <a:pt x="301650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506A11F-C5CC-8DDC-6226-744E6E60BA92}"/>
                </a:ext>
              </a:extLst>
            </p:cNvPr>
            <p:cNvSpPr/>
            <p:nvPr/>
          </p:nvSpPr>
          <p:spPr>
            <a:xfrm>
              <a:off x="7127683" y="275875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33D9057-2F57-64B7-15DD-9666E597DB67}"/>
                </a:ext>
              </a:extLst>
            </p:cNvPr>
            <p:cNvSpPr/>
            <p:nvPr/>
          </p:nvSpPr>
          <p:spPr>
            <a:xfrm>
              <a:off x="7127683" y="4138225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45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6D3921C3-7297-8DCF-0C3E-0DCB67D959BD}"/>
                </a:ext>
              </a:extLst>
            </p:cNvPr>
            <p:cNvSpPr/>
            <p:nvPr/>
          </p:nvSpPr>
          <p:spPr>
            <a:xfrm>
              <a:off x="7127683" y="5517577"/>
              <a:ext cx="1181730" cy="1379153"/>
            </a:xfrm>
            <a:custGeom>
              <a:avLst/>
              <a:gdLst>
                <a:gd name="connsiteX0" fmla="*/ 301638 w 675557"/>
                <a:gd name="connsiteY0" fmla="*/ 0 h 788417"/>
                <a:gd name="connsiteX1" fmla="*/ 675557 w 675557"/>
                <a:gd name="connsiteY1" fmla="*/ 788417 h 788417"/>
                <a:gd name="connsiteX2" fmla="*/ 301650 w 675557"/>
                <a:gd name="connsiteY2" fmla="*/ 788417 h 788417"/>
                <a:gd name="connsiteX3" fmla="*/ 0 w 675557"/>
                <a:gd name="connsiteY3" fmla="*/ 0 h 788417"/>
                <a:gd name="connsiteX4" fmla="*/ 301638 w 675557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7" h="788417">
                  <a:moveTo>
                    <a:pt x="301638" y="0"/>
                  </a:moveTo>
                  <a:cubicBezTo>
                    <a:pt x="353326" y="298236"/>
                    <a:pt x="485738" y="568814"/>
                    <a:pt x="675557" y="788417"/>
                  </a:cubicBezTo>
                  <a:lnTo>
                    <a:pt x="301650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D8490FBE-966F-46B9-1599-CF793AD91701}"/>
                </a:ext>
              </a:extLst>
            </p:cNvPr>
            <p:cNvSpPr/>
            <p:nvPr/>
          </p:nvSpPr>
          <p:spPr>
            <a:xfrm>
              <a:off x="8415451" y="0"/>
              <a:ext cx="1181725" cy="1379149"/>
            </a:xfrm>
            <a:custGeom>
              <a:avLst/>
              <a:gdLst>
                <a:gd name="connsiteX0" fmla="*/ 301641 w 675554"/>
                <a:gd name="connsiteY0" fmla="*/ 0 h 788415"/>
                <a:gd name="connsiteX1" fmla="*/ 675554 w 675554"/>
                <a:gd name="connsiteY1" fmla="*/ 788415 h 788415"/>
                <a:gd name="connsiteX2" fmla="*/ 301651 w 675554"/>
                <a:gd name="connsiteY2" fmla="*/ 788415 h 788415"/>
                <a:gd name="connsiteX3" fmla="*/ 0 w 675554"/>
                <a:gd name="connsiteY3" fmla="*/ 0 h 788415"/>
                <a:gd name="connsiteX4" fmla="*/ 301641 w 675554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5">
                  <a:moveTo>
                    <a:pt x="301641" y="0"/>
                  </a:moveTo>
                  <a:cubicBezTo>
                    <a:pt x="353325" y="298239"/>
                    <a:pt x="485737" y="568815"/>
                    <a:pt x="675554" y="788415"/>
                  </a:cubicBezTo>
                  <a:lnTo>
                    <a:pt x="301651" y="788415"/>
                  </a:lnTo>
                  <a:cubicBezTo>
                    <a:pt x="147106" y="556027"/>
                    <a:pt x="42027" y="288326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4831897-0D13-E217-7659-2B7CE808BEB2}"/>
                </a:ext>
              </a:extLst>
            </p:cNvPr>
            <p:cNvSpPr/>
            <p:nvPr/>
          </p:nvSpPr>
          <p:spPr>
            <a:xfrm>
              <a:off x="8415451" y="1379410"/>
              <a:ext cx="1181725" cy="1379144"/>
            </a:xfrm>
            <a:custGeom>
              <a:avLst/>
              <a:gdLst>
                <a:gd name="connsiteX0" fmla="*/ 301641 w 675554"/>
                <a:gd name="connsiteY0" fmla="*/ 0 h 788412"/>
                <a:gd name="connsiteX1" fmla="*/ 675554 w 675554"/>
                <a:gd name="connsiteY1" fmla="*/ 788413 h 788412"/>
                <a:gd name="connsiteX2" fmla="*/ 301651 w 675554"/>
                <a:gd name="connsiteY2" fmla="*/ 788413 h 788412"/>
                <a:gd name="connsiteX3" fmla="*/ 0 w 675554"/>
                <a:gd name="connsiteY3" fmla="*/ 0 h 788412"/>
                <a:gd name="connsiteX4" fmla="*/ 301641 w 675554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2">
                  <a:moveTo>
                    <a:pt x="301641" y="0"/>
                  </a:moveTo>
                  <a:cubicBezTo>
                    <a:pt x="353325" y="298240"/>
                    <a:pt x="485737" y="568819"/>
                    <a:pt x="675554" y="788413"/>
                  </a:cubicBezTo>
                  <a:lnTo>
                    <a:pt x="301651" y="788413"/>
                  </a:lnTo>
                  <a:cubicBezTo>
                    <a:pt x="147106" y="556027"/>
                    <a:pt x="42027" y="288323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F0759491-F98B-C448-3521-5C355735A0AA}"/>
                </a:ext>
              </a:extLst>
            </p:cNvPr>
            <p:cNvSpPr/>
            <p:nvPr/>
          </p:nvSpPr>
          <p:spPr>
            <a:xfrm>
              <a:off x="8415451" y="275875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5A9B28C5-8B09-D2AB-06A5-66B7C9A47A96}"/>
                </a:ext>
              </a:extLst>
            </p:cNvPr>
            <p:cNvSpPr/>
            <p:nvPr/>
          </p:nvSpPr>
          <p:spPr>
            <a:xfrm>
              <a:off x="8415451" y="4138225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45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32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F7219B22-52FB-CF1F-F679-7BFF82654205}"/>
                </a:ext>
              </a:extLst>
            </p:cNvPr>
            <p:cNvSpPr/>
            <p:nvPr/>
          </p:nvSpPr>
          <p:spPr>
            <a:xfrm>
              <a:off x="8415451" y="5517577"/>
              <a:ext cx="1181725" cy="1379153"/>
            </a:xfrm>
            <a:custGeom>
              <a:avLst/>
              <a:gdLst>
                <a:gd name="connsiteX0" fmla="*/ 301641 w 675554"/>
                <a:gd name="connsiteY0" fmla="*/ 0 h 788417"/>
                <a:gd name="connsiteX1" fmla="*/ 675554 w 675554"/>
                <a:gd name="connsiteY1" fmla="*/ 788417 h 788417"/>
                <a:gd name="connsiteX2" fmla="*/ 301651 w 675554"/>
                <a:gd name="connsiteY2" fmla="*/ 788417 h 788417"/>
                <a:gd name="connsiteX3" fmla="*/ 0 w 675554"/>
                <a:gd name="connsiteY3" fmla="*/ 0 h 788417"/>
                <a:gd name="connsiteX4" fmla="*/ 301641 w 675554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4" h="788417">
                  <a:moveTo>
                    <a:pt x="301641" y="0"/>
                  </a:moveTo>
                  <a:cubicBezTo>
                    <a:pt x="353325" y="298236"/>
                    <a:pt x="485737" y="568814"/>
                    <a:pt x="675554" y="788417"/>
                  </a:cubicBezTo>
                  <a:lnTo>
                    <a:pt x="301651" y="788417"/>
                  </a:lnTo>
                  <a:cubicBezTo>
                    <a:pt x="147106" y="556023"/>
                    <a:pt x="42027" y="288328"/>
                    <a:pt x="0" y="0"/>
                  </a:cubicBezTo>
                  <a:lnTo>
                    <a:pt x="301641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03821265-B762-6815-826E-FD9EFAB99391}"/>
                </a:ext>
              </a:extLst>
            </p:cNvPr>
            <p:cNvSpPr/>
            <p:nvPr/>
          </p:nvSpPr>
          <p:spPr>
            <a:xfrm>
              <a:off x="9703321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1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1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0E249282-5C8A-0C4E-EC84-0A22659E0301}"/>
                </a:ext>
              </a:extLst>
            </p:cNvPr>
            <p:cNvSpPr/>
            <p:nvPr/>
          </p:nvSpPr>
          <p:spPr>
            <a:xfrm>
              <a:off x="9703321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1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1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D1E80D39-CB68-74B9-D47A-5F005A9751DA}"/>
                </a:ext>
              </a:extLst>
            </p:cNvPr>
            <p:cNvSpPr/>
            <p:nvPr/>
          </p:nvSpPr>
          <p:spPr>
            <a:xfrm>
              <a:off x="9703321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5EE579C-CC55-DBCF-616C-185CB6D5F1D2}"/>
                </a:ext>
              </a:extLst>
            </p:cNvPr>
            <p:cNvSpPr/>
            <p:nvPr/>
          </p:nvSpPr>
          <p:spPr>
            <a:xfrm>
              <a:off x="9703321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3FCA1AE8-F127-5A43-4CF1-D0DE90F78B83}"/>
                </a:ext>
              </a:extLst>
            </p:cNvPr>
            <p:cNvSpPr/>
            <p:nvPr/>
          </p:nvSpPr>
          <p:spPr>
            <a:xfrm>
              <a:off x="9703321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1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1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8D94D3D2-F2D7-B183-223C-F40344AEF72F}"/>
                </a:ext>
              </a:extLst>
            </p:cNvPr>
            <p:cNvSpPr/>
            <p:nvPr/>
          </p:nvSpPr>
          <p:spPr>
            <a:xfrm>
              <a:off x="10991187" y="0"/>
              <a:ext cx="1181720" cy="1379149"/>
            </a:xfrm>
            <a:custGeom>
              <a:avLst/>
              <a:gdLst>
                <a:gd name="connsiteX0" fmla="*/ 301638 w 675551"/>
                <a:gd name="connsiteY0" fmla="*/ 0 h 788415"/>
                <a:gd name="connsiteX1" fmla="*/ 675552 w 675551"/>
                <a:gd name="connsiteY1" fmla="*/ 788415 h 788415"/>
                <a:gd name="connsiteX2" fmla="*/ 301648 w 675551"/>
                <a:gd name="connsiteY2" fmla="*/ 788415 h 788415"/>
                <a:gd name="connsiteX3" fmla="*/ 0 w 675551"/>
                <a:gd name="connsiteY3" fmla="*/ 0 h 788415"/>
                <a:gd name="connsiteX4" fmla="*/ 301638 w 675551"/>
                <a:gd name="connsiteY4" fmla="*/ 0 h 788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5">
                  <a:moveTo>
                    <a:pt x="301638" y="0"/>
                  </a:moveTo>
                  <a:cubicBezTo>
                    <a:pt x="353322" y="298239"/>
                    <a:pt x="485734" y="568815"/>
                    <a:pt x="675552" y="788415"/>
                  </a:cubicBezTo>
                  <a:lnTo>
                    <a:pt x="301648" y="788415"/>
                  </a:lnTo>
                  <a:cubicBezTo>
                    <a:pt x="147102" y="556027"/>
                    <a:pt x="42021" y="288326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24750039-8975-D385-3756-3958A017A17D}"/>
                </a:ext>
              </a:extLst>
            </p:cNvPr>
            <p:cNvSpPr/>
            <p:nvPr/>
          </p:nvSpPr>
          <p:spPr>
            <a:xfrm>
              <a:off x="10991187" y="1379410"/>
              <a:ext cx="1181720" cy="1379144"/>
            </a:xfrm>
            <a:custGeom>
              <a:avLst/>
              <a:gdLst>
                <a:gd name="connsiteX0" fmla="*/ 301638 w 675551"/>
                <a:gd name="connsiteY0" fmla="*/ 0 h 788412"/>
                <a:gd name="connsiteX1" fmla="*/ 675552 w 675551"/>
                <a:gd name="connsiteY1" fmla="*/ 788413 h 788412"/>
                <a:gd name="connsiteX2" fmla="*/ 301648 w 675551"/>
                <a:gd name="connsiteY2" fmla="*/ 788413 h 788412"/>
                <a:gd name="connsiteX3" fmla="*/ 0 w 675551"/>
                <a:gd name="connsiteY3" fmla="*/ 0 h 788412"/>
                <a:gd name="connsiteX4" fmla="*/ 301638 w 675551"/>
                <a:gd name="connsiteY4" fmla="*/ 0 h 78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2">
                  <a:moveTo>
                    <a:pt x="301638" y="0"/>
                  </a:moveTo>
                  <a:cubicBezTo>
                    <a:pt x="353322" y="298240"/>
                    <a:pt x="485734" y="568819"/>
                    <a:pt x="675552" y="788413"/>
                  </a:cubicBezTo>
                  <a:lnTo>
                    <a:pt x="301648" y="788413"/>
                  </a:lnTo>
                  <a:cubicBezTo>
                    <a:pt x="147102" y="556027"/>
                    <a:pt x="42021" y="288323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C0C0C657-D45F-159C-97D9-94BC1DC1667C}"/>
                </a:ext>
              </a:extLst>
            </p:cNvPr>
            <p:cNvSpPr/>
            <p:nvPr/>
          </p:nvSpPr>
          <p:spPr>
            <a:xfrm>
              <a:off x="10991187" y="275875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365A4A85-31AC-876C-1F08-17CE8FA3A3AB}"/>
                </a:ext>
              </a:extLst>
            </p:cNvPr>
            <p:cNvSpPr/>
            <p:nvPr/>
          </p:nvSpPr>
          <p:spPr>
            <a:xfrm>
              <a:off x="10991187" y="4138225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45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32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948B54E4-B652-B875-B41E-C687159F521E}"/>
                </a:ext>
              </a:extLst>
            </p:cNvPr>
            <p:cNvSpPr/>
            <p:nvPr/>
          </p:nvSpPr>
          <p:spPr>
            <a:xfrm>
              <a:off x="10991187" y="5517577"/>
              <a:ext cx="1181720" cy="1379153"/>
            </a:xfrm>
            <a:custGeom>
              <a:avLst/>
              <a:gdLst>
                <a:gd name="connsiteX0" fmla="*/ 301638 w 675551"/>
                <a:gd name="connsiteY0" fmla="*/ 0 h 788417"/>
                <a:gd name="connsiteX1" fmla="*/ 675552 w 675551"/>
                <a:gd name="connsiteY1" fmla="*/ 788417 h 788417"/>
                <a:gd name="connsiteX2" fmla="*/ 301648 w 675551"/>
                <a:gd name="connsiteY2" fmla="*/ 788417 h 788417"/>
                <a:gd name="connsiteX3" fmla="*/ 0 w 675551"/>
                <a:gd name="connsiteY3" fmla="*/ 0 h 788417"/>
                <a:gd name="connsiteX4" fmla="*/ 301638 w 675551"/>
                <a:gd name="connsiteY4" fmla="*/ 0 h 788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551" h="788417">
                  <a:moveTo>
                    <a:pt x="301638" y="0"/>
                  </a:moveTo>
                  <a:cubicBezTo>
                    <a:pt x="353322" y="298236"/>
                    <a:pt x="485734" y="568814"/>
                    <a:pt x="675552" y="788417"/>
                  </a:cubicBezTo>
                  <a:lnTo>
                    <a:pt x="301648" y="788417"/>
                  </a:lnTo>
                  <a:cubicBezTo>
                    <a:pt x="147102" y="556023"/>
                    <a:pt x="42021" y="288328"/>
                    <a:pt x="0" y="0"/>
                  </a:cubicBezTo>
                  <a:lnTo>
                    <a:pt x="301638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" name="Текст 3">
            <a:extLst>
              <a:ext uri="{FF2B5EF4-FFF2-40B4-BE49-F238E27FC236}">
                <a16:creationId xmlns:a16="http://schemas.microsoft.com/office/drawing/2014/main" id="{F7EAD2F7-5211-8640-B7E3-216463581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853" y="3878709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8" name="Текст 34">
            <a:extLst>
              <a:ext uri="{FF2B5EF4-FFF2-40B4-BE49-F238E27FC236}">
                <a16:creationId xmlns:a16="http://schemas.microsoft.com/office/drawing/2014/main" id="{275431F4-A8EB-C14C-8D63-F3CF1DEBF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852" y="5715426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7E3A65D9-9480-5442-AA8E-A0C6FD9124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1514" y="1045518"/>
            <a:ext cx="8131144" cy="1767119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5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2" name="Текст 34">
            <a:extLst>
              <a:ext uri="{FF2B5EF4-FFF2-40B4-BE49-F238E27FC236}">
                <a16:creationId xmlns:a16="http://schemas.microsoft.com/office/drawing/2014/main" id="{50A7AAC4-BD42-4F48-B29C-562325155CB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513" y="2882235"/>
            <a:ext cx="8131144" cy="4853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24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0" name="Нижний колонтитул 2">
            <a:extLst>
              <a:ext uri="{FF2B5EF4-FFF2-40B4-BE49-F238E27FC236}">
                <a16:creationId xmlns:a16="http://schemas.microsoft.com/office/drawing/2014/main" id="{9FD49CA2-9CEC-FD4D-A162-B7A2D2E27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247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">
            <a:extLst>
              <a:ext uri="{FF2B5EF4-FFF2-40B4-BE49-F238E27FC236}">
                <a16:creationId xmlns:a16="http://schemas.microsoft.com/office/drawing/2014/main" id="{598F9B43-B4FF-604A-856B-6F166A2798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1773238"/>
            <a:ext cx="5135728" cy="442753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9FF0FDE-D0C3-104B-96FD-AC1E14EC8D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55854" cy="6442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— ключевая мысль слайда</a:t>
            </a:r>
          </a:p>
        </p:txBody>
      </p:sp>
      <p:sp>
        <p:nvSpPr>
          <p:cNvPr id="15" name="Нижний колонтитул 2">
            <a:extLst>
              <a:ext uri="{FF2B5EF4-FFF2-40B4-BE49-F238E27FC236}">
                <a16:creationId xmlns:a16="http://schemas.microsoft.com/office/drawing/2014/main" id="{01A28A39-3502-FF4D-9D08-FCEB0174D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75179072-2D34-6C4A-8FD4-F04D3A0FA4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9" name="Текст 34">
            <a:extLst>
              <a:ext uri="{FF2B5EF4-FFF2-40B4-BE49-F238E27FC236}">
                <a16:creationId xmlns:a16="http://schemas.microsoft.com/office/drawing/2014/main" id="{0BEFE399-95CA-7444-879C-F39DA5B8DF3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69E1489-AF9B-9B41-852A-0C747395A0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1" i="0">
                <a:solidFill>
                  <a:schemeClr val="tx2"/>
                </a:solidFill>
                <a:latin typeface="VK Sans Display DemiBold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1" name="Текст 34">
            <a:extLst>
              <a:ext uri="{FF2B5EF4-FFF2-40B4-BE49-F238E27FC236}">
                <a16:creationId xmlns:a16="http://schemas.microsoft.com/office/drawing/2014/main" id="{55FDFEC3-4201-6A48-A41E-50C16F5CBF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5678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ижний колонтитул 2">
            <a:extLst>
              <a:ext uri="{FF2B5EF4-FFF2-40B4-BE49-F238E27FC236}">
                <a16:creationId xmlns:a16="http://schemas.microsoft.com/office/drawing/2014/main" id="{CC560E50-F65F-D34C-9DA2-1AF7DACA0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9DE78278-6FD7-A541-8836-A712566C4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8" name="Текст 34">
            <a:extLst>
              <a:ext uri="{FF2B5EF4-FFF2-40B4-BE49-F238E27FC236}">
                <a16:creationId xmlns:a16="http://schemas.microsoft.com/office/drawing/2014/main" id="{A8CA0E34-8A10-A842-B668-29DECF37D3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E51FE869-5CD3-2643-B61B-81412402B7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0" name="Текст 34">
            <a:extLst>
              <a:ext uri="{FF2B5EF4-FFF2-40B4-BE49-F238E27FC236}">
                <a16:creationId xmlns:a16="http://schemas.microsoft.com/office/drawing/2014/main" id="{41B6C28E-C27C-E540-9FC3-68797F0F37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99C1330-4D5D-1C47-ACEE-9517C4FCB7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012" y="3864033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2" name="Текст 34">
            <a:extLst>
              <a:ext uri="{FF2B5EF4-FFF2-40B4-BE49-F238E27FC236}">
                <a16:creationId xmlns:a16="http://schemas.microsoft.com/office/drawing/2014/main" id="{308124FC-6D74-4744-83CB-B1D802B334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011" y="5058095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FF81206D-5CD2-F94C-910E-935B5F260B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8673" y="1773238"/>
            <a:ext cx="5239525" cy="1080000"/>
          </a:xfrm>
          <a:prstGeom prst="rect">
            <a:avLst/>
          </a:prstGeom>
        </p:spPr>
        <p:txBody>
          <a:bodyPr lIns="0" t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8800" b="0" i="0">
                <a:solidFill>
                  <a:schemeClr val="tx1"/>
                </a:solidFill>
                <a:latin typeface="VK Sans Display Medium" pitchFamily="2" charset="0"/>
              </a:defRPr>
            </a:lvl1pPr>
          </a:lstStyle>
          <a:p>
            <a:pPr lvl="0"/>
            <a:r>
              <a:rPr lang="ru-RU" dirty="0"/>
              <a:t>140 МЛН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4" name="Текст 34">
            <a:extLst>
              <a:ext uri="{FF2B5EF4-FFF2-40B4-BE49-F238E27FC236}">
                <a16:creationId xmlns:a16="http://schemas.microsoft.com/office/drawing/2014/main" id="{D269ED19-FCBA-C046-93F1-0E630222B8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8673" y="2967300"/>
            <a:ext cx="5239525" cy="35661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1800" dirty="0">
                <a:latin typeface="+mj-lt"/>
              </a:defRPr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3513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4">
            <a:extLst>
              <a:ext uri="{FF2B5EF4-FFF2-40B4-BE49-F238E27FC236}">
                <a16:creationId xmlns:a16="http://schemas.microsoft.com/office/drawing/2014/main" id="{66C8302A-BF65-0F4D-9B62-9520B49215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5018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18" name="Текст 34">
            <a:extLst>
              <a:ext uri="{FF2B5EF4-FFF2-40B4-BE49-F238E27FC236}">
                <a16:creationId xmlns:a16="http://schemas.microsoft.com/office/drawing/2014/main" id="{87F1DCF1-F07D-CA41-9067-50A97E91C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5017" y="1620441"/>
            <a:ext cx="2779200" cy="4985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4457AEB8-8272-6341-9E94-51663A50DD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8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1417%</a:t>
            </a:r>
          </a:p>
        </p:txBody>
      </p:sp>
      <p:sp>
        <p:nvSpPr>
          <p:cNvPr id="20" name="Текст 34">
            <a:extLst>
              <a:ext uri="{FF2B5EF4-FFF2-40B4-BE49-F238E27FC236}">
                <a16:creationId xmlns:a16="http://schemas.microsoft.com/office/drawing/2014/main" id="{E1BAAD02-4AA3-904C-8576-4CD382C405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017" y="3684008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CF677041-6CDF-624E-A657-517EB8DEAD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24464" y="617220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22" name="Текст 34">
            <a:extLst>
              <a:ext uri="{FF2B5EF4-FFF2-40B4-BE49-F238E27FC236}">
                <a16:creationId xmlns:a16="http://schemas.microsoft.com/office/drawing/2014/main" id="{14B49514-DF4C-E24E-92C6-03A177997E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4463" y="1620442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257586B4-BDF0-2347-9674-C4578BF712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4465" y="2680786"/>
            <a:ext cx="2779200" cy="9243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698%</a:t>
            </a:r>
          </a:p>
        </p:txBody>
      </p:sp>
      <p:sp>
        <p:nvSpPr>
          <p:cNvPr id="24" name="Текст 34">
            <a:extLst>
              <a:ext uri="{FF2B5EF4-FFF2-40B4-BE49-F238E27FC236}">
                <a16:creationId xmlns:a16="http://schemas.microsoft.com/office/drawing/2014/main" id="{E25C2558-241E-2C49-9CEF-5C16B7CEF7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4463" y="3684008"/>
            <a:ext cx="2779200" cy="4985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2" name="Текст 34">
            <a:extLst>
              <a:ext uri="{FF2B5EF4-FFF2-40B4-BE49-F238E27FC236}">
                <a16:creationId xmlns:a16="http://schemas.microsoft.com/office/drawing/2014/main" id="{A49FD218-5350-2B4E-86CE-B6A63EEF2D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8348" y="2495796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14" name="Нижний колонтитул 2">
            <a:extLst>
              <a:ext uri="{FF2B5EF4-FFF2-40B4-BE49-F238E27FC236}">
                <a16:creationId xmlns:a16="http://schemas.microsoft.com/office/drawing/2014/main" id="{A22F06EC-4FA5-3A40-AFD1-16BC39319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2F6104A-53A0-B043-9BB6-35D53B38E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87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</p:spTree>
    <p:extLst>
      <p:ext uri="{BB962C8B-B14F-4D97-AF65-F5344CB8AC3E}">
        <p14:creationId xmlns:p14="http://schemas.microsoft.com/office/powerpoint/2010/main" val="4281075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4">
            <a:extLst>
              <a:ext uri="{FF2B5EF4-FFF2-40B4-BE49-F238E27FC236}">
                <a16:creationId xmlns:a16="http://schemas.microsoft.com/office/drawing/2014/main" id="{00831EC7-EA82-FD41-A9E0-A22A0E0153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5020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26" name="Текст 34">
            <a:extLst>
              <a:ext uri="{FF2B5EF4-FFF2-40B4-BE49-F238E27FC236}">
                <a16:creationId xmlns:a16="http://schemas.microsoft.com/office/drawing/2014/main" id="{E705B6C0-4359-034E-80DE-E3A2B83720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5020" y="145276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CCBD9900-17CC-E646-B050-F04823142E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75766" y="617220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196%</a:t>
            </a:r>
          </a:p>
        </p:txBody>
      </p:sp>
      <p:sp>
        <p:nvSpPr>
          <p:cNvPr id="28" name="Текст 34">
            <a:extLst>
              <a:ext uri="{FF2B5EF4-FFF2-40B4-BE49-F238E27FC236}">
                <a16:creationId xmlns:a16="http://schemas.microsoft.com/office/drawing/2014/main" id="{B4E7C76A-A9B0-7143-96AA-177476A1F3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75766" y="145276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B4C54B2F-AB0D-B04C-8C8A-757F8656AB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45020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1811%</a:t>
            </a:r>
          </a:p>
        </p:txBody>
      </p:sp>
      <p:sp>
        <p:nvSpPr>
          <p:cNvPr id="30" name="Текст 34">
            <a:extLst>
              <a:ext uri="{FF2B5EF4-FFF2-40B4-BE49-F238E27FC236}">
                <a16:creationId xmlns:a16="http://schemas.microsoft.com/office/drawing/2014/main" id="{2BC3E87B-2691-A24F-A916-280AD4B103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45020" y="3128871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B3CA084A-762B-9B46-8B94-1927D613E6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75766" y="2293322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119%</a:t>
            </a:r>
          </a:p>
        </p:txBody>
      </p:sp>
      <p:sp>
        <p:nvSpPr>
          <p:cNvPr id="32" name="Текст 34">
            <a:extLst>
              <a:ext uri="{FF2B5EF4-FFF2-40B4-BE49-F238E27FC236}">
                <a16:creationId xmlns:a16="http://schemas.microsoft.com/office/drawing/2014/main" id="{B18B253A-C2DB-2349-909E-9DB4EE5513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766" y="3128872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DAADEFB6-10C9-1847-9389-F07457C019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5020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1412%</a:t>
            </a:r>
          </a:p>
        </p:txBody>
      </p:sp>
      <p:sp>
        <p:nvSpPr>
          <p:cNvPr id="34" name="Текст 34">
            <a:extLst>
              <a:ext uri="{FF2B5EF4-FFF2-40B4-BE49-F238E27FC236}">
                <a16:creationId xmlns:a16="http://schemas.microsoft.com/office/drawing/2014/main" id="{0CDAD404-030A-934A-8851-B3C6383A0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45020" y="480703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A223E09C-B85C-654E-95F0-69EDC2B290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75766" y="3971489"/>
            <a:ext cx="2484000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135%</a:t>
            </a:r>
          </a:p>
        </p:txBody>
      </p:sp>
      <p:sp>
        <p:nvSpPr>
          <p:cNvPr id="36" name="Текст 34">
            <a:extLst>
              <a:ext uri="{FF2B5EF4-FFF2-40B4-BE49-F238E27FC236}">
                <a16:creationId xmlns:a16="http://schemas.microsoft.com/office/drawing/2014/main" id="{95021F1D-C872-E641-951C-AEABDAD5D3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75766" y="4807039"/>
            <a:ext cx="2484000" cy="597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16" name="Текст 34">
            <a:extLst>
              <a:ext uri="{FF2B5EF4-FFF2-40B4-BE49-F238E27FC236}">
                <a16:creationId xmlns:a16="http://schemas.microsoft.com/office/drawing/2014/main" id="{04E00712-D90A-3A4F-82CA-46794E17AF9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513" y="2496201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D9DB7F6-938F-9749-B6D5-9F240B61A9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172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21" name="Нижний колонтитул 2">
            <a:extLst>
              <a:ext uri="{FF2B5EF4-FFF2-40B4-BE49-F238E27FC236}">
                <a16:creationId xmlns:a16="http://schemas.microsoft.com/office/drawing/2014/main" id="{3B5EDCCD-9349-5E42-89F0-F5A1AE5D1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57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4">
            <a:extLst>
              <a:ext uri="{FF2B5EF4-FFF2-40B4-BE49-F238E27FC236}">
                <a16:creationId xmlns:a16="http://schemas.microsoft.com/office/drawing/2014/main" id="{F7C4007B-40AC-1540-83F9-30A6118277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4297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1" name="Текст 34">
            <a:extLst>
              <a:ext uri="{FF2B5EF4-FFF2-40B4-BE49-F238E27FC236}">
                <a16:creationId xmlns:a16="http://schemas.microsoft.com/office/drawing/2014/main" id="{C27B8AE7-54C9-234E-BAE9-0EFF0EC468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297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D622398-9BDF-CE47-A04B-4DB3D5B350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5993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3" name="Текст 34">
            <a:extLst>
              <a:ext uri="{FF2B5EF4-FFF2-40B4-BE49-F238E27FC236}">
                <a16:creationId xmlns:a16="http://schemas.microsoft.com/office/drawing/2014/main" id="{13D9284D-37D3-C648-9A7F-042D63906E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95993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3EC23FA8-1F2B-BE43-A0CD-F5F53EDB40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338" y="621775"/>
            <a:ext cx="1764000" cy="8064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25" name="Текст 34">
            <a:extLst>
              <a:ext uri="{FF2B5EF4-FFF2-40B4-BE49-F238E27FC236}">
                <a16:creationId xmlns:a16="http://schemas.microsoft.com/office/drawing/2014/main" id="{0F95475C-D35E-2E43-8C4D-C152B9F39B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45338" y="143976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526E1EC0-5595-DE45-B19D-FD4A0774E9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42973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39" name="Текст 34">
            <a:extLst>
              <a:ext uri="{FF2B5EF4-FFF2-40B4-BE49-F238E27FC236}">
                <a16:creationId xmlns:a16="http://schemas.microsoft.com/office/drawing/2014/main" id="{24FA1F76-56BB-524E-8B52-CB0542379B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973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47B63853-5B25-9745-9967-BF249BF6A8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9966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1" name="Текст 34">
            <a:extLst>
              <a:ext uri="{FF2B5EF4-FFF2-40B4-BE49-F238E27FC236}">
                <a16:creationId xmlns:a16="http://schemas.microsoft.com/office/drawing/2014/main" id="{E07865DA-C45F-424D-9846-0143E1BDAA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9966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FC8E81BF-5327-5E4A-A8E7-E0A8B6C1FEB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52688" y="2524164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3" name="Текст 34">
            <a:extLst>
              <a:ext uri="{FF2B5EF4-FFF2-40B4-BE49-F238E27FC236}">
                <a16:creationId xmlns:a16="http://schemas.microsoft.com/office/drawing/2014/main" id="{BF75EB22-B195-874B-87C8-6277CE8CC1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52688" y="3335807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5D302B44-7A78-414C-931E-D858FFF88C2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4297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5" name="Текст 34">
            <a:extLst>
              <a:ext uri="{FF2B5EF4-FFF2-40B4-BE49-F238E27FC236}">
                <a16:creationId xmlns:a16="http://schemas.microsoft.com/office/drawing/2014/main" id="{D70533C3-E41E-4646-B1C6-CCAEC1E5DA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4297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6" name="Текст 4">
            <a:extLst>
              <a:ext uri="{FF2B5EF4-FFF2-40B4-BE49-F238E27FC236}">
                <a16:creationId xmlns:a16="http://schemas.microsoft.com/office/drawing/2014/main" id="{FF9CB53E-DCF1-3043-B0BF-067932E126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95993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7" name="Текст 34">
            <a:extLst>
              <a:ext uri="{FF2B5EF4-FFF2-40B4-BE49-F238E27FC236}">
                <a16:creationId xmlns:a16="http://schemas.microsoft.com/office/drawing/2014/main" id="{F3B3C7F7-CD50-0345-B335-68D8AC6A3A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95993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3E773229-A9A5-984A-AF65-8228095701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5338" y="4348797"/>
            <a:ext cx="1764000" cy="7963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latin typeface="+mj-lt"/>
              </a:defRPr>
            </a:lvl1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49" name="Текст 34">
            <a:extLst>
              <a:ext uri="{FF2B5EF4-FFF2-40B4-BE49-F238E27FC236}">
                <a16:creationId xmlns:a16="http://schemas.microsoft.com/office/drawing/2014/main" id="{5761D7E3-E47A-D84E-8EC2-47EB98A99F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45338" y="5157265"/>
            <a:ext cx="1764000" cy="601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9" name="Текст 34">
            <a:extLst>
              <a:ext uri="{FF2B5EF4-FFF2-40B4-BE49-F238E27FC236}">
                <a16:creationId xmlns:a16="http://schemas.microsoft.com/office/drawing/2014/main" id="{FADED89C-B30C-474F-9963-33B2361726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1513" y="2487267"/>
            <a:ext cx="3384000" cy="111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719B10F6-AC59-6D43-AFFA-CBDD12D094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3366029" cy="1601172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30" name="Нижний колонтитул 2">
            <a:extLst>
              <a:ext uri="{FF2B5EF4-FFF2-40B4-BE49-F238E27FC236}">
                <a16:creationId xmlns:a16="http://schemas.microsoft.com/office/drawing/2014/main" id="{6004F66E-69A1-984B-B186-DF7D3DB8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01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4">
            <a:extLst>
              <a:ext uri="{FF2B5EF4-FFF2-40B4-BE49-F238E27FC236}">
                <a16:creationId xmlns:a16="http://schemas.microsoft.com/office/drawing/2014/main" id="{8CDA6E9D-D9FE-6440-B66F-B9CA59326A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513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29" name="Текст 34">
            <a:extLst>
              <a:ext uri="{FF2B5EF4-FFF2-40B4-BE49-F238E27FC236}">
                <a16:creationId xmlns:a16="http://schemas.microsoft.com/office/drawing/2014/main" id="{FE29BD04-EB1C-FA40-94AA-1B4AFCEB28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513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6E75009D-A8F7-1C44-A515-609AE4B2D6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3450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31" name="Текст 34">
            <a:extLst>
              <a:ext uri="{FF2B5EF4-FFF2-40B4-BE49-F238E27FC236}">
                <a16:creationId xmlns:a16="http://schemas.microsoft.com/office/drawing/2014/main" id="{21D10D7E-E911-4C44-9BCF-3E4A0D5A61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3450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DF029F45-879C-FF4A-8017-AE7377D480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5388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1431%</a:t>
            </a:r>
          </a:p>
        </p:txBody>
      </p:sp>
      <p:sp>
        <p:nvSpPr>
          <p:cNvPr id="33" name="Текст 34">
            <a:extLst>
              <a:ext uri="{FF2B5EF4-FFF2-40B4-BE49-F238E27FC236}">
                <a16:creationId xmlns:a16="http://schemas.microsoft.com/office/drawing/2014/main" id="{DB228E60-38E7-654A-84CC-EBFEF83E1D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5388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36F11711-DBC8-2247-9A38-4F5A190AB3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57326" y="2052229"/>
            <a:ext cx="2575861" cy="76041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479%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16FD6355-F454-2F4D-8268-578D2E7F8C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57326" y="2947811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8970462A-D5A2-9C42-B351-A822FC8BA1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1513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1817%</a:t>
            </a:r>
          </a:p>
        </p:txBody>
      </p:sp>
      <p:sp>
        <p:nvSpPr>
          <p:cNvPr id="37" name="Текст 34">
            <a:extLst>
              <a:ext uri="{FF2B5EF4-FFF2-40B4-BE49-F238E27FC236}">
                <a16:creationId xmlns:a16="http://schemas.microsoft.com/office/drawing/2014/main" id="{6955A764-C93D-B340-8522-00D99B01C3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1513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1" name="Текст 4">
            <a:extLst>
              <a:ext uri="{FF2B5EF4-FFF2-40B4-BE49-F238E27FC236}">
                <a16:creationId xmlns:a16="http://schemas.microsoft.com/office/drawing/2014/main" id="{3B6F0302-CC80-2440-8C53-216CE749CF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3450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898%</a:t>
            </a:r>
          </a:p>
        </p:txBody>
      </p:sp>
      <p:sp>
        <p:nvSpPr>
          <p:cNvPr id="52" name="Текст 34">
            <a:extLst>
              <a:ext uri="{FF2B5EF4-FFF2-40B4-BE49-F238E27FC236}">
                <a16:creationId xmlns:a16="http://schemas.microsoft.com/office/drawing/2014/main" id="{BEF6B95A-23EF-3B4F-B6D7-F144CE3857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3450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0D6EDB34-E0E2-FD49-A17E-141D03EDE5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5388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413%</a:t>
            </a:r>
          </a:p>
        </p:txBody>
      </p:sp>
      <p:sp>
        <p:nvSpPr>
          <p:cNvPr id="54" name="Текст 34">
            <a:extLst>
              <a:ext uri="{FF2B5EF4-FFF2-40B4-BE49-F238E27FC236}">
                <a16:creationId xmlns:a16="http://schemas.microsoft.com/office/drawing/2014/main" id="{841A889F-3944-AF4B-8D31-72E5B5402A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5388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B82E010C-AB8A-E54A-81F5-F69442D512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57326" y="4142061"/>
            <a:ext cx="2575861" cy="7604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sz="5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379%</a:t>
            </a:r>
          </a:p>
        </p:txBody>
      </p:sp>
      <p:sp>
        <p:nvSpPr>
          <p:cNvPr id="56" name="Текст 34">
            <a:extLst>
              <a:ext uri="{FF2B5EF4-FFF2-40B4-BE49-F238E27FC236}">
                <a16:creationId xmlns:a16="http://schemas.microsoft.com/office/drawing/2014/main" id="{71EC8D80-9DDF-EC4E-B15A-A5681C7E03B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57326" y="5031926"/>
            <a:ext cx="2575861" cy="6284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кратко опишите </a:t>
            </a:r>
            <a:r>
              <a:rPr lang="ru-RU" dirty="0" err="1"/>
              <a:t>фактоиды</a:t>
            </a:r>
            <a:endParaRPr lang="ru-RU" dirty="0"/>
          </a:p>
        </p:txBody>
      </p:sp>
      <p:sp>
        <p:nvSpPr>
          <p:cNvPr id="20" name="Нижний колонтитул 2">
            <a:extLst>
              <a:ext uri="{FF2B5EF4-FFF2-40B4-BE49-F238E27FC236}">
                <a16:creationId xmlns:a16="http://schemas.microsoft.com/office/drawing/2014/main" id="{16461753-2BB8-6C4B-A147-F16A769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A45DE1E-3882-C345-89BF-8E02B93DC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10868554" cy="628404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</p:spTree>
    <p:extLst>
      <p:ext uri="{BB962C8B-B14F-4D97-AF65-F5344CB8AC3E}">
        <p14:creationId xmlns:p14="http://schemas.microsoft.com/office/powerpoint/2010/main" val="209959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скриншот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6B939B2E-B6BB-D04B-8511-1F5FCBD358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9" name="Нижний колонтитул 2">
            <a:extLst>
              <a:ext uri="{FF2B5EF4-FFF2-40B4-BE49-F238E27FC236}">
                <a16:creationId xmlns:a16="http://schemas.microsoft.com/office/drawing/2014/main" id="{5D818D37-95CD-A54D-A873-58443763E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FE5B93B5-05A2-2544-8F22-44097F5E2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C9B590D-4781-8D49-93CD-C4866F0890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418217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99941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BF4F9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C33ADE9E-ECB7-1F4A-B46F-CAD9E158F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4" y="167981"/>
            <a:ext cx="4663017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C41E022A-C37A-A847-906F-26B820785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008DFEA-A24A-E34D-83B0-932D8C25F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418217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6658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BF4F9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C41E022A-C37A-A847-906F-26B820785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0171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2008DFEA-A24A-E34D-83B0-932D8C25F8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64351" y="2018599"/>
            <a:ext cx="4649786" cy="418217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20793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rgbClr val="EBF4F9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7CF3EB50-A7E7-6C46-A2E6-243B308973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800" dirty="0">
                <a:latin typeface="VK Sans Display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Заголовок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4567ABE6-665B-9A42-BA9A-9F11583EB5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 dirty="0">
                <a:latin typeface="VK Sans Display" pitchFamily="2" charset="0"/>
              </a:defRPr>
            </a:lvl1pPr>
          </a:lstStyle>
          <a:p>
            <a:pPr lvl="0"/>
            <a:r>
              <a:rPr lang="ru-RU" dirty="0"/>
              <a:t>Кратко сформулируйте главную мысль</a:t>
            </a:r>
          </a:p>
        </p:txBody>
      </p:sp>
      <p:sp>
        <p:nvSpPr>
          <p:cNvPr id="8" name="Нижний колонтитул 2">
            <a:extLst>
              <a:ext uri="{FF2B5EF4-FFF2-40B4-BE49-F238E27FC236}">
                <a16:creationId xmlns:a16="http://schemas.microsoft.com/office/drawing/2014/main" id="{B1EB5948-9BFD-2F46-B73E-B5E2C7775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7AFCF1EF-72D2-5E40-B289-9BC8691CA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50"/>
            <a:ext cx="4663017" cy="108108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B1C268A2-11C7-314A-802D-ADB67A88E2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1514" y="2018599"/>
            <a:ext cx="4649786" cy="418217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9593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 круж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2">
            <a:extLst>
              <a:ext uri="{FF2B5EF4-FFF2-40B4-BE49-F238E27FC236}">
                <a16:creationId xmlns:a16="http://schemas.microsoft.com/office/drawing/2014/main" id="{F9FB253E-BC12-EF4D-B1C5-E0D144591D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608083" y="1773237"/>
            <a:ext cx="3156225" cy="3156225"/>
          </a:xfrm>
          <a:prstGeom prst="ellipse">
            <a:avLst/>
          </a:prstGeom>
          <a:solidFill>
            <a:srgbClr val="EBF4F9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7FE8B859-2299-5046-96BF-81805B7C8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0350" y="2201188"/>
            <a:ext cx="4891856" cy="10634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Напишите основную мысль</a:t>
            </a:r>
          </a:p>
        </p:txBody>
      </p:sp>
      <p:sp>
        <p:nvSpPr>
          <p:cNvPr id="9" name="Текст 34">
            <a:extLst>
              <a:ext uri="{FF2B5EF4-FFF2-40B4-BE49-F238E27FC236}">
                <a16:creationId xmlns:a16="http://schemas.microsoft.com/office/drawing/2014/main" id="{808739EF-D4B6-B847-B487-DF6967A6E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37598" y="3441164"/>
            <a:ext cx="4894515" cy="1172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b="0" i="0" dirty="0">
                <a:latin typeface="VK Sans Display" pitchFamily="2" charset="0"/>
              </a:defRPr>
            </a:lvl1pPr>
            <a:lvl2pPr>
              <a:defRPr lang="ru-RU" dirty="0">
                <a:latin typeface="VK Sans Display" pitchFamily="2" charset="0"/>
              </a:defRPr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marL="228600" lvl="1" indent="-228600">
              <a:buClr>
                <a:schemeClr val="tx2"/>
              </a:buClr>
            </a:pPr>
            <a:r>
              <a:rPr lang="ru-RU" dirty="0"/>
              <a:t>Уровень 2</a:t>
            </a:r>
          </a:p>
        </p:txBody>
      </p:sp>
      <p:sp>
        <p:nvSpPr>
          <p:cNvPr id="6" name="Нижний колонтитул 2">
            <a:extLst>
              <a:ext uri="{FF2B5EF4-FFF2-40B4-BE49-F238E27FC236}">
                <a16:creationId xmlns:a16="http://schemas.microsoft.com/office/drawing/2014/main" id="{4850B24A-5604-CA43-BD24-FD32EA3B8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992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сообщест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33">
            <a:extLst>
              <a:ext uri="{FF2B5EF4-FFF2-40B4-BE49-F238E27FC236}">
                <a16:creationId xmlns:a16="http://schemas.microsoft.com/office/drawing/2014/main" id="{BBAF255A-528F-DA45-AF05-D9145BE253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49730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3" name="Рисунок 34">
            <a:extLst>
              <a:ext uri="{FF2B5EF4-FFF2-40B4-BE49-F238E27FC236}">
                <a16:creationId xmlns:a16="http://schemas.microsoft.com/office/drawing/2014/main" id="{1EDE53BF-9384-3F44-82B0-7B4197259CA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95062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4" name="Рисунок 36">
            <a:extLst>
              <a:ext uri="{FF2B5EF4-FFF2-40B4-BE49-F238E27FC236}">
                <a16:creationId xmlns:a16="http://schemas.microsoft.com/office/drawing/2014/main" id="{F503805D-CC61-4B4D-B49F-78197D7A20C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511197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5" name="Рисунок 37">
            <a:extLst>
              <a:ext uri="{FF2B5EF4-FFF2-40B4-BE49-F238E27FC236}">
                <a16:creationId xmlns:a16="http://schemas.microsoft.com/office/drawing/2014/main" id="{E93B7ABF-4CFB-FA42-9B9B-75CABB82988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112094" y="800100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1" name="Рисунок 33">
            <a:extLst>
              <a:ext uri="{FF2B5EF4-FFF2-40B4-BE49-F238E27FC236}">
                <a16:creationId xmlns:a16="http://schemas.microsoft.com/office/drawing/2014/main" id="{7A427DD4-5B81-304C-919B-55BDBFB3D87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49730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2" name="Рисунок 34">
            <a:extLst>
              <a:ext uri="{FF2B5EF4-FFF2-40B4-BE49-F238E27FC236}">
                <a16:creationId xmlns:a16="http://schemas.microsoft.com/office/drawing/2014/main" id="{03E6AF83-D8AB-454C-B7B3-C87A5186172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95062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3" name="Рисунок 36">
            <a:extLst>
              <a:ext uri="{FF2B5EF4-FFF2-40B4-BE49-F238E27FC236}">
                <a16:creationId xmlns:a16="http://schemas.microsoft.com/office/drawing/2014/main" id="{13680196-7687-714E-8022-5F67BEF30A1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511197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4" name="Рисунок 37">
            <a:extLst>
              <a:ext uri="{FF2B5EF4-FFF2-40B4-BE49-F238E27FC236}">
                <a16:creationId xmlns:a16="http://schemas.microsoft.com/office/drawing/2014/main" id="{53AC095F-4507-4F45-9C37-54381333B0A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112094" y="2248639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5" name="Рисунок 33">
            <a:extLst>
              <a:ext uri="{FF2B5EF4-FFF2-40B4-BE49-F238E27FC236}">
                <a16:creationId xmlns:a16="http://schemas.microsoft.com/office/drawing/2014/main" id="{59D5525B-D102-F14E-8C3E-AD24F02476E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49730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6" name="Рисунок 34">
            <a:extLst>
              <a:ext uri="{FF2B5EF4-FFF2-40B4-BE49-F238E27FC236}">
                <a16:creationId xmlns:a16="http://schemas.microsoft.com/office/drawing/2014/main" id="{E67FE9E2-B71C-754D-A9E1-AFAF246534D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95062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7" name="Рисунок 36">
            <a:extLst>
              <a:ext uri="{FF2B5EF4-FFF2-40B4-BE49-F238E27FC236}">
                <a16:creationId xmlns:a16="http://schemas.microsoft.com/office/drawing/2014/main" id="{18086737-6CCB-9B45-A255-FAC9F39E7F3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511197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8" name="Рисунок 37">
            <a:extLst>
              <a:ext uri="{FF2B5EF4-FFF2-40B4-BE49-F238E27FC236}">
                <a16:creationId xmlns:a16="http://schemas.microsoft.com/office/drawing/2014/main" id="{678A69C8-A077-EF40-8F97-585A2980BEA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112094" y="3697178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69" name="Рисунок 33">
            <a:extLst>
              <a:ext uri="{FF2B5EF4-FFF2-40B4-BE49-F238E27FC236}">
                <a16:creationId xmlns:a16="http://schemas.microsoft.com/office/drawing/2014/main" id="{E51881C8-D566-D84E-B796-2173EC5D1AE4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349730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0" name="Рисунок 34">
            <a:extLst>
              <a:ext uri="{FF2B5EF4-FFF2-40B4-BE49-F238E27FC236}">
                <a16:creationId xmlns:a16="http://schemas.microsoft.com/office/drawing/2014/main" id="{0E1B4231-F022-9844-925D-6A061371AEE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95062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1" name="Рисунок 36">
            <a:extLst>
              <a:ext uri="{FF2B5EF4-FFF2-40B4-BE49-F238E27FC236}">
                <a16:creationId xmlns:a16="http://schemas.microsoft.com/office/drawing/2014/main" id="{BD94CEF0-B973-3D41-BB44-217626631550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511197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72" name="Рисунок 37">
            <a:extLst>
              <a:ext uri="{FF2B5EF4-FFF2-40B4-BE49-F238E27FC236}">
                <a16:creationId xmlns:a16="http://schemas.microsoft.com/office/drawing/2014/main" id="{1928F8B3-07EC-A04D-8249-008477FB2A1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0112094" y="5145716"/>
            <a:ext cx="1091571" cy="1091571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rgbClr val="EBF4F9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="0" i="0">
                <a:latin typeface="SF Pro Text Light" pitchFamily="2" charset="0"/>
              </a:defRPr>
            </a:lvl1pPr>
          </a:lstStyle>
          <a:p>
            <a:r>
              <a:rPr lang="ru-RU" dirty="0"/>
              <a:t>Рису-нок</a:t>
            </a:r>
          </a:p>
        </p:txBody>
      </p:sp>
      <p:sp>
        <p:nvSpPr>
          <p:cNvPr id="21" name="Нижний колонтитул 2">
            <a:extLst>
              <a:ext uri="{FF2B5EF4-FFF2-40B4-BE49-F238E27FC236}">
                <a16:creationId xmlns:a16="http://schemas.microsoft.com/office/drawing/2014/main" id="{B5BF75A2-2D65-E947-9AA6-564933496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29" name="Заголовок 2">
            <a:extLst>
              <a:ext uri="{FF2B5EF4-FFF2-40B4-BE49-F238E27FC236}">
                <a16:creationId xmlns:a16="http://schemas.microsoft.com/office/drawing/2014/main" id="{6A07793F-F8F3-7A47-BBDB-26ADE0E1B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334" y="692149"/>
            <a:ext cx="3366029" cy="170815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Заголовок – главная мысль слайда </a:t>
            </a:r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8EE0EA62-D1DB-197B-17C5-E0DE17E5C8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1513" y="2588865"/>
            <a:ext cx="3384000" cy="35769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</p:spTree>
    <p:extLst>
      <p:ext uri="{BB962C8B-B14F-4D97-AF65-F5344CB8AC3E}">
        <p14:creationId xmlns:p14="http://schemas.microsoft.com/office/powerpoint/2010/main" val="127977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 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6617A05-57B0-D444-8882-A7FCC5FC028A}"/>
              </a:ext>
            </a:extLst>
          </p:cNvPr>
          <p:cNvSpPr txBox="1"/>
          <p:nvPr userDrawn="1"/>
        </p:nvSpPr>
        <p:spPr>
          <a:xfrm>
            <a:off x="3013869" y="-1049149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r>
              <a:rPr lang="ru-RU" sz="28800" b="1" i="0" dirty="0">
                <a:solidFill>
                  <a:schemeClr val="bg1"/>
                </a:solidFill>
                <a:latin typeface="VK Sans Display DemiBold" pitchFamily="2" charset="0"/>
              </a:rPr>
              <a:t>«</a:t>
            </a:r>
          </a:p>
        </p:txBody>
      </p:sp>
      <p:sp>
        <p:nvSpPr>
          <p:cNvPr id="9" name="Текст 43">
            <a:extLst>
              <a:ext uri="{FF2B5EF4-FFF2-40B4-BE49-F238E27FC236}">
                <a16:creationId xmlns:a16="http://schemas.microsoft.com/office/drawing/2014/main" id="{9BE4D7FE-BCEB-8846-AABB-259936AF80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46702" y="711409"/>
            <a:ext cx="6199186" cy="10618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36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dirty="0"/>
              <a:t>Цитата: </a:t>
            </a:r>
            <a:br>
              <a:rPr lang="ru-RU" dirty="0"/>
            </a:br>
            <a:r>
              <a:rPr lang="ru-RU" dirty="0"/>
              <a:t>ключевая мысль</a:t>
            </a:r>
          </a:p>
        </p:txBody>
      </p:sp>
      <p:sp>
        <p:nvSpPr>
          <p:cNvPr id="11" name="Рисунок 33">
            <a:extLst>
              <a:ext uri="{FF2B5EF4-FFF2-40B4-BE49-F238E27FC236}">
                <a16:creationId xmlns:a16="http://schemas.microsoft.com/office/drawing/2014/main" id="{FBD9F727-FC09-AA44-B9B5-4ECE7511EC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71513" y="800101"/>
            <a:ext cx="3370771" cy="3371552"/>
          </a:xfrm>
          <a:custGeom>
            <a:avLst/>
            <a:gdLst>
              <a:gd name="connsiteX0" fmla="*/ 434760 w 869520"/>
              <a:gd name="connsiteY0" fmla="*/ 0 h 849060"/>
              <a:gd name="connsiteX1" fmla="*/ 869520 w 869520"/>
              <a:gd name="connsiteY1" fmla="*/ 424530 h 849060"/>
              <a:gd name="connsiteX2" fmla="*/ 434760 w 869520"/>
              <a:gd name="connsiteY2" fmla="*/ 849060 h 849060"/>
              <a:gd name="connsiteX3" fmla="*/ 0 w 869520"/>
              <a:gd name="connsiteY3" fmla="*/ 424530 h 849060"/>
              <a:gd name="connsiteX4" fmla="*/ 434760 w 869520"/>
              <a:gd name="connsiteY4" fmla="*/ 0 h 8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520" h="849060">
                <a:moveTo>
                  <a:pt x="434760" y="0"/>
                </a:moveTo>
                <a:cubicBezTo>
                  <a:pt x="674871" y="0"/>
                  <a:pt x="869520" y="190069"/>
                  <a:pt x="869520" y="424530"/>
                </a:cubicBezTo>
                <a:cubicBezTo>
                  <a:pt x="869520" y="658991"/>
                  <a:pt x="674871" y="849060"/>
                  <a:pt x="434760" y="849060"/>
                </a:cubicBezTo>
                <a:cubicBezTo>
                  <a:pt x="194649" y="849060"/>
                  <a:pt x="0" y="658991"/>
                  <a:pt x="0" y="424530"/>
                </a:cubicBezTo>
                <a:cubicBezTo>
                  <a:pt x="0" y="190069"/>
                  <a:pt x="194649" y="0"/>
                  <a:pt x="43476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/>
              <a:t>Рисунок</a:t>
            </a:r>
          </a:p>
        </p:txBody>
      </p:sp>
      <p:sp>
        <p:nvSpPr>
          <p:cNvPr id="14" name="Name + Surname">
            <a:extLst>
              <a:ext uri="{FF2B5EF4-FFF2-40B4-BE49-F238E27FC236}">
                <a16:creationId xmlns:a16="http://schemas.microsoft.com/office/drawing/2014/main" id="{7F5F4B3E-5E28-5B42-8D95-CC4B33106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592" y="4580422"/>
            <a:ext cx="3372026" cy="8882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2400" dirty="0">
                <a:solidFill>
                  <a:schemeClr val="accent1"/>
                </a:solidFill>
                <a:latin typeface="VK Sans Display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Имя </a:t>
            </a:r>
            <a:br>
              <a:rPr lang="en-US" dirty="0"/>
            </a:br>
            <a:r>
              <a:rPr lang="ru-RU" dirty="0"/>
              <a:t>и фамилия</a:t>
            </a:r>
            <a:endParaRPr lang="en-US" dirty="0"/>
          </a:p>
        </p:txBody>
      </p:sp>
      <p:sp>
        <p:nvSpPr>
          <p:cNvPr id="16" name="Position">
            <a:extLst>
              <a:ext uri="{FF2B5EF4-FFF2-40B4-BE49-F238E27FC236}">
                <a16:creationId xmlns:a16="http://schemas.microsoft.com/office/drawing/2014/main" id="{448EE364-91E2-BC4B-A39F-EDB604B1AD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2592" y="5490168"/>
            <a:ext cx="3370771" cy="7106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defRPr lang="en-US" b="0" i="0" dirty="0">
                <a:latin typeface="VK Sans Display" pitchFamily="2" charset="0"/>
              </a:defRPr>
            </a:lvl1pPr>
          </a:lstStyle>
          <a:p>
            <a:pPr lvl="0"/>
            <a:r>
              <a:rPr lang="ru-RU" dirty="0"/>
              <a:t>Название должности</a:t>
            </a:r>
            <a:endParaRPr lang="en-US" dirty="0"/>
          </a:p>
        </p:txBody>
      </p:sp>
      <p:sp>
        <p:nvSpPr>
          <p:cNvPr id="17" name="Нижний колонтитул 2">
            <a:extLst>
              <a:ext uri="{FF2B5EF4-FFF2-40B4-BE49-F238E27FC236}">
                <a16:creationId xmlns:a16="http://schemas.microsoft.com/office/drawing/2014/main" id="{D07C4804-0BF7-6940-B206-CA538C7CA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  <p:sp>
        <p:nvSpPr>
          <p:cNvPr id="2" name="Текст 34">
            <a:extLst>
              <a:ext uri="{FF2B5EF4-FFF2-40B4-BE49-F238E27FC236}">
                <a16:creationId xmlns:a16="http://schemas.microsoft.com/office/drawing/2014/main" id="{B13ADDF8-13E5-2393-CF62-649B7B0A835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46702" y="2075229"/>
            <a:ext cx="6172706" cy="41255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ru-RU" dirty="0"/>
            </a:lvl1pPr>
            <a:lvl2pPr>
              <a:defRPr lang="ru-RU" dirty="0"/>
            </a:lvl2pPr>
          </a:lstStyle>
          <a:p>
            <a:pPr lvl="0"/>
            <a:r>
              <a:rPr lang="ru-RU" dirty="0"/>
              <a:t>Опишите кратко идеи, подтверждающие основную мысль слайда</a:t>
            </a:r>
          </a:p>
          <a:p>
            <a:pPr lvl="1"/>
            <a:r>
              <a:rPr lang="ru-RU" dirty="0"/>
              <a:t>Уровень 2</a:t>
            </a:r>
          </a:p>
        </p:txBody>
      </p:sp>
    </p:spTree>
    <p:extLst>
      <p:ext uri="{BB962C8B-B14F-4D97-AF65-F5344CB8AC3E}">
        <p14:creationId xmlns:p14="http://schemas.microsoft.com/office/powerpoint/2010/main" val="668728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 без фото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3">
            <a:extLst>
              <a:ext uri="{FF2B5EF4-FFF2-40B4-BE49-F238E27FC236}">
                <a16:creationId xmlns:a16="http://schemas.microsoft.com/office/drawing/2014/main" id="{9BE4D7FE-BCEB-8846-AABB-259936AF80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ru-RU" sz="44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ru-RU" dirty="0"/>
              <a:t>Цитата: </a:t>
            </a:r>
            <a:br>
              <a:rPr lang="ru-RU" dirty="0"/>
            </a:br>
            <a:r>
              <a:rPr lang="ru-RU" dirty="0"/>
              <a:t>ключевая мысль</a:t>
            </a:r>
          </a:p>
        </p:txBody>
      </p:sp>
      <p:sp>
        <p:nvSpPr>
          <p:cNvPr id="14" name="Name + Surname">
            <a:extLst>
              <a:ext uri="{FF2B5EF4-FFF2-40B4-BE49-F238E27FC236}">
                <a16:creationId xmlns:a16="http://schemas.microsoft.com/office/drawing/2014/main" id="{7F5F4B3E-5E28-5B42-8D95-CC4B33106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2400" dirty="0">
                <a:solidFill>
                  <a:schemeClr val="tx2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Имя и фамилия</a:t>
            </a:r>
            <a:endParaRPr lang="en-US" dirty="0"/>
          </a:p>
        </p:txBody>
      </p:sp>
      <p:sp>
        <p:nvSpPr>
          <p:cNvPr id="15" name="Body Text">
            <a:extLst>
              <a:ext uri="{FF2B5EF4-FFF2-40B4-BE49-F238E27FC236}">
                <a16:creationId xmlns:a16="http://schemas.microsoft.com/office/drawing/2014/main" id="{652868F7-DC0A-7E43-AB22-D7A2C4D81E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lnSpc>
                <a:spcPct val="110000"/>
              </a:lnSpc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228600" indent="-228600">
              <a:lnSpc>
                <a:spcPct val="110000"/>
              </a:lnSpc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10000"/>
              </a:lnSpc>
              <a:defRPr sz="1800">
                <a:latin typeface="+mj-lt"/>
              </a:defRPr>
            </a:lvl3pPr>
          </a:lstStyle>
          <a:p>
            <a:pPr lvl="0"/>
            <a:r>
              <a:rPr lang="ru-RU" dirty="0"/>
              <a:t>Опишите кратко идеи, </a:t>
            </a:r>
            <a:br>
              <a:rPr lang="ru-RU" dirty="0"/>
            </a:br>
            <a:r>
              <a:rPr lang="ru-RU" dirty="0"/>
              <a:t>подтверждающие основную мысль слайда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49603D-3461-EE46-98B7-7067B67CBB22}"/>
              </a:ext>
            </a:extLst>
          </p:cNvPr>
          <p:cNvSpPr txBox="1"/>
          <p:nvPr userDrawn="1"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</p:spPr>
        <p:txBody>
          <a:bodyPr wrap="square" tIns="0" rtlCol="0" anchor="t">
            <a:spAutoFit/>
          </a:bodyPr>
          <a:lstStyle/>
          <a:p>
            <a:r>
              <a:rPr lang="ru-RU" sz="28800" b="1" i="0" dirty="0">
                <a:solidFill>
                  <a:schemeClr val="bg1"/>
                </a:solidFill>
                <a:latin typeface="VK Sans Display DemiBold" pitchFamily="2" charset="0"/>
              </a:rPr>
              <a:t>«</a:t>
            </a:r>
          </a:p>
        </p:txBody>
      </p:sp>
      <p:sp>
        <p:nvSpPr>
          <p:cNvPr id="17" name="Нижний колонтитул 2">
            <a:extLst>
              <a:ext uri="{FF2B5EF4-FFF2-40B4-BE49-F238E27FC236}">
                <a16:creationId xmlns:a16="http://schemas.microsoft.com/office/drawing/2014/main" id="{D07C4804-0BF7-6940-B206-CA538C7CA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873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7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7760898"/>
      </p:ext>
    </p:extLst>
  </p:cSld>
  <p:clrMapOvr>
    <a:masterClrMapping/>
  </p:clrMapOvr>
  <p:transition spd="med"/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 userDrawn="1"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 userDrawn="1"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B87E4-90D6-9BAC-BFAC-B2EB812656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" y="0"/>
            <a:ext cx="12192014" cy="68580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BCB89D-E7EE-2DBA-6FE4-CDB9194147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5817" y="702089"/>
            <a:ext cx="2490420" cy="550978"/>
          </a:xfrm>
          <a:prstGeom prst="rect">
            <a:avLst/>
          </a:prstGeom>
        </p:spPr>
      </p:pic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1C7AD0D0-6111-F3C1-08F8-5FCA87A2D7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170" y="3035262"/>
            <a:ext cx="642129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две строки</a:t>
            </a: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1466BF26-5A99-4BA0-054F-5E4B1C68E1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07E0830E-1F2C-2DC9-0881-6235FECCCC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DE6064-2518-5DAD-DF72-540D8F567689}"/>
              </a:ext>
            </a:extLst>
          </p:cNvPr>
          <p:cNvSpPr/>
          <p:nvPr userDrawn="1"/>
        </p:nvSpPr>
        <p:spPr>
          <a:xfrm>
            <a:off x="518414" y="6294411"/>
            <a:ext cx="1171575" cy="358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DCBCAA-163C-28F1-46AD-7017AD4C28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8813" y="6168444"/>
            <a:ext cx="1555289" cy="35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48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 userDrawn="1"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 userDrawn="1"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EE1A035-5595-0B4B-D708-3A0DAA44FF8C}"/>
              </a:ext>
            </a:extLst>
          </p:cNvPr>
          <p:cNvGrpSpPr/>
          <p:nvPr userDrawn="1"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5BCE5DC4-B704-8633-88F9-1E2B58A53CF6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A8B6701-9B6D-E0B7-6CD9-EEF9B37283AE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E926FF1E-F9AF-0DF1-7E7C-3A7AD14ADFCB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BD06CA-6E17-AC66-33CC-0FC3EB3E8A67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41CB05B-C993-B53E-EC88-B6B03F5E2CAA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F8DD155C-D7E6-BAEE-EFD1-D60E801B7F58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B3C41D1-D082-E341-2C17-EFC0F406384E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8401FF3-DB95-EA08-8B73-06291BE2826C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1E09453-A0CD-E3C1-6FC8-EAE8DEA7BE17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64170D0-22D4-2DC4-30BD-559BD657C257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452814B-CC19-B17A-9E31-EA3C5BAADBA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87ED01C-8EBD-CE7C-C35B-B624EB8AA992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D98FB32-DFDA-2E2E-9FBA-81579DDAD389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94829BC2-0454-323F-170A-8C4F07EB3BE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705A3FE-46B4-5AC7-8ECA-326F05D85BFD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88A46A0-DABF-F1E3-7C47-5C34201D166C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063F523-EB83-A451-7BD2-8C6F47515280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CF304DB-1904-9C59-C217-A8ACBD4C96F0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0BAA61D-8A49-8782-BB8F-0C1C288AE966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2B624E4-9C87-602D-D412-83070AE17276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A30142F-E549-6C8A-4361-B0F4482A05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817" y="702089"/>
            <a:ext cx="2490420" cy="550978"/>
          </a:xfrm>
          <a:prstGeom prst="rect">
            <a:avLst/>
          </a:prstGeom>
        </p:spPr>
      </p:pic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3F475A60-2868-7195-A575-FFABE0EDC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33F0C36-C2B0-7247-6D4C-C6C07E1C5FA8}"/>
              </a:ext>
            </a:extLst>
          </p:cNvPr>
          <p:cNvSpPr/>
          <p:nvPr userDrawn="1"/>
        </p:nvSpPr>
        <p:spPr>
          <a:xfrm>
            <a:off x="518414" y="6294411"/>
            <a:ext cx="1171575" cy="358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8E5ED20-3E14-46C4-6B92-087B620CED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8813" y="6168444"/>
            <a:ext cx="1555289" cy="35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15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5BA2BE-D08C-B882-058E-590688C45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1910"/>
          <a:stretch/>
        </p:blipFill>
        <p:spPr>
          <a:xfrm>
            <a:off x="2350640" y="-9819"/>
            <a:ext cx="9837444" cy="6858008"/>
          </a:xfrm>
          <a:prstGeom prst="rect">
            <a:avLst/>
          </a:prstGeom>
        </p:spPr>
      </p:pic>
      <p:grpSp>
        <p:nvGrpSpPr>
          <p:cNvPr id="96" name="Группа 5"/>
          <p:cNvGrpSpPr/>
          <p:nvPr userDrawn="1"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 userDrawn="1"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720808-A107-0360-6B4F-1262E2A860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5817" y="702089"/>
            <a:ext cx="2484911" cy="550978"/>
          </a:xfrm>
          <a:prstGeom prst="rect">
            <a:avLst/>
          </a:prstGeom>
        </p:spPr>
      </p:pic>
      <p:sp>
        <p:nvSpPr>
          <p:cNvPr id="2" name="Заголовок 7">
            <a:extLst>
              <a:ext uri="{FF2B5EF4-FFF2-40B4-BE49-F238E27FC236}">
                <a16:creationId xmlns:a16="http://schemas.microsoft.com/office/drawing/2014/main" id="{BFD01486-C95E-6B42-CA3E-3FFDFDD1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170" y="3035262"/>
            <a:ext cx="642129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Название презентации в одну или две строки</a:t>
            </a:r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2B8EE357-311A-FDAD-1339-E92E28F104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3" y="1773238"/>
            <a:ext cx="3616325" cy="32519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3418216D-8D4F-9F0E-F3AD-FD25BED96C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512" y="5119279"/>
            <a:ext cx="2036955" cy="527122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VK Sans Display" pitchFamily="2" charset="0"/>
              </a:defRPr>
            </a:lvl1pPr>
            <a:lvl2pPr marL="0" indent="0">
              <a:buNone/>
              <a:defRPr>
                <a:solidFill>
                  <a:schemeClr val="tx1"/>
                </a:solidFill>
                <a:latin typeface="VK Sans Display" pitchFamily="2" charset="0"/>
              </a:defRPr>
            </a:lvl2pPr>
            <a:lvl3pPr>
              <a:defRPr>
                <a:solidFill>
                  <a:schemeClr val="bg1"/>
                </a:solidFill>
                <a:latin typeface="VK Sans Display" pitchFamily="2" charset="0"/>
              </a:defRPr>
            </a:lvl3pPr>
            <a:lvl4pPr>
              <a:defRPr>
                <a:solidFill>
                  <a:schemeClr val="bg1"/>
                </a:solidFill>
                <a:latin typeface="VK Sans Display" pitchFamily="2" charset="0"/>
              </a:defRPr>
            </a:lvl4pPr>
            <a:lvl5pPr>
              <a:defRPr>
                <a:solidFill>
                  <a:schemeClr val="bg1"/>
                </a:solidFill>
                <a:latin typeface="VK Sans Display" pitchFamily="2" charset="0"/>
              </a:defRPr>
            </a:lvl5pPr>
          </a:lstStyle>
          <a:p>
            <a:pPr lvl="1"/>
            <a:r>
              <a:rPr lang="ru-RU" dirty="0"/>
              <a:t>Имя Фамилия, должность спикера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0189FC-DA51-2675-D89A-E4EBA0DDFEF9}"/>
              </a:ext>
            </a:extLst>
          </p:cNvPr>
          <p:cNvSpPr/>
          <p:nvPr userDrawn="1"/>
        </p:nvSpPr>
        <p:spPr>
          <a:xfrm>
            <a:off x="545455" y="6245608"/>
            <a:ext cx="1235720" cy="475450"/>
          </a:xfrm>
          <a:prstGeom prst="rect">
            <a:avLst/>
          </a:prstGeom>
          <a:solidFill>
            <a:srgbClr val="E9F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89EF6E-4774-AC07-49AA-1FDE3FAFED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7865" y="6163082"/>
            <a:ext cx="1555288" cy="35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0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Группа 5"/>
          <p:cNvGrpSpPr/>
          <p:nvPr userDrawn="1"/>
        </p:nvGrpSpPr>
        <p:grpSpPr>
          <a:xfrm>
            <a:off x="224843" y="-74144"/>
            <a:ext cx="12188169" cy="64324"/>
            <a:chOff x="-1" y="-1"/>
            <a:chExt cx="12188167" cy="64322"/>
          </a:xfrm>
        </p:grpSpPr>
        <p:sp>
          <p:nvSpPr>
            <p:cNvPr id="97" name="Прямая соединительная линия 3"/>
            <p:cNvSpPr/>
            <p:nvPr/>
          </p:nvSpPr>
          <p:spPr>
            <a:xfrm flipH="1">
              <a:off x="-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Прямая соединительная линия 6"/>
            <p:cNvSpPr/>
            <p:nvPr/>
          </p:nvSpPr>
          <p:spPr>
            <a:xfrm>
              <a:off x="67711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Прямая соединительная линия 7"/>
            <p:cNvSpPr/>
            <p:nvPr/>
          </p:nvSpPr>
          <p:spPr>
            <a:xfrm>
              <a:off x="1354241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Прямая соединительная линия 8"/>
            <p:cNvSpPr/>
            <p:nvPr/>
          </p:nvSpPr>
          <p:spPr>
            <a:xfrm>
              <a:off x="20313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Прямая соединительная линия 9"/>
            <p:cNvSpPr/>
            <p:nvPr/>
          </p:nvSpPr>
          <p:spPr>
            <a:xfrm>
              <a:off x="2708479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Прямая соединительная линия 10"/>
            <p:cNvSpPr/>
            <p:nvPr/>
          </p:nvSpPr>
          <p:spPr>
            <a:xfrm>
              <a:off x="3385598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Прямая соединительная линия 11"/>
            <p:cNvSpPr/>
            <p:nvPr/>
          </p:nvSpPr>
          <p:spPr>
            <a:xfrm>
              <a:off x="406271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Прямая соединительная линия 12"/>
            <p:cNvSpPr/>
            <p:nvPr/>
          </p:nvSpPr>
          <p:spPr>
            <a:xfrm>
              <a:off x="4739836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Прямая соединительная линия 13"/>
            <p:cNvSpPr/>
            <p:nvPr/>
          </p:nvSpPr>
          <p:spPr>
            <a:xfrm>
              <a:off x="541695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Прямая соединительная линия 14"/>
            <p:cNvSpPr/>
            <p:nvPr/>
          </p:nvSpPr>
          <p:spPr>
            <a:xfrm>
              <a:off x="6094077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Прямая соединительная линия 15"/>
            <p:cNvSpPr/>
            <p:nvPr/>
          </p:nvSpPr>
          <p:spPr>
            <a:xfrm>
              <a:off x="677119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Прямая соединительная линия 16"/>
            <p:cNvSpPr/>
            <p:nvPr/>
          </p:nvSpPr>
          <p:spPr>
            <a:xfrm>
              <a:off x="744831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Прямая соединительная линия 17"/>
            <p:cNvSpPr/>
            <p:nvPr/>
          </p:nvSpPr>
          <p:spPr>
            <a:xfrm>
              <a:off x="8125435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Прямая соединительная линия 18"/>
            <p:cNvSpPr/>
            <p:nvPr/>
          </p:nvSpPr>
          <p:spPr>
            <a:xfrm>
              <a:off x="880255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Прямая соединительная линия 19"/>
            <p:cNvSpPr/>
            <p:nvPr/>
          </p:nvSpPr>
          <p:spPr>
            <a:xfrm>
              <a:off x="9479673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Прямая соединительная линия 20"/>
            <p:cNvSpPr/>
            <p:nvPr/>
          </p:nvSpPr>
          <p:spPr>
            <a:xfrm>
              <a:off x="10156792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Прямая соединительная линия 21"/>
            <p:cNvSpPr/>
            <p:nvPr/>
          </p:nvSpPr>
          <p:spPr>
            <a:xfrm>
              <a:off x="1083391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Прямая соединительная линия 22"/>
            <p:cNvSpPr/>
            <p:nvPr/>
          </p:nvSpPr>
          <p:spPr>
            <a:xfrm>
              <a:off x="11511034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Прямая соединительная линия 23"/>
            <p:cNvSpPr/>
            <p:nvPr/>
          </p:nvSpPr>
          <p:spPr>
            <a:xfrm>
              <a:off x="12188160" y="-2"/>
              <a:ext cx="7" cy="64324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16" name="Группа 25"/>
          <p:cNvGrpSpPr/>
          <p:nvPr userDrawn="1"/>
        </p:nvGrpSpPr>
        <p:grpSpPr>
          <a:xfrm>
            <a:off x="-13" y="6987081"/>
            <a:ext cx="12188169" cy="64323"/>
            <a:chOff x="-1" y="0"/>
            <a:chExt cx="12188167" cy="64322"/>
          </a:xfrm>
        </p:grpSpPr>
        <p:sp>
          <p:nvSpPr>
            <p:cNvPr id="117" name="Прямая соединительная линия 26"/>
            <p:cNvSpPr/>
            <p:nvPr/>
          </p:nvSpPr>
          <p:spPr>
            <a:xfrm flipH="1">
              <a:off x="-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Прямая соединительная линия 28"/>
            <p:cNvSpPr/>
            <p:nvPr/>
          </p:nvSpPr>
          <p:spPr>
            <a:xfrm>
              <a:off x="67711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Прямая соединительная линия 29"/>
            <p:cNvSpPr/>
            <p:nvPr/>
          </p:nvSpPr>
          <p:spPr>
            <a:xfrm>
              <a:off x="1354241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Прямая соединительная линия 30"/>
            <p:cNvSpPr/>
            <p:nvPr/>
          </p:nvSpPr>
          <p:spPr>
            <a:xfrm>
              <a:off x="20313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Прямая соединительная линия 31"/>
            <p:cNvSpPr/>
            <p:nvPr/>
          </p:nvSpPr>
          <p:spPr>
            <a:xfrm>
              <a:off x="2708479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Прямая соединительная линия 32"/>
            <p:cNvSpPr/>
            <p:nvPr/>
          </p:nvSpPr>
          <p:spPr>
            <a:xfrm>
              <a:off x="3385598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Прямая соединительная линия 33"/>
            <p:cNvSpPr/>
            <p:nvPr/>
          </p:nvSpPr>
          <p:spPr>
            <a:xfrm>
              <a:off x="406271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Прямая соединительная линия 34"/>
            <p:cNvSpPr/>
            <p:nvPr/>
          </p:nvSpPr>
          <p:spPr>
            <a:xfrm>
              <a:off x="4739836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Прямая соединительная линия 35"/>
            <p:cNvSpPr/>
            <p:nvPr/>
          </p:nvSpPr>
          <p:spPr>
            <a:xfrm>
              <a:off x="541695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Прямая соединительная линия 36"/>
            <p:cNvSpPr/>
            <p:nvPr/>
          </p:nvSpPr>
          <p:spPr>
            <a:xfrm>
              <a:off x="6094077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Прямая соединительная линия 37"/>
            <p:cNvSpPr/>
            <p:nvPr/>
          </p:nvSpPr>
          <p:spPr>
            <a:xfrm>
              <a:off x="677119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Прямая соединительная линия 38"/>
            <p:cNvSpPr/>
            <p:nvPr/>
          </p:nvSpPr>
          <p:spPr>
            <a:xfrm>
              <a:off x="744831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Прямая соединительная линия 39"/>
            <p:cNvSpPr/>
            <p:nvPr/>
          </p:nvSpPr>
          <p:spPr>
            <a:xfrm>
              <a:off x="8125435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Прямая соединительная линия 40"/>
            <p:cNvSpPr/>
            <p:nvPr/>
          </p:nvSpPr>
          <p:spPr>
            <a:xfrm>
              <a:off x="880255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Прямая соединительная линия 41"/>
            <p:cNvSpPr/>
            <p:nvPr/>
          </p:nvSpPr>
          <p:spPr>
            <a:xfrm>
              <a:off x="9479673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Прямая соединительная линия 42"/>
            <p:cNvSpPr/>
            <p:nvPr/>
          </p:nvSpPr>
          <p:spPr>
            <a:xfrm>
              <a:off x="10156792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Прямая соединительная линия 43"/>
            <p:cNvSpPr/>
            <p:nvPr/>
          </p:nvSpPr>
          <p:spPr>
            <a:xfrm>
              <a:off x="1083391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Прямая соединительная линия 44"/>
            <p:cNvSpPr/>
            <p:nvPr/>
          </p:nvSpPr>
          <p:spPr>
            <a:xfrm>
              <a:off x="11511034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Прямая соединительная линия 45"/>
            <p:cNvSpPr/>
            <p:nvPr/>
          </p:nvSpPr>
          <p:spPr>
            <a:xfrm>
              <a:off x="12188160" y="-1"/>
              <a:ext cx="7" cy="64323"/>
            </a:xfrm>
            <a:prstGeom prst="line">
              <a:avLst/>
            </a:prstGeom>
            <a:noFill/>
            <a:ln w="6350" cap="flat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EE1A035-5595-0B4B-D708-3A0DAA44FF8C}"/>
              </a:ext>
            </a:extLst>
          </p:cNvPr>
          <p:cNvGrpSpPr/>
          <p:nvPr userDrawn="1"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5BCE5DC4-B704-8633-88F9-1E2B58A53CF6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A8B6701-9B6D-E0B7-6CD9-EEF9B37283AE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E926FF1E-F9AF-0DF1-7E7C-3A7AD14ADFCB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BD06CA-6E17-AC66-33CC-0FC3EB3E8A67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41CB05B-C993-B53E-EC88-B6B03F5E2CAA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F8DD155C-D7E6-BAEE-EFD1-D60E801B7F58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B3C41D1-D082-E341-2C17-EFC0F406384E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8401FF3-DB95-EA08-8B73-06291BE2826C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1E09453-A0CD-E3C1-6FC8-EAE8DEA7BE17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64170D0-22D4-2DC4-30BD-559BD657C257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452814B-CC19-B17A-9E31-EA3C5BAADBA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87ED01C-8EBD-CE7C-C35B-B624EB8AA992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D98FB32-DFDA-2E2E-9FBA-81579DDAD389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94829BC2-0454-323F-170A-8C4F07EB3BE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2705A3FE-46B4-5AC7-8ECA-326F05D85BFD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88A46A0-DABF-F1E3-7C47-5C34201D166C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063F523-EB83-A451-7BD2-8C6F47515280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CF304DB-1904-9C59-C217-A8ACBD4C96F0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0BAA61D-8A49-8782-BB8F-0C1C288AE966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2B624E4-9C87-602D-D412-83070AE17276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AC50ECE-F788-26DC-82F8-3E709D0407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817" y="702089"/>
            <a:ext cx="2484911" cy="550978"/>
          </a:xfrm>
          <a:prstGeom prst="rect">
            <a:avLst/>
          </a:prstGeom>
        </p:spPr>
      </p:pic>
      <p:sp>
        <p:nvSpPr>
          <p:cNvPr id="23" name="Заголовок 7">
            <a:extLst>
              <a:ext uri="{FF2B5EF4-FFF2-40B4-BE49-F238E27FC236}">
                <a16:creationId xmlns:a16="http://schemas.microsoft.com/office/drawing/2014/main" id="{FB202101-83FB-F3CA-9BD6-3E84E9D93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106" y="4114706"/>
            <a:ext cx="6421292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DC682E5-AC44-ED2B-23F9-CD67239D3DA5}"/>
              </a:ext>
            </a:extLst>
          </p:cNvPr>
          <p:cNvSpPr/>
          <p:nvPr userDrawn="1"/>
        </p:nvSpPr>
        <p:spPr>
          <a:xfrm>
            <a:off x="545455" y="6245608"/>
            <a:ext cx="1235720" cy="475450"/>
          </a:xfrm>
          <a:prstGeom prst="rect">
            <a:avLst/>
          </a:prstGeom>
          <a:solidFill>
            <a:srgbClr val="E9F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81EE2E5-C31B-EEAE-7518-6128CD1060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865" y="6163082"/>
            <a:ext cx="1555288" cy="35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52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2621BAE2-07D9-514A-9985-E8FEC1442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170" y="1206463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FC759CC-1CE0-0ECB-636A-38777513651B}"/>
              </a:ext>
            </a:extLst>
          </p:cNvPr>
          <p:cNvGrpSpPr/>
          <p:nvPr userDrawn="1"/>
        </p:nvGrpSpPr>
        <p:grpSpPr>
          <a:xfrm>
            <a:off x="7066328" y="0"/>
            <a:ext cx="5103281" cy="6858000"/>
            <a:chOff x="13297154" y="-2797570"/>
            <a:chExt cx="2934215" cy="3943120"/>
          </a:xfrm>
          <a:solidFill>
            <a:srgbClr val="21212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D17D0AE3-958C-123B-A53F-7A6B906FB52D}"/>
                </a:ext>
              </a:extLst>
            </p:cNvPr>
            <p:cNvSpPr/>
            <p:nvPr/>
          </p:nvSpPr>
          <p:spPr>
            <a:xfrm>
              <a:off x="13297154" y="-2797533"/>
              <a:ext cx="856878" cy="985643"/>
            </a:xfrm>
            <a:custGeom>
              <a:avLst/>
              <a:gdLst>
                <a:gd name="connsiteX0" fmla="*/ 590265 w 856878"/>
                <a:gd name="connsiteY0" fmla="*/ 0 h 985643"/>
                <a:gd name="connsiteX1" fmla="*/ 0 w 856878"/>
                <a:gd name="connsiteY1" fmla="*/ 985644 h 985643"/>
                <a:gd name="connsiteX2" fmla="*/ 383751 w 856878"/>
                <a:gd name="connsiteY2" fmla="*/ 985644 h 985643"/>
                <a:gd name="connsiteX3" fmla="*/ 856879 w 856878"/>
                <a:gd name="connsiteY3" fmla="*/ 0 h 985643"/>
                <a:gd name="connsiteX4" fmla="*/ 590265 w 856878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3">
                  <a:moveTo>
                    <a:pt x="590265" y="0"/>
                  </a:moveTo>
                  <a:cubicBezTo>
                    <a:pt x="518255" y="397020"/>
                    <a:pt x="302990" y="744093"/>
                    <a:pt x="0" y="985644"/>
                  </a:cubicBezTo>
                  <a:lnTo>
                    <a:pt x="383751" y="985644"/>
                  </a:lnTo>
                  <a:cubicBezTo>
                    <a:pt x="629236" y="716613"/>
                    <a:pt x="798378" y="376622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F0734BE0-81FD-8C4B-0101-377442737582}"/>
                </a:ext>
              </a:extLst>
            </p:cNvPr>
            <p:cNvSpPr/>
            <p:nvPr/>
          </p:nvSpPr>
          <p:spPr>
            <a:xfrm>
              <a:off x="13297154" y="-1811708"/>
              <a:ext cx="856878" cy="985645"/>
            </a:xfrm>
            <a:custGeom>
              <a:avLst/>
              <a:gdLst>
                <a:gd name="connsiteX0" fmla="*/ 590265 w 856878"/>
                <a:gd name="connsiteY0" fmla="*/ 0 h 985645"/>
                <a:gd name="connsiteX1" fmla="*/ 0 w 856878"/>
                <a:gd name="connsiteY1" fmla="*/ 985645 h 985645"/>
                <a:gd name="connsiteX2" fmla="*/ 383751 w 856878"/>
                <a:gd name="connsiteY2" fmla="*/ 985645 h 985645"/>
                <a:gd name="connsiteX3" fmla="*/ 856879 w 856878"/>
                <a:gd name="connsiteY3" fmla="*/ 0 h 985645"/>
                <a:gd name="connsiteX4" fmla="*/ 590265 w 856878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0"/>
                  </a:moveTo>
                  <a:cubicBezTo>
                    <a:pt x="518255" y="397026"/>
                    <a:pt x="302990" y="744095"/>
                    <a:pt x="0" y="985645"/>
                  </a:cubicBezTo>
                  <a:lnTo>
                    <a:pt x="383751" y="985645"/>
                  </a:lnTo>
                  <a:cubicBezTo>
                    <a:pt x="629236" y="716618"/>
                    <a:pt x="798378" y="376621"/>
                    <a:pt x="856879" y="0"/>
                  </a:cubicBezTo>
                  <a:lnTo>
                    <a:pt x="590265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25C015D-07E9-6E0E-424E-8A6EC657052B}"/>
                </a:ext>
              </a:extLst>
            </p:cNvPr>
            <p:cNvSpPr/>
            <p:nvPr/>
          </p:nvSpPr>
          <p:spPr>
            <a:xfrm>
              <a:off x="13297154" y="-826063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985645"/>
                  </a:moveTo>
                  <a:cubicBezTo>
                    <a:pt x="518255" y="588629"/>
                    <a:pt x="302990" y="24155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0BB360F9-EB72-8467-9F42-AA0DDC5E06B9}"/>
                </a:ext>
              </a:extLst>
            </p:cNvPr>
            <p:cNvSpPr/>
            <p:nvPr/>
          </p:nvSpPr>
          <p:spPr>
            <a:xfrm>
              <a:off x="13297154" y="159905"/>
              <a:ext cx="856878" cy="985645"/>
            </a:xfrm>
            <a:custGeom>
              <a:avLst/>
              <a:gdLst>
                <a:gd name="connsiteX0" fmla="*/ 590265 w 856878"/>
                <a:gd name="connsiteY0" fmla="*/ 985645 h 985645"/>
                <a:gd name="connsiteX1" fmla="*/ 0 w 856878"/>
                <a:gd name="connsiteY1" fmla="*/ 0 h 985645"/>
                <a:gd name="connsiteX2" fmla="*/ 383751 w 856878"/>
                <a:gd name="connsiteY2" fmla="*/ 0 h 985645"/>
                <a:gd name="connsiteX3" fmla="*/ 856879 w 856878"/>
                <a:gd name="connsiteY3" fmla="*/ 985645 h 985645"/>
                <a:gd name="connsiteX4" fmla="*/ 590265 w 856878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78" h="985645">
                  <a:moveTo>
                    <a:pt x="590265" y="985645"/>
                  </a:moveTo>
                  <a:cubicBezTo>
                    <a:pt x="518255" y="588629"/>
                    <a:pt x="302990" y="241560"/>
                    <a:pt x="0" y="0"/>
                  </a:cubicBezTo>
                  <a:lnTo>
                    <a:pt x="383751" y="0"/>
                  </a:lnTo>
                  <a:cubicBezTo>
                    <a:pt x="629236" y="269036"/>
                    <a:pt x="798378" y="609025"/>
                    <a:pt x="856879" y="985645"/>
                  </a:cubicBezTo>
                  <a:lnTo>
                    <a:pt x="590265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779A6DCE-7A59-8A3F-08BB-977B01AE7AD4}"/>
                </a:ext>
              </a:extLst>
            </p:cNvPr>
            <p:cNvSpPr/>
            <p:nvPr/>
          </p:nvSpPr>
          <p:spPr>
            <a:xfrm>
              <a:off x="14335846" y="-2797533"/>
              <a:ext cx="856883" cy="985643"/>
            </a:xfrm>
            <a:custGeom>
              <a:avLst/>
              <a:gdLst>
                <a:gd name="connsiteX0" fmla="*/ 590270 w 856883"/>
                <a:gd name="connsiteY0" fmla="*/ 0 h 985643"/>
                <a:gd name="connsiteX1" fmla="*/ 0 w 856883"/>
                <a:gd name="connsiteY1" fmla="*/ 985644 h 985643"/>
                <a:gd name="connsiteX2" fmla="*/ 383749 w 856883"/>
                <a:gd name="connsiteY2" fmla="*/ 985644 h 985643"/>
                <a:gd name="connsiteX3" fmla="*/ 856884 w 856883"/>
                <a:gd name="connsiteY3" fmla="*/ 0 h 985643"/>
                <a:gd name="connsiteX4" fmla="*/ 590270 w 856883"/>
                <a:gd name="connsiteY4" fmla="*/ 0 h 98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3">
                  <a:moveTo>
                    <a:pt x="590270" y="0"/>
                  </a:moveTo>
                  <a:cubicBezTo>
                    <a:pt x="518259" y="397020"/>
                    <a:pt x="302990" y="744093"/>
                    <a:pt x="0" y="985644"/>
                  </a:cubicBezTo>
                  <a:lnTo>
                    <a:pt x="383749" y="985644"/>
                  </a:lnTo>
                  <a:cubicBezTo>
                    <a:pt x="62924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647A1106-8386-ED87-884F-0E9354468C66}"/>
                </a:ext>
              </a:extLst>
            </p:cNvPr>
            <p:cNvSpPr/>
            <p:nvPr/>
          </p:nvSpPr>
          <p:spPr>
            <a:xfrm>
              <a:off x="15374486" y="-2797570"/>
              <a:ext cx="856883" cy="985642"/>
            </a:xfrm>
            <a:custGeom>
              <a:avLst/>
              <a:gdLst>
                <a:gd name="connsiteX0" fmla="*/ 590270 w 856883"/>
                <a:gd name="connsiteY0" fmla="*/ 0 h 985642"/>
                <a:gd name="connsiteX1" fmla="*/ 0 w 856883"/>
                <a:gd name="connsiteY1" fmla="*/ 985643 h 985642"/>
                <a:gd name="connsiteX2" fmla="*/ 383749 w 856883"/>
                <a:gd name="connsiteY2" fmla="*/ 985643 h 985642"/>
                <a:gd name="connsiteX3" fmla="*/ 856884 w 856883"/>
                <a:gd name="connsiteY3" fmla="*/ 0 h 985642"/>
                <a:gd name="connsiteX4" fmla="*/ 590270 w 856883"/>
                <a:gd name="connsiteY4" fmla="*/ 0 h 98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2">
                  <a:moveTo>
                    <a:pt x="590270" y="0"/>
                  </a:moveTo>
                  <a:cubicBezTo>
                    <a:pt x="518259" y="397021"/>
                    <a:pt x="302990" y="744094"/>
                    <a:pt x="0" y="985643"/>
                  </a:cubicBezTo>
                  <a:lnTo>
                    <a:pt x="383749" y="985643"/>
                  </a:lnTo>
                  <a:cubicBezTo>
                    <a:pt x="629232" y="716613"/>
                    <a:pt x="798378" y="376622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BDF03F3E-E2F6-4655-E0EF-610A0072FAAD}"/>
                </a:ext>
              </a:extLst>
            </p:cNvPr>
            <p:cNvSpPr/>
            <p:nvPr/>
          </p:nvSpPr>
          <p:spPr>
            <a:xfrm>
              <a:off x="14335846" y="-1811708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4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BC053A9-C450-AD66-4705-2AF55E068E0F}"/>
                </a:ext>
              </a:extLst>
            </p:cNvPr>
            <p:cNvSpPr/>
            <p:nvPr/>
          </p:nvSpPr>
          <p:spPr>
            <a:xfrm>
              <a:off x="14335846" y="-826063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6E0A2298-A2C1-9939-4A29-752A155C0261}"/>
                </a:ext>
              </a:extLst>
            </p:cNvPr>
            <p:cNvSpPr/>
            <p:nvPr/>
          </p:nvSpPr>
          <p:spPr>
            <a:xfrm>
              <a:off x="15374486" y="-1811746"/>
              <a:ext cx="856883" cy="985645"/>
            </a:xfrm>
            <a:custGeom>
              <a:avLst/>
              <a:gdLst>
                <a:gd name="connsiteX0" fmla="*/ 590270 w 856883"/>
                <a:gd name="connsiteY0" fmla="*/ 0 h 985645"/>
                <a:gd name="connsiteX1" fmla="*/ 0 w 856883"/>
                <a:gd name="connsiteY1" fmla="*/ 985645 h 985645"/>
                <a:gd name="connsiteX2" fmla="*/ 383749 w 856883"/>
                <a:gd name="connsiteY2" fmla="*/ 985645 h 985645"/>
                <a:gd name="connsiteX3" fmla="*/ 856884 w 856883"/>
                <a:gd name="connsiteY3" fmla="*/ 0 h 985645"/>
                <a:gd name="connsiteX4" fmla="*/ 590270 w 856883"/>
                <a:gd name="connsiteY4" fmla="*/ 0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0"/>
                  </a:moveTo>
                  <a:cubicBezTo>
                    <a:pt x="518259" y="397026"/>
                    <a:pt x="302990" y="744095"/>
                    <a:pt x="0" y="985645"/>
                  </a:cubicBezTo>
                  <a:lnTo>
                    <a:pt x="383749" y="985645"/>
                  </a:lnTo>
                  <a:cubicBezTo>
                    <a:pt x="629232" y="716618"/>
                    <a:pt x="798378" y="376621"/>
                    <a:pt x="856884" y="0"/>
                  </a:cubicBezTo>
                  <a:lnTo>
                    <a:pt x="59027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D186331-0182-91B0-5F6F-4AA869F17769}"/>
                </a:ext>
              </a:extLst>
            </p:cNvPr>
            <p:cNvSpPr/>
            <p:nvPr/>
          </p:nvSpPr>
          <p:spPr>
            <a:xfrm>
              <a:off x="15374486" y="-826101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5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00098B1-BC5A-4B0D-0403-3623AC36751A}"/>
                </a:ext>
              </a:extLst>
            </p:cNvPr>
            <p:cNvSpPr/>
            <p:nvPr/>
          </p:nvSpPr>
          <p:spPr>
            <a:xfrm>
              <a:off x="14335846" y="159905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4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709825CD-E651-0DE1-D1D4-73D0BA47A38B}"/>
                </a:ext>
              </a:extLst>
            </p:cNvPr>
            <p:cNvSpPr/>
            <p:nvPr/>
          </p:nvSpPr>
          <p:spPr>
            <a:xfrm>
              <a:off x="15374486" y="159867"/>
              <a:ext cx="856883" cy="985645"/>
            </a:xfrm>
            <a:custGeom>
              <a:avLst/>
              <a:gdLst>
                <a:gd name="connsiteX0" fmla="*/ 590270 w 856883"/>
                <a:gd name="connsiteY0" fmla="*/ 985645 h 985645"/>
                <a:gd name="connsiteX1" fmla="*/ 0 w 856883"/>
                <a:gd name="connsiteY1" fmla="*/ 0 h 985645"/>
                <a:gd name="connsiteX2" fmla="*/ 383749 w 856883"/>
                <a:gd name="connsiteY2" fmla="*/ 0 h 985645"/>
                <a:gd name="connsiteX3" fmla="*/ 856884 w 856883"/>
                <a:gd name="connsiteY3" fmla="*/ 985645 h 985645"/>
                <a:gd name="connsiteX4" fmla="*/ 590270 w 856883"/>
                <a:gd name="connsiteY4" fmla="*/ 985645 h 985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6883" h="985645">
                  <a:moveTo>
                    <a:pt x="590270" y="985645"/>
                  </a:moveTo>
                  <a:cubicBezTo>
                    <a:pt x="518259" y="588629"/>
                    <a:pt x="302990" y="241560"/>
                    <a:pt x="0" y="0"/>
                  </a:cubicBezTo>
                  <a:lnTo>
                    <a:pt x="383749" y="0"/>
                  </a:lnTo>
                  <a:cubicBezTo>
                    <a:pt x="629232" y="269036"/>
                    <a:pt x="798378" y="609025"/>
                    <a:pt x="856884" y="985645"/>
                  </a:cubicBezTo>
                  <a:lnTo>
                    <a:pt x="590270" y="985645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85408A4-5626-1644-EFC5-3C8DE310C062}"/>
              </a:ext>
            </a:extLst>
          </p:cNvPr>
          <p:cNvSpPr/>
          <p:nvPr userDrawn="1"/>
        </p:nvSpPr>
        <p:spPr>
          <a:xfrm>
            <a:off x="518414" y="6294411"/>
            <a:ext cx="1171575" cy="358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907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EAAA1846-DB51-9F71-5DBA-65CE4E39B084}"/>
              </a:ext>
            </a:extLst>
          </p:cNvPr>
          <p:cNvGrpSpPr/>
          <p:nvPr userDrawn="1"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rgbClr val="212121"/>
          </a:solidFill>
        </p:grpSpPr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BD43D21-AF8B-49D9-DBFD-7824F052CB74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FBABE542-FC27-6851-D07B-003F396EA847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6472F141-742B-4001-AD41-1F8CFF199C14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8E6F12B1-C315-569D-C0B3-0708779FD822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FB738A3C-761C-B097-98E1-A7E9DDD8B4D6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71D936DD-3D0F-D3A7-71C4-6044ADB18AE6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DCF1DB48-93FD-4C30-E0BA-1C610FCAF9E7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D6A3D5F-585D-54EA-C4C4-931388F3DA76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1A5CA469-2BF5-5F2D-2C1E-2F659D1859B3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80320DF7-16FB-BB6B-CB55-F79A13C8E78D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B977905C-2899-D1B8-8A08-4DC87667FC63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02D7F3F0-A920-ED71-742B-A762F049F0BD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6D91930-D869-6589-97C5-1D361FF933CD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2F496F64-B4B6-BE2F-E5FA-CCE64964049E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B8B32F09-F58E-4B4D-9A85-D44DD862FE8C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A0885AB2-E965-831E-C8DD-141FEF6F527A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A1048246-1B39-BF44-D556-D1036A66A5A3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F44D76DB-FDF8-5CC8-AECE-0BC0C42AF6F3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7F530F14-20C4-D9C3-1640-4BEBEBE2EF54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88C7D929-CD5C-EA43-D628-2B89F0761C8B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781C3C05-E398-0CE3-08C8-65BA16A776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170" y="1206463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2584C8-8F9C-10E2-91ED-9AA1AE805645}"/>
              </a:ext>
            </a:extLst>
          </p:cNvPr>
          <p:cNvSpPr/>
          <p:nvPr userDrawn="1"/>
        </p:nvSpPr>
        <p:spPr>
          <a:xfrm>
            <a:off x="518414" y="6294411"/>
            <a:ext cx="1171575" cy="3581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114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раздела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1421F1C-5BAD-C83E-2D94-204EF3BDDDEC}"/>
              </a:ext>
            </a:extLst>
          </p:cNvPr>
          <p:cNvGrpSpPr/>
          <p:nvPr userDrawn="1"/>
        </p:nvGrpSpPr>
        <p:grpSpPr>
          <a:xfrm>
            <a:off x="6449857" y="-1"/>
            <a:ext cx="5680147" cy="6857995"/>
            <a:chOff x="13083669" y="1592300"/>
            <a:chExt cx="3266072" cy="3943332"/>
          </a:xfrm>
          <a:solidFill>
            <a:schemeClr val="bg1"/>
          </a:solidFill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2EE75A3D-51EC-7E3A-853C-3B9CA0654824}"/>
                </a:ext>
              </a:extLst>
            </p:cNvPr>
            <p:cNvSpPr/>
            <p:nvPr/>
          </p:nvSpPr>
          <p:spPr>
            <a:xfrm>
              <a:off x="13083669" y="1592300"/>
              <a:ext cx="610934" cy="788668"/>
            </a:xfrm>
            <a:custGeom>
              <a:avLst/>
              <a:gdLst>
                <a:gd name="connsiteX0" fmla="*/ 153719 w 610934"/>
                <a:gd name="connsiteY0" fmla="*/ 0 h 788668"/>
                <a:gd name="connsiteX1" fmla="*/ 610935 w 610934"/>
                <a:gd name="connsiteY1" fmla="*/ 788669 h 788668"/>
                <a:gd name="connsiteX2" fmla="*/ 390077 w 610934"/>
                <a:gd name="connsiteY2" fmla="*/ 788669 h 788668"/>
                <a:gd name="connsiteX3" fmla="*/ 0 w 610934"/>
                <a:gd name="connsiteY3" fmla="*/ 0 h 788668"/>
                <a:gd name="connsiteX4" fmla="*/ 153719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19" y="0"/>
                  </a:moveTo>
                  <a:cubicBezTo>
                    <a:pt x="209853" y="314769"/>
                    <a:pt x="375998" y="591408"/>
                    <a:pt x="610935" y="788669"/>
                  </a:cubicBezTo>
                  <a:lnTo>
                    <a:pt x="390077" y="788669"/>
                  </a:lnTo>
                  <a:cubicBezTo>
                    <a:pt x="188097" y="575752"/>
                    <a:pt x="48350" y="303133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E1D0FE73-8E3A-B307-3768-A5670C2258B3}"/>
                </a:ext>
              </a:extLst>
            </p:cNvPr>
            <p:cNvSpPr/>
            <p:nvPr/>
          </p:nvSpPr>
          <p:spPr>
            <a:xfrm>
              <a:off x="13968716" y="1592300"/>
              <a:ext cx="610930" cy="788668"/>
            </a:xfrm>
            <a:custGeom>
              <a:avLst/>
              <a:gdLst>
                <a:gd name="connsiteX0" fmla="*/ 153716 w 610930"/>
                <a:gd name="connsiteY0" fmla="*/ 0 h 788668"/>
                <a:gd name="connsiteX1" fmla="*/ 610930 w 610930"/>
                <a:gd name="connsiteY1" fmla="*/ 788669 h 788668"/>
                <a:gd name="connsiteX2" fmla="*/ 390078 w 610930"/>
                <a:gd name="connsiteY2" fmla="*/ 788669 h 788668"/>
                <a:gd name="connsiteX3" fmla="*/ 0 w 610930"/>
                <a:gd name="connsiteY3" fmla="*/ 0 h 788668"/>
                <a:gd name="connsiteX4" fmla="*/ 153716 w 610930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8">
                  <a:moveTo>
                    <a:pt x="153716" y="0"/>
                  </a:moveTo>
                  <a:cubicBezTo>
                    <a:pt x="209853" y="314769"/>
                    <a:pt x="375994" y="591408"/>
                    <a:pt x="610930" y="788669"/>
                  </a:cubicBezTo>
                  <a:lnTo>
                    <a:pt x="390078" y="788669"/>
                  </a:lnTo>
                  <a:cubicBezTo>
                    <a:pt x="188095" y="575752"/>
                    <a:pt x="48349" y="303133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99961D2-9F55-1491-DAE8-6E55C1FE1DDF}"/>
                </a:ext>
              </a:extLst>
            </p:cNvPr>
            <p:cNvSpPr/>
            <p:nvPr/>
          </p:nvSpPr>
          <p:spPr>
            <a:xfrm>
              <a:off x="14853745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74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49" y="314769"/>
                    <a:pt x="375999" y="591408"/>
                    <a:pt x="610935" y="788669"/>
                  </a:cubicBezTo>
                  <a:lnTo>
                    <a:pt x="390074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873EB99-726F-1C3E-9E0C-7B0F864A5BD1}"/>
                </a:ext>
              </a:extLst>
            </p:cNvPr>
            <p:cNvSpPr/>
            <p:nvPr/>
          </p:nvSpPr>
          <p:spPr>
            <a:xfrm>
              <a:off x="15738807" y="1592300"/>
              <a:ext cx="610934" cy="788668"/>
            </a:xfrm>
            <a:custGeom>
              <a:avLst/>
              <a:gdLst>
                <a:gd name="connsiteX0" fmla="*/ 153720 w 610934"/>
                <a:gd name="connsiteY0" fmla="*/ 0 h 788668"/>
                <a:gd name="connsiteX1" fmla="*/ 610935 w 610934"/>
                <a:gd name="connsiteY1" fmla="*/ 788669 h 788668"/>
                <a:gd name="connsiteX2" fmla="*/ 390083 w 610934"/>
                <a:gd name="connsiteY2" fmla="*/ 788669 h 788668"/>
                <a:gd name="connsiteX3" fmla="*/ 0 w 610934"/>
                <a:gd name="connsiteY3" fmla="*/ 0 h 788668"/>
                <a:gd name="connsiteX4" fmla="*/ 153720 w 610934"/>
                <a:gd name="connsiteY4" fmla="*/ 0 h 78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8">
                  <a:moveTo>
                    <a:pt x="153720" y="0"/>
                  </a:moveTo>
                  <a:cubicBezTo>
                    <a:pt x="209858" y="314769"/>
                    <a:pt x="375999" y="591408"/>
                    <a:pt x="610935" y="788669"/>
                  </a:cubicBezTo>
                  <a:lnTo>
                    <a:pt x="390083" y="788669"/>
                  </a:lnTo>
                  <a:cubicBezTo>
                    <a:pt x="188099" y="575752"/>
                    <a:pt x="48349" y="303133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A935D6E-AD7B-7E75-A0EB-5658D2A47FCF}"/>
                </a:ext>
              </a:extLst>
            </p:cNvPr>
            <p:cNvSpPr/>
            <p:nvPr/>
          </p:nvSpPr>
          <p:spPr>
            <a:xfrm>
              <a:off x="13083669" y="2380938"/>
              <a:ext cx="610934" cy="788671"/>
            </a:xfrm>
            <a:custGeom>
              <a:avLst/>
              <a:gdLst>
                <a:gd name="connsiteX0" fmla="*/ 153719 w 610934"/>
                <a:gd name="connsiteY0" fmla="*/ 0 h 788671"/>
                <a:gd name="connsiteX1" fmla="*/ 610935 w 610934"/>
                <a:gd name="connsiteY1" fmla="*/ 788671 h 788671"/>
                <a:gd name="connsiteX2" fmla="*/ 390077 w 610934"/>
                <a:gd name="connsiteY2" fmla="*/ 788671 h 788671"/>
                <a:gd name="connsiteX3" fmla="*/ 0 w 610934"/>
                <a:gd name="connsiteY3" fmla="*/ 0 h 788671"/>
                <a:gd name="connsiteX4" fmla="*/ 153719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19" y="0"/>
                  </a:moveTo>
                  <a:cubicBezTo>
                    <a:pt x="209853" y="314764"/>
                    <a:pt x="375998" y="591405"/>
                    <a:pt x="610935" y="788671"/>
                  </a:cubicBezTo>
                  <a:lnTo>
                    <a:pt x="390077" y="788671"/>
                  </a:lnTo>
                  <a:cubicBezTo>
                    <a:pt x="188097" y="575749"/>
                    <a:pt x="48350" y="303134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6D3FD5D-6364-B807-C234-7581756F9420}"/>
                </a:ext>
              </a:extLst>
            </p:cNvPr>
            <p:cNvSpPr/>
            <p:nvPr/>
          </p:nvSpPr>
          <p:spPr>
            <a:xfrm>
              <a:off x="13968716" y="2380938"/>
              <a:ext cx="610930" cy="788671"/>
            </a:xfrm>
            <a:custGeom>
              <a:avLst/>
              <a:gdLst>
                <a:gd name="connsiteX0" fmla="*/ 153716 w 610930"/>
                <a:gd name="connsiteY0" fmla="*/ 0 h 788671"/>
                <a:gd name="connsiteX1" fmla="*/ 610930 w 610930"/>
                <a:gd name="connsiteY1" fmla="*/ 788671 h 788671"/>
                <a:gd name="connsiteX2" fmla="*/ 390078 w 610930"/>
                <a:gd name="connsiteY2" fmla="*/ 788671 h 788671"/>
                <a:gd name="connsiteX3" fmla="*/ 0 w 610930"/>
                <a:gd name="connsiteY3" fmla="*/ 0 h 788671"/>
                <a:gd name="connsiteX4" fmla="*/ 153716 w 610930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1">
                  <a:moveTo>
                    <a:pt x="153716" y="0"/>
                  </a:moveTo>
                  <a:cubicBezTo>
                    <a:pt x="209853" y="314764"/>
                    <a:pt x="375994" y="591405"/>
                    <a:pt x="610930" y="788671"/>
                  </a:cubicBezTo>
                  <a:lnTo>
                    <a:pt x="390078" y="788671"/>
                  </a:lnTo>
                  <a:cubicBezTo>
                    <a:pt x="188095" y="575749"/>
                    <a:pt x="48349" y="303134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DBB01BE-B2C5-EB41-2CE5-983A45F0DEC7}"/>
                </a:ext>
              </a:extLst>
            </p:cNvPr>
            <p:cNvSpPr/>
            <p:nvPr/>
          </p:nvSpPr>
          <p:spPr>
            <a:xfrm>
              <a:off x="14853745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74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49" y="314764"/>
                    <a:pt x="375999" y="591405"/>
                    <a:pt x="610935" y="788671"/>
                  </a:cubicBezTo>
                  <a:lnTo>
                    <a:pt x="390074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AB3E993-CB89-8FBE-7687-FFF384C19E48}"/>
                </a:ext>
              </a:extLst>
            </p:cNvPr>
            <p:cNvSpPr/>
            <p:nvPr/>
          </p:nvSpPr>
          <p:spPr>
            <a:xfrm>
              <a:off x="15738807" y="2380938"/>
              <a:ext cx="610934" cy="788671"/>
            </a:xfrm>
            <a:custGeom>
              <a:avLst/>
              <a:gdLst>
                <a:gd name="connsiteX0" fmla="*/ 153720 w 610934"/>
                <a:gd name="connsiteY0" fmla="*/ 0 h 788671"/>
                <a:gd name="connsiteX1" fmla="*/ 610935 w 610934"/>
                <a:gd name="connsiteY1" fmla="*/ 788671 h 788671"/>
                <a:gd name="connsiteX2" fmla="*/ 390083 w 610934"/>
                <a:gd name="connsiteY2" fmla="*/ 788671 h 788671"/>
                <a:gd name="connsiteX3" fmla="*/ 0 w 610934"/>
                <a:gd name="connsiteY3" fmla="*/ 0 h 788671"/>
                <a:gd name="connsiteX4" fmla="*/ 153720 w 610934"/>
                <a:gd name="connsiteY4" fmla="*/ 0 h 788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1">
                  <a:moveTo>
                    <a:pt x="153720" y="0"/>
                  </a:moveTo>
                  <a:cubicBezTo>
                    <a:pt x="209858" y="314764"/>
                    <a:pt x="375999" y="591405"/>
                    <a:pt x="610935" y="788671"/>
                  </a:cubicBezTo>
                  <a:lnTo>
                    <a:pt x="390083" y="788671"/>
                  </a:lnTo>
                  <a:cubicBezTo>
                    <a:pt x="188099" y="575749"/>
                    <a:pt x="48349" y="303134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666A523-5C4A-E2C2-F2A4-0DC370E4DF9F}"/>
                </a:ext>
              </a:extLst>
            </p:cNvPr>
            <p:cNvSpPr/>
            <p:nvPr/>
          </p:nvSpPr>
          <p:spPr>
            <a:xfrm>
              <a:off x="13083669" y="3169610"/>
              <a:ext cx="610934" cy="788674"/>
            </a:xfrm>
            <a:custGeom>
              <a:avLst/>
              <a:gdLst>
                <a:gd name="connsiteX0" fmla="*/ 153719 w 610934"/>
                <a:gd name="connsiteY0" fmla="*/ 0 h 788674"/>
                <a:gd name="connsiteX1" fmla="*/ 610935 w 610934"/>
                <a:gd name="connsiteY1" fmla="*/ 788674 h 788674"/>
                <a:gd name="connsiteX2" fmla="*/ 390077 w 610934"/>
                <a:gd name="connsiteY2" fmla="*/ 788674 h 788674"/>
                <a:gd name="connsiteX3" fmla="*/ 0 w 610934"/>
                <a:gd name="connsiteY3" fmla="*/ 0 h 788674"/>
                <a:gd name="connsiteX4" fmla="*/ 153719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19" y="0"/>
                  </a:moveTo>
                  <a:cubicBezTo>
                    <a:pt x="209853" y="314777"/>
                    <a:pt x="375998" y="591418"/>
                    <a:pt x="610935" y="788674"/>
                  </a:cubicBezTo>
                  <a:lnTo>
                    <a:pt x="390077" y="788674"/>
                  </a:lnTo>
                  <a:cubicBezTo>
                    <a:pt x="188097" y="575752"/>
                    <a:pt x="48350" y="303137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E51E6E2-B97E-7D96-0101-EC0ED1C2B425}"/>
                </a:ext>
              </a:extLst>
            </p:cNvPr>
            <p:cNvSpPr/>
            <p:nvPr/>
          </p:nvSpPr>
          <p:spPr>
            <a:xfrm>
              <a:off x="13968716" y="3169610"/>
              <a:ext cx="610930" cy="788674"/>
            </a:xfrm>
            <a:custGeom>
              <a:avLst/>
              <a:gdLst>
                <a:gd name="connsiteX0" fmla="*/ 153716 w 610930"/>
                <a:gd name="connsiteY0" fmla="*/ 0 h 788674"/>
                <a:gd name="connsiteX1" fmla="*/ 610930 w 610930"/>
                <a:gd name="connsiteY1" fmla="*/ 788674 h 788674"/>
                <a:gd name="connsiteX2" fmla="*/ 390078 w 610930"/>
                <a:gd name="connsiteY2" fmla="*/ 788674 h 788674"/>
                <a:gd name="connsiteX3" fmla="*/ 0 w 610930"/>
                <a:gd name="connsiteY3" fmla="*/ 0 h 788674"/>
                <a:gd name="connsiteX4" fmla="*/ 153716 w 610930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74">
                  <a:moveTo>
                    <a:pt x="153716" y="0"/>
                  </a:moveTo>
                  <a:cubicBezTo>
                    <a:pt x="209853" y="314777"/>
                    <a:pt x="375994" y="591418"/>
                    <a:pt x="610930" y="788674"/>
                  </a:cubicBezTo>
                  <a:lnTo>
                    <a:pt x="390078" y="788674"/>
                  </a:lnTo>
                  <a:cubicBezTo>
                    <a:pt x="188095" y="575752"/>
                    <a:pt x="48349" y="303137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C7155C1-9A51-5CC8-FB78-D818F115BF54}"/>
                </a:ext>
              </a:extLst>
            </p:cNvPr>
            <p:cNvSpPr/>
            <p:nvPr/>
          </p:nvSpPr>
          <p:spPr>
            <a:xfrm>
              <a:off x="14853745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74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49" y="314777"/>
                    <a:pt x="375999" y="591418"/>
                    <a:pt x="610935" y="788674"/>
                  </a:cubicBezTo>
                  <a:lnTo>
                    <a:pt x="390074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AF466A-EA1B-D0E0-2FC1-08748AAFABD3}"/>
                </a:ext>
              </a:extLst>
            </p:cNvPr>
            <p:cNvSpPr/>
            <p:nvPr/>
          </p:nvSpPr>
          <p:spPr>
            <a:xfrm>
              <a:off x="15738807" y="3169610"/>
              <a:ext cx="610934" cy="788674"/>
            </a:xfrm>
            <a:custGeom>
              <a:avLst/>
              <a:gdLst>
                <a:gd name="connsiteX0" fmla="*/ 153720 w 610934"/>
                <a:gd name="connsiteY0" fmla="*/ 0 h 788674"/>
                <a:gd name="connsiteX1" fmla="*/ 610935 w 610934"/>
                <a:gd name="connsiteY1" fmla="*/ 788674 h 788674"/>
                <a:gd name="connsiteX2" fmla="*/ 390083 w 610934"/>
                <a:gd name="connsiteY2" fmla="*/ 788674 h 788674"/>
                <a:gd name="connsiteX3" fmla="*/ 0 w 610934"/>
                <a:gd name="connsiteY3" fmla="*/ 0 h 788674"/>
                <a:gd name="connsiteX4" fmla="*/ 153720 w 610934"/>
                <a:gd name="connsiteY4" fmla="*/ 0 h 78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74">
                  <a:moveTo>
                    <a:pt x="153720" y="0"/>
                  </a:moveTo>
                  <a:cubicBezTo>
                    <a:pt x="209858" y="314777"/>
                    <a:pt x="375999" y="591418"/>
                    <a:pt x="610935" y="788674"/>
                  </a:cubicBezTo>
                  <a:lnTo>
                    <a:pt x="390083" y="788674"/>
                  </a:lnTo>
                  <a:cubicBezTo>
                    <a:pt x="188099" y="575752"/>
                    <a:pt x="48349" y="303137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B89F57A-392A-871C-5D5F-E09B1D55DA34}"/>
                </a:ext>
              </a:extLst>
            </p:cNvPr>
            <p:cNvSpPr/>
            <p:nvPr/>
          </p:nvSpPr>
          <p:spPr>
            <a:xfrm>
              <a:off x="13083669" y="3958294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C2199806-8FAE-7603-624C-0432519BDBDD}"/>
                </a:ext>
              </a:extLst>
            </p:cNvPr>
            <p:cNvSpPr/>
            <p:nvPr/>
          </p:nvSpPr>
          <p:spPr>
            <a:xfrm>
              <a:off x="13968716" y="3958294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8D4ABEBB-CA3D-286A-96AF-7FB3A206E8CC}"/>
                </a:ext>
              </a:extLst>
            </p:cNvPr>
            <p:cNvSpPr/>
            <p:nvPr/>
          </p:nvSpPr>
          <p:spPr>
            <a:xfrm>
              <a:off x="14853745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74E7AD2C-FC64-6BE2-56A4-7B75C1DCAC54}"/>
                </a:ext>
              </a:extLst>
            </p:cNvPr>
            <p:cNvSpPr/>
            <p:nvPr/>
          </p:nvSpPr>
          <p:spPr>
            <a:xfrm>
              <a:off x="15738807" y="3958294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5CDB3AB-0A06-F9A1-00C5-F29681D8A0C4}"/>
                </a:ext>
              </a:extLst>
            </p:cNvPr>
            <p:cNvSpPr/>
            <p:nvPr/>
          </p:nvSpPr>
          <p:spPr>
            <a:xfrm>
              <a:off x="13083669" y="4746968"/>
              <a:ext cx="610934" cy="788664"/>
            </a:xfrm>
            <a:custGeom>
              <a:avLst/>
              <a:gdLst>
                <a:gd name="connsiteX0" fmla="*/ 153719 w 610934"/>
                <a:gd name="connsiteY0" fmla="*/ 0 h 788664"/>
                <a:gd name="connsiteX1" fmla="*/ 610935 w 610934"/>
                <a:gd name="connsiteY1" fmla="*/ 788665 h 788664"/>
                <a:gd name="connsiteX2" fmla="*/ 390077 w 610934"/>
                <a:gd name="connsiteY2" fmla="*/ 788665 h 788664"/>
                <a:gd name="connsiteX3" fmla="*/ 0 w 610934"/>
                <a:gd name="connsiteY3" fmla="*/ 0 h 788664"/>
                <a:gd name="connsiteX4" fmla="*/ 153719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19" y="0"/>
                  </a:moveTo>
                  <a:cubicBezTo>
                    <a:pt x="209853" y="314767"/>
                    <a:pt x="375998" y="591408"/>
                    <a:pt x="610935" y="788665"/>
                  </a:cubicBezTo>
                  <a:lnTo>
                    <a:pt x="390077" y="788665"/>
                  </a:lnTo>
                  <a:cubicBezTo>
                    <a:pt x="188097" y="575752"/>
                    <a:pt x="48350" y="303128"/>
                    <a:pt x="0" y="0"/>
                  </a:cubicBezTo>
                  <a:lnTo>
                    <a:pt x="153719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73AB114-97EC-11D8-ED3E-0EFB00411ECF}"/>
                </a:ext>
              </a:extLst>
            </p:cNvPr>
            <p:cNvSpPr/>
            <p:nvPr/>
          </p:nvSpPr>
          <p:spPr>
            <a:xfrm>
              <a:off x="13968716" y="4746968"/>
              <a:ext cx="610930" cy="788664"/>
            </a:xfrm>
            <a:custGeom>
              <a:avLst/>
              <a:gdLst>
                <a:gd name="connsiteX0" fmla="*/ 153716 w 610930"/>
                <a:gd name="connsiteY0" fmla="*/ 0 h 788664"/>
                <a:gd name="connsiteX1" fmla="*/ 610930 w 610930"/>
                <a:gd name="connsiteY1" fmla="*/ 788665 h 788664"/>
                <a:gd name="connsiteX2" fmla="*/ 390078 w 610930"/>
                <a:gd name="connsiteY2" fmla="*/ 788665 h 788664"/>
                <a:gd name="connsiteX3" fmla="*/ 0 w 610930"/>
                <a:gd name="connsiteY3" fmla="*/ 0 h 788664"/>
                <a:gd name="connsiteX4" fmla="*/ 153716 w 610930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0" h="788664">
                  <a:moveTo>
                    <a:pt x="153716" y="0"/>
                  </a:moveTo>
                  <a:cubicBezTo>
                    <a:pt x="209853" y="314767"/>
                    <a:pt x="375994" y="591408"/>
                    <a:pt x="610930" y="788665"/>
                  </a:cubicBezTo>
                  <a:lnTo>
                    <a:pt x="390078" y="788665"/>
                  </a:lnTo>
                  <a:cubicBezTo>
                    <a:pt x="188095" y="575752"/>
                    <a:pt x="48349" y="303128"/>
                    <a:pt x="0" y="0"/>
                  </a:cubicBezTo>
                  <a:lnTo>
                    <a:pt x="153716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51D751DA-C3C1-2514-C80D-E25DF9A98DCE}"/>
                </a:ext>
              </a:extLst>
            </p:cNvPr>
            <p:cNvSpPr/>
            <p:nvPr/>
          </p:nvSpPr>
          <p:spPr>
            <a:xfrm>
              <a:off x="14853745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74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49" y="314767"/>
                    <a:pt x="375999" y="591408"/>
                    <a:pt x="610935" y="788665"/>
                  </a:cubicBezTo>
                  <a:lnTo>
                    <a:pt x="390074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FC3C1F6F-94A4-A6FD-7C39-70BFD552756E}"/>
                </a:ext>
              </a:extLst>
            </p:cNvPr>
            <p:cNvSpPr/>
            <p:nvPr/>
          </p:nvSpPr>
          <p:spPr>
            <a:xfrm>
              <a:off x="15738807" y="4746968"/>
              <a:ext cx="610934" cy="788664"/>
            </a:xfrm>
            <a:custGeom>
              <a:avLst/>
              <a:gdLst>
                <a:gd name="connsiteX0" fmla="*/ 153720 w 610934"/>
                <a:gd name="connsiteY0" fmla="*/ 0 h 788664"/>
                <a:gd name="connsiteX1" fmla="*/ 610935 w 610934"/>
                <a:gd name="connsiteY1" fmla="*/ 788665 h 788664"/>
                <a:gd name="connsiteX2" fmla="*/ 390083 w 610934"/>
                <a:gd name="connsiteY2" fmla="*/ 788665 h 788664"/>
                <a:gd name="connsiteX3" fmla="*/ 0 w 610934"/>
                <a:gd name="connsiteY3" fmla="*/ 0 h 788664"/>
                <a:gd name="connsiteX4" fmla="*/ 153720 w 610934"/>
                <a:gd name="connsiteY4" fmla="*/ 0 h 788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0934" h="788664">
                  <a:moveTo>
                    <a:pt x="153720" y="0"/>
                  </a:moveTo>
                  <a:cubicBezTo>
                    <a:pt x="209858" y="314767"/>
                    <a:pt x="375999" y="591408"/>
                    <a:pt x="610935" y="788665"/>
                  </a:cubicBezTo>
                  <a:lnTo>
                    <a:pt x="390083" y="788665"/>
                  </a:lnTo>
                  <a:cubicBezTo>
                    <a:pt x="188099" y="575752"/>
                    <a:pt x="48349" y="303128"/>
                    <a:pt x="0" y="0"/>
                  </a:cubicBezTo>
                  <a:lnTo>
                    <a:pt x="153720" y="0"/>
                  </a:lnTo>
                  <a:close/>
                </a:path>
              </a:pathLst>
            </a:custGeom>
            <a:grpFill/>
            <a:ln w="9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" name="Заголовок 7">
            <a:extLst>
              <a:ext uri="{FF2B5EF4-FFF2-40B4-BE49-F238E27FC236}">
                <a16:creationId xmlns:a16="http://schemas.microsoft.com/office/drawing/2014/main" id="{48E78963-7F92-CB8A-4FED-7D8FA3B26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170" y="1206463"/>
            <a:ext cx="4621372" cy="121879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86AABA3-B1A8-28B4-94EF-0DAF5DABA254}"/>
              </a:ext>
            </a:extLst>
          </p:cNvPr>
          <p:cNvSpPr/>
          <p:nvPr userDrawn="1"/>
        </p:nvSpPr>
        <p:spPr>
          <a:xfrm>
            <a:off x="545455" y="6245608"/>
            <a:ext cx="1235720" cy="475450"/>
          </a:xfrm>
          <a:prstGeom prst="rect">
            <a:avLst/>
          </a:prstGeom>
          <a:solidFill>
            <a:srgbClr val="E9F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079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C2A36-6F48-4DEA-9B8F-4EEB0D47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825E12-325D-43EC-9C91-2C342EF86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C16D16-6333-4A43-AD4F-F15DBB4D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A17C-B338-4E1D-94DC-2DC575AA6509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A52129-D27C-41BC-9DF6-69AF0700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43E4D0-FE71-4766-998E-088B9858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303A-CF2A-4AD9-9D69-0657C62472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0625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6_Заголовок"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1194c37148_6_227"/>
          <p:cNvSpPr txBox="1">
            <a:spLocks noGrp="1"/>
          </p:cNvSpPr>
          <p:nvPr>
            <p:ph type="title"/>
          </p:nvPr>
        </p:nvSpPr>
        <p:spPr>
          <a:xfrm>
            <a:off x="408002" y="662333"/>
            <a:ext cx="10855800" cy="64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996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1461C-53A4-C943-B21F-B82D3E5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4025"/>
            <a:ext cx="10855854" cy="6442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813" y="1201738"/>
            <a:ext cx="10855852" cy="4925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8" name="Нижний колонтитул 2">
            <a:extLst>
              <a:ext uri="{FF2B5EF4-FFF2-40B4-BE49-F238E27FC236}">
                <a16:creationId xmlns:a16="http://schemas.microsoft.com/office/drawing/2014/main" id="{23CA651D-6B29-DE48-B225-DF53D6B14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</p:spPr>
        <p:txBody>
          <a:bodyPr lIns="0"/>
          <a:lstStyle>
            <a:lvl1pPr>
              <a:defRPr lang="ru-RU" sz="1000" dirty="0">
                <a:solidFill>
                  <a:srgbClr val="A6A6A6"/>
                </a:solidFill>
                <a:latin typeface="VK Sans Display" pitchFamily="2" charset="0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BC83C78-346F-1043-91D6-AAE2CBD50914}"/>
              </a:ext>
            </a:extLst>
          </p:cNvPr>
          <p:cNvGrpSpPr/>
          <p:nvPr userDrawn="1"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6323B1F2-748E-D24A-B04D-147E09F7A056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1B27122E-E66E-3842-BEE7-8F21E71CCFFA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2489CB35-5D1A-3449-A3AA-6331ECDE56D7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46F3591-5DE8-684F-945B-4B104571763B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E72CDAF1-40E5-1146-8168-F54EFBC30D1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D7A57A1D-1763-3545-AF07-19470F3E50CB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56465A1-0921-EF43-AA4A-163FB7F2E5D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928A59CB-089A-4049-8D48-745F1CD70D00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E3986F7-E050-214A-8AAE-9F64D46E6D25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5A77F4BA-FB36-E94D-A5E0-1E2C3DDEF2DD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CF75EAD3-670B-6741-BD93-7AC35A4C614F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99F4A77B-3030-4345-9E65-8E7A17D3C9AB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4D584FB-B2D1-004D-8FAA-86088F98D1C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8491DE6-A85F-F941-9774-470B7A292E66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F0A37FBE-ED03-9E46-B887-2095E356522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B60AB2F-ECD7-B14B-914B-D1497215BE2D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11F86DEA-3BC0-2949-8D21-BC75BF487961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3AA5CCF0-AFE9-C845-8FB6-42C61118EB3B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2F4CBF35-215D-3141-AE0E-10FCB8EAA38B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7827FEF-580D-8D4A-AA52-FBB780D3E8CA}"/>
              </a:ext>
            </a:extLst>
          </p:cNvPr>
          <p:cNvGrpSpPr/>
          <p:nvPr userDrawn="1"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D5720CF8-777D-6D46-943B-8BFBBAC8AC37}"/>
                </a:ext>
              </a:extLst>
            </p:cNvPr>
            <p:cNvCxnSpPr/>
            <p:nvPr userDrawn="1"/>
          </p:nvCxnSpPr>
          <p:spPr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A751E786-90FC-B84D-A121-52C549CABAD6}"/>
                </a:ext>
              </a:extLst>
            </p:cNvPr>
            <p:cNvCxnSpPr/>
            <p:nvPr userDrawn="1"/>
          </p:nvCxnSpPr>
          <p:spPr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FB098482-3360-BC48-86E2-D82F0ECD18CB}"/>
                </a:ext>
              </a:extLst>
            </p:cNvPr>
            <p:cNvCxnSpPr/>
            <p:nvPr userDrawn="1"/>
          </p:nvCxnSpPr>
          <p:spPr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1C8E324-B663-AE43-AD17-C30372AC1D62}"/>
                </a:ext>
              </a:extLst>
            </p:cNvPr>
            <p:cNvCxnSpPr/>
            <p:nvPr userDrawn="1"/>
          </p:nvCxnSpPr>
          <p:spPr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82BEC6C-68DE-E945-89D7-E542C117AE5E}"/>
                </a:ext>
              </a:extLst>
            </p:cNvPr>
            <p:cNvCxnSpPr/>
            <p:nvPr userDrawn="1"/>
          </p:nvCxnSpPr>
          <p:spPr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EF568AD-F1F9-804D-9F74-FF357FDDF8E2}"/>
                </a:ext>
              </a:extLst>
            </p:cNvPr>
            <p:cNvCxnSpPr/>
            <p:nvPr userDrawn="1"/>
          </p:nvCxnSpPr>
          <p:spPr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3EA1C8B-0B4C-F54E-A19D-87D78B2BA79F}"/>
                </a:ext>
              </a:extLst>
            </p:cNvPr>
            <p:cNvCxnSpPr/>
            <p:nvPr userDrawn="1"/>
          </p:nvCxnSpPr>
          <p:spPr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176C27A-B0C3-E348-A8E9-CFF1EDD0691A}"/>
                </a:ext>
              </a:extLst>
            </p:cNvPr>
            <p:cNvCxnSpPr/>
            <p:nvPr userDrawn="1"/>
          </p:nvCxnSpPr>
          <p:spPr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1E950337-5072-114C-BF31-761D28BD0077}"/>
                </a:ext>
              </a:extLst>
            </p:cNvPr>
            <p:cNvCxnSpPr/>
            <p:nvPr userDrawn="1"/>
          </p:nvCxnSpPr>
          <p:spPr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89CC3246-9DE9-274E-A6C3-F1641B274260}"/>
                </a:ext>
              </a:extLst>
            </p:cNvPr>
            <p:cNvCxnSpPr/>
            <p:nvPr userDrawn="1"/>
          </p:nvCxnSpPr>
          <p:spPr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D325B007-78F8-3C48-AFAE-566FB0FE44CB}"/>
                </a:ext>
              </a:extLst>
            </p:cNvPr>
            <p:cNvCxnSpPr/>
            <p:nvPr userDrawn="1"/>
          </p:nvCxnSpPr>
          <p:spPr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1C960B3-AB41-7C49-BF29-7BE107E51B2E}"/>
                </a:ext>
              </a:extLst>
            </p:cNvPr>
            <p:cNvCxnSpPr/>
            <p:nvPr userDrawn="1"/>
          </p:nvCxnSpPr>
          <p:spPr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2C78BCE0-6204-0442-93CA-02D94FDF3F7B}"/>
                </a:ext>
              </a:extLst>
            </p:cNvPr>
            <p:cNvCxnSpPr/>
            <p:nvPr userDrawn="1"/>
          </p:nvCxnSpPr>
          <p:spPr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D1C06090-B6A7-F940-B829-33701FB43C9D}"/>
                </a:ext>
              </a:extLst>
            </p:cNvPr>
            <p:cNvCxnSpPr/>
            <p:nvPr userDrawn="1"/>
          </p:nvCxnSpPr>
          <p:spPr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B0FFD9E0-54D7-5344-9001-BBEC5DAB7860}"/>
                </a:ext>
              </a:extLst>
            </p:cNvPr>
            <p:cNvCxnSpPr/>
            <p:nvPr userDrawn="1"/>
          </p:nvCxnSpPr>
          <p:spPr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01CA738E-8928-9640-A950-3958A54AF720}"/>
                </a:ext>
              </a:extLst>
            </p:cNvPr>
            <p:cNvCxnSpPr/>
            <p:nvPr userDrawn="1"/>
          </p:nvCxnSpPr>
          <p:spPr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E24B7330-F8F4-7849-9AA8-726A43864042}"/>
                </a:ext>
              </a:extLst>
            </p:cNvPr>
            <p:cNvCxnSpPr/>
            <p:nvPr userDrawn="1"/>
          </p:nvCxnSpPr>
          <p:spPr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61D65C45-3E19-9342-83DB-D61F067718E5}"/>
                </a:ext>
              </a:extLst>
            </p:cNvPr>
            <p:cNvCxnSpPr/>
            <p:nvPr userDrawn="1"/>
          </p:nvCxnSpPr>
          <p:spPr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4C52D8E-9B70-CD44-869A-228C63BCF7A3}"/>
                </a:ext>
              </a:extLst>
            </p:cNvPr>
            <p:cNvCxnSpPr/>
            <p:nvPr userDrawn="1"/>
          </p:nvCxnSpPr>
          <p:spPr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559A890-9C49-3A67-ED76-0A582A8F2D6A}"/>
              </a:ext>
            </a:extLst>
          </p:cNvPr>
          <p:cNvSpPr txBox="1"/>
          <p:nvPr userDrawn="1"/>
        </p:nvSpPr>
        <p:spPr>
          <a:xfrm>
            <a:off x="11153205" y="6336637"/>
            <a:ext cx="36146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fld id="{BAADECB4-0CEC-40F6-B458-021C45C58D3A}" type="slidenum">
              <a:rPr lang="ru-RU" smtClean="0"/>
              <a:pPr algn="l">
                <a:lnSpc>
                  <a:spcPct val="100000"/>
                </a:lnSpc>
                <a:spcAft>
                  <a:spcPts val="600"/>
                </a:spcAft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213AF66-98AE-2EAE-A212-CC51EEB520B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658813" y="6385488"/>
            <a:ext cx="109494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5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62" r:id="rId2"/>
    <p:sldLayoutId id="2147483811" r:id="rId3"/>
    <p:sldLayoutId id="2147483812" r:id="rId4"/>
    <p:sldLayoutId id="2147483704" r:id="rId5"/>
    <p:sldLayoutId id="2147483808" r:id="rId6"/>
    <p:sldLayoutId id="2147483810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57" r:id="rId13"/>
    <p:sldLayoutId id="2147483710" r:id="rId14"/>
    <p:sldLayoutId id="2147483807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27" r:id="rId23"/>
    <p:sldLayoutId id="2147483729" r:id="rId24"/>
    <p:sldLayoutId id="2147483740" r:id="rId25"/>
    <p:sldLayoutId id="2147483730" r:id="rId26"/>
    <p:sldLayoutId id="2147483731" r:id="rId27"/>
    <p:sldLayoutId id="2147483732" r:id="rId28"/>
    <p:sldLayoutId id="2147483735" r:id="rId29"/>
    <p:sldLayoutId id="2147483739" r:id="rId30"/>
    <p:sldLayoutId id="2147483770" r:id="rId31"/>
    <p:sldLayoutId id="2147483802" r:id="rId32"/>
    <p:sldLayoutId id="2147483798" r:id="rId33"/>
    <p:sldLayoutId id="2147483813" r:id="rId34"/>
    <p:sldLayoutId id="2147483814" r:id="rId35"/>
    <p:sldLayoutId id="2147483766" r:id="rId36"/>
    <p:sldLayoutId id="2147483737" r:id="rId37"/>
    <p:sldLayoutId id="2147483809" r:id="rId38"/>
    <p:sldLayoutId id="2147483816" r:id="rId39"/>
    <p:sldLayoutId id="2147483818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1pPr>
      <a:lvl2pPr marL="255588" indent="-255588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2pPr>
      <a:lvl3pPr marL="441325" indent="-17145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3pPr>
      <a:lvl4pPr marL="72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K Sans Displ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pos="415" userDrawn="1">
          <p15:clr>
            <a:srgbClr val="FDE53C"/>
          </p15:clr>
        </p15:guide>
        <p15:guide id="14" pos="7265" userDrawn="1">
          <p15:clr>
            <a:srgbClr val="FDE53C"/>
          </p15:clr>
        </p15:guide>
        <p15:guide id="16" orient="horz" pos="3884" userDrawn="1">
          <p15:clr>
            <a:srgbClr val="FDE53C"/>
          </p15:clr>
        </p15:guide>
        <p15:guide id="17" pos="5133" userDrawn="1">
          <p15:clr>
            <a:srgbClr val="FDE53C"/>
          </p15:clr>
        </p15:guide>
        <p15:guide id="18" pos="2547" userDrawn="1">
          <p15:clr>
            <a:srgbClr val="FDE53C"/>
          </p15:clr>
        </p15:guide>
        <p15:guide id="19" pos="3840" userDrawn="1">
          <p15:clr>
            <a:srgbClr val="FDE53C"/>
          </p15:clr>
        </p15:guide>
        <p15:guide id="22" orient="horz" pos="436" userDrawn="1">
          <p15:clr>
            <a:srgbClr val="FDE53C"/>
          </p15:clr>
        </p15:guide>
        <p15:guide id="23" orient="horz" pos="1117" userDrawn="1">
          <p15:clr>
            <a:srgbClr val="FDE53C"/>
          </p15:clr>
        </p15:guide>
        <p15:guide id="24" pos="2116" userDrawn="1">
          <p15:clr>
            <a:srgbClr val="FDE53C"/>
          </p15:clr>
        </p15:guide>
        <p15:guide id="25" pos="5564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chart" Target="../charts/chart1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oleObject" Target="../embeddings/oleObject1.bin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hyperlink" Target="https://www.tadviser.ru/index.php/%D0%A1%D1%82%D0%B0%D1%82%D1%8C%D1%8F:%D0%92%D0%B8%D1%80%D1%82%D1%83%D0%B0%D0%BB%D0%B8%D0%B7%D0%B0%D1%86%D0%B8%D1%8F_(%D1%80%D1%8B%D0%BD%D0%BE%D0%BA_%D0%A0%D0%BE%D1%81%D1%81%D0%B8%D0%B8)" TargetMode="Externa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10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chart" Target="../charts/chart2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ionsoft.r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Relationship Id="rId6" Type="http://schemas.openxmlformats.org/officeDocument/2006/relationships/hyperlink" Target="http://cloud.ru/" TargetMode="External"/><Relationship Id="rId5" Type="http://schemas.openxmlformats.org/officeDocument/2006/relationships/hyperlink" Target="https://selectel.ru/" TargetMode="External"/><Relationship Id="rId4" Type="http://schemas.openxmlformats.org/officeDocument/2006/relationships/hyperlink" Target="https://astracloud.ru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tags" Target="../tags/tag54.xml"/><Relationship Id="rId21" Type="http://schemas.openxmlformats.org/officeDocument/2006/relationships/oleObject" Target="../embeddings/oleObject2.bin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24" Type="http://schemas.openxmlformats.org/officeDocument/2006/relationships/chart" Target="../charts/chart4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chart" Target="../charts/chart3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71.xml"/><Relationship Id="rId4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2.xml"/><Relationship Id="rId6" Type="http://schemas.openxmlformats.org/officeDocument/2006/relationships/image" Target="../media/image12.png"/><Relationship Id="rId5" Type="http://schemas.openxmlformats.org/officeDocument/2006/relationships/hyperlink" Target="https://www.vmware.com/docs/analyst-report-idc-the-synergies-between-containers-and-virtual-machines" TargetMode="Externa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3.xml"/><Relationship Id="rId6" Type="http://schemas.openxmlformats.org/officeDocument/2006/relationships/hyperlink" Target="https://globalitresearch.com/wp-content/uploads/2024/10/69157-Google%20-%20Q4%202024%20-%20GCP%20-%20Startup%20Greenfield%20-%20Lead%20Gen%20-%20ABM%20Enterprise%20%28MFG%29%20PSA/Gartner%20Reprint%20Container.pdf" TargetMode="External"/><Relationship Id="rId5" Type="http://schemas.openxmlformats.org/officeDocument/2006/relationships/hyperlink" Target="https://www.redhat.com/tracks/_pfcdn/assets/10330/contents/806014/8f4646ef-0075-4fbc-a2e4-472b001276ce.pdf" TargetMode="External"/><Relationship Id="rId4" Type="http://schemas.openxmlformats.org/officeDocument/2006/relationships/image" Target="../media/image1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omdia.tech.informa.com/pr/2023/sep/omdia-software-infrastructure-market-is-growing-at-an-average-16-cagr-2022-2027" TargetMode="External"/><Relationship Id="rId3" Type="http://schemas.openxmlformats.org/officeDocument/2006/relationships/oleObject" Target="../embeddings/oleObject5.bin"/><Relationship Id="rId7" Type="http://schemas.openxmlformats.org/officeDocument/2006/relationships/hyperlink" Target="https://www.technavio.com/report/application-container-market-analysis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4.xml"/><Relationship Id="rId6" Type="http://schemas.openxmlformats.org/officeDocument/2006/relationships/hyperlink" Target="https://www.technavio.com/report/virtualization-software-market-industry-analysis" TargetMode="External"/><Relationship Id="rId5" Type="http://schemas.openxmlformats.org/officeDocument/2006/relationships/hyperlink" Target="https://www.mordorintelligence.com/industry-reports/virtualization-software-market" TargetMode="External"/><Relationship Id="rId4" Type="http://schemas.openxmlformats.org/officeDocument/2006/relationships/image" Target="../media/image10.emf"/><Relationship Id="rId9" Type="http://schemas.openxmlformats.org/officeDocument/2006/relationships/hyperlink" Target="https://omdia.tech.informa.com/om023765/omdia-universe-container-management-solutions-2022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52"/>
          <p:cNvGrpSpPr/>
          <p:nvPr/>
        </p:nvGrpSpPr>
        <p:grpSpPr>
          <a:xfrm>
            <a:off x="224841" y="-74146"/>
            <a:ext cx="12188171" cy="64327"/>
            <a:chOff x="-2" y="-2"/>
            <a:chExt cx="12188169" cy="64324"/>
          </a:xfrm>
        </p:grpSpPr>
        <p:cxnSp>
          <p:nvCxnSpPr>
            <p:cNvPr id="681" name="Google Shape;681;p5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2" name="Google Shape;682;p5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3" name="Google Shape;683;p5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4" name="Google Shape;684;p5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5" name="Google Shape;685;p5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6" name="Google Shape;686;p5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7" name="Google Shape;687;p5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8" name="Google Shape;688;p5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9" name="Google Shape;689;p5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0" name="Google Shape;690;p5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1" name="Google Shape;691;p5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2" name="Google Shape;692;p5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3" name="Google Shape;693;p5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4" name="Google Shape;694;p5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5" name="Google Shape;695;p5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6" name="Google Shape;696;p5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7" name="Google Shape;697;p5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8" name="Google Shape;698;p5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9" name="Google Shape;699;p5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00" name="Google Shape;700;p52"/>
          <p:cNvGrpSpPr/>
          <p:nvPr/>
        </p:nvGrpSpPr>
        <p:grpSpPr>
          <a:xfrm>
            <a:off x="-15" y="6987080"/>
            <a:ext cx="12188171" cy="64324"/>
            <a:chOff x="-2" y="-1"/>
            <a:chExt cx="12188169" cy="64323"/>
          </a:xfrm>
        </p:grpSpPr>
        <p:cxnSp>
          <p:nvCxnSpPr>
            <p:cNvPr id="701" name="Google Shape;701;p52"/>
            <p:cNvCxnSpPr/>
            <p:nvPr/>
          </p:nvCxnSpPr>
          <p:spPr>
            <a:xfrm flipH="1">
              <a:off x="-2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2" name="Google Shape;702;p52"/>
            <p:cNvCxnSpPr/>
            <p:nvPr/>
          </p:nvCxnSpPr>
          <p:spPr>
            <a:xfrm>
              <a:off x="677118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3" name="Google Shape;703;p52"/>
            <p:cNvCxnSpPr/>
            <p:nvPr/>
          </p:nvCxnSpPr>
          <p:spPr>
            <a:xfrm>
              <a:off x="1354241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4" name="Google Shape;704;p52"/>
            <p:cNvCxnSpPr/>
            <p:nvPr/>
          </p:nvCxnSpPr>
          <p:spPr>
            <a:xfrm>
              <a:off x="2031360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5" name="Google Shape;705;p52"/>
            <p:cNvCxnSpPr/>
            <p:nvPr/>
          </p:nvCxnSpPr>
          <p:spPr>
            <a:xfrm>
              <a:off x="2708479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6" name="Google Shape;706;p52"/>
            <p:cNvCxnSpPr/>
            <p:nvPr/>
          </p:nvCxnSpPr>
          <p:spPr>
            <a:xfrm>
              <a:off x="3385598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7" name="Google Shape;707;p52"/>
            <p:cNvCxnSpPr/>
            <p:nvPr/>
          </p:nvCxnSpPr>
          <p:spPr>
            <a:xfrm>
              <a:off x="4062717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8" name="Google Shape;708;p52"/>
            <p:cNvCxnSpPr/>
            <p:nvPr/>
          </p:nvCxnSpPr>
          <p:spPr>
            <a:xfrm>
              <a:off x="4739836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9" name="Google Shape;709;p52"/>
            <p:cNvCxnSpPr/>
            <p:nvPr/>
          </p:nvCxnSpPr>
          <p:spPr>
            <a:xfrm>
              <a:off x="5416955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0" name="Google Shape;710;p52"/>
            <p:cNvCxnSpPr/>
            <p:nvPr/>
          </p:nvCxnSpPr>
          <p:spPr>
            <a:xfrm>
              <a:off x="6094077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1" name="Google Shape;711;p52"/>
            <p:cNvCxnSpPr/>
            <p:nvPr/>
          </p:nvCxnSpPr>
          <p:spPr>
            <a:xfrm>
              <a:off x="6771195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2" name="Google Shape;712;p52"/>
            <p:cNvCxnSpPr/>
            <p:nvPr/>
          </p:nvCxnSpPr>
          <p:spPr>
            <a:xfrm>
              <a:off x="7448315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3" name="Google Shape;713;p52"/>
            <p:cNvCxnSpPr/>
            <p:nvPr/>
          </p:nvCxnSpPr>
          <p:spPr>
            <a:xfrm>
              <a:off x="8125435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4" name="Google Shape;714;p52"/>
            <p:cNvCxnSpPr/>
            <p:nvPr/>
          </p:nvCxnSpPr>
          <p:spPr>
            <a:xfrm>
              <a:off x="8802554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5" name="Google Shape;715;p52"/>
            <p:cNvCxnSpPr/>
            <p:nvPr/>
          </p:nvCxnSpPr>
          <p:spPr>
            <a:xfrm>
              <a:off x="9479673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6" name="Google Shape;716;p52"/>
            <p:cNvCxnSpPr/>
            <p:nvPr/>
          </p:nvCxnSpPr>
          <p:spPr>
            <a:xfrm>
              <a:off x="10156792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7" name="Google Shape;717;p52"/>
            <p:cNvCxnSpPr/>
            <p:nvPr/>
          </p:nvCxnSpPr>
          <p:spPr>
            <a:xfrm>
              <a:off x="10833914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8" name="Google Shape;718;p52"/>
            <p:cNvCxnSpPr/>
            <p:nvPr/>
          </p:nvCxnSpPr>
          <p:spPr>
            <a:xfrm>
              <a:off x="11511034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9" name="Google Shape;719;p52"/>
            <p:cNvCxnSpPr/>
            <p:nvPr/>
          </p:nvCxnSpPr>
          <p:spPr>
            <a:xfrm>
              <a:off x="12188160" y="-1"/>
              <a:ext cx="7" cy="64323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724" name="Google Shape;72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339" y="687949"/>
            <a:ext cx="2486539" cy="5501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904DA-6234-B3DE-717E-8EE83242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70" y="3035262"/>
            <a:ext cx="6421292" cy="1218795"/>
          </a:xfrm>
        </p:spPr>
        <p:txBody>
          <a:bodyPr/>
          <a:lstStyle/>
          <a:p>
            <a:r>
              <a:rPr lang="en-US" b="1" dirty="0"/>
              <a:t>VK Tech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A3DC8B-3269-E0C6-E647-04E67100A8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512" y="5119279"/>
            <a:ext cx="3616049" cy="527122"/>
          </a:xfrm>
        </p:spPr>
        <p:txBody>
          <a:bodyPr>
            <a:normAutofit/>
          </a:bodyPr>
          <a:lstStyle/>
          <a:p>
            <a:r>
              <a:rPr lang="ru-RU" sz="1600" b="1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Котельницкий Алексей</a:t>
            </a:r>
            <a:endParaRPr lang="ru-RU" sz="1600" b="1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r>
              <a:rPr lang="ru-RU" sz="1600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Менеджер продукта </a:t>
            </a:r>
            <a:r>
              <a:rPr lang="ru-RU" sz="16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Private </a:t>
            </a:r>
            <a:r>
              <a:rPr lang="en-US" sz="16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Cloud</a:t>
            </a:r>
            <a:r>
              <a:rPr lang="ru-RU" sz="1600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lang="ru-RU" sz="1600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Google Shape;3900;g31255f78857_0_742"/>
          <p:cNvSpPr/>
          <p:nvPr/>
        </p:nvSpPr>
        <p:spPr>
          <a:xfrm>
            <a:off x="0" y="0"/>
            <a:ext cx="5314950" cy="6858000"/>
          </a:xfrm>
          <a:prstGeom prst="rect">
            <a:avLst/>
          </a:prstGeom>
          <a:solidFill>
            <a:srgbClr val="EDF3F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/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1" name="Google Shape;3901;g31255f78857_0_742"/>
          <p:cNvGrpSpPr/>
          <p:nvPr/>
        </p:nvGrpSpPr>
        <p:grpSpPr>
          <a:xfrm>
            <a:off x="2495280" y="4107680"/>
            <a:ext cx="2601747" cy="2743212"/>
            <a:chOff x="0" y="0"/>
            <a:chExt cx="2601747" cy="2743212"/>
          </a:xfrm>
        </p:grpSpPr>
        <p:sp>
          <p:nvSpPr>
            <p:cNvPr id="3902" name="Google Shape;3902;g31255f78857_0_742"/>
            <p:cNvSpPr/>
            <p:nvPr/>
          </p:nvSpPr>
          <p:spPr>
            <a:xfrm>
              <a:off x="0" y="0"/>
              <a:ext cx="1062504" cy="13716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03" name="Google Shape;3903;g31255f78857_0_742"/>
            <p:cNvSpPr/>
            <p:nvPr/>
          </p:nvSpPr>
          <p:spPr>
            <a:xfrm>
              <a:off x="1539243" y="0"/>
              <a:ext cx="1062504" cy="13716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04" name="Google Shape;3904;g31255f78857_0_742"/>
            <p:cNvSpPr/>
            <p:nvPr/>
          </p:nvSpPr>
          <p:spPr>
            <a:xfrm>
              <a:off x="0" y="1371612"/>
              <a:ext cx="1062504" cy="13716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05" name="Google Shape;3905;g31255f78857_0_742"/>
            <p:cNvSpPr/>
            <p:nvPr/>
          </p:nvSpPr>
          <p:spPr>
            <a:xfrm>
              <a:off x="1539243" y="1371612"/>
              <a:ext cx="1062504" cy="13716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906" name="Google Shape;3906;g31255f78857_0_742"/>
          <p:cNvSpPr txBox="1">
            <a:spLocks noGrp="1"/>
          </p:cNvSpPr>
          <p:nvPr>
            <p:ph type="title"/>
          </p:nvPr>
        </p:nvSpPr>
        <p:spPr>
          <a:xfrm>
            <a:off x="408000" y="662338"/>
            <a:ext cx="5205900" cy="64425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3200" dirty="0"/>
              <a:t>Текущий состав облачных продуктов в </a:t>
            </a:r>
            <a:r>
              <a:rPr lang="en-US" sz="3200" dirty="0"/>
              <a:t>On-Prem (AS-IS)</a:t>
            </a:r>
            <a:endParaRPr dirty="0"/>
          </a:p>
          <a:p>
            <a:endParaRPr dirty="0"/>
          </a:p>
        </p:txBody>
      </p:sp>
      <p:pic>
        <p:nvPicPr>
          <p:cNvPr id="3913" name="Google Shape;3913;g31255f78857_0_7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50FF628-9F75-AC7D-52E2-B7B4E543FB38}"/>
              </a:ext>
            </a:extLst>
          </p:cNvPr>
          <p:cNvSpPr/>
          <p:nvPr/>
        </p:nvSpPr>
        <p:spPr>
          <a:xfrm>
            <a:off x="7155161" y="955209"/>
            <a:ext cx="3339599" cy="2912732"/>
          </a:xfrm>
          <a:prstGeom prst="roundRect">
            <a:avLst>
              <a:gd name="adj" fmla="val 59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Private Cloud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86775EF-2949-4E6A-5512-68AA02B0700C}"/>
              </a:ext>
            </a:extLst>
          </p:cNvPr>
          <p:cNvSpPr/>
          <p:nvPr/>
        </p:nvSpPr>
        <p:spPr>
          <a:xfrm>
            <a:off x="7303245" y="1437655"/>
            <a:ext cx="1413038" cy="64612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IaaS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0873421-1D4A-CE1A-C144-23B805A70550}"/>
              </a:ext>
            </a:extLst>
          </p:cNvPr>
          <p:cNvSpPr/>
          <p:nvPr/>
        </p:nvSpPr>
        <p:spPr>
          <a:xfrm>
            <a:off x="8118441" y="3071175"/>
            <a:ext cx="1413038" cy="64612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DbaaS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0316AB2-A81A-E796-FCE5-DBEDC4FA7058}"/>
              </a:ext>
            </a:extLst>
          </p:cNvPr>
          <p:cNvSpPr/>
          <p:nvPr/>
        </p:nvSpPr>
        <p:spPr>
          <a:xfrm>
            <a:off x="8927307" y="1440289"/>
            <a:ext cx="1413038" cy="64612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K8s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F87407C-F4F7-A2F1-0B11-11BEE7F0C05C}"/>
              </a:ext>
            </a:extLst>
          </p:cNvPr>
          <p:cNvSpPr/>
          <p:nvPr/>
        </p:nvSpPr>
        <p:spPr>
          <a:xfrm>
            <a:off x="8118441" y="4771589"/>
            <a:ext cx="1413038" cy="64612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Storage (S3)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28192FE-33A4-3CA1-AC9F-CB8A0A518C3F}"/>
              </a:ext>
            </a:extLst>
          </p:cNvPr>
          <p:cNvSpPr/>
          <p:nvPr/>
        </p:nvSpPr>
        <p:spPr>
          <a:xfrm>
            <a:off x="8118441" y="3973823"/>
            <a:ext cx="1413038" cy="64612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Platform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9B7BD36-3319-5394-F52A-01ADD6195418}"/>
              </a:ext>
            </a:extLst>
          </p:cNvPr>
          <p:cNvSpPr/>
          <p:nvPr/>
        </p:nvSpPr>
        <p:spPr>
          <a:xfrm>
            <a:off x="8118441" y="5569355"/>
            <a:ext cx="1413038" cy="64612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 Platform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B10B387-0F07-1480-5000-DC5B7123F7F2}"/>
              </a:ext>
            </a:extLst>
          </p:cNvPr>
          <p:cNvSpPr/>
          <p:nvPr/>
        </p:nvSpPr>
        <p:spPr>
          <a:xfrm>
            <a:off x="8118441" y="2255732"/>
            <a:ext cx="1413038" cy="64612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XaaS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405" imgH="405" progId="TCLayout.ActiveDocument.1">
                  <p:embed/>
                </p:oleObj>
              </mc:Choice>
              <mc:Fallback>
                <p:oleObj name="think-cell Slide" r:id="rId5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1597"/>
            <a:ext cx="10855854" cy="644241"/>
          </a:xfrm>
        </p:spPr>
        <p:txBody>
          <a:bodyPr vert="horz"/>
          <a:lstStyle/>
          <a:p>
            <a:r>
              <a:rPr lang="ru-RU" dirty="0"/>
              <a:t>Игроки рынка виртуализации и контейнеризации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-228596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336934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917506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507923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088495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2669067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269499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3850071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430643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13" name="Chart 212">
            <a:extLst>
              <a:ext uri="{FF2B5EF4-FFF2-40B4-BE49-F238E27FC236}">
                <a16:creationId xmlns:a16="http://schemas.microsoft.com/office/drawing/2014/main" id="{5133B7EF-C409-41B5-8349-33C01E7DF83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3389286"/>
              </p:ext>
            </p:extLst>
          </p:nvPr>
        </p:nvGraphicFramePr>
        <p:xfrm>
          <a:off x="750888" y="1801739"/>
          <a:ext cx="1630362" cy="3617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1C1BA2-01FB-49EF-A4AD-C74665F3FCB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H="1">
            <a:off x="1897063" y="3351139"/>
            <a:ext cx="952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1347788" y="1941439"/>
            <a:ext cx="436563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775EAD9C-BD6E-4BFA-8689-46BFD822B37A}" type="datetime'''2'''''''''',''''''''2''''''''''''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2,2</a:t>
            </a:fld>
            <a:br>
              <a:rPr lang="ru-RU" altLang="en-US" sz="1200" dirty="0">
                <a:latin typeface="+mn-lt"/>
              </a:rPr>
            </a:br>
            <a:r>
              <a:rPr lang="ru-RU" altLang="en-US" sz="1200" dirty="0">
                <a:latin typeface="+mn-lt"/>
              </a:rPr>
              <a:t>(</a:t>
            </a:r>
            <a:fld id="{D6CEDFB9-19CE-4947-BE76-B3881D3DF508}" type="datetime'1''''''''5''%'''''''''''''''''''''''''''''''''">
              <a:rPr lang="ru-RU" altLang="en-US" sz="1200" smtClean="0">
                <a:latin typeface="+mn-lt"/>
              </a:rPr>
              <a:pPr/>
              <a:t>15%</a:t>
            </a:fld>
            <a:r>
              <a:rPr lang="ru-RU" sz="1200" dirty="0">
                <a:latin typeface="+mn-lt"/>
              </a:rPr>
              <a:t>)</a:t>
            </a:r>
          </a:p>
        </p:txBody>
      </p:sp>
      <p:sp>
        <p:nvSpPr>
          <p:cNvPr id="111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1554163" y="2416101"/>
            <a:ext cx="433388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F7CB252D-2490-483D-A2F5-137AB7395BA8}" type="datetime'''1'''''''',''''''''''8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1,8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4C118117-CCA7-42B7-A406-991B7540EFEA}" type="datetime'''12''''''''''''''''''''''''%'''''''''''''''''''">
              <a:rPr lang="ru-RU" altLang="en-US" sz="1200" smtClean="0">
                <a:latin typeface="+mn-lt"/>
              </a:rPr>
              <a:pPr/>
              <a:t>12%</a:t>
            </a:fld>
            <a:r>
              <a:rPr lang="ru-RU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112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1182688" y="2757414"/>
            <a:ext cx="360363" cy="403225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141FCAA3-B01B-4448-A130-8C29EF92E776}" type="datetime'1'''''''',''''''''''''''''''''''''''1''''''''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1,1</a:t>
            </a:fld>
            <a:br>
              <a:rPr lang="ru-RU" altLang="en-US" sz="1200">
                <a:solidFill>
                  <a:schemeClr val="bg1"/>
                </a:solidFill>
                <a:latin typeface="+mn-lt"/>
              </a:rPr>
            </a:br>
            <a:r>
              <a:rPr lang="ru-RU" altLang="en-US" sz="1200">
                <a:solidFill>
                  <a:schemeClr val="bg1"/>
                </a:solidFill>
                <a:latin typeface="+mn-lt"/>
              </a:rPr>
              <a:t>(</a:t>
            </a:r>
            <a:fld id="{EE6AEF9B-0F82-4164-85C1-BFF9F26C035D}" type="datetime'''''''''''''''''''''''''7%''''''''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/>
              <a:t>7%</a:t>
            </a:fld>
            <a:r>
              <a:rPr lang="ru-RU" sz="1200">
                <a:solidFill>
                  <a:schemeClr val="bg1"/>
                </a:solidFill>
                <a:latin typeface="+mn-lt"/>
              </a:rPr>
              <a:t>)</a:t>
            </a:r>
            <a:endParaRPr lang="ru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3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1585913" y="2984426"/>
            <a:ext cx="369888" cy="4032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729EC06F-EA83-4E26-ACBE-B71B20C6B555}" type="datetime'''''''''''''''''0'''',''9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0,9</a:t>
            </a:fld>
            <a:br>
              <a:rPr lang="ru-RU" altLang="en-US" sz="1200">
                <a:solidFill>
                  <a:schemeClr val="bg1"/>
                </a:solidFill>
                <a:latin typeface="+mn-lt"/>
              </a:rPr>
            </a:br>
            <a:r>
              <a:rPr lang="ru-RU" altLang="en-US" sz="1200">
                <a:solidFill>
                  <a:schemeClr val="bg1"/>
                </a:solidFill>
                <a:latin typeface="+mn-lt"/>
              </a:rPr>
              <a:t>(</a:t>
            </a:r>
            <a:fld id="{45328B65-5E48-4117-93EE-C816251BC4A0}" type="datetime'''''''''''6''''''''%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6%</a:t>
            </a:fld>
            <a:r>
              <a:rPr lang="ru-RU" sz="1200">
                <a:solidFill>
                  <a:schemeClr val="bg1"/>
                </a:solidFill>
                <a:latin typeface="+mn-lt"/>
              </a:rPr>
              <a:t>)</a:t>
            </a:r>
            <a:endParaRPr lang="ru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2" name="Текст 4">
            <a:extLst>
              <a:ext uri="{FF2B5EF4-FFF2-40B4-BE49-F238E27FC236}">
                <a16:creationId xmlns:a16="http://schemas.microsoft.com/office/drawing/2014/main" id="{217C77AB-BEBE-4ED6-B088-B3D5F7AF0627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1992313" y="3149526"/>
            <a:ext cx="373063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0126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9092B4CE-DBD1-4473-A41C-AB9BC64AD3F4}" type="datetime'''''0'''''''''''''''''''''''',''''''''''''5'''''''''''''''''">
              <a:rPr lang="ru-RU" altLang="en-US" sz="1200" smtClean="0">
                <a:latin typeface="+mn-lt"/>
              </a:rPr>
              <a:pPr marL="0" lvl="1" indent="0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B10BA860-EE49-4572-8776-94F823923FE3}" type="datetime'''''4''%'''''''''''''''''''''''''''''''''''''">
              <a:rPr lang="ru-RU" altLang="en-US" sz="1200" smtClean="0">
                <a:latin typeface="+mn-lt"/>
              </a:rPr>
              <a:pPr/>
              <a:t>4%</a:t>
            </a:fld>
            <a:r>
              <a:rPr lang="ru-RU" altLang="en-US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114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1182688" y="3327326"/>
            <a:ext cx="360363" cy="403225"/>
          </a:xfrm>
          <a:prstGeom prst="rect">
            <a:avLst/>
          </a:prstGeom>
          <a:solidFill>
            <a:srgbClr val="CEA0ED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570F6B18-B6E1-42AF-9249-74AFFDECB584}" type="datetime'''''''''''''''1,''''''''''''''''0''''''''''''''''''''''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1,0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01704337-D7F0-4449-97E6-4737A46DEA08}" type="datetime'''7''''''''''''''''''''''%'''''''''''''''">
              <a:rPr lang="ru-RU" altLang="en-US" sz="1200" smtClean="0">
                <a:latin typeface="+mn-lt"/>
              </a:rPr>
              <a:pPr/>
              <a:t>7%</a:t>
            </a:fld>
            <a:r>
              <a:rPr lang="ru-RU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11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1331913" y="4289351"/>
            <a:ext cx="468313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4BBDFC3E-F2EC-4E89-98D8-C58F7F5947AB}" type="datetime'''''''''''''''''''''''''7'',''''''2''''''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/>
              <a:t>7,2</a:t>
            </a:fld>
            <a:br>
              <a:rPr lang="ru-RU" altLang="en-US" sz="1200">
                <a:solidFill>
                  <a:schemeClr val="bg1"/>
                </a:solidFill>
                <a:latin typeface="+mn-lt"/>
              </a:rPr>
            </a:br>
            <a:r>
              <a:rPr lang="ru-RU" altLang="en-US" sz="1200">
                <a:solidFill>
                  <a:schemeClr val="bg1"/>
                </a:solidFill>
                <a:latin typeface="+mn-lt"/>
              </a:rPr>
              <a:t>(</a:t>
            </a:r>
            <a:fld id="{2F811450-DC35-4EC2-AC79-F21044DDBCE5}" type="datetime'''''4''9''''''''''''''''''''''''''''''''''%'''''">
              <a:rPr lang="ru-RU" altLang="en-US" sz="1200" smtClean="0">
                <a:solidFill>
                  <a:schemeClr val="bg1"/>
                </a:solidFill>
                <a:latin typeface="+mn-lt"/>
              </a:rPr>
              <a:pPr/>
              <a:t>49%</a:t>
            </a:fld>
            <a:r>
              <a:rPr lang="ru-RU" sz="1200">
                <a:solidFill>
                  <a:schemeClr val="bg1"/>
                </a:solidFill>
                <a:latin typeface="+mn-lt"/>
              </a:rPr>
              <a:t>)</a:t>
            </a:r>
            <a:endParaRPr lang="ru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86B14A83-21F4-43AC-830E-5209B975C636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1374775" y="5387901"/>
            <a:ext cx="3825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8D2AA404-6270-46A6-A365-41292C4307A2}" type="datetime'''''2''''''''''''''''''''''''0''''''''''''''''''2''3'''">
              <a:rPr lang="ru-RU" altLang="en-US" sz="1200" smtClean="0">
                <a:latin typeface="+mn-lt"/>
              </a:rPr>
              <a:pPr/>
              <a:t>2023</a:t>
            </a:fld>
            <a:endParaRPr lang="ru-RU" sz="1200" dirty="0">
              <a:latin typeface="+mn-lt"/>
            </a:endParaRP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E3F43A5A-6377-483D-9C92-7B7378EA3543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1390650" y="1657276"/>
            <a:ext cx="3508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F92A047-2962-42F9-9B22-0884C5DEFE34}" type="datetime'1''4'''''''''''''''''''''''''',''''''''''''''6'''''''''''''">
              <a:rPr lang="ru-RU" altLang="en-US" sz="1200" smtClean="0">
                <a:latin typeface="+mn-lt"/>
              </a:rPr>
              <a:pPr/>
              <a:t>14,6</a:t>
            </a:fld>
            <a:endParaRPr lang="ru-RU" sz="1200" dirty="0">
              <a:latin typeface="+mn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8DBAEF-1FF9-4D4B-A383-40DF69DAE67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681288" y="2009701"/>
            <a:ext cx="214313" cy="160338"/>
          </a:xfrm>
          <a:prstGeom prst="rect">
            <a:avLst/>
          </a:prstGeom>
          <a:solidFill>
            <a:srgbClr val="99F6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AAED2D-51D8-40EF-AB6B-C90498244D56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2681288" y="2262114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408F60-0168-4C59-9A24-C175ED2550F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2681288" y="2514526"/>
            <a:ext cx="214313" cy="160338"/>
          </a:xfrm>
          <a:prstGeom prst="rect">
            <a:avLst/>
          </a:prstGeom>
          <a:solidFill>
            <a:srgbClr val="0074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272B04-761E-4E11-A5C5-081D7CFC51BC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681288" y="2766939"/>
            <a:ext cx="214313" cy="1603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4997CF-8CE3-4E49-9A2A-5CE7C3DA28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2681288" y="3019351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C9AB47-3B99-43E1-9D76-179D6438CD82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681288" y="3271764"/>
            <a:ext cx="214313" cy="160338"/>
          </a:xfrm>
          <a:prstGeom prst="rect">
            <a:avLst/>
          </a:prstGeom>
          <a:solidFill>
            <a:srgbClr val="CEA0E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8D5CAF-B06D-40DF-BDB3-5D2A65E74EF9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2681288" y="3524176"/>
            <a:ext cx="214313" cy="160338"/>
          </a:xfrm>
          <a:prstGeom prst="rect">
            <a:avLst/>
          </a:prstGeom>
          <a:solidFill>
            <a:srgbClr val="40126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Текст 4">
            <a:extLst>
              <a:ext uri="{FF2B5EF4-FFF2-40B4-BE49-F238E27FC236}">
                <a16:creationId xmlns:a16="http://schemas.microsoft.com/office/drawing/2014/main" id="{D28C2364-2CEB-496C-8B7F-EFF4E3A181B3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2946400" y="1990651"/>
            <a:ext cx="17097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D9001D77-E7B9-4B71-8BF6-0E8E9497741E}" type="datetime'''''''Баз''''''''ис (Б''''''аз''и''с.Dy''n''a''m''iX'')'''''''">
              <a:rPr lang="ru-RU" altLang="en-US" sz="1200" smtClean="0">
                <a:latin typeface="+mn-lt"/>
              </a:rPr>
              <a:pPr/>
              <a:t>Базис (Базис.DynamiX)</a:t>
            </a:fld>
            <a:endParaRPr lang="ru-RU" sz="1200" dirty="0">
              <a:latin typeface="+mn-lt"/>
            </a:endParaRPr>
          </a:p>
        </p:txBody>
      </p:sp>
      <p:sp>
        <p:nvSpPr>
          <p:cNvPr id="53" name="Текст 4">
            <a:extLst>
              <a:ext uri="{FF2B5EF4-FFF2-40B4-BE49-F238E27FC236}">
                <a16:creationId xmlns:a16="http://schemas.microsoft.com/office/drawing/2014/main" id="{5BB8F6BC-0650-46C6-9DA3-90426607EA4A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2946400" y="2243064"/>
            <a:ext cx="11906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EB46ACC5-B3AA-4361-B093-36209CE6AFFA}" type="datetime'''Ori''on ''''''''s''''''''o''''f''t'''' (zV''''i''''rt)'">
              <a:rPr lang="en-US" altLang="en-US" sz="1200" smtClean="0">
                <a:latin typeface="+mn-lt"/>
              </a:rPr>
              <a:pPr/>
              <a:t>Orion soft (zVirt)</a:t>
            </a:fld>
            <a:endParaRPr lang="ru-RU" sz="1200" dirty="0">
              <a:latin typeface="+mn-lt"/>
            </a:endParaRPr>
          </a:p>
        </p:txBody>
      </p:sp>
      <p:sp>
        <p:nvSpPr>
          <p:cNvPr id="54" name="Текст 4">
            <a:extLst>
              <a:ext uri="{FF2B5EF4-FFF2-40B4-BE49-F238E27FC236}">
                <a16:creationId xmlns:a16="http://schemas.microsoft.com/office/drawing/2014/main" id="{F884E099-18C7-4002-B38E-522A01C87E49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2946400" y="2495476"/>
            <a:ext cx="5222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17087F70-7425-4B4D-A141-F0101346B692}" type="datetime'''v''''''''''''''''S''''''ta''''''''''''''ck'' '''''">
              <a:rPr lang="en-US" altLang="en-US" sz="1200" smtClean="0">
                <a:latin typeface="+mn-lt"/>
              </a:rPr>
              <a:pPr/>
              <a:t>vStack </a:t>
            </a:fld>
            <a:endParaRPr lang="ru-RU" sz="1200" dirty="0">
              <a:latin typeface="+mn-lt"/>
            </a:endParaRPr>
          </a:p>
        </p:txBody>
      </p:sp>
      <p:sp>
        <p:nvSpPr>
          <p:cNvPr id="55" name="Текст 4">
            <a:extLst>
              <a:ext uri="{FF2B5EF4-FFF2-40B4-BE49-F238E27FC236}">
                <a16:creationId xmlns:a16="http://schemas.microsoft.com/office/drawing/2014/main" id="{9BA2442B-EB09-46F4-8D14-2FE0368EBE14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2946400" y="2747889"/>
            <a:ext cx="5984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51A4EE86-8599-49F8-9847-101E0D01780C}" type="datetime'''''''''VK'''''''''' ''''T''''''''ec''''''''''h'''''''''''">
              <a:rPr lang="en-US" altLang="en-US" sz="1200" smtClean="0">
                <a:latin typeface="+mn-lt"/>
              </a:rPr>
              <a:pPr/>
              <a:t>VK Tech</a:t>
            </a:fld>
            <a:endParaRPr lang="ru-RU" sz="1200" dirty="0">
              <a:latin typeface="+mn-lt"/>
            </a:endParaRPr>
          </a:p>
        </p:txBody>
      </p:sp>
      <p:sp>
        <p:nvSpPr>
          <p:cNvPr id="100" name="Текст 4">
            <a:extLst>
              <a:ext uri="{FF2B5EF4-FFF2-40B4-BE49-F238E27FC236}">
                <a16:creationId xmlns:a16="http://schemas.microsoft.com/office/drawing/2014/main" id="{57FF5A6F-50AB-434C-A1A5-9BD3BF3F4277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2946400" y="3000301"/>
            <a:ext cx="148431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63D6D313-4BDE-4D7A-A759-287D00B4CBC6}" type="datetime'Да''''к''о''''''''м ''''М ''(''Sp''''a''ceV''''''''''''''M)'">
              <a:rPr lang="ru-RU" altLang="en-US" sz="1200" smtClean="0">
                <a:latin typeface="+mn-lt"/>
              </a:rPr>
              <a:pPr/>
              <a:t>Даком М (SpaceVM)</a:t>
            </a:fld>
            <a:endParaRPr lang="ru-RU" sz="1200" dirty="0">
              <a:latin typeface="+mn-lt"/>
            </a:endParaRPr>
          </a:p>
        </p:txBody>
      </p:sp>
      <p:sp>
        <p:nvSpPr>
          <p:cNvPr id="116" name="Текст 4">
            <a:extLst>
              <a:ext uri="{FF2B5EF4-FFF2-40B4-BE49-F238E27FC236}">
                <a16:creationId xmlns:a16="http://schemas.microsoft.com/office/drawing/2014/main" id="{7A49E62B-B20D-4DF2-9B08-BE32C591E1B1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2946400" y="3252714"/>
            <a:ext cx="15144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B9B74F36-BEC6-4E28-8F14-F5FEAA5120D2}" type="datetime'П''''р''о''ч''''ие'' Р''Ф'''' ''в''''е''''''нд''''''о''''ры'">
              <a:rPr lang="ru-RU" altLang="en-US" sz="1200" smtClean="0">
                <a:latin typeface="+mn-lt"/>
              </a:rPr>
              <a:pPr/>
              <a:t>Прочие РФ вендоры</a:t>
            </a:fld>
            <a:endParaRPr lang="ru-RU" sz="1200" dirty="0">
              <a:latin typeface="+mn-lt"/>
            </a:endParaRPr>
          </a:p>
        </p:txBody>
      </p:sp>
      <p:sp>
        <p:nvSpPr>
          <p:cNvPr id="124" name="Текст 4">
            <a:extLst>
              <a:ext uri="{FF2B5EF4-FFF2-40B4-BE49-F238E27FC236}">
                <a16:creationId xmlns:a16="http://schemas.microsoft.com/office/drawing/2014/main" id="{BBF3C5B3-C5D9-426C-B7D0-097FA205EFED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2946400" y="3505126"/>
            <a:ext cx="162560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45EDB842-0662-405B-8A0F-C71A0BE86C9B}" type="datetime'Р''аб''''о''''''''''ты ''инт''е''гр''ат''о''''''''''''''ров'''">
              <a:rPr lang="ru-RU" altLang="en-US" sz="1200" smtClean="0">
                <a:latin typeface="+mn-lt"/>
              </a:rPr>
              <a:pPr/>
              <a:t>Работы интеграторов</a:t>
            </a:fld>
            <a:endParaRPr lang="ru-RU" sz="1200" dirty="0">
              <a:latin typeface="+mn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02F9828-8730-4AB1-8BE8-336E4DF8E71F}"/>
              </a:ext>
            </a:extLst>
          </p:cNvPr>
          <p:cNvSpPr/>
          <p:nvPr/>
        </p:nvSpPr>
        <p:spPr>
          <a:xfrm>
            <a:off x="677333" y="5875521"/>
            <a:ext cx="994712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tx1"/>
                </a:solidFill>
              </a:rPr>
              <a:t>Источники: 1. Выручка РФ вендоров: </a:t>
            </a:r>
            <a:r>
              <a:rPr lang="en-US" sz="1000" i="1" dirty="0" err="1">
                <a:solidFill>
                  <a:schemeClr val="tx1"/>
                </a:solidFill>
                <a:hlinkClick r:id="rId56"/>
              </a:rPr>
              <a:t>Tadviser</a:t>
            </a:r>
            <a:r>
              <a:rPr lang="ru-RU" sz="1000" i="1" dirty="0">
                <a:solidFill>
                  <a:schemeClr val="tx1"/>
                </a:solidFill>
              </a:rPr>
              <a:t>; Оценка работ интеграторов – от рынка ПО </a:t>
            </a:r>
            <a:r>
              <a:rPr lang="en-US" sz="1000" i="1" dirty="0">
                <a:solidFill>
                  <a:schemeClr val="tx1"/>
                </a:solidFill>
              </a:rPr>
              <a:t>x2 </a:t>
            </a:r>
            <a:r>
              <a:rPr lang="ru-RU" sz="1000" i="1" dirty="0">
                <a:solidFill>
                  <a:schemeClr val="tx1"/>
                </a:solidFill>
              </a:rPr>
              <a:t>(экспертно) на базе выручки от продажи ПО </a:t>
            </a:r>
            <a:r>
              <a:rPr lang="en-US" sz="1000" i="1" dirty="0">
                <a:solidFill>
                  <a:schemeClr val="tx1"/>
                </a:solidFill>
              </a:rPr>
              <a:t>Strategy Partners</a:t>
            </a:r>
            <a:r>
              <a:rPr lang="ru-RU" sz="1000" i="1" dirty="0">
                <a:solidFill>
                  <a:schemeClr val="tx1"/>
                </a:solidFill>
              </a:rPr>
              <a:t>; </a:t>
            </a:r>
            <a:br>
              <a:rPr lang="ru-RU" sz="1000" i="1" dirty="0">
                <a:solidFill>
                  <a:schemeClr val="tx1"/>
                </a:solidFill>
              </a:rPr>
            </a:br>
            <a:r>
              <a:rPr lang="ru-RU" sz="1000" i="1" dirty="0">
                <a:solidFill>
                  <a:schemeClr val="tx1"/>
                </a:solidFill>
              </a:rPr>
              <a:t>2. Оценка на базе выручки отдельных игроков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4487ADC-DE92-45E0-B054-C1D47AB29365}"/>
              </a:ext>
            </a:extLst>
          </p:cNvPr>
          <p:cNvGrpSpPr/>
          <p:nvPr/>
        </p:nvGrpSpPr>
        <p:grpSpPr>
          <a:xfrm>
            <a:off x="677334" y="1272461"/>
            <a:ext cx="5418666" cy="229996"/>
            <a:chOff x="658812" y="1799130"/>
            <a:chExt cx="5400000" cy="229996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02A5DD0-31D7-435C-9716-4A1258FEFA31}"/>
                </a:ext>
              </a:extLst>
            </p:cNvPr>
            <p:cNvSpPr/>
            <p:nvPr/>
          </p:nvSpPr>
          <p:spPr>
            <a:xfrm>
              <a:off x="658812" y="1799130"/>
              <a:ext cx="5400000" cy="2154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ru-RU" sz="1400" b="1" dirty="0">
                  <a:solidFill>
                    <a:schemeClr val="tx1"/>
                  </a:solidFill>
                </a:rPr>
                <a:t>Выручка РФ</a:t>
              </a:r>
              <a:r>
                <a:rPr lang="en-US" sz="1400" b="1" dirty="0">
                  <a:solidFill>
                    <a:schemeClr val="tx1"/>
                  </a:solidFill>
                </a:rPr>
                <a:t> </a:t>
              </a:r>
              <a:r>
                <a:rPr lang="ru-RU" sz="1400" b="1" dirty="0">
                  <a:solidFill>
                    <a:schemeClr val="tx1"/>
                  </a:solidFill>
                </a:rPr>
                <a:t>игроков</a:t>
              </a:r>
              <a:r>
                <a:rPr lang="en-US" sz="1400" b="1" dirty="0">
                  <a:solidFill>
                    <a:schemeClr val="tx1"/>
                  </a:solidFill>
                </a:rPr>
                <a:t> </a:t>
              </a:r>
              <a:r>
                <a:rPr lang="ru-RU" sz="1400" b="1" dirty="0">
                  <a:solidFill>
                    <a:schemeClr val="tx1"/>
                  </a:solidFill>
                </a:rPr>
                <a:t>от виртуализации, 2023 г., млрд руб.</a:t>
              </a:r>
              <a:r>
                <a:rPr lang="ru-RU" sz="1400" b="1" baseline="30000" dirty="0">
                  <a:solidFill>
                    <a:schemeClr val="tx1"/>
                  </a:solidFill>
                </a:rPr>
                <a:t>(1)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2081C61-39DF-4D9B-8662-E5A0D7A9349E}"/>
                </a:ext>
              </a:extLst>
            </p:cNvPr>
            <p:cNvCxnSpPr>
              <a:cxnSpLocks/>
            </p:cNvCxnSpPr>
            <p:nvPr/>
          </p:nvCxnSpPr>
          <p:spPr>
            <a:xfrm>
              <a:off x="658812" y="2029126"/>
              <a:ext cx="540000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AE65662-A583-4BD0-AA2C-E18059D59858}"/>
              </a:ext>
            </a:extLst>
          </p:cNvPr>
          <p:cNvGrpSpPr/>
          <p:nvPr/>
        </p:nvGrpSpPr>
        <p:grpSpPr>
          <a:xfrm>
            <a:off x="6471020" y="1272461"/>
            <a:ext cx="5040000" cy="229996"/>
            <a:chOff x="658812" y="1799130"/>
            <a:chExt cx="5400000" cy="229996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6089F5C8-D150-42CE-9FE7-475ECA94A731}"/>
                </a:ext>
              </a:extLst>
            </p:cNvPr>
            <p:cNvSpPr/>
            <p:nvPr/>
          </p:nvSpPr>
          <p:spPr>
            <a:xfrm>
              <a:off x="658812" y="1799130"/>
              <a:ext cx="5400000" cy="2154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ru-RU" sz="1400" b="1" dirty="0">
                  <a:solidFill>
                    <a:schemeClr val="tx1"/>
                  </a:solidFill>
                </a:rPr>
                <a:t>Рынок ПО для контейнеризации, 2023 г., млрд руб.</a:t>
              </a:r>
              <a:r>
                <a:rPr lang="ru-RU" sz="1400" b="1" baseline="30000" dirty="0">
                  <a:solidFill>
                    <a:schemeClr val="tx1"/>
                  </a:solidFill>
                </a:rPr>
                <a:t>(2)</a:t>
              </a:r>
            </a:p>
          </p:txBody>
        </p: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0EA9C4DF-FFA8-4F7E-B02D-B98499B1C091}"/>
                </a:ext>
              </a:extLst>
            </p:cNvPr>
            <p:cNvCxnSpPr>
              <a:cxnSpLocks/>
            </p:cNvCxnSpPr>
            <p:nvPr/>
          </p:nvCxnSpPr>
          <p:spPr>
            <a:xfrm>
              <a:off x="658812" y="2029126"/>
              <a:ext cx="540000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3" name="Chart 232">
            <a:extLst>
              <a:ext uri="{FF2B5EF4-FFF2-40B4-BE49-F238E27FC236}">
                <a16:creationId xmlns:a16="http://schemas.microsoft.com/office/drawing/2014/main" id="{2F5757EA-3F67-46AF-B41D-B48156DAA68E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279032987"/>
              </p:ext>
            </p:extLst>
          </p:nvPr>
        </p:nvGraphicFramePr>
        <p:xfrm>
          <a:off x="6400800" y="1917626"/>
          <a:ext cx="1630363" cy="350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7"/>
          </a:graphicData>
        </a:graphic>
      </p:graphicFrame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4F66B39F-DCBB-4E43-8125-7EBE94971CD3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 flipH="1">
            <a:off x="7546975" y="5110089"/>
            <a:ext cx="95250" cy="984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Текст 4">
            <a:extLst>
              <a:ext uri="{FF2B5EF4-FFF2-40B4-BE49-F238E27FC236}">
                <a16:creationId xmlns:a16="http://schemas.microsoft.com/office/drawing/2014/main" id="{A88A91AE-7B81-45F7-B7E3-3394E17CD7A6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7235825" y="3676576"/>
            <a:ext cx="369888" cy="403225"/>
          </a:xfrm>
          <a:prstGeom prst="rect">
            <a:avLst/>
          </a:prstGeom>
          <a:solidFill>
            <a:srgbClr val="00747F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124938FB-170C-4D2C-BEB7-3C9AE35A6D24}" type="datetime'''0'''''''''''''',''''''''''0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/>
              <a:t>0,0</a:t>
            </a:fld>
            <a:br>
              <a:rPr lang="ru-RU" altLang="en-US" sz="1200">
                <a:solidFill>
                  <a:schemeClr val="bg1"/>
                </a:solidFill>
                <a:latin typeface="+mn-lt"/>
              </a:rPr>
            </a:br>
            <a:r>
              <a:rPr lang="ru-RU" altLang="en-US" sz="1200">
                <a:solidFill>
                  <a:schemeClr val="bg1"/>
                </a:solidFill>
                <a:latin typeface="+mn-lt"/>
              </a:rPr>
              <a:t>(</a:t>
            </a:r>
            <a:fld id="{DEAF2CDE-9D1F-4647-A59A-A373A4FDCE95}" type="datetime'0''''''''''''''''%''''''''''''''''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/>
              <a:t>0%</a:t>
            </a:fld>
            <a:r>
              <a:rPr lang="ru-RU" altLang="en-US" sz="1200">
                <a:solidFill>
                  <a:schemeClr val="bg1"/>
                </a:solidFill>
                <a:latin typeface="+mn-lt"/>
              </a:rPr>
              <a:t>)</a:t>
            </a:r>
            <a:endParaRPr lang="ru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5" name="Текст 4">
            <a:extLst>
              <a:ext uri="{FF2B5EF4-FFF2-40B4-BE49-F238E27FC236}">
                <a16:creationId xmlns:a16="http://schemas.microsoft.com/office/drawing/2014/main" id="{7D31A817-E2EF-4994-A7EE-00171FC72ECA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7024688" y="5387901"/>
            <a:ext cx="3825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0DADBF45-8755-4E85-B54E-7DC0B4F769F5}" type="datetime'''''''2''''''''''0''''''''''''''''''''''''''''23'''">
              <a:rPr lang="ru-RU" altLang="en-US" sz="1200" smtClean="0">
                <a:latin typeface="+mn-lt"/>
              </a:rPr>
              <a:pPr/>
              <a:t>2023</a:t>
            </a:fld>
            <a:endParaRPr lang="ru-RU" sz="1200" dirty="0">
              <a:latin typeface="+mn-lt"/>
            </a:endParaRPr>
          </a:p>
        </p:txBody>
      </p:sp>
      <p:sp>
        <p:nvSpPr>
          <p:cNvPr id="196" name="Текст 4">
            <a:extLst>
              <a:ext uri="{FF2B5EF4-FFF2-40B4-BE49-F238E27FC236}">
                <a16:creationId xmlns:a16="http://schemas.microsoft.com/office/drawing/2014/main" id="{68AFDCDD-7615-483F-8565-51AD8F796DD7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7094538" y="1773164"/>
            <a:ext cx="2428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2E15A2E3-7114-49D7-8909-049B719B6394}" type="datetime'''''1'''''''''''''''''''''''',7'''''''''''">
              <a:rPr lang="ru-RU" altLang="en-US" sz="1200" smtClean="0">
                <a:latin typeface="+mn-lt"/>
              </a:rPr>
              <a:pPr/>
              <a:t>1,7</a:t>
            </a:fld>
            <a:endParaRPr lang="ru-RU" sz="1200" dirty="0">
              <a:latin typeface="+mn-lt"/>
            </a:endParaRPr>
          </a:p>
        </p:txBody>
      </p:sp>
      <p:sp>
        <p:nvSpPr>
          <p:cNvPr id="226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6985000" y="2273227"/>
            <a:ext cx="461963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483F4A76-6AAD-4010-A34E-08999A573A9A}" type="datetime'''''''''''0'''''''''''''''''''',''''''''''''''''''''5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E7EBB457-5324-4F17-A3CA-5338EF96338E}" type="datetime'''''''''''''''''''''''''''2''''''''''''''8''''%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28%</a:t>
            </a:fld>
            <a:r>
              <a:rPr lang="ru-RU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227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6985000" y="3208265"/>
            <a:ext cx="461963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9F32EE0D-69B2-4A1B-AE9C-20746DD3CD24}" type="datetime'''0,5''''''''''''''''''''''''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0,5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C3329650-CA10-41A1-AD01-540A83EBCDEF}" type="datetime'''''''''28''''''''''''''''''''''''''''''''''''''''%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28%</a:t>
            </a:fld>
            <a:r>
              <a:rPr lang="ru-RU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228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6827838" y="3835327"/>
            <a:ext cx="369888" cy="403225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4DBFD83F-D9C5-4AC5-8F37-690B8859A650}" type="datetime'''''''''0'''',''''''''''''''''''''2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0,2</a:t>
            </a:fld>
            <a:br>
              <a:rPr lang="ru-RU" altLang="en-US" sz="1200">
                <a:solidFill>
                  <a:schemeClr val="bg1"/>
                </a:solidFill>
                <a:latin typeface="+mn-lt"/>
              </a:rPr>
            </a:br>
            <a:r>
              <a:rPr lang="ru-RU" altLang="en-US" sz="1200">
                <a:solidFill>
                  <a:schemeClr val="bg1"/>
                </a:solidFill>
                <a:latin typeface="+mn-lt"/>
              </a:rPr>
              <a:t>(</a:t>
            </a:r>
            <a:fld id="{4D130DD7-3A1C-4BE9-BF34-C2F504D4CD94}" type="datetime'''''''''''''''''''9%''''''''''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9%</a:t>
            </a:fld>
            <a:r>
              <a:rPr lang="ru-RU" sz="1200">
                <a:solidFill>
                  <a:schemeClr val="bg1"/>
                </a:solidFill>
                <a:latin typeface="+mn-lt"/>
              </a:rPr>
              <a:t>)</a:t>
            </a:r>
            <a:endParaRPr lang="ru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9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gray">
          <a:xfrm>
            <a:off x="6996113" y="4262365"/>
            <a:ext cx="43815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C87A2C48-4629-4E7B-8E1E-F1787224638C}" type="datetime'''''''''''''''0'''''''''''''''''''''''''''''',3''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0,3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F017B359-8F53-4976-BD04-978D06B38D1D}" type="datetime'1''''''''''6''''''''''''''''''''''%'''''''">
              <a:rPr lang="ru-RU" altLang="en-US" sz="1200" smtClean="0"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16%</a:t>
            </a:fld>
            <a:r>
              <a:rPr lang="ru-RU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23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6996113" y="4708452"/>
            <a:ext cx="438150" cy="4032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9E42567E-B10B-4494-A129-B06CB3AF77B9}" type="datetime'''''''''0'''''''',''''''''''''''2''''''''''''''''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0,2</a:t>
            </a:fld>
            <a:br>
              <a:rPr lang="ru-RU" altLang="en-US" sz="1200">
                <a:solidFill>
                  <a:schemeClr val="bg1"/>
                </a:solidFill>
                <a:latin typeface="+mn-lt"/>
              </a:rPr>
            </a:br>
            <a:r>
              <a:rPr lang="ru-RU" altLang="en-US" sz="1200">
                <a:solidFill>
                  <a:schemeClr val="bg1"/>
                </a:solidFill>
                <a:latin typeface="+mn-lt"/>
              </a:rPr>
              <a:t>(</a:t>
            </a:r>
            <a:fld id="{2C97C905-1012-47CA-883D-CE8C56CCD1B9}" type="datetime'1''''0''''''''''''''''''''''''''''''''''%'''''''''''">
              <a:rPr lang="ru-RU" altLang="en-US" sz="1200" smtClean="0">
                <a:solidFill>
                  <a:schemeClr val="bg1"/>
                </a:solidFill>
                <a:latin typeface="+mn-lt"/>
              </a:rPr>
              <a:pPr marL="0" lvl="1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10%</a:t>
            </a:fld>
            <a:r>
              <a:rPr lang="ru-RU" sz="1200">
                <a:solidFill>
                  <a:schemeClr val="bg1"/>
                </a:solidFill>
                <a:latin typeface="+mn-lt"/>
              </a:rPr>
              <a:t>)</a:t>
            </a:r>
            <a:endParaRPr lang="ru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1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gray">
          <a:xfrm>
            <a:off x="7642225" y="4908477"/>
            <a:ext cx="371475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E98E33C4-3312-478C-8129-E3D9E7477F56}" type="datetime'''''''''''''''''''''''0'''''',''''''''''''''''''''''''1'''">
              <a:rPr lang="ru-RU" altLang="en-US" sz="1200" smtClean="0">
                <a:latin typeface="+mn-lt"/>
              </a:rPr>
              <a:pPr marL="0" lvl="1" indent="0">
                <a:spcBef>
                  <a:spcPct val="0"/>
                </a:spcBef>
                <a:spcAft>
                  <a:spcPct val="0"/>
                </a:spcAft>
                <a:buNone/>
              </a:pPr>
              <a:t>0,1</a:t>
            </a:fld>
            <a:br>
              <a:rPr lang="ru-RU" altLang="en-US" sz="1200">
                <a:latin typeface="+mn-lt"/>
              </a:rPr>
            </a:br>
            <a:r>
              <a:rPr lang="ru-RU" altLang="en-US" sz="1200">
                <a:latin typeface="+mn-lt"/>
              </a:rPr>
              <a:t>(</a:t>
            </a:r>
            <a:fld id="{B9B40B0D-5CDC-4A39-8D1E-6112D88BD740}" type="datetime'''''''''''''''''''''''''''''8''''''''''%'">
              <a:rPr lang="ru-RU" altLang="en-US" sz="1200" smtClean="0">
                <a:latin typeface="+mn-lt"/>
              </a:rPr>
              <a:pPr marL="0" lvl="1" indent="0">
                <a:spcBef>
                  <a:spcPct val="0"/>
                </a:spcBef>
                <a:spcAft>
                  <a:spcPct val="0"/>
                </a:spcAft>
                <a:buNone/>
              </a:pPr>
              <a:t>8%</a:t>
            </a:fld>
            <a:r>
              <a:rPr lang="ru-RU" sz="1200">
                <a:latin typeface="+mn-lt"/>
              </a:rPr>
              <a:t>)</a:t>
            </a:r>
            <a:endParaRPr lang="ru-RU" sz="1200" dirty="0">
              <a:latin typeface="+mn-lt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ACB091E4-0A70-4808-84EC-2BDDDA7186BE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8008938" y="2079551"/>
            <a:ext cx="214313" cy="160338"/>
          </a:xfrm>
          <a:prstGeom prst="rect">
            <a:avLst/>
          </a:prstGeom>
          <a:solidFill>
            <a:srgbClr val="99F6F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1223041-EAA2-4537-A09F-A7BAE4AB837A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8008938" y="2331964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EA7BDD1C-718F-401F-BAB4-96C99FDC1912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8008938" y="2584376"/>
            <a:ext cx="214312" cy="160338"/>
          </a:xfrm>
          <a:prstGeom prst="rect">
            <a:avLst/>
          </a:prstGeom>
          <a:solidFill>
            <a:srgbClr val="00747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152FAFD-EE7F-4C4C-B49F-7F9D95739388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8008938" y="2836789"/>
            <a:ext cx="214313" cy="160338"/>
          </a:xfrm>
          <a:prstGeom prst="rect">
            <a:avLst/>
          </a:prstGeom>
          <a:solidFill>
            <a:srgbClr val="4C6C9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20AA4655-1B08-48D4-94BE-ED6B4E70C4A3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8008938" y="3089201"/>
            <a:ext cx="214313" cy="160338"/>
          </a:xfrm>
          <a:prstGeom prst="rect">
            <a:avLst/>
          </a:prstGeom>
          <a:solidFill>
            <a:srgbClr val="CBD0D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C254EA8-AF83-4A5E-958F-070192C5D921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8008938" y="3341614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DE9F627-D72F-4BF8-B7D9-F2B1132C9C56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008938" y="3594026"/>
            <a:ext cx="214313" cy="160338"/>
          </a:xfrm>
          <a:prstGeom prst="rect">
            <a:avLst/>
          </a:prstGeom>
          <a:solidFill>
            <a:srgbClr val="3D454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" name="Текст 4">
            <a:extLst>
              <a:ext uri="{FF2B5EF4-FFF2-40B4-BE49-F238E27FC236}">
                <a16:creationId xmlns:a16="http://schemas.microsoft.com/office/drawing/2014/main" id="{578E9AD0-9B12-4C83-81A0-2E7DB39E514E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8274050" y="2060501"/>
            <a:ext cx="263683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1FC597A6-66A5-4CDB-90F6-BFF56611C3AD}" type="datetime'''SMA''RT te''chn''olog''ies ''SO''FT'''' (Б''о''ц''ма''н)'">
              <a:rPr lang="en-US" altLang="en-US" sz="1200" smtClean="0">
                <a:latin typeface="+mn-lt"/>
              </a:rPr>
              <a:pPr/>
              <a:t>SMART technologies SOFT (Боцман)</a:t>
            </a:fld>
            <a:endParaRPr lang="ru-RU" sz="1200" dirty="0">
              <a:latin typeface="+mn-lt"/>
            </a:endParaRPr>
          </a:p>
        </p:txBody>
      </p:sp>
      <p:sp>
        <p:nvSpPr>
          <p:cNvPr id="205" name="Текст 4">
            <a:extLst>
              <a:ext uri="{FF2B5EF4-FFF2-40B4-BE49-F238E27FC236}">
                <a16:creationId xmlns:a16="http://schemas.microsoft.com/office/drawing/2014/main" id="{7EB00D63-BF35-48E3-BA0D-A5E72209E4A1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8274050" y="2312914"/>
            <a:ext cx="2922588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C9F2AFFB-97D5-4477-A435-93544C12EDFB}" type="datetime'Фла''нт (Deckhouse'''' Kube''''r''netes Plat''''f''o''rm)'">
              <a:rPr lang="ru-RU" altLang="en-US" sz="1200" smtClean="0">
                <a:latin typeface="+mn-lt"/>
              </a:rPr>
              <a:pPr/>
              <a:t>Флант (Deckhouse Kubernetes Platform)</a:t>
            </a:fld>
            <a:endParaRPr lang="ru-RU" sz="1200" dirty="0">
              <a:latin typeface="+mn-lt"/>
            </a:endParaRPr>
          </a:p>
        </p:txBody>
      </p:sp>
      <p:sp>
        <p:nvSpPr>
          <p:cNvPr id="206" name="Текст 4">
            <a:extLst>
              <a:ext uri="{FF2B5EF4-FFF2-40B4-BE49-F238E27FC236}">
                <a16:creationId xmlns:a16="http://schemas.microsoft.com/office/drawing/2014/main" id="{DCE4ED2F-51B8-41DE-A184-5AC8A0FF9EE8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8274050" y="2565326"/>
            <a:ext cx="181927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554B5D02-7CD8-41BE-8160-FE3D47DAB4DD}" type="datetime'О''''н''''''ланта'' ''(O''''N''''''''P''LAT''''''F''ORM)'''">
              <a:rPr lang="ru-RU" altLang="en-US" sz="1200" smtClean="0">
                <a:latin typeface="+mn-lt"/>
              </a:rPr>
              <a:pPr/>
              <a:t>Онланта (ONPLATFORM)</a:t>
            </a:fld>
            <a:endParaRPr lang="ru-RU" sz="1200" dirty="0">
              <a:latin typeface="+mn-lt"/>
            </a:endParaRPr>
          </a:p>
        </p:txBody>
      </p:sp>
      <p:sp>
        <p:nvSpPr>
          <p:cNvPr id="207" name="Текст 4">
            <a:extLst>
              <a:ext uri="{FF2B5EF4-FFF2-40B4-BE49-F238E27FC236}">
                <a16:creationId xmlns:a16="http://schemas.microsoft.com/office/drawing/2014/main" id="{632354FF-CEEA-4495-BF87-813B0F1B5723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8274050" y="2817739"/>
            <a:ext cx="26257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95AC9FE1-5972-4A45-AD58-970D3B49A552}" type="datetime'''''Лаборатор''''''ия Чи''слит''ел''''ь ''(Шт''''урвал'')'''">
              <a:rPr lang="ru-RU" altLang="en-US" sz="1200" smtClean="0">
                <a:latin typeface="+mn-lt"/>
              </a:rPr>
              <a:pPr/>
              <a:t>Лаборатория Числитель (Штурвал)</a:t>
            </a:fld>
            <a:endParaRPr lang="ru-RU" sz="1200" dirty="0">
              <a:latin typeface="+mn-lt"/>
            </a:endParaRPr>
          </a:p>
        </p:txBody>
      </p:sp>
      <p:sp>
        <p:nvSpPr>
          <p:cNvPr id="208" name="Текст 4">
            <a:extLst>
              <a:ext uri="{FF2B5EF4-FFF2-40B4-BE49-F238E27FC236}">
                <a16:creationId xmlns:a16="http://schemas.microsoft.com/office/drawing/2014/main" id="{848F0E98-D669-461F-ABB8-FE90F6EB270C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8274050" y="3070151"/>
            <a:ext cx="207010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A0DA7168-06CB-4644-987C-8D4AD736F61D}" type="datetime'БАЗИ''''С'' ''(Basi''s'''' ''''''Di''g''ital ''Ener''gy)'">
              <a:rPr lang="ru-RU" altLang="en-US" sz="1200" smtClean="0">
                <a:latin typeface="+mn-lt"/>
              </a:rPr>
              <a:pPr/>
              <a:t>БАЗИС (Basis Digital Energy)</a:t>
            </a:fld>
            <a:endParaRPr lang="ru-RU" sz="1200" dirty="0">
              <a:latin typeface="+mn-lt"/>
            </a:endParaRPr>
          </a:p>
        </p:txBody>
      </p:sp>
      <p:sp>
        <p:nvSpPr>
          <p:cNvPr id="209" name="Текст 4">
            <a:extLst>
              <a:ext uri="{FF2B5EF4-FFF2-40B4-BE49-F238E27FC236}">
                <a16:creationId xmlns:a16="http://schemas.microsoft.com/office/drawing/2014/main" id="{9BA9062A-33CC-4D53-A985-BC3119DB0795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8274050" y="3322564"/>
            <a:ext cx="2608263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23214576-AEA8-46D5-AF95-2BDE8FCEB35E}" type="datetime'Or''ion soft (N''ova C''o''''n''taine''r ''''Platform'')'">
              <a:rPr lang="en-US" altLang="en-US" sz="1200" smtClean="0">
                <a:latin typeface="+mn-lt"/>
              </a:rPr>
              <a:pPr/>
              <a:t>Orion soft (Nova Container Platform)</a:t>
            </a:fld>
            <a:endParaRPr lang="ru-RU" sz="1200" dirty="0">
              <a:latin typeface="+mn-lt"/>
            </a:endParaRPr>
          </a:p>
        </p:txBody>
      </p:sp>
      <p:sp>
        <p:nvSpPr>
          <p:cNvPr id="210" name="Текст 4">
            <a:extLst>
              <a:ext uri="{FF2B5EF4-FFF2-40B4-BE49-F238E27FC236}">
                <a16:creationId xmlns:a16="http://schemas.microsoft.com/office/drawing/2014/main" id="{AA5042CF-A100-4E99-AE95-2CB547669C7F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8274050" y="3574976"/>
            <a:ext cx="3044825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0F37D904-6679-43E1-A86E-0F8468A553EE}" type="datetime'Базальт ''СПО (Ku''be''rnet''es vanil''la ''r''oot''''less)'''">
              <a:rPr lang="ru-RU" altLang="en-US" sz="1200" smtClean="0">
                <a:latin typeface="+mn-lt"/>
              </a:rPr>
              <a:pPr/>
              <a:t>Базальт СПО (Kubernetes vanilla rootless)</a:t>
            </a:fld>
            <a:endParaRPr lang="ru-RU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856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g3146948ada2_4_171"/>
          <p:cNvSpPr/>
          <p:nvPr/>
        </p:nvSpPr>
        <p:spPr>
          <a:xfrm>
            <a:off x="408000" y="6142603"/>
            <a:ext cx="6059400" cy="13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0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Источники: Исследование TAdviser – ИТ-ландшафт российских организаций – Май 2024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1" name="Google Shape;3171;g3146948ada2_4_171"/>
          <p:cNvSpPr txBox="1">
            <a:spLocks noGrp="1"/>
          </p:cNvSpPr>
          <p:nvPr>
            <p:ph type="title"/>
          </p:nvPr>
        </p:nvSpPr>
        <p:spPr>
          <a:xfrm>
            <a:off x="408000" y="395638"/>
            <a:ext cx="11471100" cy="64425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ru-RU" sz="2800" dirty="0"/>
              <a:t>VMware и Microsoft Hyper-V продолжают </a:t>
            </a:r>
            <a:br>
              <a:rPr lang="ru-RU" sz="2800" dirty="0"/>
            </a:br>
            <a:r>
              <a:rPr lang="ru-RU" sz="2800" dirty="0"/>
              <a:t>использовать 72% и 51% компаний соответственно </a:t>
            </a:r>
            <a:endParaRPr sz="2800" dirty="0"/>
          </a:p>
          <a:p>
            <a:endParaRPr sz="2800" dirty="0"/>
          </a:p>
          <a:p>
            <a:endParaRPr sz="2800" dirty="0"/>
          </a:p>
        </p:txBody>
      </p:sp>
      <p:pic>
        <p:nvPicPr>
          <p:cNvPr id="3172" name="Google Shape;3172;g3146948ada2_4_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00" y="1437050"/>
            <a:ext cx="11004449" cy="4446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59BE-4A8D-5C83-FDB8-3D7108EC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DF07C-CB67-060E-935D-8D72036F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4025"/>
            <a:ext cx="10855854" cy="644241"/>
          </a:xfrm>
        </p:spPr>
        <p:txBody>
          <a:bodyPr/>
          <a:lstStyle/>
          <a:p>
            <a:r>
              <a:rPr lang="ru-RU" sz="2800" dirty="0"/>
              <a:t>Обзор производителей интегрированных облачных решений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4F749E7-1B11-E8AE-B45D-B5C672526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088654"/>
              </p:ext>
            </p:extLst>
          </p:nvPr>
        </p:nvGraphicFramePr>
        <p:xfrm>
          <a:off x="677333" y="964907"/>
          <a:ext cx="10771329" cy="5098902"/>
        </p:xfrm>
        <a:graphic>
          <a:graphicData uri="http://schemas.openxmlformats.org/drawingml/2006/table">
            <a:tbl>
              <a:tblPr/>
              <a:tblGrid>
                <a:gridCol w="1901825">
                  <a:extLst>
                    <a:ext uri="{9D8B030D-6E8A-4147-A177-3AD203B41FA5}">
                      <a16:colId xmlns:a16="http://schemas.microsoft.com/office/drawing/2014/main" val="3725806736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998677669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2999427680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1091480802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1243590511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467026968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2129186046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3497364169"/>
                    </a:ext>
                  </a:extLst>
                </a:gridCol>
                <a:gridCol w="1108688">
                  <a:extLst>
                    <a:ext uri="{9D8B030D-6E8A-4147-A177-3AD203B41FA5}">
                      <a16:colId xmlns:a16="http://schemas.microsoft.com/office/drawing/2014/main" val="3632904090"/>
                    </a:ext>
                  </a:extLst>
                </a:gridCol>
              </a:tblGrid>
              <a:tr h="93540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effectLst/>
                          <a:latin typeface="+mn-lt"/>
                        </a:rPr>
                        <a:t>Конкуренты/Функционал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dirty="0">
                          <a:effectLst/>
                          <a:latin typeface="+mn-lt"/>
                        </a:rPr>
                        <a:t>VK</a:t>
                      </a:r>
                      <a:br>
                        <a:rPr lang="ru-RU" sz="1200" b="1" dirty="0">
                          <a:effectLst/>
                          <a:latin typeface="+mn-lt"/>
                        </a:rPr>
                      </a:br>
                      <a:r>
                        <a:rPr lang="en-US" sz="1200" b="1" dirty="0">
                          <a:effectLst/>
                          <a:latin typeface="+mn-lt"/>
                        </a:rPr>
                        <a:t>Private Cloud+VDP+S3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u="sng" dirty="0">
                          <a:solidFill>
                            <a:srgbClr val="1155CC"/>
                          </a:solidFill>
                          <a:effectLst/>
                          <a:latin typeface="+mn-lt"/>
                        </a:rPr>
                        <a:t>Крок </a:t>
                      </a:r>
                      <a:br>
                        <a:rPr lang="ru-RU" sz="1200" b="1" u="sng" dirty="0">
                          <a:solidFill>
                            <a:srgbClr val="1155CC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200" b="1" u="sng" dirty="0" err="1">
                          <a:solidFill>
                            <a:srgbClr val="1155CC"/>
                          </a:solidFill>
                          <a:effectLst/>
                          <a:latin typeface="+mn-lt"/>
                        </a:rPr>
                        <a:t>Rockit</a:t>
                      </a:r>
                      <a:r>
                        <a:rPr lang="en-US" sz="1200" b="1" u="sng" dirty="0">
                          <a:solidFill>
                            <a:srgbClr val="1155CC"/>
                          </a:solidFill>
                          <a:effectLst/>
                          <a:latin typeface="+mn-lt"/>
                        </a:rPr>
                        <a:t> Cloud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3"/>
                        </a:rPr>
                        <a:t>Orion Soft</a:t>
                      </a:r>
                      <a:r>
                        <a:rPr lang="en-US" sz="1200" b="1" i="0" dirty="0">
                          <a:effectLst/>
                          <a:latin typeface="+mn-lt"/>
                        </a:rPr>
                        <a:t> </a:t>
                      </a:r>
                      <a:br>
                        <a:rPr lang="ru-RU" sz="1200" b="1" i="0" dirty="0">
                          <a:effectLst/>
                          <a:latin typeface="+mn-lt"/>
                        </a:rPr>
                      </a:br>
                      <a:r>
                        <a:rPr lang="en-US" sz="1200" b="1" i="0" dirty="0" err="1">
                          <a:effectLst/>
                          <a:latin typeface="+mn-lt"/>
                        </a:rPr>
                        <a:t>Cloudlink</a:t>
                      </a:r>
                      <a:endParaRPr lang="en-US" sz="1200" b="1" dirty="0">
                        <a:effectLst/>
                        <a:latin typeface="+mn-lt"/>
                      </a:endParaRP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dirty="0">
                          <a:effectLst/>
                          <a:latin typeface="+mn-lt"/>
                        </a:rPr>
                        <a:t>Ростелеком/ГС-Инвест (Базис)</a:t>
                      </a:r>
                      <a:br>
                        <a:rPr lang="ru-RU" sz="1200" b="1" i="0" dirty="0">
                          <a:effectLst/>
                          <a:latin typeface="+mn-lt"/>
                        </a:rPr>
                      </a:br>
                      <a:r>
                        <a:rPr lang="en-US" sz="1200" b="1" i="0" u="sng" dirty="0">
                          <a:solidFill>
                            <a:srgbClr val="1155CC"/>
                          </a:solidFill>
                          <a:effectLst/>
                          <a:latin typeface="+mn-lt"/>
                        </a:rPr>
                        <a:t>Dynamix Cloud Control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4"/>
                        </a:rPr>
                        <a:t>АСТРА</a:t>
                      </a:r>
                      <a:endParaRPr lang="ru-RU" sz="1200" b="1" u="sng" dirty="0">
                        <a:solidFill>
                          <a:srgbClr val="1155CC"/>
                        </a:solidFill>
                        <a:effectLst/>
                        <a:latin typeface="+mn-lt"/>
                      </a:endParaRP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u="sng" dirty="0" err="1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5"/>
                        </a:rPr>
                        <a:t>Selectel</a:t>
                      </a:r>
                      <a:r>
                        <a:rPr lang="en-US" sz="1200" b="1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5"/>
                        </a:rPr>
                        <a:t> (</a:t>
                      </a:r>
                      <a:r>
                        <a:rPr lang="ru-RU" sz="1200" b="1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5"/>
                        </a:rPr>
                        <a:t>Частное облако)</a:t>
                      </a:r>
                      <a:endParaRPr lang="ru-RU" sz="1200" b="1" u="sng" dirty="0">
                        <a:solidFill>
                          <a:srgbClr val="1155CC"/>
                        </a:solidFill>
                        <a:effectLst/>
                        <a:latin typeface="+mn-lt"/>
                      </a:endParaRP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sng" dirty="0">
                          <a:solidFill>
                            <a:srgbClr val="1155CC"/>
                          </a:solidFill>
                          <a:effectLst/>
                          <a:latin typeface="+mn-lt"/>
                          <a:hlinkClick r:id="rId6"/>
                        </a:rPr>
                        <a:t>Cloud.ru</a:t>
                      </a:r>
                      <a:r>
                        <a:rPr lang="en-US" sz="1200" b="1" i="0" dirty="0">
                          <a:effectLst/>
                          <a:latin typeface="+mn-lt"/>
                        </a:rPr>
                        <a:t> (Evolution)</a:t>
                      </a:r>
                      <a:endParaRPr lang="en-US" sz="1200" b="1" dirty="0">
                        <a:effectLst/>
                        <a:latin typeface="+mn-lt"/>
                      </a:endParaRP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err="1">
                          <a:solidFill>
                            <a:srgbClr val="000000"/>
                          </a:solidFill>
                          <a:effectLst/>
                        </a:rPr>
                        <a:t>ИТглобалком</a:t>
                      </a: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 Рус (</a:t>
                      </a: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</a:rPr>
                        <a:t>vStack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 CP)</a:t>
                      </a:r>
                      <a:endParaRPr lang="ru-RU" sz="1200" b="1" dirty="0"/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103909"/>
                  </a:ext>
                </a:extLst>
              </a:tr>
              <a:tr h="483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effectLst/>
                          <a:latin typeface="+mn-lt"/>
                        </a:rPr>
                        <a:t>IaaS / </a:t>
                      </a:r>
                      <a:r>
                        <a:rPr lang="ru-RU" sz="1200" b="1">
                          <a:effectLst/>
                          <a:latin typeface="+mn-lt"/>
                        </a:rPr>
                        <a:t>Виртуализация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383455"/>
                  </a:ext>
                </a:extLst>
              </a:tr>
              <a:tr h="258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effectLst/>
                          <a:latin typeface="+mn-lt"/>
                        </a:rPr>
                        <a:t>ФСТЭК (</a:t>
                      </a:r>
                      <a:r>
                        <a:rPr lang="en-US" sz="1200" b="1" dirty="0">
                          <a:effectLst/>
                          <a:latin typeface="+mn-lt"/>
                        </a:rPr>
                        <a:t>IaaS)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935324"/>
                  </a:ext>
                </a:extLst>
              </a:tr>
              <a:tr h="3581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effectLst/>
                          <a:latin typeface="+mn-lt"/>
                        </a:rPr>
                        <a:t>Легковесность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28550"/>
                  </a:ext>
                </a:extLst>
              </a:tr>
              <a:tr h="483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dirty="0">
                          <a:effectLst/>
                          <a:latin typeface="+mn-lt"/>
                        </a:rPr>
                        <a:t>PaaS / </a:t>
                      </a:r>
                      <a:r>
                        <a:rPr lang="ru-RU" sz="1200" b="1" dirty="0">
                          <a:effectLst/>
                          <a:latin typeface="+mn-lt"/>
                        </a:rPr>
                        <a:t>Контейнеризация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494800"/>
                  </a:ext>
                </a:extLst>
              </a:tr>
              <a:tr h="3531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effectLst/>
                          <a:latin typeface="+mn-lt"/>
                        </a:rPr>
                        <a:t>PaaS / </a:t>
                      </a:r>
                      <a:r>
                        <a:rPr lang="ru-RU" sz="1200" b="1">
                          <a:effectLst/>
                          <a:latin typeface="+mn-lt"/>
                        </a:rPr>
                        <a:t>Базы данных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029851"/>
                  </a:ext>
                </a:extLst>
              </a:tr>
              <a:tr h="258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effectLst/>
                          <a:latin typeface="+mn-lt"/>
                        </a:rPr>
                        <a:t>XaaS / </a:t>
                      </a:r>
                      <a:r>
                        <a:rPr lang="ru-RU" sz="1200" b="1">
                          <a:effectLst/>
                          <a:latin typeface="+mn-lt"/>
                        </a:rPr>
                        <a:t>Приложения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633730"/>
                  </a:ext>
                </a:extLst>
              </a:tr>
              <a:tr h="48339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>
                          <a:effectLst/>
                          <a:latin typeface="+mn-lt"/>
                        </a:rPr>
                        <a:t>Объектное хранилище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27822"/>
                  </a:ext>
                </a:extLst>
              </a:tr>
              <a:tr h="258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effectLst/>
                          <a:latin typeface="+mn-lt"/>
                        </a:rPr>
                        <a:t>Платформа данных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872048"/>
                  </a:ext>
                </a:extLst>
              </a:tr>
              <a:tr h="258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effectLst/>
                          <a:latin typeface="+mn-lt"/>
                        </a:rPr>
                        <a:t>ML-</a:t>
                      </a:r>
                      <a:r>
                        <a:rPr lang="ru-RU" sz="1200" b="1">
                          <a:effectLst/>
                          <a:latin typeface="+mn-lt"/>
                        </a:rPr>
                        <a:t>платформа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774871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effectLst/>
                          <a:latin typeface="+mn-lt"/>
                        </a:rPr>
                        <a:t>Virtual Desktop Infrastructure On-premises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776253"/>
                  </a:ext>
                </a:extLst>
              </a:tr>
              <a:tr h="258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dirty="0">
                          <a:effectLst/>
                          <a:latin typeface="+mn-lt"/>
                        </a:rPr>
                        <a:t>ПАК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🟢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🟡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dirty="0">
                          <a:effectLst/>
                          <a:latin typeface="+mn-lt"/>
                        </a:rPr>
                        <a:t>🔴</a:t>
                      </a:r>
                    </a:p>
                  </a:txBody>
                  <a:tcPr marL="18955" marR="18955" marT="12636" marB="1263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86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0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1" name="Google Shape;3641;g31255f78857_0_92"/>
          <p:cNvSpPr/>
          <p:nvPr/>
        </p:nvSpPr>
        <p:spPr>
          <a:xfrm>
            <a:off x="419563" y="1806575"/>
            <a:ext cx="5115000" cy="205395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2" name="Google Shape;3642;g31255f78857_0_92"/>
          <p:cNvSpPr txBox="1"/>
          <p:nvPr/>
        </p:nvSpPr>
        <p:spPr>
          <a:xfrm>
            <a:off x="419563" y="1914525"/>
            <a:ext cx="36894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Strengths</a:t>
            </a:r>
            <a:endParaRPr sz="21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43" name="Google Shape;3643;g31255f78857_0_92"/>
          <p:cNvSpPr txBox="1"/>
          <p:nvPr/>
        </p:nvSpPr>
        <p:spPr>
          <a:xfrm>
            <a:off x="625963" y="2313500"/>
            <a:ext cx="3934800" cy="1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Широкий набор сервисов (в </a:t>
            </a:r>
            <a:r>
              <a:rPr lang="ru-RU" sz="1200" dirty="0" err="1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паблике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Накопленный опыт и компетенции в эксплуатации большой инсталляции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Большая команда разработки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4" name="Google Shape;3644;g31255f78857_0_92"/>
          <p:cNvSpPr/>
          <p:nvPr/>
        </p:nvSpPr>
        <p:spPr>
          <a:xfrm>
            <a:off x="408000" y="4091263"/>
            <a:ext cx="5115000" cy="162495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5" name="Google Shape;3645;g31255f78857_0_92"/>
          <p:cNvSpPr txBox="1"/>
          <p:nvPr/>
        </p:nvSpPr>
        <p:spPr>
          <a:xfrm>
            <a:off x="408000" y="4151450"/>
            <a:ext cx="51150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Opportunities</a:t>
            </a:r>
            <a:endParaRPr sz="215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46" name="Google Shape;3646;g31255f78857_0_92"/>
          <p:cNvSpPr txBox="1"/>
          <p:nvPr/>
        </p:nvSpPr>
        <p:spPr>
          <a:xfrm>
            <a:off x="614400" y="4550419"/>
            <a:ext cx="4624350" cy="92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 сегменте «Виртуализация» остается большое число (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72%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) инсталляций западных решений (</a:t>
            </a:r>
            <a:r>
              <a:rPr lang="en-US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VMWare, Hyper-V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), подлежащих замене</a:t>
            </a:r>
          </a:p>
        </p:txBody>
      </p:sp>
      <p:sp>
        <p:nvSpPr>
          <p:cNvPr id="3647" name="Google Shape;3647;g31255f78857_0_92"/>
          <p:cNvSpPr/>
          <p:nvPr/>
        </p:nvSpPr>
        <p:spPr>
          <a:xfrm>
            <a:off x="5802763" y="1806575"/>
            <a:ext cx="5115000" cy="20539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8" name="Google Shape;3648;g31255f78857_0_92"/>
          <p:cNvSpPr txBox="1"/>
          <p:nvPr/>
        </p:nvSpPr>
        <p:spPr>
          <a:xfrm>
            <a:off x="5802763" y="1914525"/>
            <a:ext cx="51150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 dirty="0" err="1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Weakness</a:t>
            </a:r>
            <a:endParaRPr sz="2150" dirty="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49" name="Google Shape;3649;g31255f78857_0_92"/>
          <p:cNvSpPr txBox="1"/>
          <p:nvPr/>
        </p:nvSpPr>
        <p:spPr>
          <a:xfrm>
            <a:off x="6009162" y="2313500"/>
            <a:ext cx="4655837" cy="1200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latin typeface="Montserrat"/>
                <a:ea typeface="Montserrat"/>
                <a:cs typeface="Montserrat"/>
                <a:sym typeface="Montserrat"/>
              </a:rPr>
              <a:t>Большой и тяжелый продукт - высокий </a:t>
            </a: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порог входа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latin typeface="Montserrat"/>
                <a:ea typeface="Montserrat"/>
                <a:cs typeface="Montserrat"/>
                <a:sym typeface="Montserrat"/>
              </a:rPr>
              <a:t>Ограниченное число заказчиков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Низкий уровень интеграции между продуктами</a:t>
            </a: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Низкий уровень зрелости, особенно в части ИБ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0" name="Google Shape;3650;g31255f78857_0_92"/>
          <p:cNvSpPr/>
          <p:nvPr/>
        </p:nvSpPr>
        <p:spPr>
          <a:xfrm>
            <a:off x="5791200" y="4091200"/>
            <a:ext cx="5115000" cy="162495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1" name="Google Shape;3651;g31255f78857_0_92"/>
          <p:cNvSpPr txBox="1"/>
          <p:nvPr/>
        </p:nvSpPr>
        <p:spPr>
          <a:xfrm>
            <a:off x="5791200" y="4151450"/>
            <a:ext cx="5115000" cy="42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/>
            <a:r>
              <a:rPr lang="ru-RU" sz="2150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Threats</a:t>
            </a:r>
            <a:endParaRPr sz="2150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52" name="Google Shape;3652;g31255f78857_0_92"/>
          <p:cNvSpPr txBox="1"/>
          <p:nvPr/>
        </p:nvSpPr>
        <p:spPr>
          <a:xfrm>
            <a:off x="5997600" y="4550425"/>
            <a:ext cx="4667400" cy="92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Множество новых игроков с частными облаками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indent="-187325">
              <a:lnSpc>
                <a:spcPct val="150000"/>
              </a:lnSpc>
              <a:buClr>
                <a:srgbClr val="0C0C0C"/>
              </a:buClr>
              <a:buSzPts val="2300"/>
              <a:buFont typeface="Montserrat" panose="00000500000000000000" pitchFamily="2" charset="-52"/>
              <a:buChar char="-"/>
            </a:pPr>
            <a:r>
              <a:rPr lang="ru-RU" sz="1200" dirty="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В каждом сегменте есть конкурент с более сильным продуктом</a:t>
            </a:r>
            <a:endParaRPr sz="1200" dirty="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653" name="Google Shape;3653;g31255f78857_0_92"/>
          <p:cNvGrpSpPr/>
          <p:nvPr/>
        </p:nvGrpSpPr>
        <p:grpSpPr>
          <a:xfrm>
            <a:off x="8023955" y="-5395"/>
            <a:ext cx="4138897" cy="1371600"/>
            <a:chOff x="16047910" y="-10790"/>
            <a:chExt cx="8277794" cy="2743200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3654" name="Google Shape;3654;g31255f78857_0_92"/>
            <p:cNvGrpSpPr/>
            <p:nvPr/>
          </p:nvGrpSpPr>
          <p:grpSpPr>
            <a:xfrm>
              <a:off x="19122210" y="-10790"/>
              <a:ext cx="5203494" cy="2743200"/>
              <a:chOff x="0" y="0"/>
              <a:chExt cx="2601747" cy="1371600"/>
            </a:xfrm>
            <a:grpFill/>
          </p:grpSpPr>
          <p:sp>
            <p:nvSpPr>
              <p:cNvPr id="3655" name="Google Shape;3655;g31255f78857_0_92"/>
              <p:cNvSpPr/>
              <p:nvPr/>
            </p:nvSpPr>
            <p:spPr>
              <a:xfrm>
                <a:off x="0" y="0"/>
                <a:ext cx="1062504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5435" y="0"/>
                    </a:moveTo>
                    <a:cubicBezTo>
                      <a:pt x="7419" y="8621"/>
                      <a:pt x="13294" y="16198"/>
                      <a:pt x="21600" y="21600"/>
                    </a:cubicBezTo>
                    <a:lnTo>
                      <a:pt x="13791" y="21600"/>
                    </a:lnTo>
                    <a:cubicBezTo>
                      <a:pt x="6650" y="15769"/>
                      <a:pt x="1709" y="8302"/>
                      <a:pt x="0" y="0"/>
                    </a:cubicBezTo>
                    <a:lnTo>
                      <a:pt x="543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endParaRPr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656" name="Google Shape;3656;g31255f78857_0_92"/>
              <p:cNvSpPr/>
              <p:nvPr/>
            </p:nvSpPr>
            <p:spPr>
              <a:xfrm>
                <a:off x="1539243" y="0"/>
                <a:ext cx="1062504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5435" y="0"/>
                    </a:moveTo>
                    <a:cubicBezTo>
                      <a:pt x="7420" y="8621"/>
                      <a:pt x="13294" y="16198"/>
                      <a:pt x="21600" y="21600"/>
                    </a:cubicBezTo>
                    <a:lnTo>
                      <a:pt x="13792" y="21600"/>
                    </a:lnTo>
                    <a:cubicBezTo>
                      <a:pt x="6650" y="15769"/>
                      <a:pt x="1709" y="8302"/>
                      <a:pt x="0" y="0"/>
                    </a:cubicBezTo>
                    <a:lnTo>
                      <a:pt x="543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endParaRPr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sp>
          <p:nvSpPr>
            <p:cNvPr id="3657" name="Google Shape;3657;g31255f78857_0_92"/>
            <p:cNvSpPr/>
            <p:nvPr/>
          </p:nvSpPr>
          <p:spPr>
            <a:xfrm>
              <a:off x="16047910" y="-10790"/>
              <a:ext cx="2125008" cy="27432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endParaRPr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DDE4038-EB4A-525F-8EF2-876701EA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SWOT-анализ Private </a:t>
            </a:r>
            <a:r>
              <a:rPr lang="en-US" sz="2800" dirty="0"/>
              <a:t>Cloud</a:t>
            </a:r>
            <a:endParaRPr lang="ru-RU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96FD7-9B11-15C0-B592-C22AEF49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279A4-CAE2-EE37-8255-96ACB776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Предложение по развитию</a:t>
            </a:r>
            <a:br>
              <a:rPr lang="en-US" sz="3200" dirty="0"/>
            </a:br>
            <a:r>
              <a:rPr lang="ru-RU" sz="1800" b="1" dirty="0">
                <a:solidFill>
                  <a:schemeClr val="dk2"/>
                </a:solidFill>
                <a:sym typeface="Montserrat SemiBold"/>
              </a:rPr>
              <a:t>Объединение </a:t>
            </a:r>
            <a:r>
              <a:rPr lang="en-US" sz="1800" b="1" dirty="0">
                <a:solidFill>
                  <a:schemeClr val="dk2"/>
                </a:solidFill>
                <a:sym typeface="Montserrat SemiBold"/>
              </a:rPr>
              <a:t>IaaS</a:t>
            </a:r>
            <a:endParaRPr lang="ru-RU" sz="1600" b="1" dirty="0"/>
          </a:p>
        </p:txBody>
      </p:sp>
      <p:sp>
        <p:nvSpPr>
          <p:cNvPr id="3" name="Google Shape;3726;g31255f78857_0_231">
            <a:extLst>
              <a:ext uri="{FF2B5EF4-FFF2-40B4-BE49-F238E27FC236}">
                <a16:creationId xmlns:a16="http://schemas.microsoft.com/office/drawing/2014/main" id="{08A8C6A8-D0B8-F0F6-CEBA-F72651BDE4B3}"/>
              </a:ext>
            </a:extLst>
          </p:cNvPr>
          <p:cNvSpPr/>
          <p:nvPr/>
        </p:nvSpPr>
        <p:spPr>
          <a:xfrm>
            <a:off x="658812" y="529864"/>
            <a:ext cx="556800" cy="556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r>
              <a:rPr lang="en-US" sz="1750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750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54A93415-098C-CE26-2FA7-A4A704E9A225}"/>
              </a:ext>
            </a:extLst>
          </p:cNvPr>
          <p:cNvSpPr txBox="1"/>
          <p:nvPr/>
        </p:nvSpPr>
        <p:spPr>
          <a:xfrm>
            <a:off x="658811" y="1626665"/>
            <a:ext cx="11004453" cy="424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Инициатива: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Выделение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Core (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виртуализация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+ Common Services)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как отдельного продукта и технологии,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перевод всех клиентов на него. </a:t>
            </a:r>
            <a:b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Цель:</a:t>
            </a:r>
            <a:endParaRPr lang="en-US" sz="1500" b="1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затрат на выпуск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B2B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B2G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Выход на рынок виртуализации</a:t>
            </a:r>
          </a:p>
          <a:p>
            <a:pPr>
              <a:lnSpc>
                <a:spcPct val="150000"/>
              </a:lnSpc>
            </a:pPr>
            <a:endParaRPr lang="ru-RU" sz="1500" b="1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DoD</a:t>
            </a: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 25 году объединяем текущие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Core B2B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B2G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 начинаем его продавать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26 год - сертификация целевого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, начало перевода на него заказчиков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Core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используется единая виртуализация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1473908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05" imgH="405" progId="TCLayout.ActiveDocument.1">
                  <p:embed/>
                </p:oleObj>
              </mc:Choice>
              <mc:Fallback>
                <p:oleObj name="think-cell Slide" r:id="rId21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11150"/>
            <a:ext cx="10855854" cy="644241"/>
          </a:xfrm>
        </p:spPr>
        <p:txBody>
          <a:bodyPr vert="horz"/>
          <a:lstStyle/>
          <a:p>
            <a:r>
              <a:rPr lang="ru-RU" sz="2800" dirty="0"/>
              <a:t>При текущих темпах роста займем 1</a:t>
            </a:r>
            <a:r>
              <a:rPr lang="en-US" sz="2800" dirty="0"/>
              <a:t>0% </a:t>
            </a:r>
            <a:r>
              <a:rPr lang="ru-RU" sz="2800" dirty="0"/>
              <a:t>рынка</a:t>
            </a:r>
            <a:r>
              <a:rPr lang="en-US" sz="2800" dirty="0"/>
              <a:t> </a:t>
            </a:r>
            <a:r>
              <a:rPr lang="ru-RU" sz="2800" dirty="0"/>
              <a:t>в </a:t>
            </a:r>
            <a:r>
              <a:rPr lang="en-US" sz="2800" dirty="0"/>
              <a:t>2027 </a:t>
            </a:r>
            <a:r>
              <a:rPr lang="ru-RU" sz="2800" dirty="0"/>
              <a:t>г.; </a:t>
            </a:r>
            <a:br>
              <a:rPr lang="ru-RU" sz="2800" dirty="0"/>
            </a:br>
            <a:r>
              <a:rPr lang="ru-RU" sz="2800" dirty="0"/>
              <a:t>для занятия топ-1 необходимо расти на </a:t>
            </a:r>
            <a:r>
              <a:rPr lang="en-US" sz="2800" dirty="0"/>
              <a:t>~</a:t>
            </a:r>
            <a:r>
              <a:rPr lang="ru-RU" sz="2800" dirty="0"/>
              <a:t>80% в 2026 и 2027 гг.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-199043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366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947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537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118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2698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299052"/>
            <a:ext cx="1248228" cy="4281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3879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460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FCCE52-7AAE-42D2-B960-2C842970058C}"/>
              </a:ext>
            </a:extLst>
          </p:cNvPr>
          <p:cNvSpPr/>
          <p:nvPr/>
        </p:nvSpPr>
        <p:spPr>
          <a:xfrm>
            <a:off x="677334" y="5906753"/>
            <a:ext cx="10632745" cy="415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tx1"/>
                </a:solidFill>
              </a:rPr>
              <a:t>Источники: 1. Сумма выручки от продаж российского ПО (исследование </a:t>
            </a:r>
            <a:r>
              <a:rPr lang="en-US" sz="1000" i="1" dirty="0">
                <a:solidFill>
                  <a:schemeClr val="tx1"/>
                </a:solidFill>
              </a:rPr>
              <a:t>Strategy Partners</a:t>
            </a:r>
            <a:r>
              <a:rPr lang="ru-RU" sz="1000" i="1" dirty="0">
                <a:solidFill>
                  <a:schemeClr val="tx1"/>
                </a:solidFill>
              </a:rPr>
              <a:t> – продажи российского ПО</a:t>
            </a:r>
            <a:r>
              <a:rPr lang="en-US" sz="1000" i="1" dirty="0">
                <a:solidFill>
                  <a:schemeClr val="tx1"/>
                </a:solidFill>
              </a:rPr>
              <a:t>) </a:t>
            </a:r>
            <a:r>
              <a:rPr lang="ru-RU" sz="1000" i="1" dirty="0">
                <a:solidFill>
                  <a:schemeClr val="tx1"/>
                </a:solidFill>
              </a:rPr>
              <a:t>и работ</a:t>
            </a:r>
            <a:r>
              <a:rPr lang="en-US" sz="1000" i="1" dirty="0">
                <a:solidFill>
                  <a:schemeClr val="tx1"/>
                </a:solidFill>
              </a:rPr>
              <a:t> (</a:t>
            </a:r>
            <a:r>
              <a:rPr lang="ru-RU" sz="1000" i="1" dirty="0">
                <a:solidFill>
                  <a:schemeClr val="tx1"/>
                </a:solidFill>
              </a:rPr>
              <a:t>исследование </a:t>
            </a:r>
            <a:r>
              <a:rPr lang="en-US" sz="1000" i="1" dirty="0">
                <a:solidFill>
                  <a:schemeClr val="tx1"/>
                </a:solidFill>
              </a:rPr>
              <a:t>Strategy Partners</a:t>
            </a:r>
            <a:r>
              <a:rPr lang="ru-RU" sz="1000" i="1" dirty="0">
                <a:solidFill>
                  <a:schemeClr val="tx1"/>
                </a:solidFill>
              </a:rPr>
              <a:t> – продажи ПО всего</a:t>
            </a:r>
            <a:r>
              <a:rPr lang="en-US" sz="1000" i="1" dirty="0">
                <a:solidFill>
                  <a:schemeClr val="tx1"/>
                </a:solidFill>
              </a:rPr>
              <a:t>, </a:t>
            </a:r>
            <a:r>
              <a:rPr lang="ru-RU" sz="1000" i="1" dirty="0">
                <a:solidFill>
                  <a:schemeClr val="tx1"/>
                </a:solidFill>
              </a:rPr>
              <a:t>предполагаем работы=выручки от продаж ПО</a:t>
            </a:r>
            <a:r>
              <a:rPr lang="en-US" sz="1000" i="1" dirty="0">
                <a:solidFill>
                  <a:schemeClr val="tx1"/>
                </a:solidFill>
              </a:rPr>
              <a:t>)</a:t>
            </a:r>
            <a:r>
              <a:rPr lang="ru-RU" sz="1000" i="1" dirty="0">
                <a:solidFill>
                  <a:schemeClr val="tx1"/>
                </a:solidFill>
              </a:rPr>
              <a:t>; 2. Без учета выручки от железа в рамках ПАК (101 млн руб. в 2023 г.; </a:t>
            </a:r>
            <a:r>
              <a:rPr lang="en-US" sz="1000" i="1" dirty="0">
                <a:solidFill>
                  <a:schemeClr val="tx1"/>
                </a:solidFill>
              </a:rPr>
              <a:t>~300 </a:t>
            </a:r>
            <a:r>
              <a:rPr lang="ru-RU" sz="1000" i="1" dirty="0">
                <a:solidFill>
                  <a:schemeClr val="tx1"/>
                </a:solidFill>
              </a:rPr>
              <a:t>млн руб. в 2024 г.) и выручки от баз данных и </a:t>
            </a:r>
            <a:r>
              <a:rPr lang="en-US" sz="1000" i="1" dirty="0">
                <a:solidFill>
                  <a:schemeClr val="tx1"/>
                </a:solidFill>
              </a:rPr>
              <a:t>k8S </a:t>
            </a:r>
            <a:r>
              <a:rPr lang="ru-RU" sz="1000" i="1" dirty="0">
                <a:solidFill>
                  <a:schemeClr val="tx1"/>
                </a:solidFill>
              </a:rPr>
              <a:t>в 2023-2024 г. (20%), в и </a:t>
            </a:r>
            <a:r>
              <a:rPr lang="en-US" sz="1000" i="1" dirty="0">
                <a:solidFill>
                  <a:schemeClr val="tx1"/>
                </a:solidFill>
              </a:rPr>
              <a:t>K8s </a:t>
            </a:r>
            <a:r>
              <a:rPr lang="ru-RU" sz="1000" i="1" dirty="0">
                <a:solidFill>
                  <a:schemeClr val="tx1"/>
                </a:solidFill>
              </a:rPr>
              <a:t>2025 г. </a:t>
            </a:r>
            <a:r>
              <a:rPr lang="en-US" sz="1000" i="1" dirty="0">
                <a:solidFill>
                  <a:schemeClr val="tx1"/>
                </a:solidFill>
              </a:rPr>
              <a:t>(10%)</a:t>
            </a:r>
            <a:endParaRPr lang="ru-RU" sz="1000" i="1" dirty="0">
              <a:solidFill>
                <a:schemeClr val="tx1"/>
              </a:solidFill>
            </a:endParaRPr>
          </a:p>
        </p:txBody>
      </p:sp>
      <p:graphicFrame>
        <p:nvGraphicFramePr>
          <p:cNvPr id="99" name="Chart 98">
            <a:extLst>
              <a:ext uri="{FF2B5EF4-FFF2-40B4-BE49-F238E27FC236}">
                <a16:creationId xmlns:a16="http://schemas.microsoft.com/office/drawing/2014/main" id="{9C85A381-2DAF-48A9-B73B-D18AFDA0F2DE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0159079"/>
              </p:ext>
            </p:extLst>
          </p:nvPr>
        </p:nvGraphicFramePr>
        <p:xfrm>
          <a:off x="595313" y="2446338"/>
          <a:ext cx="3621087" cy="2747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51A8D7-8871-4C47-9A2C-49C13732DD1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022350" y="2417763"/>
            <a:ext cx="2765425" cy="12096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Текст 4">
            <a:extLst>
              <a:ext uri="{FF2B5EF4-FFF2-40B4-BE49-F238E27FC236}">
                <a16:creationId xmlns:a16="http://schemas.microsoft.com/office/drawing/2014/main" id="{5E8C8544-3E8B-4457-AE23-D8A51028DAC1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800100" y="49466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EACD1170-214E-4A47-BB28-1DBA385DA849}" type="datetime'''''''''''''''2''''''''0''''2''''3'''''''''''''''''''">
              <a:rPr lang="ru-RU" altLang="en-US" smtClean="0">
                <a:latin typeface="+mn-lt"/>
              </a:rPr>
              <a:pPr/>
              <a:t>2023</a:t>
            </a:fld>
            <a:endParaRPr lang="ru-RU" dirty="0">
              <a:latin typeface="+mn-lt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5BB3E297-1066-49EF-AA4B-B427FD977BA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1487488" y="494665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249613F4-C2AA-4EF4-A009-F7321E0D6B3C}" type="datetime'''''''''''''''''2''''''''''''''''0''''''''2''''''''''4'">
              <a:rPr lang="ru-RU" altLang="en-US" smtClean="0">
                <a:latin typeface="+mn-lt"/>
              </a:rPr>
              <a:pPr/>
              <a:t>2024</a:t>
            </a:fld>
            <a:endParaRPr lang="ru-RU" dirty="0">
              <a:latin typeface="+mn-lt"/>
            </a:endParaRP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CCF992F1-71D4-40DE-8B48-CCC416F9CF84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2182813" y="49466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55CFBDF-25CE-47A7-8ACF-CE7B7AC6CF8C}" type="datetime'''''''''''''''''2''''''0''''''''''''''''2''''5'''''''''''">
              <a:rPr lang="ru-RU" altLang="en-US" smtClean="0">
                <a:latin typeface="+mn-lt"/>
              </a:rPr>
              <a:pPr/>
              <a:t>2025</a:t>
            </a:fld>
            <a:endParaRPr lang="ru-RU" dirty="0">
              <a:latin typeface="+mn-lt"/>
            </a:endParaRP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1EC07288-586B-43B4-80E0-9FEC8BFD192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2871788" y="494665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0C8B9AD1-DDC8-4601-B174-BA02A350E3E7}" type="datetime'''''20''''''''26'''''''''''''''''''''''''''''''''''''''''''''">
              <a:rPr lang="ru-RU" altLang="en-US" smtClean="0">
                <a:latin typeface="+mn-lt"/>
              </a:rPr>
              <a:pPr/>
              <a:t>2026</a:t>
            </a:fld>
            <a:endParaRPr lang="ru-RU" dirty="0">
              <a:latin typeface="+mn-lt"/>
            </a:endParaRP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EA9D8BC4-4313-4E01-84A0-993AAAAA817C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3570288" y="494665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D9FC71A-F5C2-4B49-A752-B2040D7E73BD}" type="datetime'''''2''''02''''''7'''''''''''">
              <a:rPr lang="ru-RU" altLang="en-US" smtClean="0">
                <a:latin typeface="+mn-lt"/>
              </a:rPr>
              <a:pPr/>
              <a:t>2027</a:t>
            </a:fld>
            <a:endParaRPr lang="ru-RU" dirty="0">
              <a:latin typeface="+mn-lt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54FC5453-911A-4974-99EF-E2E36BEDA429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2071688" y="2855913"/>
            <a:ext cx="668338" cy="3333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32E6034E-D136-418D-B1FB-89C9EEAB0B47}" type="datetime'+''''''''''2''6''''''%'''''''''''''''''">
              <a:rPr lang="ru-RU" altLang="en-US" b="1" smtClean="0">
                <a:latin typeface="+mn-lt"/>
              </a:rPr>
              <a:pPr/>
              <a:t>+26%</a:t>
            </a:fld>
            <a:endParaRPr lang="ru-RU" b="1" dirty="0">
              <a:latin typeface="+mn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D2CDA9-2E8E-4792-AB18-4723DB72771B}"/>
              </a:ext>
            </a:extLst>
          </p:cNvPr>
          <p:cNvSpPr/>
          <p:nvPr/>
        </p:nvSpPr>
        <p:spPr>
          <a:xfrm>
            <a:off x="677333" y="1412660"/>
            <a:ext cx="3456000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600" b="1" dirty="0">
                <a:solidFill>
                  <a:schemeClr val="tx1"/>
                </a:solidFill>
              </a:rPr>
              <a:t>Выручка российских игроков на рынке виртуализации, млрд руб.</a:t>
            </a:r>
            <a:r>
              <a:rPr lang="ru-RU" sz="1600" baseline="30000" dirty="0">
                <a:solidFill>
                  <a:schemeClr val="tx1"/>
                </a:solidFill>
              </a:rPr>
              <a:t>(1)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09A95B-4830-4480-B47F-C146C24E5DC3}"/>
              </a:ext>
            </a:extLst>
          </p:cNvPr>
          <p:cNvCxnSpPr>
            <a:cxnSpLocks/>
          </p:cNvCxnSpPr>
          <p:nvPr/>
        </p:nvCxnSpPr>
        <p:spPr>
          <a:xfrm>
            <a:off x="677333" y="1965648"/>
            <a:ext cx="3456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9E0F2AD-B6B0-4454-95E0-3DE84DBD9F64}"/>
              </a:ext>
            </a:extLst>
          </p:cNvPr>
          <p:cNvSpPr/>
          <p:nvPr/>
        </p:nvSpPr>
        <p:spPr>
          <a:xfrm>
            <a:off x="4418802" y="1412660"/>
            <a:ext cx="4068000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600" b="1" dirty="0">
                <a:solidFill>
                  <a:schemeClr val="tx1"/>
                </a:solidFill>
              </a:rPr>
              <a:t>Выручке </a:t>
            </a:r>
            <a:r>
              <a:rPr lang="en-US" sz="1600" b="1" dirty="0">
                <a:solidFill>
                  <a:schemeClr val="tx1"/>
                </a:solidFill>
              </a:rPr>
              <a:t>VK Tech </a:t>
            </a:r>
            <a:r>
              <a:rPr lang="ru-RU" sz="1600" b="1" dirty="0">
                <a:solidFill>
                  <a:schemeClr val="tx1"/>
                </a:solidFill>
              </a:rPr>
              <a:t>от виртуализации</a:t>
            </a:r>
            <a:r>
              <a:rPr lang="en-US" sz="1600" b="1" dirty="0">
                <a:solidFill>
                  <a:schemeClr val="tx1"/>
                </a:solidFill>
              </a:rPr>
              <a:t> (</a:t>
            </a:r>
            <a:r>
              <a:rPr lang="ru-RU" sz="1600" b="1" dirty="0">
                <a:solidFill>
                  <a:schemeClr val="tx1"/>
                </a:solidFill>
              </a:rPr>
              <a:t>работы и ПО), млрд </a:t>
            </a:r>
            <a:r>
              <a:rPr lang="ru-RU" sz="1600" b="1" dirty="0" err="1">
                <a:solidFill>
                  <a:schemeClr val="tx1"/>
                </a:solidFill>
              </a:rPr>
              <a:t>руб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ru-RU" sz="1600" b="1" baseline="30000" dirty="0">
                <a:solidFill>
                  <a:schemeClr val="tx1"/>
                </a:solidFill>
              </a:rPr>
              <a:t>(2)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8E48C9-CC7D-4B2B-A51F-C529D5CBD376}"/>
              </a:ext>
            </a:extLst>
          </p:cNvPr>
          <p:cNvCxnSpPr>
            <a:cxnSpLocks/>
          </p:cNvCxnSpPr>
          <p:nvPr/>
        </p:nvCxnSpPr>
        <p:spPr>
          <a:xfrm>
            <a:off x="4418802" y="1965648"/>
            <a:ext cx="4068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Chart 89">
            <a:extLst>
              <a:ext uri="{FF2B5EF4-FFF2-40B4-BE49-F238E27FC236}">
                <a16:creationId xmlns:a16="http://schemas.microsoft.com/office/drawing/2014/main" id="{FC08C69F-352A-437E-A81C-75075E944C8E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4166416964"/>
              </p:ext>
            </p:extLst>
          </p:nvPr>
        </p:nvGraphicFramePr>
        <p:xfrm>
          <a:off x="4335463" y="2565400"/>
          <a:ext cx="4233862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81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4602163" y="49466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27D37872-752C-4752-937E-4A7295B1FA38}" type="datetime'''''''2''''''''02''''''''3'''''''''''''''''''''''''''''''''">
              <a:rPr lang="ru-RU" altLang="en-US" smtClean="0">
                <a:latin typeface="+mn-lt"/>
              </a:rPr>
              <a:pPr/>
              <a:t>2023</a:t>
            </a:fld>
            <a:endParaRPr lang="ru-RU" dirty="0">
              <a:latin typeface="+mn-lt"/>
            </a:endParaRPr>
          </a:p>
        </p:txBody>
      </p:sp>
      <p:sp>
        <p:nvSpPr>
          <p:cNvPr id="82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5413375" y="4946650"/>
            <a:ext cx="45085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0109E2BA-F399-411D-9039-5AB078E5ADB4}" type="datetime'''''2''0''''''''''''''2''''''''''''''''4'''''">
              <a:rPr lang="ru-RU" altLang="en-US" smtClean="0">
                <a:latin typeface="+mn-lt"/>
              </a:rPr>
              <a:pPr/>
              <a:t>2024</a:t>
            </a:fld>
            <a:endParaRPr lang="ru-RU" dirty="0">
              <a:latin typeface="+mn-lt"/>
            </a:endParaRPr>
          </a:p>
        </p:txBody>
      </p:sp>
      <p:sp>
        <p:nvSpPr>
          <p:cNvPr id="83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229350" y="4946650"/>
            <a:ext cx="4460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626C62A9-BC2D-40FF-860A-E4BAAAAB3239}" type="datetime'''''2''''''''0''''''''''''''''2''''''''''5'''''''''''''''">
              <a:rPr lang="ru-RU" altLang="en-US" smtClean="0">
                <a:latin typeface="+mn-lt"/>
              </a:rPr>
              <a:pPr/>
              <a:t>2025</a:t>
            </a:fld>
            <a:endParaRPr lang="ru-RU" dirty="0">
              <a:latin typeface="+mn-lt"/>
            </a:endParaRPr>
          </a:p>
        </p:txBody>
      </p:sp>
      <p:sp>
        <p:nvSpPr>
          <p:cNvPr id="88" name="Текст 4">
            <a:extLst>
              <a:ext uri="{FF2B5EF4-FFF2-40B4-BE49-F238E27FC236}">
                <a16:creationId xmlns:a16="http://schemas.microsoft.com/office/drawing/2014/main" id="{80CCB685-BE8F-4AAE-A864-C09559B0D842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7042150" y="4946650"/>
            <a:ext cx="447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4742A2D6-3AF9-4B88-B2D7-FCAF3EE992B8}" type="datetime'''''''''''''''2''''''''0''''''''''''''''''''''''''2''6'''''''">
              <a:rPr lang="ru-RU" altLang="en-US" smtClean="0">
                <a:latin typeface="+mn-lt"/>
              </a:rPr>
              <a:pPr/>
              <a:t>2026</a:t>
            </a:fld>
            <a:endParaRPr lang="ru-RU" dirty="0">
              <a:latin typeface="+mn-lt"/>
            </a:endParaRPr>
          </a:p>
        </p:txBody>
      </p:sp>
      <p:sp>
        <p:nvSpPr>
          <p:cNvPr id="89" name="Текст 4">
            <a:extLst>
              <a:ext uri="{FF2B5EF4-FFF2-40B4-BE49-F238E27FC236}">
                <a16:creationId xmlns:a16="http://schemas.microsoft.com/office/drawing/2014/main" id="{D50CB0E1-2F6F-4833-A512-7DA18515B292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7861300" y="4946650"/>
            <a:ext cx="43656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spcBef>
                <a:spcPct val="0"/>
              </a:spcBef>
              <a:spcAft>
                <a:spcPct val="0"/>
              </a:spcAft>
              <a:buNone/>
            </a:pPr>
            <a:fld id="{8D4027FC-4EAF-4D98-9139-7160D12CCF50}" type="datetime'''2''''''''''''''0''2''''7'''''''''''''''''">
              <a:rPr lang="ru-RU" altLang="en-US" smtClean="0">
                <a:latin typeface="+mn-lt"/>
              </a:rPr>
              <a:pPr/>
              <a:t>2027</a:t>
            </a:fld>
            <a:endParaRPr lang="ru-RU" dirty="0">
              <a:latin typeface="+mn-lt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90B7948-117E-48E1-889D-4A590B57E26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489450" y="5273675"/>
            <a:ext cx="250825" cy="1873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751D987-4775-4AFB-98E7-3E911F359096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489450" y="5559425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0" name="Текст 4">
            <a:extLst>
              <a:ext uri="{FF2B5EF4-FFF2-40B4-BE49-F238E27FC236}">
                <a16:creationId xmlns:a16="http://schemas.microsoft.com/office/drawing/2014/main" id="{3A7286A5-4914-6346-846A-58D49D87B458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4791075" y="5253038"/>
            <a:ext cx="1627188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1C3E06EC-70EC-4C8E-82B4-05C83B0CF00C}" type="datetime'''''''''Б''''а''зо''''''в''''''''''ый ''''с''''''цена''рий'">
              <a:rPr lang="ru-RU" altLang="en-US" i="1" smtClean="0">
                <a:latin typeface="+mn-lt"/>
              </a:rPr>
              <a:pPr marL="0" lvl="1" indent="0">
                <a:spcBef>
                  <a:spcPct val="0"/>
                </a:spcBef>
                <a:spcAft>
                  <a:spcPct val="0"/>
                </a:spcAft>
                <a:buNone/>
              </a:pPr>
              <a:t>Базовый сценарий</a:t>
            </a:fld>
            <a:endParaRPr lang="ru-RU" i="1" dirty="0">
              <a:latin typeface="+mn-lt"/>
            </a:endParaRPr>
          </a:p>
        </p:txBody>
      </p:sp>
      <p:sp>
        <p:nvSpPr>
          <p:cNvPr id="114" name="Текст 4">
            <a:extLst>
              <a:ext uri="{FF2B5EF4-FFF2-40B4-BE49-F238E27FC236}">
                <a16:creationId xmlns:a16="http://schemas.microsoft.com/office/drawing/2014/main" id="{90E84278-4158-4357-A589-A03A45D1D113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4791075" y="5538788"/>
            <a:ext cx="21066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  <a:spcAft>
                <a:spcPct val="0"/>
              </a:spcAft>
              <a:buNone/>
            </a:pPr>
            <a:fld id="{6D7FFC00-EC04-441E-8E1B-1C1439FD374A}" type="datetime'Ам''''б''и''цио''''''з''н''ы''''''''й'' с''''ц''ена''р''''ий'">
              <a:rPr lang="ru-RU" altLang="en-US" i="1" smtClean="0">
                <a:latin typeface="+mn-lt"/>
              </a:rPr>
              <a:pPr/>
              <a:t>Амбициозный сценарий</a:t>
            </a:fld>
            <a:endParaRPr lang="ru-RU" i="1" dirty="0">
              <a:latin typeface="+mn-lt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5433020-9792-4DA6-9D70-967690538BEA}"/>
              </a:ext>
            </a:extLst>
          </p:cNvPr>
          <p:cNvSpPr/>
          <p:nvPr/>
        </p:nvSpPr>
        <p:spPr>
          <a:xfrm>
            <a:off x="1379538" y="5407868"/>
            <a:ext cx="2208212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i="1" dirty="0">
                <a:solidFill>
                  <a:schemeClr val="tx1"/>
                </a:solidFill>
              </a:rPr>
              <a:t>CAGR 2023-2027, %</a:t>
            </a:r>
            <a:endParaRPr lang="ru-RU" sz="1400" i="1" dirty="0">
              <a:solidFill>
                <a:schemeClr val="tx1"/>
              </a:solidFill>
            </a:endParaRP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C79FF2A5-1613-4623-BCE4-9B5476C21E74}"/>
              </a:ext>
            </a:extLst>
          </p:cNvPr>
          <p:cNvGrpSpPr/>
          <p:nvPr/>
        </p:nvGrpSpPr>
        <p:grpSpPr>
          <a:xfrm>
            <a:off x="746161" y="5324322"/>
            <a:ext cx="609527" cy="382536"/>
            <a:chOff x="746161" y="5651292"/>
            <a:chExt cx="609527" cy="382536"/>
          </a:xfrm>
        </p:grpSpPr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CD8EE252-8169-42B0-B94E-D2BB9E5B30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161" y="5651292"/>
              <a:ext cx="609527" cy="382536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4F3565E3-7375-49D0-8706-DFE6FBD0479C}"/>
                </a:ext>
              </a:extLst>
            </p:cNvPr>
            <p:cNvSpPr/>
            <p:nvPr/>
          </p:nvSpPr>
          <p:spPr>
            <a:xfrm>
              <a:off x="746161" y="5726043"/>
              <a:ext cx="609527" cy="2743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19418DBB-D06C-4A02-9A2C-A0430B9A4C95}"/>
              </a:ext>
            </a:extLst>
          </p:cNvPr>
          <p:cNvSpPr/>
          <p:nvPr/>
        </p:nvSpPr>
        <p:spPr>
          <a:xfrm>
            <a:off x="4496780" y="2205116"/>
            <a:ext cx="327784" cy="252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/>
              <a:t>5,8</a:t>
            </a:r>
            <a:r>
              <a:rPr lang="en-US" sz="1000" dirty="0"/>
              <a:t>%</a:t>
            </a:r>
            <a:endParaRPr lang="ru-RU" sz="1000" dirty="0"/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35FACE22-6695-43C1-A6FB-CE92C2171D1C}"/>
              </a:ext>
            </a:extLst>
          </p:cNvPr>
          <p:cNvSpPr/>
          <p:nvPr/>
        </p:nvSpPr>
        <p:spPr>
          <a:xfrm>
            <a:off x="5293480" y="2205116"/>
            <a:ext cx="327784" cy="252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/>
              <a:t>5,5</a:t>
            </a:r>
            <a:r>
              <a:rPr lang="en-US" sz="1000" dirty="0"/>
              <a:t>%</a:t>
            </a:r>
            <a:endParaRPr lang="ru-RU" sz="1000" dirty="0"/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C0BFE01C-07CC-4616-B433-3F83CF5DCF9C}"/>
              </a:ext>
            </a:extLst>
          </p:cNvPr>
          <p:cNvSpPr/>
          <p:nvPr/>
        </p:nvSpPr>
        <p:spPr>
          <a:xfrm>
            <a:off x="6100031" y="2205116"/>
            <a:ext cx="327784" cy="252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/>
              <a:t>6,8</a:t>
            </a:r>
            <a:r>
              <a:rPr lang="en-US" sz="1000" dirty="0"/>
              <a:t>%</a:t>
            </a:r>
            <a:endParaRPr lang="ru-RU" sz="1000" dirty="0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CA3C4A9-DC61-46EF-AB21-7E41182E8154}"/>
              </a:ext>
            </a:extLst>
          </p:cNvPr>
          <p:cNvSpPr/>
          <p:nvPr/>
        </p:nvSpPr>
        <p:spPr>
          <a:xfrm>
            <a:off x="6919418" y="2205116"/>
            <a:ext cx="327784" cy="252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/>
              <a:t>8,2</a:t>
            </a:r>
            <a:r>
              <a:rPr lang="en-US" sz="1000" dirty="0"/>
              <a:t>%</a:t>
            </a:r>
            <a:endParaRPr lang="ru-RU" sz="1000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5C9D8420-3487-4566-A815-EAA405E30F28}"/>
              </a:ext>
            </a:extLst>
          </p:cNvPr>
          <p:cNvSpPr/>
          <p:nvPr/>
        </p:nvSpPr>
        <p:spPr>
          <a:xfrm>
            <a:off x="7741517" y="2205116"/>
            <a:ext cx="327784" cy="252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/>
              <a:t>10%</a:t>
            </a: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770652BD-2AC4-41E9-A84D-662F1516C878}"/>
              </a:ext>
            </a:extLst>
          </p:cNvPr>
          <p:cNvSpPr/>
          <p:nvPr/>
        </p:nvSpPr>
        <p:spPr>
          <a:xfrm>
            <a:off x="7284175" y="2205116"/>
            <a:ext cx="327784" cy="252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10%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A26C4299-851D-4A8E-AD6F-08A5237AD0AD}"/>
              </a:ext>
            </a:extLst>
          </p:cNvPr>
          <p:cNvSpPr/>
          <p:nvPr/>
        </p:nvSpPr>
        <p:spPr>
          <a:xfrm>
            <a:off x="8103477" y="2205116"/>
            <a:ext cx="327784" cy="252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15%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87C37856-607E-4A59-8867-4448D7CF5D9C}"/>
              </a:ext>
            </a:extLst>
          </p:cNvPr>
          <p:cNvCxnSpPr/>
          <p:nvPr/>
        </p:nvCxnSpPr>
        <p:spPr>
          <a:xfrm>
            <a:off x="4660672" y="2450292"/>
            <a:ext cx="0" cy="18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64434280-4C10-4F43-81CA-5D5707792DC1}"/>
              </a:ext>
            </a:extLst>
          </p:cNvPr>
          <p:cNvCxnSpPr/>
          <p:nvPr/>
        </p:nvCxnSpPr>
        <p:spPr>
          <a:xfrm>
            <a:off x="5456275" y="2450292"/>
            <a:ext cx="0" cy="176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24D9675-2C04-4E55-8249-836D454ECD23}"/>
              </a:ext>
            </a:extLst>
          </p:cNvPr>
          <p:cNvCxnSpPr>
            <a:cxnSpLocks/>
          </p:cNvCxnSpPr>
          <p:nvPr/>
        </p:nvCxnSpPr>
        <p:spPr>
          <a:xfrm>
            <a:off x="6263923" y="2450292"/>
            <a:ext cx="0" cy="1581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8DEA9FB5-4978-48E6-A274-EB0FD2CB85C2}"/>
              </a:ext>
            </a:extLst>
          </p:cNvPr>
          <p:cNvCxnSpPr>
            <a:cxnSpLocks/>
          </p:cNvCxnSpPr>
          <p:nvPr/>
        </p:nvCxnSpPr>
        <p:spPr>
          <a:xfrm>
            <a:off x="7081837" y="2450292"/>
            <a:ext cx="0" cy="1213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EBD8F910-13D8-4336-ABE8-FA501BE4635F}"/>
              </a:ext>
            </a:extLst>
          </p:cNvPr>
          <p:cNvCxnSpPr>
            <a:cxnSpLocks/>
          </p:cNvCxnSpPr>
          <p:nvPr/>
        </p:nvCxnSpPr>
        <p:spPr>
          <a:xfrm>
            <a:off x="7448067" y="2450292"/>
            <a:ext cx="0" cy="10866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76BED3D-10FE-45D2-BF2A-834861D800B3}"/>
              </a:ext>
            </a:extLst>
          </p:cNvPr>
          <p:cNvCxnSpPr>
            <a:cxnSpLocks/>
          </p:cNvCxnSpPr>
          <p:nvPr/>
        </p:nvCxnSpPr>
        <p:spPr>
          <a:xfrm>
            <a:off x="7899752" y="2450292"/>
            <a:ext cx="0" cy="84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6A2CBA5A-47B0-4D47-8857-14C0D3908CDC}"/>
              </a:ext>
            </a:extLst>
          </p:cNvPr>
          <p:cNvSpPr/>
          <p:nvPr/>
        </p:nvSpPr>
        <p:spPr>
          <a:xfrm>
            <a:off x="4418802" y="2022578"/>
            <a:ext cx="116227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ru-RU" sz="1000" i="1" dirty="0">
                <a:solidFill>
                  <a:schemeClr val="tx1"/>
                </a:solidFill>
              </a:rPr>
              <a:t>Доля рынка, %</a:t>
            </a:r>
            <a:endParaRPr lang="ru-RU" sz="1000" i="1" baseline="30000" dirty="0">
              <a:solidFill>
                <a:schemeClr val="tx1"/>
              </a:solidFill>
            </a:endParaRP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A9741769-695D-4BDE-BCFA-C3C9FB4A6E95}"/>
              </a:ext>
            </a:extLst>
          </p:cNvPr>
          <p:cNvSpPr/>
          <p:nvPr/>
        </p:nvSpPr>
        <p:spPr>
          <a:xfrm>
            <a:off x="8703504" y="1375231"/>
            <a:ext cx="2829683" cy="3994941"/>
          </a:xfrm>
          <a:prstGeom prst="roundRect">
            <a:avLst>
              <a:gd name="adj" fmla="val 897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При текущих темпах роста (+50% год к году) в 2027 г. займём 1</a:t>
            </a:r>
            <a:r>
              <a:rPr lang="en-US" sz="1500" dirty="0">
                <a:solidFill>
                  <a:schemeClr val="tx1"/>
                </a:solidFill>
              </a:rPr>
              <a:t>0</a:t>
            </a:r>
            <a:r>
              <a:rPr lang="ru-RU" sz="1500" dirty="0">
                <a:solidFill>
                  <a:schemeClr val="tx1"/>
                </a:solidFill>
              </a:rPr>
              <a:t>% рынка и заработаем </a:t>
            </a:r>
            <a:br>
              <a:rPr lang="ru-RU" sz="1500" dirty="0">
                <a:solidFill>
                  <a:schemeClr val="tx1"/>
                </a:solidFill>
              </a:rPr>
            </a:br>
            <a:r>
              <a:rPr lang="ru-RU" sz="1500" dirty="0">
                <a:solidFill>
                  <a:schemeClr val="tx1"/>
                </a:solidFill>
              </a:rPr>
              <a:t>3,7 млрд руб.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Для занятия топ-1 позиции (</a:t>
            </a:r>
            <a:r>
              <a:rPr lang="en-US" sz="1500" dirty="0">
                <a:solidFill>
                  <a:schemeClr val="tx1"/>
                </a:solidFill>
              </a:rPr>
              <a:t>15</a:t>
            </a:r>
            <a:r>
              <a:rPr lang="ru-RU" sz="1500" dirty="0">
                <a:solidFill>
                  <a:schemeClr val="tx1"/>
                </a:solidFill>
              </a:rPr>
              <a:t>% рынка) необходимо расти на 80% год к году </a:t>
            </a:r>
            <a:br>
              <a:rPr lang="ru-RU" sz="1500" dirty="0">
                <a:solidFill>
                  <a:schemeClr val="tx1"/>
                </a:solidFill>
              </a:rPr>
            </a:br>
            <a:r>
              <a:rPr lang="ru-RU" sz="1500" dirty="0">
                <a:solidFill>
                  <a:schemeClr val="tx1"/>
                </a:solidFill>
              </a:rPr>
              <a:t>в 2026 и 2027 гг.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455274F-2C86-47AB-98EF-84F275C876C5}"/>
              </a:ext>
            </a:extLst>
          </p:cNvPr>
          <p:cNvCxnSpPr/>
          <p:nvPr/>
        </p:nvCxnSpPr>
        <p:spPr>
          <a:xfrm>
            <a:off x="8267369" y="2450292"/>
            <a:ext cx="0" cy="288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9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CA15D-81DB-8788-3D23-21A468B9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C1E67-8521-3D32-4366-8101D2D90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Предложение по развитию</a:t>
            </a:r>
            <a:br>
              <a:rPr lang="en-US" sz="3200" dirty="0"/>
            </a:br>
            <a:r>
              <a:rPr lang="ru-RU" sz="1800" b="1" dirty="0">
                <a:solidFill>
                  <a:schemeClr val="dk2"/>
                </a:solidFill>
                <a:ea typeface="Montserrat SemiBold"/>
                <a:cs typeface="Montserrat SemiBold"/>
                <a:sym typeface="Montserrat SemiBold"/>
              </a:rPr>
              <a:t>Замещение </a:t>
            </a:r>
            <a:r>
              <a:rPr lang="en-US" sz="1800" b="1" dirty="0">
                <a:solidFill>
                  <a:schemeClr val="dk2"/>
                </a:solidFill>
                <a:ea typeface="Montserrat SemiBold"/>
                <a:cs typeface="Montserrat SemiBold"/>
                <a:sym typeface="Montserrat SemiBold"/>
              </a:rPr>
              <a:t>VMWare</a:t>
            </a:r>
            <a:endParaRPr lang="ru-RU" sz="1600" b="1" dirty="0"/>
          </a:p>
        </p:txBody>
      </p:sp>
      <p:sp>
        <p:nvSpPr>
          <p:cNvPr id="3" name="Google Shape;3726;g31255f78857_0_231">
            <a:extLst>
              <a:ext uri="{FF2B5EF4-FFF2-40B4-BE49-F238E27FC236}">
                <a16:creationId xmlns:a16="http://schemas.microsoft.com/office/drawing/2014/main" id="{80D21683-96E0-8FCC-D602-36ACBC450A7C}"/>
              </a:ext>
            </a:extLst>
          </p:cNvPr>
          <p:cNvSpPr/>
          <p:nvPr/>
        </p:nvSpPr>
        <p:spPr>
          <a:xfrm>
            <a:off x="658812" y="529864"/>
            <a:ext cx="556800" cy="556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r>
              <a:rPr lang="en-US" sz="1750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750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4F53B138-B205-EC02-1F7C-87ACB91B0651}"/>
              </a:ext>
            </a:extLst>
          </p:cNvPr>
          <p:cNvSpPr txBox="1"/>
          <p:nvPr/>
        </p:nvSpPr>
        <p:spPr>
          <a:xfrm>
            <a:off x="658811" y="1350440"/>
            <a:ext cx="11004453" cy="4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Инициатива: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Начать продавать платформу виртуализации как отдельный продукт заменяющий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VMWare vSphere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vCenter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Цель: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Рост до </a:t>
            </a:r>
            <a:r>
              <a:rPr lang="ru-RU" sz="1500" dirty="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15%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рынка виртуализации к 2027 за счет захвата части текущих инсталляций иностранного ПО (VMWare, Hyper-V)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Увеличение числа инсталляций с виртуализацией VK </a:t>
            </a:r>
            <a:r>
              <a:rPr lang="ru-RU" sz="1500" dirty="0">
                <a:latin typeface="Montserrat"/>
                <a:ea typeface="Montserrat"/>
                <a:cs typeface="Montserrat"/>
                <a:sym typeface="Montserrat"/>
              </a:rPr>
              <a:t>до 50 и числа серверов до </a:t>
            </a:r>
            <a:r>
              <a:rPr lang="en-US" sz="1500" dirty="0">
                <a:latin typeface="Montserrat"/>
                <a:ea typeface="Montserrat"/>
                <a:cs typeface="Montserrat"/>
                <a:sym typeface="Montserrat"/>
              </a:rPr>
              <a:t>3500</a:t>
            </a:r>
            <a:r>
              <a:rPr lang="ru-RU" sz="1500" dirty="0">
                <a:latin typeface="Montserrat"/>
                <a:ea typeface="Montserrat"/>
                <a:cs typeface="Montserrat"/>
                <a:sym typeface="Montserrat"/>
              </a:rPr>
              <a:t> к 2027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DoD: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Q1 25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пройти развилку – делаем новый продукт или преобразуем старый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Q1 26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включаем новый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IaaS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 случае выпуска нового продукта существующие заказчики должны иметь возможность мигрировать на этот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233089019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97250-9767-E471-502E-3EE6AD16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E6978-E1BE-1F54-0276-504F7DB2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Предложение по развитию</a:t>
            </a:r>
            <a:br>
              <a:rPr lang="en-US" sz="3200" dirty="0"/>
            </a:br>
            <a:r>
              <a:rPr lang="ru-RU" sz="1800" b="1" dirty="0">
                <a:solidFill>
                  <a:schemeClr val="dk2"/>
                </a:solidFill>
                <a:ea typeface="Montserrat SemiBold"/>
                <a:cs typeface="Montserrat SemiBold"/>
                <a:sym typeface="Montserrat SemiBold"/>
              </a:rPr>
              <a:t>Частное облако – зонтичный бренд и концепция развития инфраструктуры</a:t>
            </a:r>
            <a:endParaRPr lang="ru-RU" sz="1600" b="1" dirty="0"/>
          </a:p>
        </p:txBody>
      </p:sp>
      <p:sp>
        <p:nvSpPr>
          <p:cNvPr id="3" name="Google Shape;3726;g31255f78857_0_231">
            <a:extLst>
              <a:ext uri="{FF2B5EF4-FFF2-40B4-BE49-F238E27FC236}">
                <a16:creationId xmlns:a16="http://schemas.microsoft.com/office/drawing/2014/main" id="{6334DC38-6453-A445-8FDD-AAF2C886CFC4}"/>
              </a:ext>
            </a:extLst>
          </p:cNvPr>
          <p:cNvSpPr/>
          <p:nvPr/>
        </p:nvSpPr>
        <p:spPr>
          <a:xfrm>
            <a:off x="658812" y="529864"/>
            <a:ext cx="556800" cy="556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r>
              <a:rPr lang="ru-RU" sz="1750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750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4EC47346-F189-E311-1B83-8F9E963DED35}"/>
              </a:ext>
            </a:extLst>
          </p:cNvPr>
          <p:cNvSpPr txBox="1"/>
          <p:nvPr/>
        </p:nvSpPr>
        <p:spPr>
          <a:xfrm>
            <a:off x="658812" y="1540940"/>
            <a:ext cx="10406875" cy="286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Инициативы: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Упростить совместную продажу, поставку и эксплуатацию облачных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On-Prem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: IaaS, K8s, S3, Data Platform, Dev Platform.</a:t>
            </a: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b="1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Цель: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Сократить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TCO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владения нашими продуктами ниже стоимости владения отдельными продуктами.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Обеспечить возможность внедрения облачных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On-Prem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продуктов партнерами. </a:t>
            </a:r>
            <a:endParaRPr lang="ru-RU" sz="1500" b="1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Увеличить до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5 число клиентов, которые используют 3+ облачных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On-Prem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414358468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235B8-CD6E-E002-2A15-5330E1FE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21579-1283-7EC7-3E5F-4393F50FC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Предложение по развитию</a:t>
            </a:r>
            <a:br>
              <a:rPr lang="ru-RU" sz="2800" dirty="0"/>
            </a:br>
            <a:r>
              <a:rPr lang="ru-RU" sz="1800" b="1" dirty="0">
                <a:solidFill>
                  <a:schemeClr val="dk2"/>
                </a:solidFill>
                <a:sym typeface="Montserrat SemiBold"/>
              </a:rPr>
              <a:t>Определить вектор развития сервиса </a:t>
            </a:r>
            <a:r>
              <a:rPr lang="en-US" sz="1800" b="1" dirty="0">
                <a:solidFill>
                  <a:schemeClr val="dk2"/>
                </a:solidFill>
                <a:sym typeface="Montserrat SemiBold"/>
              </a:rPr>
              <a:t>K8s</a:t>
            </a:r>
            <a:endParaRPr lang="ru-RU" sz="1600" b="1" dirty="0"/>
          </a:p>
        </p:txBody>
      </p:sp>
      <p:sp>
        <p:nvSpPr>
          <p:cNvPr id="3" name="Google Shape;3726;g31255f78857_0_231">
            <a:extLst>
              <a:ext uri="{FF2B5EF4-FFF2-40B4-BE49-F238E27FC236}">
                <a16:creationId xmlns:a16="http://schemas.microsoft.com/office/drawing/2014/main" id="{2F577AFB-3650-EE01-879A-9D3CB04E50C4}"/>
              </a:ext>
            </a:extLst>
          </p:cNvPr>
          <p:cNvSpPr/>
          <p:nvPr/>
        </p:nvSpPr>
        <p:spPr>
          <a:xfrm>
            <a:off x="658812" y="529864"/>
            <a:ext cx="556800" cy="556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/>
            <a:r>
              <a:rPr lang="en-US" sz="1750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750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6868C8BC-033A-7EBD-E2D8-DBC11165750A}"/>
              </a:ext>
            </a:extLst>
          </p:cNvPr>
          <p:cNvSpPr txBox="1"/>
          <p:nvPr/>
        </p:nvSpPr>
        <p:spPr>
          <a:xfrm>
            <a:off x="658812" y="1540940"/>
            <a:ext cx="10406875" cy="286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Инициативы: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Получить конкурентноспособный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K8s</a:t>
            </a: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b="1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Цель: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Увеличить продажи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K8s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DoD:</a:t>
            </a:r>
            <a:b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Январь 2025: Пройти развилку по способу реализации: разработка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партнерство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покупка. 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6388008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Google Shape;4105;g3146948ada2_1_180"/>
          <p:cNvSpPr/>
          <p:nvPr/>
        </p:nvSpPr>
        <p:spPr>
          <a:xfrm>
            <a:off x="238538" y="1262927"/>
            <a:ext cx="11801100" cy="4083516"/>
          </a:xfrm>
          <a:prstGeom prst="roundRect">
            <a:avLst>
              <a:gd name="adj" fmla="val 6713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ru-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Частное облако заказчика</a:t>
            </a:r>
            <a:endParaRPr sz="1400"/>
          </a:p>
        </p:txBody>
      </p:sp>
      <p:sp>
        <p:nvSpPr>
          <p:cNvPr id="4106" name="Google Shape;4106;g3146948ada2_1_180"/>
          <p:cNvSpPr/>
          <p:nvPr/>
        </p:nvSpPr>
        <p:spPr>
          <a:xfrm>
            <a:off x="371513" y="1973824"/>
            <a:ext cx="11535150" cy="4969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1750">
                <a:solidFill>
                  <a:schemeClr val="dk1"/>
                </a:solidFill>
              </a:rPr>
              <a:t>Common Services</a:t>
            </a:r>
            <a:endParaRPr sz="1750">
              <a:solidFill>
                <a:schemeClr val="dk1"/>
              </a:solidFill>
            </a:endParaRPr>
          </a:p>
        </p:txBody>
      </p:sp>
      <p:cxnSp>
        <p:nvCxnSpPr>
          <p:cNvPr id="4107" name="Google Shape;4107;g3146948ada2_1_180"/>
          <p:cNvCxnSpPr>
            <a:stCxn id="4108" idx="0"/>
            <a:endCxn id="4106" idx="2"/>
          </p:cNvCxnSpPr>
          <p:nvPr/>
        </p:nvCxnSpPr>
        <p:spPr>
          <a:xfrm rot="-5400000">
            <a:off x="3136013" y="266211"/>
            <a:ext cx="798450" cy="5207700"/>
          </a:xfrm>
          <a:prstGeom prst="bentConnector3">
            <a:avLst>
              <a:gd name="adj1" fmla="val 50004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09" name="Google Shape;4109;g3146948ada2_1_180"/>
          <p:cNvCxnSpPr>
            <a:stCxn id="4110" idx="0"/>
            <a:endCxn id="4106" idx="2"/>
          </p:cNvCxnSpPr>
          <p:nvPr/>
        </p:nvCxnSpPr>
        <p:spPr>
          <a:xfrm rot="-5400000">
            <a:off x="3787012" y="917136"/>
            <a:ext cx="798450" cy="3905850"/>
          </a:xfrm>
          <a:prstGeom prst="bentConnector3">
            <a:avLst>
              <a:gd name="adj1" fmla="val 50004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1" name="Google Shape;4111;g3146948ada2_1_180"/>
          <p:cNvCxnSpPr>
            <a:stCxn id="4112" idx="0"/>
            <a:endCxn id="4106" idx="2"/>
          </p:cNvCxnSpPr>
          <p:nvPr/>
        </p:nvCxnSpPr>
        <p:spPr>
          <a:xfrm rot="16200000" flipV="1">
            <a:off x="7692718" y="917145"/>
            <a:ext cx="798513" cy="3905771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3" name="Google Shape;4113;g3146948ada2_1_180"/>
          <p:cNvCxnSpPr>
            <a:stCxn id="4114" idx="0"/>
            <a:endCxn id="4106" idx="2"/>
          </p:cNvCxnSpPr>
          <p:nvPr/>
        </p:nvCxnSpPr>
        <p:spPr>
          <a:xfrm rot="5400000" flipH="1" flipV="1">
            <a:off x="5739831" y="2870029"/>
            <a:ext cx="798512" cy="2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5" name="Google Shape;4115;g3146948ada2_1_180"/>
          <p:cNvCxnSpPr>
            <a:stCxn id="4116" idx="0"/>
            <a:endCxn id="4106" idx="2"/>
          </p:cNvCxnSpPr>
          <p:nvPr/>
        </p:nvCxnSpPr>
        <p:spPr>
          <a:xfrm rot="16200000" flipV="1">
            <a:off x="6390794" y="2219068"/>
            <a:ext cx="798512" cy="1301923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7" name="Google Shape;4117;g3146948ada2_1_180"/>
          <p:cNvCxnSpPr>
            <a:stCxn id="4118" idx="0"/>
            <a:endCxn id="4106" idx="2"/>
          </p:cNvCxnSpPr>
          <p:nvPr/>
        </p:nvCxnSpPr>
        <p:spPr>
          <a:xfrm rot="16200000" flipV="1">
            <a:off x="7041756" y="1568106"/>
            <a:ext cx="798512" cy="2603847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9" name="Google Shape;4119;g3146948ada2_1_180"/>
          <p:cNvCxnSpPr>
            <a:stCxn id="4120" idx="0"/>
            <a:endCxn id="4106" idx="2"/>
          </p:cNvCxnSpPr>
          <p:nvPr/>
        </p:nvCxnSpPr>
        <p:spPr>
          <a:xfrm rot="-5400000">
            <a:off x="4437937" y="1568136"/>
            <a:ext cx="798450" cy="2603850"/>
          </a:xfrm>
          <a:prstGeom prst="bentConnector3">
            <a:avLst>
              <a:gd name="adj1" fmla="val 50004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21" name="Google Shape;4121;g3146948ada2_1_180"/>
          <p:cNvSpPr txBox="1"/>
          <p:nvPr/>
        </p:nvSpPr>
        <p:spPr>
          <a:xfrm>
            <a:off x="2518080" y="5644284"/>
            <a:ext cx="2173950" cy="31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Зависимости</a:t>
            </a:r>
            <a:endParaRPr sz="1050" dirty="0"/>
          </a:p>
        </p:txBody>
      </p:sp>
      <p:cxnSp>
        <p:nvCxnSpPr>
          <p:cNvPr id="4124" name="Google Shape;4124;g3146948ada2_1_180"/>
          <p:cNvCxnSpPr/>
          <p:nvPr/>
        </p:nvCxnSpPr>
        <p:spPr>
          <a:xfrm rot="10800000" flipH="1">
            <a:off x="1691786" y="5732559"/>
            <a:ext cx="764400" cy="119400"/>
          </a:xfrm>
          <a:prstGeom prst="bentConnector3">
            <a:avLst>
              <a:gd name="adj1" fmla="val 50004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26" name="Google Shape;4126;g3146948ada2_1_180"/>
          <p:cNvCxnSpPr>
            <a:stCxn id="4127" idx="0"/>
            <a:endCxn id="4106" idx="2"/>
          </p:cNvCxnSpPr>
          <p:nvPr/>
        </p:nvCxnSpPr>
        <p:spPr>
          <a:xfrm rot="5400000" flipH="1">
            <a:off x="8343709" y="266211"/>
            <a:ext cx="798450" cy="5207700"/>
          </a:xfrm>
          <a:prstGeom prst="bentConnector3">
            <a:avLst>
              <a:gd name="adj1" fmla="val 50004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28" name="Google Shape;4128;g3146948ada2_1_180"/>
          <p:cNvSpPr/>
          <p:nvPr/>
        </p:nvSpPr>
        <p:spPr>
          <a:xfrm>
            <a:off x="8110548" y="5574384"/>
            <a:ext cx="605700" cy="43575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9" name="Google Shape;4129;g3146948ada2_1_180"/>
          <p:cNvSpPr txBox="1"/>
          <p:nvPr/>
        </p:nvSpPr>
        <p:spPr>
          <a:xfrm>
            <a:off x="8704074" y="5644284"/>
            <a:ext cx="2033250" cy="31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50" dirty="0">
                <a:solidFill>
                  <a:schemeClr val="dk1"/>
                </a:solidFill>
              </a:rPr>
              <a:t>Сторонние продукты ?</a:t>
            </a:r>
            <a:endParaRPr sz="1050" dirty="0"/>
          </a:p>
        </p:txBody>
      </p:sp>
      <p:sp>
        <p:nvSpPr>
          <p:cNvPr id="4130" name="Google Shape;4130;g3146948ada2_1_180"/>
          <p:cNvSpPr/>
          <p:nvPr/>
        </p:nvSpPr>
        <p:spPr>
          <a:xfrm>
            <a:off x="408001" y="4272480"/>
            <a:ext cx="234600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Средства ИБ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1" name="Google Shape;4131;g3146948ada2_1_180"/>
          <p:cNvSpPr/>
          <p:nvPr/>
        </p:nvSpPr>
        <p:spPr>
          <a:xfrm>
            <a:off x="4928363" y="4272480"/>
            <a:ext cx="2421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Оборудование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2" name="Google Shape;4132;g3146948ada2_1_180"/>
          <p:cNvSpPr/>
          <p:nvPr/>
        </p:nvSpPr>
        <p:spPr>
          <a:xfrm>
            <a:off x="9484988" y="4272480"/>
            <a:ext cx="2421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Миграция данных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8" name="Google Shape;4108;g3146948ada2_1_180"/>
          <p:cNvSpPr/>
          <p:nvPr/>
        </p:nvSpPr>
        <p:spPr>
          <a:xfrm>
            <a:off x="371513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IaaS (VM)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g3146948ada2_1_180"/>
          <p:cNvSpPr/>
          <p:nvPr/>
        </p:nvSpPr>
        <p:spPr>
          <a:xfrm>
            <a:off x="9484984" y="3269287"/>
            <a:ext cx="1119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 w="28575"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PaaS (K8s)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3" name="Google Shape;4133;g3146948ada2_1_180"/>
          <p:cNvSpPr/>
          <p:nvPr/>
        </p:nvSpPr>
        <p:spPr>
          <a:xfrm>
            <a:off x="4277287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Platform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8" name="Google Shape;4118;g3146948ada2_1_180"/>
          <p:cNvSpPr/>
          <p:nvPr/>
        </p:nvSpPr>
        <p:spPr>
          <a:xfrm>
            <a:off x="8183060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S3 Storage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0" name="Google Shape;4110;g3146948ada2_1_180"/>
          <p:cNvSpPr/>
          <p:nvPr/>
        </p:nvSpPr>
        <p:spPr>
          <a:xfrm>
            <a:off x="1673437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VDI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0" name="Google Shape;4120;g3146948ada2_1_180"/>
          <p:cNvSpPr/>
          <p:nvPr/>
        </p:nvSpPr>
        <p:spPr>
          <a:xfrm>
            <a:off x="2975362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XaaS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4" name="Google Shape;4114;g3146948ada2_1_180"/>
          <p:cNvSpPr/>
          <p:nvPr/>
        </p:nvSpPr>
        <p:spPr>
          <a:xfrm>
            <a:off x="5579211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ML Platform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7" name="Google Shape;4127;g3146948ada2_1_180"/>
          <p:cNvSpPr/>
          <p:nvPr/>
        </p:nvSpPr>
        <p:spPr>
          <a:xfrm>
            <a:off x="10786909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Backup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6" name="Google Shape;4116;g3146948ada2_1_180"/>
          <p:cNvSpPr/>
          <p:nvPr/>
        </p:nvSpPr>
        <p:spPr>
          <a:xfrm>
            <a:off x="6881136" y="3269286"/>
            <a:ext cx="1119750" cy="780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Dev</a:t>
            </a:r>
            <a:br>
              <a:rPr lang="ru-RU">
                <a:solidFill>
                  <a:schemeClr val="lt1"/>
                </a:solidFill>
              </a:rPr>
            </a:br>
            <a:r>
              <a:rPr lang="ru-RU">
                <a:solidFill>
                  <a:schemeClr val="lt1"/>
                </a:solidFill>
              </a:rPr>
              <a:t>Platform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4" name="Google Shape;4134;g3146948ada2_1_180"/>
          <p:cNvCxnSpPr>
            <a:stCxn id="4133" idx="0"/>
            <a:endCxn id="4106" idx="2"/>
          </p:cNvCxnSpPr>
          <p:nvPr/>
        </p:nvCxnSpPr>
        <p:spPr>
          <a:xfrm rot="5400000" flipH="1" flipV="1">
            <a:off x="5088869" y="2219067"/>
            <a:ext cx="798512" cy="1301926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6B6557BC-4568-A4C8-DB13-A48A1B92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2" y="429068"/>
            <a:ext cx="10855800" cy="644250"/>
          </a:xfrm>
        </p:spPr>
        <p:txBody>
          <a:bodyPr/>
          <a:lstStyle/>
          <a:p>
            <a:r>
              <a:rPr lang="ru-RU" sz="2800" dirty="0">
                <a:solidFill>
                  <a:srgbClr val="000000"/>
                </a:solidFill>
                <a:latin typeface="+mj-lt"/>
                <a:ea typeface="Montserrat SemiBold"/>
                <a:cs typeface="Montserrat SemiBold"/>
                <a:sym typeface="Montserrat SemiBold"/>
              </a:rPr>
              <a:t>Облачные </a:t>
            </a:r>
            <a:r>
              <a:rPr lang="en-US" sz="2800" dirty="0">
                <a:solidFill>
                  <a:srgbClr val="000000"/>
                </a:solidFill>
                <a:latin typeface="+mj-lt"/>
                <a:ea typeface="Montserrat SemiBold"/>
                <a:cs typeface="Montserrat SemiBold"/>
                <a:sym typeface="Montserrat SemiBold"/>
              </a:rPr>
              <a:t>On-Prem</a:t>
            </a:r>
            <a:r>
              <a:rPr lang="ru-RU" sz="2800" dirty="0">
                <a:solidFill>
                  <a:srgbClr val="000000"/>
                </a:solidFill>
                <a:latin typeface="+mj-lt"/>
                <a:ea typeface="Montserrat SemiBold"/>
                <a:cs typeface="Montserrat SemiBold"/>
                <a:sym typeface="Montserrat SemiBold"/>
              </a:rPr>
              <a:t> продукты VK Tech / модули частного облака</a:t>
            </a:r>
            <a:endParaRPr lang="ru-RU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4">
          <a:extLst>
            <a:ext uri="{FF2B5EF4-FFF2-40B4-BE49-F238E27FC236}">
              <a16:creationId xmlns:a16="http://schemas.microsoft.com/office/drawing/2014/main" id="{F227DE6D-3D43-A621-87DF-2771C3EF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Google Shape;4105;g3146948ada2_1_180">
            <a:extLst>
              <a:ext uri="{FF2B5EF4-FFF2-40B4-BE49-F238E27FC236}">
                <a16:creationId xmlns:a16="http://schemas.microsoft.com/office/drawing/2014/main" id="{B1CAA1C4-4285-34E1-2877-F02EFE8E1717}"/>
              </a:ext>
            </a:extLst>
          </p:cNvPr>
          <p:cNvSpPr/>
          <p:nvPr/>
        </p:nvSpPr>
        <p:spPr>
          <a:xfrm>
            <a:off x="285262" y="1227527"/>
            <a:ext cx="11801100" cy="4451329"/>
          </a:xfrm>
          <a:prstGeom prst="roundRect">
            <a:avLst>
              <a:gd name="adj" fmla="val 6713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ru-RU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Частное облако заказчика</a:t>
            </a:r>
            <a:endParaRPr sz="1400"/>
          </a:p>
        </p:txBody>
      </p:sp>
      <p:sp>
        <p:nvSpPr>
          <p:cNvPr id="4106" name="Google Shape;4106;g3146948ada2_1_180">
            <a:extLst>
              <a:ext uri="{FF2B5EF4-FFF2-40B4-BE49-F238E27FC236}">
                <a16:creationId xmlns:a16="http://schemas.microsoft.com/office/drawing/2014/main" id="{94A40DC2-AADD-C9AD-748A-31F32F75C5D7}"/>
              </a:ext>
            </a:extLst>
          </p:cNvPr>
          <p:cNvSpPr/>
          <p:nvPr/>
        </p:nvSpPr>
        <p:spPr>
          <a:xfrm>
            <a:off x="371513" y="1973824"/>
            <a:ext cx="11535150" cy="49695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1750">
                <a:solidFill>
                  <a:schemeClr val="dk1"/>
                </a:solidFill>
              </a:rPr>
              <a:t>Common Services</a:t>
            </a:r>
            <a:endParaRPr sz="1750">
              <a:solidFill>
                <a:schemeClr val="dk1"/>
              </a:solidFill>
            </a:endParaRPr>
          </a:p>
        </p:txBody>
      </p:sp>
      <p:cxnSp>
        <p:nvCxnSpPr>
          <p:cNvPr id="4107" name="Google Shape;4107;g3146948ada2_1_180">
            <a:extLst>
              <a:ext uri="{FF2B5EF4-FFF2-40B4-BE49-F238E27FC236}">
                <a16:creationId xmlns:a16="http://schemas.microsoft.com/office/drawing/2014/main" id="{105A459B-CDB2-2D4E-E58F-0B979D69603B}"/>
              </a:ext>
            </a:extLst>
          </p:cNvPr>
          <p:cNvCxnSpPr>
            <a:cxnSpLocks/>
            <a:stCxn id="4108" idx="0"/>
            <a:endCxn id="4106" idx="2"/>
          </p:cNvCxnSpPr>
          <p:nvPr/>
        </p:nvCxnSpPr>
        <p:spPr>
          <a:xfrm rot="5400000" flipH="1" flipV="1">
            <a:off x="3481299" y="611497"/>
            <a:ext cx="798512" cy="4517066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09" name="Google Shape;4109;g3146948ada2_1_180">
            <a:extLst>
              <a:ext uri="{FF2B5EF4-FFF2-40B4-BE49-F238E27FC236}">
                <a16:creationId xmlns:a16="http://schemas.microsoft.com/office/drawing/2014/main" id="{657A41A4-061F-AF0C-0F22-779DF5F34161}"/>
              </a:ext>
            </a:extLst>
          </p:cNvPr>
          <p:cNvCxnSpPr>
            <a:cxnSpLocks/>
            <a:stCxn id="4110" idx="0"/>
            <a:endCxn id="4106" idx="2"/>
          </p:cNvCxnSpPr>
          <p:nvPr/>
        </p:nvCxnSpPr>
        <p:spPr>
          <a:xfrm rot="5400000" flipH="1" flipV="1">
            <a:off x="2967355" y="521059"/>
            <a:ext cx="1222017" cy="5121449"/>
          </a:xfrm>
          <a:prstGeom prst="bentConnector3">
            <a:avLst>
              <a:gd name="adj1" fmla="val 66368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1" name="Google Shape;4111;g3146948ada2_1_180">
            <a:extLst>
              <a:ext uri="{FF2B5EF4-FFF2-40B4-BE49-F238E27FC236}">
                <a16:creationId xmlns:a16="http://schemas.microsoft.com/office/drawing/2014/main" id="{F2F66274-E2C4-1072-4CE4-E0E707996FB2}"/>
              </a:ext>
            </a:extLst>
          </p:cNvPr>
          <p:cNvCxnSpPr>
            <a:stCxn id="4112" idx="0"/>
            <a:endCxn id="4106" idx="2"/>
          </p:cNvCxnSpPr>
          <p:nvPr/>
        </p:nvCxnSpPr>
        <p:spPr>
          <a:xfrm rot="16200000" flipV="1">
            <a:off x="8345180" y="264683"/>
            <a:ext cx="798513" cy="5210696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3" name="Google Shape;4113;g3146948ada2_1_180">
            <a:extLst>
              <a:ext uri="{FF2B5EF4-FFF2-40B4-BE49-F238E27FC236}">
                <a16:creationId xmlns:a16="http://schemas.microsoft.com/office/drawing/2014/main" id="{CA017D0D-FBCC-19A1-3E8F-1BDE50B9AEB6}"/>
              </a:ext>
            </a:extLst>
          </p:cNvPr>
          <p:cNvCxnSpPr>
            <a:cxnSpLocks/>
            <a:stCxn id="4114" idx="0"/>
            <a:endCxn id="4106" idx="2"/>
          </p:cNvCxnSpPr>
          <p:nvPr/>
        </p:nvCxnSpPr>
        <p:spPr>
          <a:xfrm rot="5400000" flipH="1" flipV="1">
            <a:off x="5462770" y="3027954"/>
            <a:ext cx="1233497" cy="119139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5" name="Google Shape;4115;g3146948ada2_1_180">
            <a:extLst>
              <a:ext uri="{FF2B5EF4-FFF2-40B4-BE49-F238E27FC236}">
                <a16:creationId xmlns:a16="http://schemas.microsoft.com/office/drawing/2014/main" id="{9D6991BD-06D9-478B-C252-3CBF655706CE}"/>
              </a:ext>
            </a:extLst>
          </p:cNvPr>
          <p:cNvCxnSpPr>
            <a:cxnSpLocks/>
            <a:stCxn id="4116" idx="0"/>
            <a:endCxn id="4106" idx="2"/>
          </p:cNvCxnSpPr>
          <p:nvPr/>
        </p:nvCxnSpPr>
        <p:spPr>
          <a:xfrm rot="16200000" flipV="1">
            <a:off x="7528571" y="1081291"/>
            <a:ext cx="798512" cy="3577477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7" name="Google Shape;4117;g3146948ada2_1_180">
            <a:extLst>
              <a:ext uri="{FF2B5EF4-FFF2-40B4-BE49-F238E27FC236}">
                <a16:creationId xmlns:a16="http://schemas.microsoft.com/office/drawing/2014/main" id="{B971F890-411D-0D07-1C97-3E76D5CB732F}"/>
              </a:ext>
            </a:extLst>
          </p:cNvPr>
          <p:cNvCxnSpPr>
            <a:cxnSpLocks/>
            <a:stCxn id="4118" idx="0"/>
            <a:endCxn id="4106" idx="2"/>
          </p:cNvCxnSpPr>
          <p:nvPr/>
        </p:nvCxnSpPr>
        <p:spPr>
          <a:xfrm rot="16200000" flipV="1">
            <a:off x="6544874" y="2064988"/>
            <a:ext cx="798512" cy="1610084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119" name="Google Shape;4119;g3146948ada2_1_180">
            <a:extLst>
              <a:ext uri="{FF2B5EF4-FFF2-40B4-BE49-F238E27FC236}">
                <a16:creationId xmlns:a16="http://schemas.microsoft.com/office/drawing/2014/main" id="{C65776A1-EB47-4963-7931-5FEE268E8156}"/>
              </a:ext>
            </a:extLst>
          </p:cNvPr>
          <p:cNvCxnSpPr>
            <a:cxnSpLocks/>
            <a:stCxn id="4120" idx="0"/>
            <a:endCxn id="4106" idx="2"/>
          </p:cNvCxnSpPr>
          <p:nvPr/>
        </p:nvCxnSpPr>
        <p:spPr>
          <a:xfrm rot="5400000" flipH="1" flipV="1">
            <a:off x="3613639" y="1169791"/>
            <a:ext cx="1224465" cy="3826433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21" name="Google Shape;4121;g3146948ada2_1_180">
            <a:extLst>
              <a:ext uri="{FF2B5EF4-FFF2-40B4-BE49-F238E27FC236}">
                <a16:creationId xmlns:a16="http://schemas.microsoft.com/office/drawing/2014/main" id="{33AA72B4-7445-B734-9D0D-8465180D54DD}"/>
              </a:ext>
            </a:extLst>
          </p:cNvPr>
          <p:cNvSpPr txBox="1"/>
          <p:nvPr/>
        </p:nvSpPr>
        <p:spPr>
          <a:xfrm>
            <a:off x="2518080" y="5834784"/>
            <a:ext cx="2173950" cy="31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Зависимости</a:t>
            </a:r>
            <a:endParaRPr sz="1050" dirty="0"/>
          </a:p>
        </p:txBody>
      </p:sp>
      <p:cxnSp>
        <p:nvCxnSpPr>
          <p:cNvPr id="4124" name="Google Shape;4124;g3146948ada2_1_180">
            <a:extLst>
              <a:ext uri="{FF2B5EF4-FFF2-40B4-BE49-F238E27FC236}">
                <a16:creationId xmlns:a16="http://schemas.microsoft.com/office/drawing/2014/main" id="{66E7860F-BFC2-1955-31A2-452A092F99C7}"/>
              </a:ext>
            </a:extLst>
          </p:cNvPr>
          <p:cNvCxnSpPr/>
          <p:nvPr/>
        </p:nvCxnSpPr>
        <p:spPr>
          <a:xfrm rot="10800000" flipH="1">
            <a:off x="1691786" y="5923059"/>
            <a:ext cx="764400" cy="119400"/>
          </a:xfrm>
          <a:prstGeom prst="bentConnector3">
            <a:avLst>
              <a:gd name="adj1" fmla="val 50004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128" name="Google Shape;4128;g3146948ada2_1_180">
            <a:extLst>
              <a:ext uri="{FF2B5EF4-FFF2-40B4-BE49-F238E27FC236}">
                <a16:creationId xmlns:a16="http://schemas.microsoft.com/office/drawing/2014/main" id="{0D367832-618B-1E35-5269-48C710D273C2}"/>
              </a:ext>
            </a:extLst>
          </p:cNvPr>
          <p:cNvSpPr/>
          <p:nvPr/>
        </p:nvSpPr>
        <p:spPr>
          <a:xfrm>
            <a:off x="8110548" y="5764884"/>
            <a:ext cx="605700" cy="43575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9" name="Google Shape;4129;g3146948ada2_1_180">
            <a:extLst>
              <a:ext uri="{FF2B5EF4-FFF2-40B4-BE49-F238E27FC236}">
                <a16:creationId xmlns:a16="http://schemas.microsoft.com/office/drawing/2014/main" id="{E28BEA26-5C12-6174-6497-160C057F7FE8}"/>
              </a:ext>
            </a:extLst>
          </p:cNvPr>
          <p:cNvSpPr txBox="1"/>
          <p:nvPr/>
        </p:nvSpPr>
        <p:spPr>
          <a:xfrm>
            <a:off x="8704074" y="5834784"/>
            <a:ext cx="2033250" cy="31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50" dirty="0">
                <a:solidFill>
                  <a:schemeClr val="dk1"/>
                </a:solidFill>
              </a:rPr>
              <a:t>Сторонние продукты ?</a:t>
            </a:r>
            <a:endParaRPr sz="1050" dirty="0"/>
          </a:p>
        </p:txBody>
      </p:sp>
      <p:sp>
        <p:nvSpPr>
          <p:cNvPr id="4130" name="Google Shape;4130;g3146948ada2_1_180">
            <a:extLst>
              <a:ext uri="{FF2B5EF4-FFF2-40B4-BE49-F238E27FC236}">
                <a16:creationId xmlns:a16="http://schemas.microsoft.com/office/drawing/2014/main" id="{6EF0A8C1-0538-B00B-7E8C-CB67C577DC7A}"/>
              </a:ext>
            </a:extLst>
          </p:cNvPr>
          <p:cNvSpPr/>
          <p:nvPr/>
        </p:nvSpPr>
        <p:spPr>
          <a:xfrm>
            <a:off x="408001" y="4786830"/>
            <a:ext cx="234600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</a:rPr>
              <a:t>Средства ИБ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1" name="Google Shape;4131;g3146948ada2_1_180">
            <a:extLst>
              <a:ext uri="{FF2B5EF4-FFF2-40B4-BE49-F238E27FC236}">
                <a16:creationId xmlns:a16="http://schemas.microsoft.com/office/drawing/2014/main" id="{68C2C8B6-2903-BAF9-0683-6FF8D97FD822}"/>
              </a:ext>
            </a:extLst>
          </p:cNvPr>
          <p:cNvSpPr/>
          <p:nvPr/>
        </p:nvSpPr>
        <p:spPr>
          <a:xfrm>
            <a:off x="4928363" y="4786830"/>
            <a:ext cx="2421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Оборудование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2" name="Google Shape;4132;g3146948ada2_1_180">
            <a:extLst>
              <a:ext uri="{FF2B5EF4-FFF2-40B4-BE49-F238E27FC236}">
                <a16:creationId xmlns:a16="http://schemas.microsoft.com/office/drawing/2014/main" id="{BF276BA8-E70B-41E3-F352-CB3C5B28DA91}"/>
              </a:ext>
            </a:extLst>
          </p:cNvPr>
          <p:cNvSpPr/>
          <p:nvPr/>
        </p:nvSpPr>
        <p:spPr>
          <a:xfrm>
            <a:off x="9484988" y="4786830"/>
            <a:ext cx="2421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Миграция данных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8" name="Google Shape;4108;g3146948ada2_1_180">
            <a:extLst>
              <a:ext uri="{FF2B5EF4-FFF2-40B4-BE49-F238E27FC236}">
                <a16:creationId xmlns:a16="http://schemas.microsoft.com/office/drawing/2014/main" id="{D409CDF1-0A15-7552-46EB-CD07BF5B14EC}"/>
              </a:ext>
            </a:extLst>
          </p:cNvPr>
          <p:cNvSpPr/>
          <p:nvPr/>
        </p:nvSpPr>
        <p:spPr>
          <a:xfrm>
            <a:off x="371513" y="3269286"/>
            <a:ext cx="2501018" cy="524056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IaaS</a:t>
            </a:r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(VM)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g3146948ada2_1_180">
            <a:extLst>
              <a:ext uri="{FF2B5EF4-FFF2-40B4-BE49-F238E27FC236}">
                <a16:creationId xmlns:a16="http://schemas.microsoft.com/office/drawing/2014/main" id="{45BD0986-48B0-D70C-D560-663E49A6666B}"/>
              </a:ext>
            </a:extLst>
          </p:cNvPr>
          <p:cNvSpPr/>
          <p:nvPr/>
        </p:nvSpPr>
        <p:spPr>
          <a:xfrm>
            <a:off x="10789909" y="3269287"/>
            <a:ext cx="1119750" cy="7803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6"/>
              </a:gs>
              <a:gs pos="100000">
                <a:schemeClr val="tx2"/>
              </a:gs>
            </a:gsLst>
            <a:lin ang="5400000" scaled="1"/>
          </a:gradFill>
          <a:ln w="7620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K8s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3" name="Google Shape;4133;g3146948ada2_1_180">
            <a:extLst>
              <a:ext uri="{FF2B5EF4-FFF2-40B4-BE49-F238E27FC236}">
                <a16:creationId xmlns:a16="http://schemas.microsoft.com/office/drawing/2014/main" id="{B9F99976-2C48-3FD6-DF59-3E0E20B9C86C}"/>
              </a:ext>
            </a:extLst>
          </p:cNvPr>
          <p:cNvSpPr/>
          <p:nvPr/>
        </p:nvSpPr>
        <p:spPr>
          <a:xfrm>
            <a:off x="3109002" y="3284718"/>
            <a:ext cx="3621001" cy="555292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Platform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8" name="Google Shape;4118;g3146948ada2_1_180">
            <a:extLst>
              <a:ext uri="{FF2B5EF4-FFF2-40B4-BE49-F238E27FC236}">
                <a16:creationId xmlns:a16="http://schemas.microsoft.com/office/drawing/2014/main" id="{F79010A1-18A4-9C65-DAB4-F6801B05B2B4}"/>
              </a:ext>
            </a:extLst>
          </p:cNvPr>
          <p:cNvSpPr/>
          <p:nvPr/>
        </p:nvSpPr>
        <p:spPr>
          <a:xfrm>
            <a:off x="6794269" y="3269286"/>
            <a:ext cx="1909805" cy="57072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Storage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0" name="Google Shape;4110;g3146948ada2_1_180">
            <a:extLst>
              <a:ext uri="{FF2B5EF4-FFF2-40B4-BE49-F238E27FC236}">
                <a16:creationId xmlns:a16="http://schemas.microsoft.com/office/drawing/2014/main" id="{E6B8F6C2-F1FB-E9BD-8003-3C630E18DE3D}"/>
              </a:ext>
            </a:extLst>
          </p:cNvPr>
          <p:cNvSpPr/>
          <p:nvPr/>
        </p:nvSpPr>
        <p:spPr>
          <a:xfrm>
            <a:off x="457764" y="3692791"/>
            <a:ext cx="1119750" cy="511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VDI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0" name="Google Shape;4120;g3146948ada2_1_180">
            <a:extLst>
              <a:ext uri="{FF2B5EF4-FFF2-40B4-BE49-F238E27FC236}">
                <a16:creationId xmlns:a16="http://schemas.microsoft.com/office/drawing/2014/main" id="{9117FA4A-9B8A-67EA-7DC8-3F04012A108A}"/>
              </a:ext>
            </a:extLst>
          </p:cNvPr>
          <p:cNvSpPr/>
          <p:nvPr/>
        </p:nvSpPr>
        <p:spPr>
          <a:xfrm>
            <a:off x="1752780" y="3695239"/>
            <a:ext cx="1119750" cy="51961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XaaS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4" name="Google Shape;4114;g3146948ada2_1_180">
            <a:extLst>
              <a:ext uri="{FF2B5EF4-FFF2-40B4-BE49-F238E27FC236}">
                <a16:creationId xmlns:a16="http://schemas.microsoft.com/office/drawing/2014/main" id="{D51BBAC4-2C95-A155-001D-36B96D279197}"/>
              </a:ext>
            </a:extLst>
          </p:cNvPr>
          <p:cNvSpPr/>
          <p:nvPr/>
        </p:nvSpPr>
        <p:spPr>
          <a:xfrm>
            <a:off x="5286105" y="3704271"/>
            <a:ext cx="1467687" cy="4488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ML Platform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7" name="Google Shape;4127;g3146948ada2_1_180">
            <a:extLst>
              <a:ext uri="{FF2B5EF4-FFF2-40B4-BE49-F238E27FC236}">
                <a16:creationId xmlns:a16="http://schemas.microsoft.com/office/drawing/2014/main" id="{FADEEE58-E8A8-FC8E-0237-920B09A005C4}"/>
              </a:ext>
            </a:extLst>
          </p:cNvPr>
          <p:cNvSpPr/>
          <p:nvPr/>
        </p:nvSpPr>
        <p:spPr>
          <a:xfrm>
            <a:off x="7853523" y="4770126"/>
            <a:ext cx="1119750" cy="780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Backup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6" name="Google Shape;4116;g3146948ada2_1_180">
            <a:extLst>
              <a:ext uri="{FF2B5EF4-FFF2-40B4-BE49-F238E27FC236}">
                <a16:creationId xmlns:a16="http://schemas.microsoft.com/office/drawing/2014/main" id="{70C7B30F-CF76-2DBE-39D1-3B998B2881DE}"/>
              </a:ext>
            </a:extLst>
          </p:cNvPr>
          <p:cNvSpPr/>
          <p:nvPr/>
        </p:nvSpPr>
        <p:spPr>
          <a:xfrm>
            <a:off x="8776975" y="3269286"/>
            <a:ext cx="1879180" cy="780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>
                <a:solidFill>
                  <a:schemeClr val="lt1"/>
                </a:solidFill>
              </a:rPr>
              <a:t>Dev</a:t>
            </a:r>
            <a:br>
              <a:rPr lang="ru-RU">
                <a:solidFill>
                  <a:schemeClr val="lt1"/>
                </a:solidFill>
              </a:rPr>
            </a:br>
            <a:r>
              <a:rPr lang="ru-RU">
                <a:solidFill>
                  <a:schemeClr val="lt1"/>
                </a:solidFill>
              </a:rPr>
              <a:t>Platform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4" name="Google Shape;4134;g3146948ada2_1_180">
            <a:extLst>
              <a:ext uri="{FF2B5EF4-FFF2-40B4-BE49-F238E27FC236}">
                <a16:creationId xmlns:a16="http://schemas.microsoft.com/office/drawing/2014/main" id="{83407981-4185-B84A-249A-6D385B4B922D}"/>
              </a:ext>
            </a:extLst>
          </p:cNvPr>
          <p:cNvCxnSpPr>
            <a:cxnSpLocks/>
            <a:stCxn id="4133" idx="0"/>
            <a:endCxn id="4106" idx="2"/>
          </p:cNvCxnSpPr>
          <p:nvPr/>
        </p:nvCxnSpPr>
        <p:spPr>
          <a:xfrm rot="5400000" flipH="1" flipV="1">
            <a:off x="5122323" y="2267954"/>
            <a:ext cx="813944" cy="1219585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8C24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01F6FD11-600B-AF36-753A-0CF43033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2" y="429068"/>
            <a:ext cx="10855800" cy="644250"/>
          </a:xfrm>
        </p:spPr>
        <p:txBody>
          <a:bodyPr/>
          <a:lstStyle/>
          <a:p>
            <a:r>
              <a:rPr lang="ru-RU" sz="2800" dirty="0">
                <a:solidFill>
                  <a:srgbClr val="000000"/>
                </a:solidFill>
                <a:latin typeface="+mj-lt"/>
                <a:ea typeface="Montserrat SemiBold"/>
                <a:cs typeface="Montserrat SemiBold"/>
                <a:sym typeface="Montserrat SemiBold"/>
              </a:rPr>
              <a:t>Облачные </a:t>
            </a:r>
            <a:r>
              <a:rPr lang="en-US" sz="2800" dirty="0">
                <a:solidFill>
                  <a:srgbClr val="000000"/>
                </a:solidFill>
                <a:latin typeface="+mj-lt"/>
                <a:ea typeface="Montserrat SemiBold"/>
                <a:cs typeface="Montserrat SemiBold"/>
                <a:sym typeface="Montserrat SemiBold"/>
              </a:rPr>
              <a:t>On-Prem</a:t>
            </a:r>
            <a:r>
              <a:rPr lang="ru-RU" sz="2800" dirty="0">
                <a:solidFill>
                  <a:srgbClr val="000000"/>
                </a:solidFill>
                <a:latin typeface="+mj-lt"/>
                <a:ea typeface="Montserrat SemiBold"/>
                <a:cs typeface="Montserrat SemiBold"/>
                <a:sym typeface="Montserrat SemiBold"/>
              </a:rPr>
              <a:t> продукты VK Tech / модули частного облака</a:t>
            </a:r>
            <a:endParaRPr lang="ru-RU" sz="2800" dirty="0"/>
          </a:p>
        </p:txBody>
      </p:sp>
      <p:sp>
        <p:nvSpPr>
          <p:cNvPr id="2" name="Google Shape;4128;g3146948ada2_1_180">
            <a:extLst>
              <a:ext uri="{FF2B5EF4-FFF2-40B4-BE49-F238E27FC236}">
                <a16:creationId xmlns:a16="http://schemas.microsoft.com/office/drawing/2014/main" id="{819B2283-B446-2B6A-4C78-7B5783B78AA0}"/>
              </a:ext>
            </a:extLst>
          </p:cNvPr>
          <p:cNvSpPr/>
          <p:nvPr/>
        </p:nvSpPr>
        <p:spPr>
          <a:xfrm>
            <a:off x="4389180" y="5726552"/>
            <a:ext cx="605700" cy="43575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4129;g3146948ada2_1_180">
            <a:extLst>
              <a:ext uri="{FF2B5EF4-FFF2-40B4-BE49-F238E27FC236}">
                <a16:creationId xmlns:a16="http://schemas.microsoft.com/office/drawing/2014/main" id="{661C8684-2098-7878-1C16-915A9F03081E}"/>
              </a:ext>
            </a:extLst>
          </p:cNvPr>
          <p:cNvSpPr txBox="1"/>
          <p:nvPr/>
        </p:nvSpPr>
        <p:spPr>
          <a:xfrm>
            <a:off x="5122459" y="5794887"/>
            <a:ext cx="2033250" cy="31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50" dirty="0">
                <a:solidFill>
                  <a:schemeClr val="dk1"/>
                </a:solidFill>
              </a:rPr>
              <a:t>Поставляется отдельно?</a:t>
            </a:r>
            <a:endParaRPr sz="1050" dirty="0"/>
          </a:p>
        </p:txBody>
      </p:sp>
      <p:sp>
        <p:nvSpPr>
          <p:cNvPr id="5" name="Google Shape;4133;g3146948ada2_1_180">
            <a:extLst>
              <a:ext uri="{FF2B5EF4-FFF2-40B4-BE49-F238E27FC236}">
                <a16:creationId xmlns:a16="http://schemas.microsoft.com/office/drawing/2014/main" id="{A20A007B-64EA-BAD6-1721-6E27E17198FF}"/>
              </a:ext>
            </a:extLst>
          </p:cNvPr>
          <p:cNvSpPr/>
          <p:nvPr/>
        </p:nvSpPr>
        <p:spPr>
          <a:xfrm>
            <a:off x="3114732" y="3718797"/>
            <a:ext cx="1049147" cy="44883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baaS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4133;g3146948ada2_1_180">
            <a:extLst>
              <a:ext uri="{FF2B5EF4-FFF2-40B4-BE49-F238E27FC236}">
                <a16:creationId xmlns:a16="http://schemas.microsoft.com/office/drawing/2014/main" id="{7990374F-CDBF-6850-CCD4-6415BFFD2361}"/>
              </a:ext>
            </a:extLst>
          </p:cNvPr>
          <p:cNvSpPr/>
          <p:nvPr/>
        </p:nvSpPr>
        <p:spPr>
          <a:xfrm>
            <a:off x="4340725" y="3718797"/>
            <a:ext cx="823116" cy="43162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2007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C672-8F71-B82E-CF4D-C60B2153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88184-9D5E-32B5-00D6-493EF485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EFB9DD85-4FA3-240F-7E80-FFC6EF2C7C13}"/>
              </a:ext>
            </a:extLst>
          </p:cNvPr>
          <p:cNvSpPr txBox="1"/>
          <p:nvPr/>
        </p:nvSpPr>
        <p:spPr>
          <a:xfrm>
            <a:off x="658812" y="1540940"/>
            <a:ext cx="10406875" cy="182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Dev Platform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Может ставится поверх сторонних продуктов (любой </a:t>
            </a:r>
            <a:r>
              <a:rPr lang="ru-RU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кубер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+ любой сервер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Необходима интеграция с существующим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IAM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, проанализировать интеграцию со всеми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Common Services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1348475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3733-1539-2556-2402-64E91D46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F33F61-D068-6685-8EAF-1A22E21F4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4375297F-0D02-D9E7-7C70-8DF4C1D6FE8F}"/>
              </a:ext>
            </a:extLst>
          </p:cNvPr>
          <p:cNvSpPr txBox="1"/>
          <p:nvPr/>
        </p:nvSpPr>
        <p:spPr>
          <a:xfrm>
            <a:off x="658812" y="1540940"/>
            <a:ext cx="10406875" cy="182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S3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Нужен свой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S3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как отдельно (без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Common Services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), так и проинтегрированный с облаком (с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Common Services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Observability, Backup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),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независимо от времени поставки.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должна обеспечивать поставку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S3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как одновременно с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IaaS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, так и до и после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любой порядок установки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168488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331AA-33EB-E033-0A6E-AE83CC42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2DBCD-B491-89D0-52A5-A8D8D1BD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D22578FD-4240-2D69-830D-63AAE839B7FE}"/>
              </a:ext>
            </a:extLst>
          </p:cNvPr>
          <p:cNvSpPr txBox="1"/>
          <p:nvPr/>
        </p:nvSpPr>
        <p:spPr>
          <a:xfrm>
            <a:off x="658812" y="1540940"/>
            <a:ext cx="10406875" cy="182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K8s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Нужен свой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K8s (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растущий рынок) - аналог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OpenShift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, конкурент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Deckhouse/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Боцман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Поднять функциональное сравнение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Необходимо определить и закрыть функциональные дефициты, определить модель выручки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Определиться, когда делать отчуждаемость? В 26 или позже?</a:t>
            </a:r>
          </a:p>
        </p:txBody>
      </p:sp>
    </p:spTree>
    <p:extLst>
      <p:ext uri="{BB962C8B-B14F-4D97-AF65-F5344CB8AC3E}">
        <p14:creationId xmlns:p14="http://schemas.microsoft.com/office/powerpoint/2010/main" val="266578818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B5CC-11B3-8D85-BA2F-C5021FCA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BEC94-552C-8812-650B-5200F266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C298DD8C-8BE6-2D50-11D7-72AE4AFBCE05}"/>
              </a:ext>
            </a:extLst>
          </p:cNvPr>
          <p:cNvSpPr txBox="1"/>
          <p:nvPr/>
        </p:nvSpPr>
        <p:spPr>
          <a:xfrm>
            <a:off x="658812" y="1540940"/>
            <a:ext cx="10406875" cy="355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Backup</a:t>
            </a:r>
            <a:b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Как поставить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S3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за </a:t>
            </a:r>
            <a:r>
              <a:rPr lang="ru-RU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Кибербэкап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Rubackup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Оценка рынка – в 23 году 7.5 млрд включая зарубежные решения, </a:t>
            </a:r>
            <a:r>
              <a:rPr lang="ru-RU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киберпротект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– 4,5 млрд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Не убивать функцию СРК внутри облака: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- Позволяет делать закладки в тендерах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Позволяет продавать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S3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8292858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D0BA-1654-3A58-1294-10B12128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1A77A-B7CF-6CF6-5633-9CE2D439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8B152A1F-5785-5AD4-D27A-FD25447676AB}"/>
              </a:ext>
            </a:extLst>
          </p:cNvPr>
          <p:cNvSpPr txBox="1"/>
          <p:nvPr/>
        </p:nvSpPr>
        <p:spPr>
          <a:xfrm>
            <a:off x="658812" y="1540940"/>
            <a:ext cx="10406875" cy="355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VDI</a:t>
            </a:r>
            <a:b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Поставляем ли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VDI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отдельно (на базе другой виртуализации)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предварительно не нужно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VDI On Prem –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2 млрд рублей (отдельно от виртуализации)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40% Скала-Р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16% (Астра)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Termidesk</a:t>
            </a: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15% - ГК Хост</a:t>
            </a: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4841041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0C83-5ADF-93E5-28A2-99F29AA7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31D21-D76C-2D44-4787-7A19B338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B15A1834-A46D-91A8-931A-3EAB32090897}"/>
              </a:ext>
            </a:extLst>
          </p:cNvPr>
          <p:cNvSpPr txBox="1"/>
          <p:nvPr/>
        </p:nvSpPr>
        <p:spPr>
          <a:xfrm>
            <a:off x="658812" y="1540940"/>
            <a:ext cx="10406875" cy="355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XaaS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сделать опцией к большому облаку</a:t>
            </a:r>
            <a:br>
              <a:rPr lang="en-US" sz="1500" b="1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Собрать требования по эксплуатации приложений внутри 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XaaS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- как партнер будет эксплуатировать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поддерживать свои приложения в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OnPrem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XaaS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Какая мотивация партнеров для создания 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XaaS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решений?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Определить список сервисов (партнерских решений) которые должны присутствовать в 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XaaS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ru-RU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8306851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96FA-6BAE-9B7D-CAF6-1471AC26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177D7-2302-7924-0975-89367FAE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76" y="429703"/>
            <a:ext cx="10855854" cy="6442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Обсуждение модулей облака</a:t>
            </a:r>
            <a:br>
              <a:rPr lang="ru-RU" sz="2800" dirty="0"/>
            </a:br>
            <a:endParaRPr lang="ru-RU" sz="1600" b="1" dirty="0"/>
          </a:p>
        </p:txBody>
      </p:sp>
      <p:sp>
        <p:nvSpPr>
          <p:cNvPr id="4" name="Google Shape;3727;g31255f78857_0_231">
            <a:extLst>
              <a:ext uri="{FF2B5EF4-FFF2-40B4-BE49-F238E27FC236}">
                <a16:creationId xmlns:a16="http://schemas.microsoft.com/office/drawing/2014/main" id="{CA727616-48E6-359B-72EF-4DE930457450}"/>
              </a:ext>
            </a:extLst>
          </p:cNvPr>
          <p:cNvSpPr txBox="1"/>
          <p:nvPr/>
        </p:nvSpPr>
        <p:spPr>
          <a:xfrm>
            <a:off x="658812" y="1540940"/>
            <a:ext cx="10406875" cy="216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45713" rIns="45713" bIns="4571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DbaaS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есть в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On-Prem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заказчиках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Хотим поставлять в рамках большого облака а также отдельно</a:t>
            </a:r>
            <a:b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Необходимо выбрать целевой способ реализации </a:t>
            </a:r>
            <a:r>
              <a:rPr lang="en-US" sz="1500" dirty="0" err="1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DbaaS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(сейчас существуют 2 решения – на базе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VM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и на базе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K8s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необходимо сформировать список требований и получить решение от разработки.</a:t>
            </a:r>
          </a:p>
          <a:p>
            <a:pPr>
              <a:lnSpc>
                <a:spcPct val="150000"/>
              </a:lnSpc>
            </a:pP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С точки зрения лицензирования продукт является частью </a:t>
            </a:r>
            <a:r>
              <a:rPr lang="en-US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Data Platform</a:t>
            </a:r>
            <a:r>
              <a:rPr lang="ru-RU" sz="15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lang="en-US" sz="1500" dirty="0">
              <a:solidFill>
                <a:srgbClr val="2929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92443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3" name="Google Shape;763;p56"/>
          <p:cNvGrpSpPr/>
          <p:nvPr/>
        </p:nvGrpSpPr>
        <p:grpSpPr>
          <a:xfrm>
            <a:off x="224849" y="-74145"/>
            <a:ext cx="12188155" cy="64200"/>
            <a:chOff x="5" y="-2"/>
            <a:chExt cx="12188155" cy="64200"/>
          </a:xfrm>
        </p:grpSpPr>
        <p:cxnSp>
          <p:nvCxnSpPr>
            <p:cNvPr id="764" name="Google Shape;764;p56"/>
            <p:cNvCxnSpPr/>
            <p:nvPr/>
          </p:nvCxnSpPr>
          <p:spPr>
            <a:xfrm>
              <a:off x="5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65" name="Google Shape;765;p56"/>
            <p:cNvCxnSpPr/>
            <p:nvPr/>
          </p:nvCxnSpPr>
          <p:spPr>
            <a:xfrm>
              <a:off x="677118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66" name="Google Shape;766;p56"/>
            <p:cNvCxnSpPr/>
            <p:nvPr/>
          </p:nvCxnSpPr>
          <p:spPr>
            <a:xfrm>
              <a:off x="1354241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67" name="Google Shape;767;p56"/>
            <p:cNvCxnSpPr/>
            <p:nvPr/>
          </p:nvCxnSpPr>
          <p:spPr>
            <a:xfrm>
              <a:off x="2031360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68" name="Google Shape;768;p56"/>
            <p:cNvCxnSpPr/>
            <p:nvPr/>
          </p:nvCxnSpPr>
          <p:spPr>
            <a:xfrm>
              <a:off x="2708479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69" name="Google Shape;769;p56"/>
            <p:cNvCxnSpPr/>
            <p:nvPr/>
          </p:nvCxnSpPr>
          <p:spPr>
            <a:xfrm>
              <a:off x="3385598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0" name="Google Shape;770;p56"/>
            <p:cNvCxnSpPr/>
            <p:nvPr/>
          </p:nvCxnSpPr>
          <p:spPr>
            <a:xfrm>
              <a:off x="4062717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1" name="Google Shape;771;p56"/>
            <p:cNvCxnSpPr/>
            <p:nvPr/>
          </p:nvCxnSpPr>
          <p:spPr>
            <a:xfrm>
              <a:off x="4739836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2" name="Google Shape;772;p56"/>
            <p:cNvCxnSpPr/>
            <p:nvPr/>
          </p:nvCxnSpPr>
          <p:spPr>
            <a:xfrm>
              <a:off x="5416955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3" name="Google Shape;773;p56"/>
            <p:cNvCxnSpPr/>
            <p:nvPr/>
          </p:nvCxnSpPr>
          <p:spPr>
            <a:xfrm>
              <a:off x="6094077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4" name="Google Shape;774;p56"/>
            <p:cNvCxnSpPr/>
            <p:nvPr/>
          </p:nvCxnSpPr>
          <p:spPr>
            <a:xfrm>
              <a:off x="6771195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5" name="Google Shape;775;p56"/>
            <p:cNvCxnSpPr/>
            <p:nvPr/>
          </p:nvCxnSpPr>
          <p:spPr>
            <a:xfrm>
              <a:off x="7448315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6" name="Google Shape;776;p56"/>
            <p:cNvCxnSpPr/>
            <p:nvPr/>
          </p:nvCxnSpPr>
          <p:spPr>
            <a:xfrm>
              <a:off x="8125435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7" name="Google Shape;777;p56"/>
            <p:cNvCxnSpPr/>
            <p:nvPr/>
          </p:nvCxnSpPr>
          <p:spPr>
            <a:xfrm>
              <a:off x="8802554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8" name="Google Shape;778;p56"/>
            <p:cNvCxnSpPr/>
            <p:nvPr/>
          </p:nvCxnSpPr>
          <p:spPr>
            <a:xfrm>
              <a:off x="9479673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79" name="Google Shape;779;p56"/>
            <p:cNvCxnSpPr/>
            <p:nvPr/>
          </p:nvCxnSpPr>
          <p:spPr>
            <a:xfrm>
              <a:off x="10156792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0" name="Google Shape;780;p56"/>
            <p:cNvCxnSpPr/>
            <p:nvPr/>
          </p:nvCxnSpPr>
          <p:spPr>
            <a:xfrm>
              <a:off x="10833914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1" name="Google Shape;781;p56"/>
            <p:cNvCxnSpPr/>
            <p:nvPr/>
          </p:nvCxnSpPr>
          <p:spPr>
            <a:xfrm>
              <a:off x="11511034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2" name="Google Shape;782;p56"/>
            <p:cNvCxnSpPr/>
            <p:nvPr/>
          </p:nvCxnSpPr>
          <p:spPr>
            <a:xfrm>
              <a:off x="12188160" y="-2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783" name="Google Shape;783;p56"/>
          <p:cNvGrpSpPr/>
          <p:nvPr/>
        </p:nvGrpSpPr>
        <p:grpSpPr>
          <a:xfrm>
            <a:off x="-7" y="6987080"/>
            <a:ext cx="12188155" cy="64200"/>
            <a:chOff x="5" y="-1"/>
            <a:chExt cx="12188155" cy="64200"/>
          </a:xfrm>
        </p:grpSpPr>
        <p:cxnSp>
          <p:nvCxnSpPr>
            <p:cNvPr id="784" name="Google Shape;784;p56"/>
            <p:cNvCxnSpPr/>
            <p:nvPr/>
          </p:nvCxnSpPr>
          <p:spPr>
            <a:xfrm>
              <a:off x="5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5" name="Google Shape;785;p56"/>
            <p:cNvCxnSpPr/>
            <p:nvPr/>
          </p:nvCxnSpPr>
          <p:spPr>
            <a:xfrm>
              <a:off x="677118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6" name="Google Shape;786;p56"/>
            <p:cNvCxnSpPr/>
            <p:nvPr/>
          </p:nvCxnSpPr>
          <p:spPr>
            <a:xfrm>
              <a:off x="1354241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7" name="Google Shape;787;p56"/>
            <p:cNvCxnSpPr/>
            <p:nvPr/>
          </p:nvCxnSpPr>
          <p:spPr>
            <a:xfrm>
              <a:off x="2031360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8" name="Google Shape;788;p56"/>
            <p:cNvCxnSpPr/>
            <p:nvPr/>
          </p:nvCxnSpPr>
          <p:spPr>
            <a:xfrm>
              <a:off x="2708479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89" name="Google Shape;789;p56"/>
            <p:cNvCxnSpPr/>
            <p:nvPr/>
          </p:nvCxnSpPr>
          <p:spPr>
            <a:xfrm>
              <a:off x="3385598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0" name="Google Shape;790;p56"/>
            <p:cNvCxnSpPr/>
            <p:nvPr/>
          </p:nvCxnSpPr>
          <p:spPr>
            <a:xfrm>
              <a:off x="4062717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1" name="Google Shape;791;p56"/>
            <p:cNvCxnSpPr/>
            <p:nvPr/>
          </p:nvCxnSpPr>
          <p:spPr>
            <a:xfrm>
              <a:off x="4739836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2" name="Google Shape;792;p56"/>
            <p:cNvCxnSpPr/>
            <p:nvPr/>
          </p:nvCxnSpPr>
          <p:spPr>
            <a:xfrm>
              <a:off x="5416955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3" name="Google Shape;793;p56"/>
            <p:cNvCxnSpPr/>
            <p:nvPr/>
          </p:nvCxnSpPr>
          <p:spPr>
            <a:xfrm>
              <a:off x="6094077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4" name="Google Shape;794;p56"/>
            <p:cNvCxnSpPr/>
            <p:nvPr/>
          </p:nvCxnSpPr>
          <p:spPr>
            <a:xfrm>
              <a:off x="6771195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5" name="Google Shape;795;p56"/>
            <p:cNvCxnSpPr/>
            <p:nvPr/>
          </p:nvCxnSpPr>
          <p:spPr>
            <a:xfrm>
              <a:off x="7448315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6" name="Google Shape;796;p56"/>
            <p:cNvCxnSpPr/>
            <p:nvPr/>
          </p:nvCxnSpPr>
          <p:spPr>
            <a:xfrm>
              <a:off x="8125435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7" name="Google Shape;797;p56"/>
            <p:cNvCxnSpPr/>
            <p:nvPr/>
          </p:nvCxnSpPr>
          <p:spPr>
            <a:xfrm>
              <a:off x="8802554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8" name="Google Shape;798;p56"/>
            <p:cNvCxnSpPr/>
            <p:nvPr/>
          </p:nvCxnSpPr>
          <p:spPr>
            <a:xfrm>
              <a:off x="9479673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99" name="Google Shape;799;p56"/>
            <p:cNvCxnSpPr/>
            <p:nvPr/>
          </p:nvCxnSpPr>
          <p:spPr>
            <a:xfrm>
              <a:off x="10156792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0" name="Google Shape;800;p56"/>
            <p:cNvCxnSpPr/>
            <p:nvPr/>
          </p:nvCxnSpPr>
          <p:spPr>
            <a:xfrm>
              <a:off x="10833914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1" name="Google Shape;801;p56"/>
            <p:cNvCxnSpPr/>
            <p:nvPr/>
          </p:nvCxnSpPr>
          <p:spPr>
            <a:xfrm>
              <a:off x="11511034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2" name="Google Shape;802;p56"/>
            <p:cNvCxnSpPr/>
            <p:nvPr/>
          </p:nvCxnSpPr>
          <p:spPr>
            <a:xfrm>
              <a:off x="12188160" y="-1"/>
              <a:ext cx="0" cy="64200"/>
            </a:xfrm>
            <a:prstGeom prst="straightConnector1">
              <a:avLst/>
            </a:prstGeom>
            <a:no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03" name="Google Shape;803;p56"/>
          <p:cNvSpPr txBox="1"/>
          <p:nvPr/>
        </p:nvSpPr>
        <p:spPr>
          <a:xfrm>
            <a:off x="582872" y="2672668"/>
            <a:ext cx="6982800" cy="164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67" tIns="45667" rIns="45667" bIns="45667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" sz="5600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Спасибо за внимание</a:t>
            </a:r>
            <a:r>
              <a:rPr lang="en-US" sz="5600" dirty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!</a:t>
            </a:r>
            <a:endParaRPr sz="5067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C9DC-D081-6685-41A8-6A6D801D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виркл">
            <a:extLst>
              <a:ext uri="{FF2B5EF4-FFF2-40B4-BE49-F238E27FC236}">
                <a16:creationId xmlns:a16="http://schemas.microsoft.com/office/drawing/2014/main" id="{E9B95EDC-8D38-06DE-B041-02EC47EDB1B4}"/>
              </a:ext>
            </a:extLst>
          </p:cNvPr>
          <p:cNvSpPr/>
          <p:nvPr/>
        </p:nvSpPr>
        <p:spPr>
          <a:xfrm>
            <a:off x="658812" y="4702302"/>
            <a:ext cx="5312050" cy="1630902"/>
          </a:xfrm>
          <a:prstGeom prst="roundRect">
            <a:avLst>
              <a:gd name="adj" fmla="val 8333"/>
            </a:avLst>
          </a:prstGeom>
          <a:solidFill>
            <a:srgbClr val="EDF3FC"/>
          </a:solidFill>
          <a:ln w="25400">
            <a:noFill/>
          </a:ln>
        </p:spPr>
        <p:txBody>
          <a:bodyPr lIns="45718" tIns="45718" rIns="45718" bIns="45718" anchor="ctr"/>
          <a:lstStyle/>
          <a:p>
            <a:endParaRPr lang="ru-RU" sz="1400" dirty="0">
              <a:latin typeface="VK Sans Display" pitchFamily="2" charset="0"/>
            </a:endParaRPr>
          </a:p>
        </p:txBody>
      </p:sp>
      <p:sp>
        <p:nvSpPr>
          <p:cNvPr id="17" name="Сквиркл">
            <a:extLst>
              <a:ext uri="{FF2B5EF4-FFF2-40B4-BE49-F238E27FC236}">
                <a16:creationId xmlns:a16="http://schemas.microsoft.com/office/drawing/2014/main" id="{A0977513-11B8-E501-CB6A-9216BEBF2875}"/>
              </a:ext>
            </a:extLst>
          </p:cNvPr>
          <p:cNvSpPr/>
          <p:nvPr/>
        </p:nvSpPr>
        <p:spPr>
          <a:xfrm>
            <a:off x="6221135" y="4702302"/>
            <a:ext cx="5312052" cy="1630902"/>
          </a:xfrm>
          <a:prstGeom prst="roundRect">
            <a:avLst>
              <a:gd name="adj" fmla="val 8333"/>
            </a:avLst>
          </a:prstGeom>
          <a:solidFill>
            <a:srgbClr val="EDF3FC"/>
          </a:solidFill>
          <a:ln w="25400">
            <a:noFill/>
          </a:ln>
        </p:spPr>
        <p:txBody>
          <a:bodyPr lIns="45718" tIns="45718" rIns="45718" bIns="45718" anchor="ctr"/>
          <a:lstStyle/>
          <a:p>
            <a:endParaRPr lang="ru-RU" sz="1400" dirty="0">
              <a:latin typeface="VK Sans Display" pitchFamily="2" charset="0"/>
            </a:endParaRPr>
          </a:p>
        </p:txBody>
      </p:sp>
      <p:sp>
        <p:nvSpPr>
          <p:cNvPr id="18" name="Сквиркл">
            <a:extLst>
              <a:ext uri="{FF2B5EF4-FFF2-40B4-BE49-F238E27FC236}">
                <a16:creationId xmlns:a16="http://schemas.microsoft.com/office/drawing/2014/main" id="{6409A717-8654-7B1C-1B60-D300408197FE}"/>
              </a:ext>
            </a:extLst>
          </p:cNvPr>
          <p:cNvSpPr/>
          <p:nvPr/>
        </p:nvSpPr>
        <p:spPr>
          <a:xfrm>
            <a:off x="658812" y="2902647"/>
            <a:ext cx="5312050" cy="1677193"/>
          </a:xfrm>
          <a:prstGeom prst="roundRect">
            <a:avLst>
              <a:gd name="adj" fmla="val 8333"/>
            </a:avLst>
          </a:prstGeom>
          <a:solidFill>
            <a:srgbClr val="EDF3FC"/>
          </a:solidFill>
          <a:ln w="25400">
            <a:noFill/>
          </a:ln>
        </p:spPr>
        <p:txBody>
          <a:bodyPr lIns="45718" tIns="45718" rIns="45718" bIns="45718" anchor="ctr"/>
          <a:lstStyle/>
          <a:p>
            <a:endParaRPr lang="ru-RU" sz="1400" dirty="0">
              <a:latin typeface="VK Sans Display" pitchFamily="2" charset="0"/>
            </a:endParaRPr>
          </a:p>
        </p:txBody>
      </p:sp>
      <p:sp>
        <p:nvSpPr>
          <p:cNvPr id="20" name="Сквиркл">
            <a:extLst>
              <a:ext uri="{FF2B5EF4-FFF2-40B4-BE49-F238E27FC236}">
                <a16:creationId xmlns:a16="http://schemas.microsoft.com/office/drawing/2014/main" id="{8554E91E-FC37-6EDA-9899-1A184BE32C61}"/>
              </a:ext>
            </a:extLst>
          </p:cNvPr>
          <p:cNvSpPr/>
          <p:nvPr/>
        </p:nvSpPr>
        <p:spPr>
          <a:xfrm>
            <a:off x="6221135" y="2902647"/>
            <a:ext cx="5312051" cy="1677193"/>
          </a:xfrm>
          <a:prstGeom prst="roundRect">
            <a:avLst>
              <a:gd name="adj" fmla="val 8333"/>
            </a:avLst>
          </a:prstGeom>
          <a:solidFill>
            <a:srgbClr val="EDF3FC"/>
          </a:solidFill>
          <a:ln w="25400">
            <a:noFill/>
          </a:ln>
        </p:spPr>
        <p:txBody>
          <a:bodyPr lIns="45718" tIns="45718" rIns="45718" bIns="45718" anchor="ctr"/>
          <a:lstStyle/>
          <a:p>
            <a:endParaRPr lang="ru-RU" sz="1400" dirty="0">
              <a:latin typeface="VK Sans Display" pitchFamily="2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0F84D55-60DE-5921-3904-B4579E59AAB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20837" y="5420534"/>
            <a:ext cx="4788000" cy="707886"/>
          </a:xfrm>
        </p:spPr>
        <p:txBody>
          <a:bodyPr vert="horz" lIns="0" tIns="0" rIns="0" bIns="0" rtlCol="0">
            <a:spAutoFit/>
          </a:bodyPr>
          <a:lstStyle/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Стабильность работы инфраструктуры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Уменьшение числа ошибок персонала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Снижение зависимости от администраторов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4605ACC1-FF29-CD90-9F1F-51D16C7C6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50" y="478143"/>
            <a:ext cx="10723535" cy="644241"/>
          </a:xfrm>
        </p:spPr>
        <p:txBody>
          <a:bodyPr vert="horz" lIns="0" tIns="0" rIns="0" bIns="0" rtlCol="0" anchor="t">
            <a:noAutofit/>
          </a:bodyPr>
          <a:lstStyle/>
          <a:p>
            <a:pPr defTabSz="914400"/>
            <a:r>
              <a:rPr lang="ru-RU" sz="2800" dirty="0"/>
              <a:t>Кто покупатель частного облака и в чем наша ценность для него?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D797845E-3F16-474A-8571-E64AF148C3B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506600" y="4941294"/>
            <a:ext cx="4320000" cy="276999"/>
          </a:xfr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latin typeface="VK Sans Display Medium" panose="00000600000000000000" pitchFamily="2" charset="0"/>
              </a:rPr>
              <a:t>Директор по ИБ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05EC9E-990E-A1CE-D44C-5E656DC9763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483161" y="5429864"/>
            <a:ext cx="4788000" cy="630942"/>
          </a:xfrm>
        </p:spPr>
        <p:txBody>
          <a:bodyPr vert="horz" lIns="0" tIns="0" rIns="0" bIns="0" rtlCol="0">
            <a:spAutoFit/>
          </a:bodyPr>
          <a:lstStyle/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Сертификация во ФСТЭК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Сокращение числа администраторов с максимальными правами доступа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A5F18E-8AF8-F58C-AEE3-CE58BF1BA88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506600" y="3122634"/>
            <a:ext cx="4320000" cy="276999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latin typeface="VK Sans Display Medium" panose="00000600000000000000" pitchFamily="2" charset="0"/>
              </a:rPr>
              <a:t>Директор по разработке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AED144-6BAF-D810-4276-FA9AAFC88FD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483160" y="3630291"/>
            <a:ext cx="4788000" cy="630942"/>
          </a:xfrm>
        </p:spPr>
        <p:txBody>
          <a:bodyPr vert="horz" wrap="square" lIns="0" tIns="0" rIns="0" bIns="0" rtlCol="0">
            <a:spAutoFit/>
          </a:bodyPr>
          <a:lstStyle/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Ускорение выпуска новых продуктов и сервисов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Снижение зависимости от администраторов и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SRE 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инженеров, которые ранее готовили инфраструктуру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8455C4E-2555-DDE3-EBC0-67A2ED668E4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44274" y="4941294"/>
            <a:ext cx="4320000" cy="276999"/>
          </a:xfr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latin typeface="VK Sans Display Medium" panose="00000600000000000000" pitchFamily="2" charset="0"/>
              </a:rPr>
              <a:t>Директор по инфраструктуре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E95C60-557C-EFA7-B6DC-9F9C02BDB32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44274" y="3122634"/>
            <a:ext cx="4320000" cy="276999"/>
          </a:xfr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latin typeface="VK Sans Display Medium" panose="00000600000000000000" pitchFamily="2" charset="0"/>
              </a:rPr>
              <a:t>Директор по ИТ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77D3736-37F4-30B9-920E-2C14DFE5C0F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11940" y="3630291"/>
            <a:ext cx="4788000" cy="446276"/>
          </a:xfrm>
        </p:spPr>
        <p:txBody>
          <a:bodyPr>
            <a:spAutoFit/>
          </a:bodyPr>
          <a:lstStyle/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Расширение состава предоставляемых услуг и ИТ-сервисов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Стабильность работы инфраструктуры</a:t>
            </a:r>
          </a:p>
        </p:txBody>
      </p:sp>
      <p:sp>
        <p:nvSpPr>
          <p:cNvPr id="22" name="Сквиркл">
            <a:extLst>
              <a:ext uri="{FF2B5EF4-FFF2-40B4-BE49-F238E27FC236}">
                <a16:creationId xmlns:a16="http://schemas.microsoft.com/office/drawing/2014/main" id="{62270FF2-1346-3697-F5A7-CDBA9376F632}"/>
              </a:ext>
            </a:extLst>
          </p:cNvPr>
          <p:cNvSpPr/>
          <p:nvPr/>
        </p:nvSpPr>
        <p:spPr>
          <a:xfrm>
            <a:off x="5274848" y="3040049"/>
            <a:ext cx="576000" cy="576000"/>
          </a:xfrm>
          <a:prstGeom prst="roundRect">
            <a:avLst>
              <a:gd name="adj" fmla="val 26921"/>
            </a:avLst>
          </a:prstGeom>
          <a:solidFill>
            <a:srgbClr val="007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VK Sans Display Medium" panose="00000600000000000000" pitchFamily="2" charset="0"/>
              </a:rPr>
              <a:t>3</a:t>
            </a:r>
            <a:endParaRPr sz="2000" b="1" dirty="0">
              <a:solidFill>
                <a:schemeClr val="bg1"/>
              </a:solidFill>
              <a:latin typeface="VK Sans Display Medium" panose="00000600000000000000" pitchFamily="2" charset="0"/>
            </a:endParaRPr>
          </a:p>
        </p:txBody>
      </p:sp>
      <p:sp>
        <p:nvSpPr>
          <p:cNvPr id="23" name="Сквиркл">
            <a:extLst>
              <a:ext uri="{FF2B5EF4-FFF2-40B4-BE49-F238E27FC236}">
                <a16:creationId xmlns:a16="http://schemas.microsoft.com/office/drawing/2014/main" id="{0288C19A-5C0D-61FE-8536-B6441CAB0721}"/>
              </a:ext>
            </a:extLst>
          </p:cNvPr>
          <p:cNvSpPr/>
          <p:nvPr/>
        </p:nvSpPr>
        <p:spPr>
          <a:xfrm>
            <a:off x="10826600" y="3040049"/>
            <a:ext cx="576000" cy="576000"/>
          </a:xfrm>
          <a:prstGeom prst="roundRect">
            <a:avLst>
              <a:gd name="adj" fmla="val 26921"/>
            </a:avLst>
          </a:prstGeom>
          <a:solidFill>
            <a:srgbClr val="007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VK Sans Display Medium" panose="00000600000000000000" pitchFamily="2" charset="0"/>
              </a:rPr>
              <a:t>4</a:t>
            </a:r>
            <a:endParaRPr sz="2000" b="1" dirty="0">
              <a:solidFill>
                <a:schemeClr val="bg1"/>
              </a:solidFill>
              <a:latin typeface="VK Sans Display Medium" panose="00000600000000000000" pitchFamily="2" charset="0"/>
            </a:endParaRPr>
          </a:p>
        </p:txBody>
      </p:sp>
      <p:sp>
        <p:nvSpPr>
          <p:cNvPr id="24" name="Сквиркл">
            <a:extLst>
              <a:ext uri="{FF2B5EF4-FFF2-40B4-BE49-F238E27FC236}">
                <a16:creationId xmlns:a16="http://schemas.microsoft.com/office/drawing/2014/main" id="{1F085E63-2599-8B0E-C110-DC2BF6250937}"/>
              </a:ext>
            </a:extLst>
          </p:cNvPr>
          <p:cNvSpPr/>
          <p:nvPr/>
        </p:nvSpPr>
        <p:spPr>
          <a:xfrm>
            <a:off x="5274848" y="4853934"/>
            <a:ext cx="576000" cy="576000"/>
          </a:xfrm>
          <a:prstGeom prst="roundRect">
            <a:avLst>
              <a:gd name="adj" fmla="val 26921"/>
            </a:avLst>
          </a:prstGeom>
          <a:solidFill>
            <a:srgbClr val="007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VK Sans Display Medium" panose="00000600000000000000" pitchFamily="2" charset="0"/>
              </a:rPr>
              <a:t>5</a:t>
            </a:r>
            <a:endParaRPr sz="2000" b="1" dirty="0">
              <a:solidFill>
                <a:schemeClr val="bg1"/>
              </a:solidFill>
              <a:latin typeface="VK Sans Display Medium" panose="00000600000000000000" pitchFamily="2" charset="0"/>
            </a:endParaRPr>
          </a:p>
        </p:txBody>
      </p:sp>
      <p:sp>
        <p:nvSpPr>
          <p:cNvPr id="25" name="Сквиркл">
            <a:extLst>
              <a:ext uri="{FF2B5EF4-FFF2-40B4-BE49-F238E27FC236}">
                <a16:creationId xmlns:a16="http://schemas.microsoft.com/office/drawing/2014/main" id="{0EB4E642-B1A6-C6DD-CABC-9A563BDC1DD7}"/>
              </a:ext>
            </a:extLst>
          </p:cNvPr>
          <p:cNvSpPr/>
          <p:nvPr/>
        </p:nvSpPr>
        <p:spPr>
          <a:xfrm>
            <a:off x="10826600" y="4853934"/>
            <a:ext cx="576000" cy="576000"/>
          </a:xfrm>
          <a:prstGeom prst="roundRect">
            <a:avLst>
              <a:gd name="adj" fmla="val 26921"/>
            </a:avLst>
          </a:prstGeom>
          <a:solidFill>
            <a:srgbClr val="007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VK Sans Display Medium" panose="00000600000000000000" pitchFamily="2" charset="0"/>
              </a:rPr>
              <a:t>6</a:t>
            </a:r>
            <a:endParaRPr sz="2000" b="1" dirty="0">
              <a:solidFill>
                <a:schemeClr val="bg1"/>
              </a:solidFill>
              <a:latin typeface="VK Sans Display Medium" panose="00000600000000000000" pitchFamily="2" charset="0"/>
            </a:endParaRPr>
          </a:p>
        </p:txBody>
      </p:sp>
      <p:sp>
        <p:nvSpPr>
          <p:cNvPr id="12" name="Сквиркл">
            <a:extLst>
              <a:ext uri="{FF2B5EF4-FFF2-40B4-BE49-F238E27FC236}">
                <a16:creationId xmlns:a16="http://schemas.microsoft.com/office/drawing/2014/main" id="{59091672-5D9D-26F5-1041-5F63C7A95641}"/>
              </a:ext>
            </a:extLst>
          </p:cNvPr>
          <p:cNvSpPr/>
          <p:nvPr/>
        </p:nvSpPr>
        <p:spPr>
          <a:xfrm>
            <a:off x="658812" y="1029762"/>
            <a:ext cx="5312050" cy="1677193"/>
          </a:xfrm>
          <a:prstGeom prst="roundRect">
            <a:avLst>
              <a:gd name="adj" fmla="val 8333"/>
            </a:avLst>
          </a:prstGeom>
          <a:solidFill>
            <a:srgbClr val="EDF3FC"/>
          </a:solidFill>
          <a:ln w="25400">
            <a:noFill/>
          </a:ln>
        </p:spPr>
        <p:txBody>
          <a:bodyPr lIns="45718" tIns="45718" rIns="45718" bIns="45718" anchor="ctr"/>
          <a:lstStyle/>
          <a:p>
            <a:endParaRPr lang="ru-RU" sz="1400" dirty="0">
              <a:latin typeface="VK Sans Display" pitchFamily="2" charset="0"/>
            </a:endParaRPr>
          </a:p>
        </p:txBody>
      </p:sp>
      <p:sp>
        <p:nvSpPr>
          <p:cNvPr id="13" name="Сквиркл">
            <a:extLst>
              <a:ext uri="{FF2B5EF4-FFF2-40B4-BE49-F238E27FC236}">
                <a16:creationId xmlns:a16="http://schemas.microsoft.com/office/drawing/2014/main" id="{23522D63-FA26-40A0-B1C0-52E4E300B58F}"/>
              </a:ext>
            </a:extLst>
          </p:cNvPr>
          <p:cNvSpPr/>
          <p:nvPr/>
        </p:nvSpPr>
        <p:spPr>
          <a:xfrm>
            <a:off x="6221135" y="1029762"/>
            <a:ext cx="5312051" cy="1677193"/>
          </a:xfrm>
          <a:prstGeom prst="roundRect">
            <a:avLst>
              <a:gd name="adj" fmla="val 8333"/>
            </a:avLst>
          </a:prstGeom>
          <a:solidFill>
            <a:srgbClr val="EDF3FC"/>
          </a:solidFill>
          <a:ln w="25400">
            <a:noFill/>
          </a:ln>
        </p:spPr>
        <p:txBody>
          <a:bodyPr lIns="45718" tIns="45718" rIns="45718" bIns="45718" anchor="ctr"/>
          <a:lstStyle/>
          <a:p>
            <a:endParaRPr lang="ru-RU" sz="1400" dirty="0">
              <a:latin typeface="VK Sans Display" pitchFamily="2" charset="0"/>
            </a:endParaRPr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B5E47AEC-DAE9-24C8-2F35-BBDAE778D1ED}"/>
              </a:ext>
            </a:extLst>
          </p:cNvPr>
          <p:cNvSpPr txBox="1">
            <a:spLocks/>
          </p:cNvSpPr>
          <p:nvPr/>
        </p:nvSpPr>
        <p:spPr>
          <a:xfrm>
            <a:off x="6506600" y="1249749"/>
            <a:ext cx="43200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800" dirty="0">
                <a:latin typeface="VK Sans Display Medium" panose="00000600000000000000" pitchFamily="2" charset="0"/>
              </a:rPr>
              <a:t>Финансовый директор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6866775-49E1-5B23-34A2-B37594205D9A}"/>
              </a:ext>
            </a:extLst>
          </p:cNvPr>
          <p:cNvSpPr txBox="1">
            <a:spLocks/>
          </p:cNvSpPr>
          <p:nvPr/>
        </p:nvSpPr>
        <p:spPr>
          <a:xfrm>
            <a:off x="6483160" y="1756430"/>
            <a:ext cx="478800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Централизация процесса бюджетирования и процесса закупок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Повышение прозрачности распределения ресурсов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Внедрение практик </a:t>
            </a:r>
            <a:r>
              <a:rPr lang="en-US" sz="1200" dirty="0"/>
              <a:t>FinOps</a:t>
            </a:r>
            <a:endParaRPr lang="ru-RU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Текст 7">
            <a:extLst>
              <a:ext uri="{FF2B5EF4-FFF2-40B4-BE49-F238E27FC236}">
                <a16:creationId xmlns:a16="http://schemas.microsoft.com/office/drawing/2014/main" id="{ECB8A7C5-3BEB-5A5C-0B4D-5A4D4B4D0266}"/>
              </a:ext>
            </a:extLst>
          </p:cNvPr>
          <p:cNvSpPr txBox="1">
            <a:spLocks/>
          </p:cNvSpPr>
          <p:nvPr/>
        </p:nvSpPr>
        <p:spPr>
          <a:xfrm>
            <a:off x="944274" y="1249749"/>
            <a:ext cx="43200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800" dirty="0">
                <a:latin typeface="VK Sans Display Medium" panose="00000600000000000000" pitchFamily="2" charset="0"/>
              </a:rPr>
              <a:t>Генеральный директор</a:t>
            </a:r>
          </a:p>
        </p:txBody>
      </p:sp>
      <p:sp>
        <p:nvSpPr>
          <p:cNvPr id="21" name="Текст 8">
            <a:extLst>
              <a:ext uri="{FF2B5EF4-FFF2-40B4-BE49-F238E27FC236}">
                <a16:creationId xmlns:a16="http://schemas.microsoft.com/office/drawing/2014/main" id="{362799C6-446C-E5B2-C12F-40542B05E3AD}"/>
              </a:ext>
            </a:extLst>
          </p:cNvPr>
          <p:cNvSpPr txBox="1">
            <a:spLocks/>
          </p:cNvSpPr>
          <p:nvPr/>
        </p:nvSpPr>
        <p:spPr>
          <a:xfrm>
            <a:off x="911940" y="1757406"/>
            <a:ext cx="4788000" cy="70788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1pPr>
            <a:lvl2pPr marL="255588" indent="-255588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2pPr>
            <a:lvl3pPr marL="441325" indent="-17145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3pPr>
            <a:lvl4pPr marL="72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K Sans Display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Ускорение цифровой трансформации (уменьшение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TTM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Оптимизация затрат</a:t>
            </a:r>
          </a:p>
          <a:p>
            <a:pPr marL="285764" indent="-28576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Обеспечение требований законодательства (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Compliance)</a:t>
            </a:r>
            <a:endParaRPr lang="ru-RU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Сквиркл">
            <a:extLst>
              <a:ext uri="{FF2B5EF4-FFF2-40B4-BE49-F238E27FC236}">
                <a16:creationId xmlns:a16="http://schemas.microsoft.com/office/drawing/2014/main" id="{A2198305-FFFB-DC3D-4376-638745E1EFED}"/>
              </a:ext>
            </a:extLst>
          </p:cNvPr>
          <p:cNvSpPr/>
          <p:nvPr/>
        </p:nvSpPr>
        <p:spPr>
          <a:xfrm>
            <a:off x="5274848" y="1167164"/>
            <a:ext cx="576000" cy="576000"/>
          </a:xfrm>
          <a:prstGeom prst="roundRect">
            <a:avLst>
              <a:gd name="adj" fmla="val 26921"/>
            </a:avLst>
          </a:prstGeom>
          <a:solidFill>
            <a:srgbClr val="007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VK Sans Display Medium" panose="00000600000000000000" pitchFamily="2" charset="0"/>
              </a:rPr>
              <a:t>1</a:t>
            </a:r>
            <a:endParaRPr sz="2000" b="1" dirty="0">
              <a:solidFill>
                <a:schemeClr val="bg1"/>
              </a:solidFill>
              <a:latin typeface="VK Sans Display Medium" panose="00000600000000000000" pitchFamily="2" charset="0"/>
            </a:endParaRPr>
          </a:p>
        </p:txBody>
      </p:sp>
      <p:sp>
        <p:nvSpPr>
          <p:cNvPr id="27" name="Сквиркл">
            <a:extLst>
              <a:ext uri="{FF2B5EF4-FFF2-40B4-BE49-F238E27FC236}">
                <a16:creationId xmlns:a16="http://schemas.microsoft.com/office/drawing/2014/main" id="{74668D20-EEAD-C615-7CDA-3AD0F8BCF74F}"/>
              </a:ext>
            </a:extLst>
          </p:cNvPr>
          <p:cNvSpPr/>
          <p:nvPr/>
        </p:nvSpPr>
        <p:spPr>
          <a:xfrm>
            <a:off x="10826600" y="1167164"/>
            <a:ext cx="576000" cy="576000"/>
          </a:xfrm>
          <a:prstGeom prst="roundRect">
            <a:avLst>
              <a:gd name="adj" fmla="val 26921"/>
            </a:avLst>
          </a:prstGeom>
          <a:solidFill>
            <a:srgbClr val="007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VK Sans Display Medium" panose="00000600000000000000" pitchFamily="2" charset="0"/>
              </a:rPr>
              <a:t>2</a:t>
            </a:r>
            <a:endParaRPr sz="2000" b="1" dirty="0">
              <a:solidFill>
                <a:schemeClr val="bg1"/>
              </a:solidFill>
              <a:latin typeface="VK Sans Display Medium" panose="00000600000000000000" pitchFamily="2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BA5AF8B-4DD6-81E7-40D8-5A0C47442BA3}"/>
              </a:ext>
            </a:extLst>
          </p:cNvPr>
          <p:cNvCxnSpPr/>
          <p:nvPr/>
        </p:nvCxnSpPr>
        <p:spPr>
          <a:xfrm>
            <a:off x="548129" y="2789260"/>
            <a:ext cx="1106848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419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F347D54-DF48-461F-A299-CEB33485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14" y="1773238"/>
            <a:ext cx="4621372" cy="1218795"/>
          </a:xfrm>
        </p:spPr>
        <p:txBody>
          <a:bodyPr vert="horz"/>
          <a:lstStyle/>
          <a:p>
            <a:r>
              <a:rPr lang="ru-RU" dirty="0"/>
              <a:t>Приложение. Про контейнеры</a:t>
            </a:r>
          </a:p>
        </p:txBody>
      </p:sp>
    </p:spTree>
    <p:extLst>
      <p:ext uri="{BB962C8B-B14F-4D97-AF65-F5344CB8AC3E}">
        <p14:creationId xmlns:p14="http://schemas.microsoft.com/office/powerpoint/2010/main" val="3390576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vert="horz"/>
          <a:lstStyle/>
          <a:p>
            <a:r>
              <a:rPr lang="ru-RU" dirty="0"/>
              <a:t>Тезис №</a:t>
            </a:r>
            <a:r>
              <a:rPr lang="en-US" dirty="0"/>
              <a:t>1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Контейнеры не замещают виртуализацию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E7C51-F474-4249-BCD1-E3389DDEE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02F9828-8730-4AB1-8BE8-336E4DF8E71F}"/>
              </a:ext>
            </a:extLst>
          </p:cNvPr>
          <p:cNvSpPr/>
          <p:nvPr/>
        </p:nvSpPr>
        <p:spPr>
          <a:xfrm>
            <a:off x="677334" y="6354428"/>
            <a:ext cx="1070186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tx1"/>
                </a:solidFill>
              </a:rPr>
              <a:t>Источники: </a:t>
            </a:r>
            <a:r>
              <a:rPr lang="en-US" sz="1000" i="1" dirty="0">
                <a:solidFill>
                  <a:schemeClr val="tx1"/>
                </a:solidFill>
                <a:hlinkClick r:id="rId5"/>
              </a:rPr>
              <a:t>IDC </a:t>
            </a:r>
            <a:r>
              <a:rPr lang="ru-RU" sz="1000" i="1" dirty="0">
                <a:solidFill>
                  <a:schemeClr val="tx1"/>
                </a:solidFill>
                <a:hlinkClick r:id="rId5"/>
              </a:rPr>
              <a:t>для </a:t>
            </a:r>
            <a:r>
              <a:rPr lang="en-US" sz="1000" i="1" dirty="0">
                <a:solidFill>
                  <a:schemeClr val="tx1"/>
                </a:solidFill>
                <a:hlinkClick r:id="rId5"/>
              </a:rPr>
              <a:t>VMware, 2020</a:t>
            </a:r>
            <a:endParaRPr lang="ru-RU" sz="1000" i="1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614540-49AF-4C8A-8F24-B606621F7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05" y="1769061"/>
            <a:ext cx="9148049" cy="4499781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E5F06915-8D79-41A3-943E-4894D2424EA0}"/>
              </a:ext>
            </a:extLst>
          </p:cNvPr>
          <p:cNvSpPr/>
          <p:nvPr/>
        </p:nvSpPr>
        <p:spPr>
          <a:xfrm>
            <a:off x="7948233" y="2421451"/>
            <a:ext cx="3600000" cy="31085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</a:rPr>
              <a:t>Выдержки из исследования: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Containers operate at the application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level, while virtualization operates at the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hardware level, which means </a:t>
            </a:r>
            <a:r>
              <a:rPr lang="en-US" sz="1600" b="1" dirty="0">
                <a:solidFill>
                  <a:schemeClr val="tx1"/>
                </a:solidFill>
              </a:rPr>
              <a:t>the two can</a:t>
            </a:r>
            <a:r>
              <a:rPr lang="ru-RU" sz="1600" b="1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work together rather than one being a</a:t>
            </a:r>
            <a:r>
              <a:rPr lang="ru-RU" sz="1600" b="1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replacement for the other.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Virtualization can increase security,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manageability, utilization, reliability,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availability, and scalability for containers.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166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vert="horz"/>
          <a:lstStyle/>
          <a:p>
            <a:r>
              <a:rPr lang="ru-RU" dirty="0"/>
              <a:t>Тезис №2:</a:t>
            </a:r>
            <a:r>
              <a:rPr lang="en-US" dirty="0"/>
              <a:t> </a:t>
            </a:r>
            <a:r>
              <a:rPr lang="ru-RU" dirty="0"/>
              <a:t>Контейнеры будут везде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E7C51-F474-4249-BCD1-E3389DDEE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02F9828-8730-4AB1-8BE8-336E4DF8E71F}"/>
              </a:ext>
            </a:extLst>
          </p:cNvPr>
          <p:cNvSpPr/>
          <p:nvPr/>
        </p:nvSpPr>
        <p:spPr>
          <a:xfrm>
            <a:off x="677334" y="6354428"/>
            <a:ext cx="10701866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tx1"/>
                </a:solidFill>
              </a:rPr>
              <a:t>Источники:</a:t>
            </a:r>
            <a:r>
              <a:rPr lang="en-US" sz="1000" i="1" dirty="0">
                <a:solidFill>
                  <a:schemeClr val="tx1"/>
                </a:solidFill>
              </a:rPr>
              <a:t> </a:t>
            </a:r>
            <a:r>
              <a:rPr lang="en-US" sz="1000" i="1" dirty="0">
                <a:solidFill>
                  <a:schemeClr val="tx1"/>
                </a:solidFill>
                <a:hlinkClick r:id="rId5"/>
              </a:rPr>
              <a:t>IDC</a:t>
            </a:r>
            <a:r>
              <a:rPr lang="en-US" sz="1000" i="1" dirty="0">
                <a:solidFill>
                  <a:schemeClr val="tx1"/>
                </a:solidFill>
              </a:rPr>
              <a:t> 2022; </a:t>
            </a:r>
            <a:r>
              <a:rPr lang="en-US" sz="1000" i="1" dirty="0">
                <a:solidFill>
                  <a:schemeClr val="tx1"/>
                </a:solidFill>
                <a:hlinkClick r:id="rId6"/>
              </a:rPr>
              <a:t>Gartner 2023</a:t>
            </a:r>
            <a:endParaRPr lang="ru-RU" sz="1000" i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EC29B6-05DF-4F23-A47E-70B8098FE2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48" y="1632085"/>
            <a:ext cx="5436203" cy="457486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AFB4396-265D-4482-8814-9AA52E7A9934}"/>
              </a:ext>
            </a:extLst>
          </p:cNvPr>
          <p:cNvSpPr/>
          <p:nvPr/>
        </p:nvSpPr>
        <p:spPr>
          <a:xfrm>
            <a:off x="6479196" y="2553952"/>
            <a:ext cx="5053991" cy="2939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Strategic Planning Assumptions by Gartner</a:t>
            </a:r>
            <a:r>
              <a:rPr lang="ru-RU" sz="1600" b="1" dirty="0">
                <a:solidFill>
                  <a:schemeClr val="tx1"/>
                </a:solidFill>
              </a:rPr>
              <a:t>: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By 2027, more than half of all container management deployments will involve serverless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container services, up from less than 25% today.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By 2027, more than 75% of all AI deployments will use container technology as the underlying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compute environment, up from less than 50% today.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By 2028, 80% of custom software running at the physical edge will be deployed in containers,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which is an increase from 10% in 2023.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0EA9D-7ED1-4F2A-8639-4EEDCED8DE6E}"/>
              </a:ext>
            </a:extLst>
          </p:cNvPr>
          <p:cNvSpPr/>
          <p:nvPr/>
        </p:nvSpPr>
        <p:spPr>
          <a:xfrm>
            <a:off x="677334" y="1609987"/>
            <a:ext cx="505399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Deployment forecast, %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371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830E6B-4A6F-4D72-88A8-D01211D69F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830E6B-4A6F-4D72-88A8-D01211D69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46C823-541D-48F4-AD60-3A23159B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vert="horz"/>
          <a:lstStyle/>
          <a:p>
            <a:r>
              <a:rPr lang="ru-RU" sz="2800" dirty="0"/>
              <a:t>Тезис №</a:t>
            </a:r>
            <a:r>
              <a:rPr lang="en-US" sz="2800" dirty="0"/>
              <a:t>3</a:t>
            </a:r>
            <a:r>
              <a:rPr lang="ru-RU" sz="2800" dirty="0"/>
              <a:t>:</a:t>
            </a:r>
            <a:r>
              <a:rPr lang="en-US" sz="2800" dirty="0"/>
              <a:t> </a:t>
            </a:r>
            <a:r>
              <a:rPr lang="ru-RU" sz="2800" dirty="0"/>
              <a:t>рынок контейнеров будет расти кратно быстрее виртуализации, но всё еще будет существенно меньше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51A5B979-BD14-4AAB-9F09-02903ACC4AF0}"/>
              </a:ext>
            </a:extLst>
          </p:cNvPr>
          <p:cNvSpPr/>
          <p:nvPr/>
        </p:nvSpPr>
        <p:spPr>
          <a:xfrm>
            <a:off x="12329886" y="181957"/>
            <a:ext cx="1248228" cy="4281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75">
            <a:extLst>
              <a:ext uri="{FF2B5EF4-FFF2-40B4-BE49-F238E27FC236}">
                <a16:creationId xmlns:a16="http://schemas.microsoft.com/office/drawing/2014/main" id="{E4604776-2337-4885-AB01-6E7F6FCCA5AC}"/>
              </a:ext>
            </a:extLst>
          </p:cNvPr>
          <p:cNvSpPr/>
          <p:nvPr/>
        </p:nvSpPr>
        <p:spPr>
          <a:xfrm>
            <a:off x="12329886" y="747487"/>
            <a:ext cx="1248228" cy="428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76">
            <a:extLst>
              <a:ext uri="{FF2B5EF4-FFF2-40B4-BE49-F238E27FC236}">
                <a16:creationId xmlns:a16="http://schemas.microsoft.com/office/drawing/2014/main" id="{ADA9442B-DC02-449A-90D2-BE186F1124FE}"/>
              </a:ext>
            </a:extLst>
          </p:cNvPr>
          <p:cNvSpPr/>
          <p:nvPr/>
        </p:nvSpPr>
        <p:spPr>
          <a:xfrm>
            <a:off x="12329886" y="1328059"/>
            <a:ext cx="1248228" cy="42817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79">
            <a:extLst>
              <a:ext uri="{FF2B5EF4-FFF2-40B4-BE49-F238E27FC236}">
                <a16:creationId xmlns:a16="http://schemas.microsoft.com/office/drawing/2014/main" id="{E5E6B18B-0D11-43CB-A388-6BC280AD8561}"/>
              </a:ext>
            </a:extLst>
          </p:cNvPr>
          <p:cNvSpPr/>
          <p:nvPr/>
        </p:nvSpPr>
        <p:spPr>
          <a:xfrm>
            <a:off x="12329886" y="1918476"/>
            <a:ext cx="1248228" cy="428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80">
            <a:extLst>
              <a:ext uri="{FF2B5EF4-FFF2-40B4-BE49-F238E27FC236}">
                <a16:creationId xmlns:a16="http://schemas.microsoft.com/office/drawing/2014/main" id="{70CD0E73-8678-44BD-8C57-4845862FDAD7}"/>
              </a:ext>
            </a:extLst>
          </p:cNvPr>
          <p:cNvSpPr/>
          <p:nvPr/>
        </p:nvSpPr>
        <p:spPr>
          <a:xfrm>
            <a:off x="12329886" y="2499048"/>
            <a:ext cx="1248228" cy="428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A4C4557D-DC98-4E9C-B612-3D1E1AC4F381}"/>
              </a:ext>
            </a:extLst>
          </p:cNvPr>
          <p:cNvSpPr/>
          <p:nvPr/>
        </p:nvSpPr>
        <p:spPr>
          <a:xfrm>
            <a:off x="12329886" y="3079620"/>
            <a:ext cx="1248228" cy="4281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82">
            <a:extLst>
              <a:ext uri="{FF2B5EF4-FFF2-40B4-BE49-F238E27FC236}">
                <a16:creationId xmlns:a16="http://schemas.microsoft.com/office/drawing/2014/main" id="{EC4AA735-AC54-492E-AE8A-5523E9BB802D}"/>
              </a:ext>
            </a:extLst>
          </p:cNvPr>
          <p:cNvSpPr/>
          <p:nvPr/>
        </p:nvSpPr>
        <p:spPr>
          <a:xfrm>
            <a:off x="12319074" y="3680052"/>
            <a:ext cx="1248228" cy="428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83">
            <a:extLst>
              <a:ext uri="{FF2B5EF4-FFF2-40B4-BE49-F238E27FC236}">
                <a16:creationId xmlns:a16="http://schemas.microsoft.com/office/drawing/2014/main" id="{65C81E52-0BAE-433A-8542-BA39E3E86EEC}"/>
              </a:ext>
            </a:extLst>
          </p:cNvPr>
          <p:cNvSpPr/>
          <p:nvPr/>
        </p:nvSpPr>
        <p:spPr>
          <a:xfrm>
            <a:off x="12319074" y="4260624"/>
            <a:ext cx="1248228" cy="428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Rectangle 84">
            <a:extLst>
              <a:ext uri="{FF2B5EF4-FFF2-40B4-BE49-F238E27FC236}">
                <a16:creationId xmlns:a16="http://schemas.microsoft.com/office/drawing/2014/main" id="{26FFD1E7-CAA3-47D1-A881-CA0129999933}"/>
              </a:ext>
            </a:extLst>
          </p:cNvPr>
          <p:cNvSpPr/>
          <p:nvPr/>
        </p:nvSpPr>
        <p:spPr>
          <a:xfrm>
            <a:off x="12319074" y="4841196"/>
            <a:ext cx="1248228" cy="4281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E7C51-F474-4249-BCD1-E3389DDEE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6782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DE1744-803E-4708-8F85-3A4872A0B160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FB4396-265D-4482-8814-9AA52E7A9934}"/>
              </a:ext>
            </a:extLst>
          </p:cNvPr>
          <p:cNvSpPr/>
          <p:nvPr/>
        </p:nvSpPr>
        <p:spPr>
          <a:xfrm>
            <a:off x="677333" y="1773238"/>
            <a:ext cx="5040000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</a:rPr>
              <a:t>Оценки мирового рынка виртуализации,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ru-RU" sz="1600" b="1" dirty="0">
                <a:solidFill>
                  <a:schemeClr val="tx1"/>
                </a:solidFill>
              </a:rPr>
              <a:t>млрд долл.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0DE2E4-0A4F-453D-8022-E2CFB4CEA40D}"/>
              </a:ext>
            </a:extLst>
          </p:cNvPr>
          <p:cNvSpPr/>
          <p:nvPr/>
        </p:nvSpPr>
        <p:spPr>
          <a:xfrm>
            <a:off x="6503609" y="1773238"/>
            <a:ext cx="5040000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</a:rPr>
              <a:t>Оценки мирового рынка контейнеризации, 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ru-RU" sz="1600" b="1" dirty="0">
                <a:solidFill>
                  <a:schemeClr val="tx1"/>
                </a:solidFill>
              </a:rPr>
              <a:t>млрд долл.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07A3A6-0EC7-4269-9B5F-2E828908850B}"/>
              </a:ext>
            </a:extLst>
          </p:cNvPr>
          <p:cNvSpPr/>
          <p:nvPr/>
        </p:nvSpPr>
        <p:spPr>
          <a:xfrm>
            <a:off x="6503609" y="2305409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</a:t>
            </a:r>
            <a:r>
              <a:rPr lang="ru-RU" sz="2000" dirty="0">
                <a:solidFill>
                  <a:schemeClr val="tx1"/>
                </a:solidFill>
              </a:rPr>
              <a:t>8,3</a:t>
            </a:r>
            <a:r>
              <a:rPr lang="en-US" sz="2000" dirty="0">
                <a:solidFill>
                  <a:schemeClr val="tx1"/>
                </a:solidFill>
              </a:rPr>
              <a:t>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2024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69B871-5F72-4AF3-8D9C-63C39F5304E2}"/>
              </a:ext>
            </a:extLst>
          </p:cNvPr>
          <p:cNvSpPr/>
          <p:nvPr/>
        </p:nvSpPr>
        <p:spPr>
          <a:xfrm>
            <a:off x="7836307" y="2305409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$24B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2030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97031F-32D5-48B7-894B-A19D28CBC721}"/>
              </a:ext>
            </a:extLst>
          </p:cNvPr>
          <p:cNvSpPr/>
          <p:nvPr/>
        </p:nvSpPr>
        <p:spPr>
          <a:xfrm>
            <a:off x="9081670" y="2305409"/>
            <a:ext cx="165663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CAGR – 24%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C43B8D-D9E7-4FEC-90A0-DC96CCD0D3EA}"/>
              </a:ext>
            </a:extLst>
          </p:cNvPr>
          <p:cNvSpPr/>
          <p:nvPr/>
        </p:nvSpPr>
        <p:spPr>
          <a:xfrm>
            <a:off x="731861" y="2305409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$95B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2024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140A97-D636-4917-A7EE-216127924C29}"/>
              </a:ext>
            </a:extLst>
          </p:cNvPr>
          <p:cNvSpPr/>
          <p:nvPr/>
        </p:nvSpPr>
        <p:spPr>
          <a:xfrm>
            <a:off x="2064559" y="2305409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$149B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2029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902622-2570-4B8F-B46E-47E5D128A357}"/>
              </a:ext>
            </a:extLst>
          </p:cNvPr>
          <p:cNvSpPr/>
          <p:nvPr/>
        </p:nvSpPr>
        <p:spPr>
          <a:xfrm>
            <a:off x="3309922" y="2305409"/>
            <a:ext cx="165663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CAGR – 9,5%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4C5DD3-4FEE-48BE-9D57-A5810F8E888E}"/>
              </a:ext>
            </a:extLst>
          </p:cNvPr>
          <p:cNvSpPr/>
          <p:nvPr/>
        </p:nvSpPr>
        <p:spPr>
          <a:xfrm>
            <a:off x="677334" y="3027666"/>
            <a:ext cx="5040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 err="1">
                <a:solidFill>
                  <a:schemeClr val="tx1"/>
                </a:solidFill>
                <a:hlinkClick r:id="rId5"/>
              </a:rPr>
              <a:t>Mordor</a:t>
            </a:r>
            <a:r>
              <a:rPr lang="fr-FR" sz="1000" i="1" dirty="0">
                <a:solidFill>
                  <a:schemeClr val="tx1"/>
                </a:solidFill>
                <a:hlinkClick r:id="rId5"/>
              </a:rPr>
              <a:t> </a:t>
            </a:r>
            <a:r>
              <a:rPr lang="en-US" sz="1000" i="1" dirty="0">
                <a:solidFill>
                  <a:schemeClr val="tx1"/>
                </a:solidFill>
                <a:hlinkClick r:id="rId5"/>
              </a:rPr>
              <a:t>I</a:t>
            </a:r>
            <a:r>
              <a:rPr lang="fr-FR" sz="1000" i="1" dirty="0" err="1">
                <a:solidFill>
                  <a:schemeClr val="tx1"/>
                </a:solidFill>
                <a:hlinkClick r:id="rId5"/>
              </a:rPr>
              <a:t>ntelligence</a:t>
            </a:r>
            <a:endParaRPr lang="ru-RU" sz="1000" i="1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33A425-41E9-4D89-9372-8C371B71E819}"/>
              </a:ext>
            </a:extLst>
          </p:cNvPr>
          <p:cNvSpPr/>
          <p:nvPr/>
        </p:nvSpPr>
        <p:spPr>
          <a:xfrm>
            <a:off x="6503609" y="3027666"/>
            <a:ext cx="5040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 err="1">
                <a:solidFill>
                  <a:schemeClr val="tx1"/>
                </a:solidFill>
                <a:hlinkClick r:id="rId5"/>
              </a:rPr>
              <a:t>Mordor</a:t>
            </a:r>
            <a:r>
              <a:rPr lang="fr-FR" sz="1000" i="1" dirty="0">
                <a:solidFill>
                  <a:schemeClr val="tx1"/>
                </a:solidFill>
                <a:hlinkClick r:id="rId5"/>
              </a:rPr>
              <a:t> </a:t>
            </a:r>
            <a:r>
              <a:rPr lang="en-US" sz="1000" i="1" dirty="0">
                <a:solidFill>
                  <a:schemeClr val="tx1"/>
                </a:solidFill>
                <a:hlinkClick r:id="rId5"/>
              </a:rPr>
              <a:t>I</a:t>
            </a:r>
            <a:r>
              <a:rPr lang="fr-FR" sz="1000" i="1" dirty="0" err="1">
                <a:solidFill>
                  <a:schemeClr val="tx1"/>
                </a:solidFill>
                <a:hlinkClick r:id="rId5"/>
              </a:rPr>
              <a:t>ntelligence</a:t>
            </a:r>
            <a:endParaRPr lang="ru-RU" sz="1000" i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05E8BA-9638-4B17-83FA-EC1C6E5994A5}"/>
              </a:ext>
            </a:extLst>
          </p:cNvPr>
          <p:cNvSpPr/>
          <p:nvPr/>
        </p:nvSpPr>
        <p:spPr>
          <a:xfrm>
            <a:off x="6503609" y="3436237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$4,5B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2024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D3DB70-D007-4777-A0DC-F63772032790}"/>
              </a:ext>
            </a:extLst>
          </p:cNvPr>
          <p:cNvSpPr/>
          <p:nvPr/>
        </p:nvSpPr>
        <p:spPr>
          <a:xfrm>
            <a:off x="7836307" y="3436237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$15B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1DB5726-9C0B-45A3-A2D7-777BE7B11635}"/>
              </a:ext>
            </a:extLst>
          </p:cNvPr>
          <p:cNvSpPr/>
          <p:nvPr/>
        </p:nvSpPr>
        <p:spPr>
          <a:xfrm>
            <a:off x="9081670" y="3436237"/>
            <a:ext cx="165663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CAGR – 28%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DBC2A6-0B90-4EE3-BA75-ED2816B26E16}"/>
              </a:ext>
            </a:extLst>
          </p:cNvPr>
          <p:cNvSpPr/>
          <p:nvPr/>
        </p:nvSpPr>
        <p:spPr>
          <a:xfrm>
            <a:off x="731861" y="3436237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$85B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2023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D707ED-E28A-4CF6-91FC-7C09910A05DF}"/>
              </a:ext>
            </a:extLst>
          </p:cNvPr>
          <p:cNvSpPr/>
          <p:nvPr/>
        </p:nvSpPr>
        <p:spPr>
          <a:xfrm>
            <a:off x="2064559" y="3436237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$135B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0BE294-0797-4F36-A223-0C7E6B8078A7}"/>
              </a:ext>
            </a:extLst>
          </p:cNvPr>
          <p:cNvSpPr/>
          <p:nvPr/>
        </p:nvSpPr>
        <p:spPr>
          <a:xfrm>
            <a:off x="3309922" y="3436237"/>
            <a:ext cx="165663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CAGR – 9,5%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0D23AF-86DA-4525-B9A4-73723D83A120}"/>
              </a:ext>
            </a:extLst>
          </p:cNvPr>
          <p:cNvSpPr/>
          <p:nvPr/>
        </p:nvSpPr>
        <p:spPr>
          <a:xfrm>
            <a:off x="677334" y="4158494"/>
            <a:ext cx="5040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 err="1">
                <a:solidFill>
                  <a:schemeClr val="tx1"/>
                </a:solidFill>
                <a:hlinkClick r:id="rId6"/>
              </a:rPr>
              <a:t>technavio</a:t>
            </a:r>
            <a:endParaRPr lang="ru-RU" sz="1000" i="1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950F56-3FA4-4D0C-9DCA-0C605C6CB833}"/>
              </a:ext>
            </a:extLst>
          </p:cNvPr>
          <p:cNvSpPr/>
          <p:nvPr/>
        </p:nvSpPr>
        <p:spPr>
          <a:xfrm>
            <a:off x="6503609" y="4158494"/>
            <a:ext cx="5040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 err="1">
                <a:solidFill>
                  <a:schemeClr val="tx1"/>
                </a:solidFill>
                <a:hlinkClick r:id="rId7"/>
              </a:rPr>
              <a:t>technavio</a:t>
            </a:r>
            <a:endParaRPr lang="ru-RU" sz="1000" i="1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4EB6CF-DCC3-40B7-AA6D-53486652C069}"/>
              </a:ext>
            </a:extLst>
          </p:cNvPr>
          <p:cNvSpPr/>
          <p:nvPr/>
        </p:nvSpPr>
        <p:spPr>
          <a:xfrm>
            <a:off x="6455183" y="4557584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$2,5B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32C8E58-57B5-4AEA-ADCB-99973CAD0167}"/>
              </a:ext>
            </a:extLst>
          </p:cNvPr>
          <p:cNvSpPr/>
          <p:nvPr/>
        </p:nvSpPr>
        <p:spPr>
          <a:xfrm>
            <a:off x="7787881" y="4557584"/>
            <a:ext cx="1138876" cy="630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$7,5B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</a:rPr>
              <a:t>2025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9F9111-9977-49FF-BB0D-01F9E9E98AA5}"/>
              </a:ext>
            </a:extLst>
          </p:cNvPr>
          <p:cNvSpPr/>
          <p:nvPr/>
        </p:nvSpPr>
        <p:spPr>
          <a:xfrm>
            <a:off x="9033244" y="4557584"/>
            <a:ext cx="165663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CAGR – 25%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D93E6B2-50BC-465F-84F8-5D34003A4C5E}"/>
              </a:ext>
            </a:extLst>
          </p:cNvPr>
          <p:cNvSpPr/>
          <p:nvPr/>
        </p:nvSpPr>
        <p:spPr>
          <a:xfrm>
            <a:off x="683435" y="4557584"/>
            <a:ext cx="113887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NA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200D8D3-5E58-4AF8-B5D1-E833D8EA4B57}"/>
              </a:ext>
            </a:extLst>
          </p:cNvPr>
          <p:cNvSpPr/>
          <p:nvPr/>
        </p:nvSpPr>
        <p:spPr>
          <a:xfrm>
            <a:off x="2016133" y="4557584"/>
            <a:ext cx="113887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NA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8BC33E6-0651-44A8-BE2F-B2DF51360FDE}"/>
              </a:ext>
            </a:extLst>
          </p:cNvPr>
          <p:cNvSpPr/>
          <p:nvPr/>
        </p:nvSpPr>
        <p:spPr>
          <a:xfrm>
            <a:off x="3261496" y="4557584"/>
            <a:ext cx="1656631" cy="61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CAGR – 7%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(2022-27)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81F6DE2-B497-43EF-B940-FADD8CC2CD1C}"/>
              </a:ext>
            </a:extLst>
          </p:cNvPr>
          <p:cNvSpPr/>
          <p:nvPr/>
        </p:nvSpPr>
        <p:spPr>
          <a:xfrm>
            <a:off x="628908" y="5279841"/>
            <a:ext cx="5040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 err="1">
                <a:solidFill>
                  <a:schemeClr val="tx1"/>
                </a:solidFill>
                <a:hlinkClick r:id="rId8"/>
              </a:rPr>
              <a:t>omdia</a:t>
            </a:r>
            <a:endParaRPr lang="ru-RU" sz="1000" i="1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248F2D-AB05-4556-8E53-240098AC43EB}"/>
              </a:ext>
            </a:extLst>
          </p:cNvPr>
          <p:cNvSpPr/>
          <p:nvPr/>
        </p:nvSpPr>
        <p:spPr>
          <a:xfrm>
            <a:off x="6455183" y="5274176"/>
            <a:ext cx="5040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1000" i="1" dirty="0" err="1">
                <a:solidFill>
                  <a:schemeClr val="tx1"/>
                </a:solidFill>
                <a:hlinkClick r:id="rId9"/>
              </a:rPr>
              <a:t>omdia</a:t>
            </a:r>
            <a:endParaRPr lang="ru-RU" sz="1000" i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48745D-7CCB-4933-985B-6596AA9F900C}"/>
              </a:ext>
            </a:extLst>
          </p:cNvPr>
          <p:cNvSpPr/>
          <p:nvPr/>
        </p:nvSpPr>
        <p:spPr>
          <a:xfrm>
            <a:off x="628908" y="5741485"/>
            <a:ext cx="5467092" cy="4903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err="1"/>
              <a:t>Справочно</a:t>
            </a:r>
            <a:r>
              <a:rPr lang="ru-RU" dirty="0"/>
              <a:t>: выручка </a:t>
            </a:r>
            <a:r>
              <a:rPr lang="en-US" dirty="0" err="1"/>
              <a:t>Vmware</a:t>
            </a:r>
            <a:r>
              <a:rPr lang="en-US" dirty="0"/>
              <a:t> </a:t>
            </a:r>
            <a:r>
              <a:rPr lang="ru-RU" dirty="0"/>
              <a:t>за 2023 г. – </a:t>
            </a:r>
            <a:r>
              <a:rPr lang="en-US" dirty="0"/>
              <a:t>$</a:t>
            </a:r>
            <a:r>
              <a:rPr lang="ru-RU" dirty="0"/>
              <a:t>13</a:t>
            </a:r>
            <a:r>
              <a:rPr lang="en-US" dirty="0"/>
              <a:t>B</a:t>
            </a:r>
            <a:endParaRPr lang="ru-RU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04C291D-D518-4300-9F73-E8B29EF5A18C}"/>
              </a:ext>
            </a:extLst>
          </p:cNvPr>
          <p:cNvSpPr/>
          <p:nvPr/>
        </p:nvSpPr>
        <p:spPr>
          <a:xfrm>
            <a:off x="632854" y="5447812"/>
            <a:ext cx="518169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i="1" dirty="0">
                <a:solidFill>
                  <a:schemeClr val="tx1"/>
                </a:solidFill>
              </a:rPr>
              <a:t>Все рынки включают облачный сегмент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5064D0-5F26-439E-A39F-3AEA2E75913B}"/>
              </a:ext>
            </a:extLst>
          </p:cNvPr>
          <p:cNvSpPr/>
          <p:nvPr/>
        </p:nvSpPr>
        <p:spPr>
          <a:xfrm>
            <a:off x="6241637" y="5486874"/>
            <a:ext cx="5467092" cy="9171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Большинство исследований не из авторитетных источников, однако общее соотношение рынка можно считать правдивым</a:t>
            </a:r>
          </a:p>
        </p:txBody>
      </p:sp>
    </p:spTree>
    <p:extLst>
      <p:ext uri="{BB962C8B-B14F-4D97-AF65-F5344CB8AC3E}">
        <p14:creationId xmlns:p14="http://schemas.microsoft.com/office/powerpoint/2010/main" val="27022215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bOqmDCM7lCYF_e.jfsKz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do409pSzeO5QsaLyVzzG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YbsgySVk0tEoTkeKjXl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Ne919cGB1VvtQmSaCej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FpsqwC4Bu1l_jkZ9Pt_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TWdYBqDxgtkheVJ3DO8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2Yb1Y5N2UTJxF9BTvKJ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PE3BesYiO4D42J1oKz2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BVl5NIPm.pCZTotW5SD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n2xTWyV7I7dqg5ypW1h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y67FdxIJXiaa5ng2wF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p6LYgpeNTL1D_P0sMkH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S_rV1KCtc1Esh8kmQgH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agpigqschDhz.9wR_mp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DqLvAG9AarPLdZEvZZH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FPJYxUio.Zwosh_zmix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LoXjYYJCiJijtOtt8l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haHPM13ptfACTXC0mM0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cHCHELmOOE5gU.a4HVu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qBsS2bCnsf3OhFBGUn2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M7vGP_gyqhJ7zXSGgdB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TbMqPHQsKOCmwyKt4Oh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VNj14K4AZ11xPSbxxaV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1EW8ak.6m6BvBzxEn5Tm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vmyl3531KrC7XOjxPeY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7sW0jKnprQ01TdgVqlS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KuZ1eqPmn4RoEtPQH2j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MFCBe9ViqfrzRdKdUVq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uip6h_J7vz4fkXGuQwn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MPnLtgz8am6fanj1tuAs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0BufV5bpw.QtRKvT80JO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qXb2t7g1NYq3NFbVyha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AWzkQ_sZCE5zJnuRuo3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OlNCbImGTpEBTggk31U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4LSRmEelR2qyxXFK5VV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h8kypcfGehqm3kFQH_m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GmNx_5s6CQfMEE2nFrJ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soP9tNXFh8KFAbUsFSK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uPQgINfLZt.zwabR.B8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UrCWICtPRpS6IzIPtGP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bidwG4U0CbE.V6n2r9j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huJsJVNvm6okyfuxZNg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3DAwNZaBf40YLQBZhRpd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kD1A1sS6.Bg0hs75X02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t8ucEI6ALPXdOaWkrBy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WLCe7WI2rPKsrJxQaKzs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9ttwQoa1gIcrosvt9UHq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rZQTivmrk9ZQuwk5Tz3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ah4q5YG1XKzEUnghKN4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ecbdVqsSiuBDAdV.arI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WVt8ybxJZovNVu.Zg5l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yo9Vd6iO7yGAmMC8hyZW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d915lKmwa_NrwrujQUO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nudLU2ebigkfBR9uSPO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dr.uUeHyqmnYUNK.4j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m21.9U9rnssR6eu55db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JbesLxAOEkk6weG0NIV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AFU7tiG6hXv523T4tOH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ekcmeyZwIjJo1is_cpO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Dca1es9Tpno8DV3jlNY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jmUuQ1RRa65lE6NmTOd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EFNIvqfrjn_CAB7OWkN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neGWuVoE0eaBavZrGGB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2MGfbUMb_KiPRb4dIyx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SwHNx.tdYSXcNxiQlUT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ZWadYNH4FMZ6M.Zc3Ge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E3i8DIn_.O6YEm00ben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XVsS4nXuqrT24u1fGdF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Контентные">
  <a:themeElements>
    <a:clrScheme name="Пользовательские 1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00D3E2"/>
      </a:accent3>
      <a:accent4>
        <a:srgbClr val="A6A6A6"/>
      </a:accent4>
      <a:accent5>
        <a:srgbClr val="000000"/>
      </a:accent5>
      <a:accent6>
        <a:srgbClr val="FF3785"/>
      </a:accent6>
      <a:hlink>
        <a:srgbClr val="0077FF"/>
      </a:hlink>
      <a:folHlink>
        <a:srgbClr val="00E9FF"/>
      </a:folHlink>
    </a:clrScheme>
    <a:fontScheme name="VK 2020">
      <a:majorFont>
        <a:latin typeface="VK Sans Display Medium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F Pro Text Light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 algn="l">
          <a:lnSpc>
            <a:spcPct val="110000"/>
          </a:lnSpc>
          <a:spcAft>
            <a:spcPts val="600"/>
          </a:spcAft>
          <a:defRPr dirty="0" smtClean="0"/>
        </a:defPPr>
      </a:lstStyle>
    </a:txDef>
  </a:objectDefaults>
  <a:extraClrSchemeLst/>
  <a:custClrLst>
    <a:custClr name="VK1">
      <a:srgbClr val="397ECC"/>
    </a:custClr>
    <a:custClr name="VK2">
      <a:srgbClr val="EE5C44"/>
    </a:custClr>
    <a:custClr name="VK3">
      <a:srgbClr val="F8C246"/>
    </a:custClr>
    <a:custClr name="VK4">
      <a:srgbClr val="E6457A"/>
    </a:custClr>
    <a:custClr name="VK5">
      <a:srgbClr val="EB4250"/>
    </a:custClr>
    <a:custClr name="VK6">
      <a:srgbClr val="EE5959"/>
    </a:custClr>
    <a:custClr name="VK7">
      <a:srgbClr val="FAEBEB"/>
    </a:custClr>
    <a:custClr name="VK8">
      <a:srgbClr val="52B34B"/>
    </a:custClr>
    <a:custClr name="VK9">
      <a:srgbClr val="65DA65"/>
    </a:custClr>
    <a:custClr name="VK10">
      <a:srgbClr val="63B9BA"/>
    </a:custClr>
    <a:custClr name="VK11">
      <a:srgbClr val="7A3AC0"/>
    </a:custClr>
    <a:custClr name="VK12">
      <a:srgbClr val="A997F9"/>
    </a:custClr>
    <a:custClr name="VK13">
      <a:srgbClr val="F4E7C3"/>
    </a:custClr>
    <a:custClr name="VK14">
      <a:srgbClr val="A99670"/>
    </a:custClr>
  </a:custClrLst>
  <a:extLst>
    <a:ext uri="{05A4C25C-085E-4340-85A3-A5531E510DB2}">
      <thm15:themeFamily xmlns:thm15="http://schemas.microsoft.com/office/thememl/2012/main" name="VK New Color" id="{0F21C935-88F8-0D48-A688-F608B5B18543}" vid="{EC4E97C5-885E-3B48-9924-4E236FEFACA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VK New Color</Template>
  <TotalTime>100295</TotalTime>
  <Words>3697</Words>
  <Application>Microsoft Office PowerPoint</Application>
  <PresentationFormat>Широкоэкранный</PresentationFormat>
  <Paragraphs>546</Paragraphs>
  <Slides>26</Slides>
  <Notes>19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9" baseType="lpstr">
      <vt:lpstr>Arial</vt:lpstr>
      <vt:lpstr>Calibri</vt:lpstr>
      <vt:lpstr>Montserrat</vt:lpstr>
      <vt:lpstr>Montserrat SemiBold</vt:lpstr>
      <vt:lpstr>Play</vt:lpstr>
      <vt:lpstr>SF Pro Text Light</vt:lpstr>
      <vt:lpstr>TT Commons</vt:lpstr>
      <vt:lpstr>VK Sans Display</vt:lpstr>
      <vt:lpstr>VK Sans Display DemiBold</vt:lpstr>
      <vt:lpstr>VK Sans Display Medium</vt:lpstr>
      <vt:lpstr>Wingdings</vt:lpstr>
      <vt:lpstr>Контентные</vt:lpstr>
      <vt:lpstr>think-cell Slide</vt:lpstr>
      <vt:lpstr>VK Tech </vt:lpstr>
      <vt:lpstr>Текущий состав облачных продуктов в On-Prem (AS-IS) </vt:lpstr>
      <vt:lpstr>Игроки рынка виртуализации и контейнеризации</vt:lpstr>
      <vt:lpstr>VMware и Microsoft Hyper-V продолжают  использовать 72% и 51% компаний соответственно   </vt:lpstr>
      <vt:lpstr>Обзор производителей интегрированных облачных решений</vt:lpstr>
      <vt:lpstr>SWOT-анализ Private Cloud</vt:lpstr>
      <vt:lpstr>Предложение по развитию Объединение IaaS</vt:lpstr>
      <vt:lpstr>При текущих темпах роста займем 10% рынка в 2027 г.;  для занятия топ-1 необходимо расти на ~80% в 2026 и 2027 гг.</vt:lpstr>
      <vt:lpstr>Предложение по развитию Замещение VMWare</vt:lpstr>
      <vt:lpstr>Предложение по развитию Частное облако – зонтичный бренд и концепция развития инфраструктуры</vt:lpstr>
      <vt:lpstr>Предложение по развитию Определить вектор развития сервиса K8s</vt:lpstr>
      <vt:lpstr>Облачные On-Prem продукты VK Tech / модули частного облака</vt:lpstr>
      <vt:lpstr>Облачные On-Prem продукты VK Tech / модули частного облака</vt:lpstr>
      <vt:lpstr>Обсуждение модулей облака </vt:lpstr>
      <vt:lpstr>Обсуждение модулей облака </vt:lpstr>
      <vt:lpstr>Обсуждение модулей облака </vt:lpstr>
      <vt:lpstr>Обсуждение модулей облака </vt:lpstr>
      <vt:lpstr>Обсуждение модулей облака </vt:lpstr>
      <vt:lpstr>Обсуждение модулей облака </vt:lpstr>
      <vt:lpstr>Обсуждение модулей облака </vt:lpstr>
      <vt:lpstr>Презентация PowerPoint</vt:lpstr>
      <vt:lpstr>Кто покупатель частного облака и в чем наша ценность для него?</vt:lpstr>
      <vt:lpstr>Приложение. Про контейнеры</vt:lpstr>
      <vt:lpstr>Тезис №1: Контейнеры не замещают виртуализацию</vt:lpstr>
      <vt:lpstr>Тезис №2: Контейнеры будут везде</vt:lpstr>
      <vt:lpstr>Тезис №3: рынок контейнеров будет расти кратно быстрее виртуализации, но всё еще будет существенно меньше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Проскурина Татьяна Сергеевна</dc:creator>
  <cp:lastModifiedBy>Alexey Kotelnitsky</cp:lastModifiedBy>
  <cp:revision>306</cp:revision>
  <dcterms:created xsi:type="dcterms:W3CDTF">2020-08-24T10:59:58Z</dcterms:created>
  <dcterms:modified xsi:type="dcterms:W3CDTF">2024-11-29T11:41:08Z</dcterms:modified>
</cp:coreProperties>
</file>