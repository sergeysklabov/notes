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147377190" r:id="rId2"/>
    <p:sldId id="2147377198" r:id="rId3"/>
    <p:sldId id="2147377227" r:id="rId4"/>
    <p:sldId id="2147377203" r:id="rId5"/>
    <p:sldId id="2147377205" r:id="rId6"/>
    <p:sldId id="2147377199" r:id="rId7"/>
    <p:sldId id="2147377207" r:id="rId8"/>
    <p:sldId id="2147377213" r:id="rId9"/>
    <p:sldId id="2147377233" r:id="rId10"/>
    <p:sldId id="2147377229" r:id="rId11"/>
    <p:sldId id="214737721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C21D3F-D788-EA48-FA0F-DC951EFE3E49}" name="Anna Zosimova" initials="AZ" userId="9dcdecbfde727e5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1"/>
    <a:srgbClr val="017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58"/>
    <p:restoredTop sz="96197"/>
  </p:normalViewPr>
  <p:slideViewPr>
    <p:cSldViewPr snapToGrid="0">
      <p:cViewPr varScale="1">
        <p:scale>
          <a:sx n="127" d="100"/>
          <a:sy n="127" d="100"/>
        </p:scale>
        <p:origin x="36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26217-F040-1843-BD4F-7977F80907DC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A8DEC-49CC-E848-860C-EFF4782C17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7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Ценность срезана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8DEC-49CC-E848-860C-EFF4782C17A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475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8DEC-49CC-E848-860C-EFF4782C17A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769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1. 2. 3. 4. 5.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8DEC-49CC-E848-860C-EFF4782C17A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94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DB439-8F5B-48E5-7326-11C179681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626F2A-B010-654A-67E7-8DAB0AC98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0FB6F6-4DD8-BE02-8F60-F81A3DF16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3FE916-A058-4B6D-1AED-7DEA84A70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DB66BC-E009-4947-4214-DC8FD658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97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FE008F-FC2D-646E-52FB-FCEA1CD5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BC0BD2-86E1-E0FE-4B6E-1E379BAE2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3A0CB2-0BB1-52E5-BAE6-EDADB096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6B5265-1317-F833-5BC2-0202C900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30DC10-EC7A-AD81-A3E9-4DF7372C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43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61F3A-FE05-5B6F-427C-888400D9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C459A2-656A-4591-590D-7DCE146EE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009700-BCB9-38AD-4315-2B41DE3E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8B657-0C30-2F98-7C79-806DDE56D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22E3E-E1E6-A813-E3B7-6692661C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4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63F4A-76DA-07F9-6513-5F0D343C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60A964-17EB-1023-2F2C-553B220C6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2BDF39-99AA-3934-75DC-81C73D1CB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0C1E36-DB85-8C5D-A8B9-54BB9D36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4DBEA1-F6B0-136A-2472-B4FA8C29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873909-3159-BA11-EF24-4F562764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15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E3BDE-D4D8-0474-F5BD-7D4E08F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FE64E-DC7C-4855-E8F6-0B4BEBAD5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A30E90-49E5-87B2-860B-E127DE5BB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D1CA5D-F4EC-75E3-57CE-6328E68D1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B0BB4F-B127-85B6-0B71-C02200EA3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5804B7-4AC5-7D4F-5384-64BE571A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0A05BB-0D77-D601-84EF-0FC6C6E8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D65091-96C0-1006-C5BA-5FCEC76C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18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97B84-1AF6-1141-00EB-277E6F68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445033F-4CAF-6C97-8F96-7E4A98CB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363A0F-2C6F-61F2-FEC5-3D21F3EA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A9031C-E5C6-D739-5C8B-0BFD892C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5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92E6B4-4362-0578-77C0-9B86B6C8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1B2860-AFF4-BDE2-5667-77C98C85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6409A0-E5A7-19FC-CE3D-FC0AE2DF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58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6D57E-533E-15F4-3C5F-384204BE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525C56-81FD-DB6C-74FE-8BD736018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AFDDC3-2AE1-C353-481C-8A7EE73DB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312E72-1F56-EF4F-C5F4-3C040C04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52A51F-DA7A-07D7-387F-89331948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E7D43B-C2FE-1526-8FD7-48EA5320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20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E7FEF-58FB-8D09-6A59-B3D47DC0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E38671-6AE0-DE2B-3784-3A46C95EA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D5D827-4DA7-BC4C-B020-75209075C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B38E41-B9E3-C8D7-1A77-06D22897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EC06F9-7581-321B-34D4-46C4938C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8AEC14-2011-438B-C6B8-443C4339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88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4DB1F-5E71-C748-A6FE-CC1BFCC1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E14587-1804-FE12-5CFA-203F8BD72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D8C16-90EA-CCE9-3C47-B8DBDFA5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1EBBB3-1B9C-40AE-B15F-26775EBF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39B45B-EB7E-9FA8-5EEA-A0D8D9CB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6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8097B2-B7E8-3C06-5E2C-384651EE2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2DF698-07CA-358E-8F01-A146F26CB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65E340-580B-5B28-A9E8-D4B377D89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89854B-6782-7140-1A78-090AE06A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5B322F-F324-8EDB-2607-E41351B3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708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 userDrawn="1"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 userDrawn="1"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B87E4-90D6-9BAC-BFAC-B2EB812656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" y="0"/>
            <a:ext cx="12192014" cy="685800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DCBCAA-163C-28F1-46AD-7017AD4C28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8813" y="6168444"/>
            <a:ext cx="1555289" cy="35508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1B963F-69FF-E872-A478-75EF7C4ABE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8813" y="692150"/>
            <a:ext cx="1761135" cy="55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58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>
            <a:extLst>
              <a:ext uri="{FF2B5EF4-FFF2-40B4-BE49-F238E27FC236}">
                <a16:creationId xmlns:a16="http://schemas.microsoft.com/office/drawing/2014/main" id="{CE65941D-C389-5B4D-A763-47A56D7D5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1773239"/>
            <a:ext cx="5200968" cy="43926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32220" y="1773239"/>
            <a:ext cx="5200968" cy="439261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319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8DEF0-71F3-ADF0-F428-05FDB2DC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4CBC95-9B68-134E-4EE0-4C44CEAAD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A88256-BE06-FC5B-6D98-00F8C7CF6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A375D-9414-0F4D-A5C7-9EBDB833EE82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4D3769-0CED-92DE-A856-DCF7156B4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AA3402-8220-8761-146C-FB6D339FD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D6873-F69F-EC43-B316-BD9150AF4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29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4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289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0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1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2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3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4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5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6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7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8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9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0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1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2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3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4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5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6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7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grpSp>
        <p:nvGrpSpPr>
          <p:cNvPr id="328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309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0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1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2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3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4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5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6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7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8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9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0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1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2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3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4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5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6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7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2" name="Google Shape;111;p1">
            <a:extLst>
              <a:ext uri="{FF2B5EF4-FFF2-40B4-BE49-F238E27FC236}">
                <a16:creationId xmlns:a16="http://schemas.microsoft.com/office/drawing/2014/main" id="{9FF579FA-86B6-3588-F0AD-80576DFC4A05}"/>
              </a:ext>
            </a:extLst>
          </p:cNvPr>
          <p:cNvSpPr txBox="1"/>
          <p:nvPr/>
        </p:nvSpPr>
        <p:spPr>
          <a:xfrm>
            <a:off x="577935" y="3289884"/>
            <a:ext cx="9950714" cy="59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 anchor="ctr">
            <a:spAutoFit/>
          </a:bodyPr>
          <a:lstStyle>
            <a:lvl1pPr>
              <a:lnSpc>
                <a:spcPct val="90000"/>
              </a:lnSpc>
              <a:defRPr sz="7000">
                <a:solidFill>
                  <a:srgbClr val="FFFFFF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 indent="0"/>
            <a:r>
              <a:rPr lang="en-US" sz="3600" b="1" dirty="0">
                <a:latin typeface="VK Sans Display" pitchFamily="2" charset="0"/>
              </a:rPr>
              <a:t>VK Data Platform</a:t>
            </a:r>
            <a:endParaRPr lang="ru-RU" sz="4400" b="1" dirty="0">
              <a:solidFill>
                <a:schemeClr val="accent3"/>
              </a:solidFill>
              <a:latin typeface="VK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546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E068657B-7F4C-BD09-097C-9EE3C30C0BEF}"/>
              </a:ext>
            </a:extLst>
          </p:cNvPr>
          <p:cNvSpPr/>
          <p:nvPr/>
        </p:nvSpPr>
        <p:spPr>
          <a:xfrm>
            <a:off x="330200" y="1080537"/>
            <a:ext cx="11557000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51" y="350884"/>
            <a:ext cx="8462282" cy="572424"/>
          </a:xfrm>
        </p:spPr>
        <p:txBody>
          <a:bodyPr/>
          <a:lstStyle/>
          <a:p>
            <a:r>
              <a:rPr lang="en-US" sz="3200" b="1" dirty="0">
                <a:latin typeface="VK Sans Display DemiBold" pitchFamily="2" charset="0"/>
              </a:rPr>
              <a:t>VK Data Platform</a:t>
            </a:r>
            <a:endParaRPr lang="ru-RU" sz="3200" b="1" dirty="0">
              <a:latin typeface="VK Sans Display DemiBold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FB3E286E-65C2-967A-9ACF-533F7DA3F4EC}"/>
              </a:ext>
            </a:extLst>
          </p:cNvPr>
          <p:cNvGrpSpPr/>
          <p:nvPr/>
        </p:nvGrpSpPr>
        <p:grpSpPr>
          <a:xfrm>
            <a:off x="728785" y="2154925"/>
            <a:ext cx="10695428" cy="3375563"/>
            <a:chOff x="3059559" y="2316602"/>
            <a:chExt cx="6280096" cy="1982049"/>
          </a:xfrm>
        </p:grpSpPr>
        <p:sp>
          <p:nvSpPr>
            <p:cNvPr id="7" name="Шестиугольник 6">
              <a:extLst>
                <a:ext uri="{FF2B5EF4-FFF2-40B4-BE49-F238E27FC236}">
                  <a16:creationId xmlns:a16="http://schemas.microsoft.com/office/drawing/2014/main" id="{6B22605F-82F0-A0A0-34A0-B49A73CEF8A6}"/>
                </a:ext>
              </a:extLst>
            </p:cNvPr>
            <p:cNvSpPr/>
            <p:nvPr/>
          </p:nvSpPr>
          <p:spPr>
            <a:xfrm>
              <a:off x="5185767" y="2559815"/>
              <a:ext cx="1820466" cy="1569367"/>
            </a:xfrm>
            <a:prstGeom prst="hexagon">
              <a:avLst/>
            </a:prstGeom>
            <a:solidFill>
              <a:srgbClr val="0177FF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44696FB9-333E-B1FC-CC68-3514AB4B3F5D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 flipV="1">
              <a:off x="6613892" y="2319593"/>
              <a:ext cx="223070" cy="2402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E5D8EE7D-F1A8-9862-786E-1255DE2B8D2B}"/>
                </a:ext>
              </a:extLst>
            </p:cNvPr>
            <p:cNvCxnSpPr>
              <a:cxnSpLocks/>
            </p:cNvCxnSpPr>
            <p:nvPr/>
          </p:nvCxnSpPr>
          <p:spPr>
            <a:xfrm>
              <a:off x="6836962" y="2316602"/>
              <a:ext cx="244612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0298D4F0-22D6-84E1-AB65-8A054CB2F7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130" y="2334308"/>
              <a:ext cx="180315" cy="2314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4CFE16A1-506F-952D-9C60-BB8BE81E6193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59" y="2326762"/>
              <a:ext cx="234157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F7F1800-CD6C-7F2C-3852-AA9BCE319610}"/>
                </a:ext>
              </a:extLst>
            </p:cNvPr>
            <p:cNvCxnSpPr>
              <a:cxnSpLocks/>
            </p:cNvCxnSpPr>
            <p:nvPr/>
          </p:nvCxnSpPr>
          <p:spPr>
            <a:xfrm>
              <a:off x="3087735" y="3344498"/>
              <a:ext cx="209803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DCD01771-2C6A-1124-CAF4-F2EB4054E835}"/>
                </a:ext>
              </a:extLst>
            </p:cNvPr>
            <p:cNvCxnSpPr>
              <a:cxnSpLocks/>
            </p:cNvCxnSpPr>
            <p:nvPr/>
          </p:nvCxnSpPr>
          <p:spPr>
            <a:xfrm>
              <a:off x="7006233" y="3344498"/>
              <a:ext cx="227684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D61DA76-789A-43E7-C8D8-0C0CF55A61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7016" y="4119021"/>
              <a:ext cx="162309" cy="178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90AB494C-5386-DB84-3B82-A8D6C39070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7442" y="4132044"/>
              <a:ext cx="180828" cy="164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62F504B5-F230-5884-29D0-6BA1CD233625}"/>
                </a:ext>
              </a:extLst>
            </p:cNvPr>
            <p:cNvCxnSpPr>
              <a:cxnSpLocks/>
            </p:cNvCxnSpPr>
            <p:nvPr/>
          </p:nvCxnSpPr>
          <p:spPr>
            <a:xfrm>
              <a:off x="3095768" y="4298651"/>
              <a:ext cx="230167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881D310E-4D8F-65C4-836C-1F5BC36168E1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25" y="4298438"/>
              <a:ext cx="25703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Заголовок 58">
              <a:extLst>
                <a:ext uri="{FF2B5EF4-FFF2-40B4-BE49-F238E27FC236}">
                  <a16:creationId xmlns:a16="http://schemas.microsoft.com/office/drawing/2014/main" id="{C12E74A5-57B1-1B92-5484-9EE196B5D4BE}"/>
                </a:ext>
              </a:extLst>
            </p:cNvPr>
            <p:cNvSpPr txBox="1">
              <a:spLocks/>
            </p:cNvSpPr>
            <p:nvPr/>
          </p:nvSpPr>
          <p:spPr>
            <a:xfrm>
              <a:off x="5450912" y="3041556"/>
              <a:ext cx="1290174" cy="92825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ru-RU" sz="44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VK Sans Display Light" pitchFamily="2" charset="0"/>
                </a:rPr>
                <a:t>VK Data Platform</a:t>
              </a:r>
            </a:p>
          </p:txBody>
        </p:sp>
      </p:grpSp>
      <p:sp>
        <p:nvSpPr>
          <p:cNvPr id="27" name="Заголовок 58">
            <a:extLst>
              <a:ext uri="{FF2B5EF4-FFF2-40B4-BE49-F238E27FC236}">
                <a16:creationId xmlns:a16="http://schemas.microsoft.com/office/drawing/2014/main" id="{67BC1E24-56B3-B378-7065-C9376DB010A2}"/>
              </a:ext>
            </a:extLst>
          </p:cNvPr>
          <p:cNvSpPr txBox="1">
            <a:spLocks/>
          </p:cNvSpPr>
          <p:nvPr/>
        </p:nvSpPr>
        <p:spPr>
          <a:xfrm>
            <a:off x="790451" y="1661169"/>
            <a:ext cx="383209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Единое окно/среда для всех задач связанных с данными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28" name="Заголовок 58">
            <a:extLst>
              <a:ext uri="{FF2B5EF4-FFF2-40B4-BE49-F238E27FC236}">
                <a16:creationId xmlns:a16="http://schemas.microsoft.com/office/drawing/2014/main" id="{D692AF2D-7F8B-18C9-6754-4E30D5028CCA}"/>
              </a:ext>
            </a:extLst>
          </p:cNvPr>
          <p:cNvSpPr txBox="1">
            <a:spLocks/>
          </p:cNvSpPr>
          <p:nvPr/>
        </p:nvSpPr>
        <p:spPr>
          <a:xfrm>
            <a:off x="7120427" y="4974829"/>
            <a:ext cx="4272075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Простота миграции данных как между инструментами/БД, так и в облако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29" name="Заголовок 58">
            <a:extLst>
              <a:ext uri="{FF2B5EF4-FFF2-40B4-BE49-F238E27FC236}">
                <a16:creationId xmlns:a16="http://schemas.microsoft.com/office/drawing/2014/main" id="{F143EA3D-6A79-BF3C-92F7-E6B430D23156}"/>
              </a:ext>
            </a:extLst>
          </p:cNvPr>
          <p:cNvSpPr txBox="1">
            <a:spLocks/>
          </p:cNvSpPr>
          <p:nvPr/>
        </p:nvSpPr>
        <p:spPr>
          <a:xfrm>
            <a:off x="776772" y="4974829"/>
            <a:ext cx="378387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Объединение принципов подходов </a:t>
            </a:r>
            <a:r>
              <a:rPr lang="en" sz="1800" b="1" dirty="0">
                <a:latin typeface="VK Sans Display Light" pitchFamily="2" charset="0"/>
              </a:rPr>
              <a:t>Lakehouse </a:t>
            </a:r>
            <a:r>
              <a:rPr lang="ru-RU" sz="1800" b="1" dirty="0">
                <a:latin typeface="VK Sans Display Light" pitchFamily="2" charset="0"/>
              </a:rPr>
              <a:t>и </a:t>
            </a:r>
            <a:r>
              <a:rPr lang="en" sz="1800" b="1" dirty="0" err="1">
                <a:latin typeface="VK Sans Display Light" pitchFamily="2" charset="0"/>
              </a:rPr>
              <a:t>DataMesh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30" name="Заголовок 58">
            <a:extLst>
              <a:ext uri="{FF2B5EF4-FFF2-40B4-BE49-F238E27FC236}">
                <a16:creationId xmlns:a16="http://schemas.microsoft.com/office/drawing/2014/main" id="{921A6014-B3F7-8BB6-2BBD-CB9FF480A84F}"/>
              </a:ext>
            </a:extLst>
          </p:cNvPr>
          <p:cNvSpPr txBox="1">
            <a:spLocks/>
          </p:cNvSpPr>
          <p:nvPr/>
        </p:nvSpPr>
        <p:spPr>
          <a:xfrm>
            <a:off x="7161956" y="1616129"/>
            <a:ext cx="4005715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Повышение зрелости компании в части работы с данными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6204B7-A4BF-26A4-E2C2-ABE660FE37F8}"/>
              </a:ext>
            </a:extLst>
          </p:cNvPr>
          <p:cNvSpPr txBox="1"/>
          <p:nvPr/>
        </p:nvSpPr>
        <p:spPr>
          <a:xfrm>
            <a:off x="1835369" y="6356624"/>
            <a:ext cx="196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latin typeface="VK Sans Display" pitchFamily="2" charset="0"/>
              </a:rPr>
              <a:t>* </a:t>
            </a:r>
            <a:r>
              <a:rPr lang="ru-RU" sz="900" i="1" dirty="0">
                <a:latin typeface="VK Sans Display" pitchFamily="2" charset="0"/>
              </a:rPr>
              <a:t>С Релизом новой версии </a:t>
            </a:r>
          </a:p>
        </p:txBody>
      </p:sp>
      <p:sp>
        <p:nvSpPr>
          <p:cNvPr id="3" name="Заголовок 58">
            <a:extLst>
              <a:ext uri="{FF2B5EF4-FFF2-40B4-BE49-F238E27FC236}">
                <a16:creationId xmlns:a16="http://schemas.microsoft.com/office/drawing/2014/main" id="{66CBC516-BF07-5A52-7599-D4469BF6561F}"/>
              </a:ext>
            </a:extLst>
          </p:cNvPr>
          <p:cNvSpPr txBox="1">
            <a:spLocks/>
          </p:cNvSpPr>
          <p:nvPr/>
        </p:nvSpPr>
        <p:spPr>
          <a:xfrm>
            <a:off x="7530333" y="3155093"/>
            <a:ext cx="3717438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Платформа развертывается в </a:t>
            </a:r>
            <a:r>
              <a:rPr lang="en" sz="1800" b="1" dirty="0" err="1">
                <a:latin typeface="VK Sans Display Light" pitchFamily="2" charset="0"/>
              </a:rPr>
              <a:t>kubernetes</a:t>
            </a:r>
            <a:r>
              <a:rPr lang="en" sz="1800" b="1" dirty="0">
                <a:latin typeface="VK Sans Display Light" pitchFamily="2" charset="0"/>
              </a:rPr>
              <a:t> </a:t>
            </a:r>
            <a:r>
              <a:rPr lang="ru-RU" sz="1800" b="1" dirty="0">
                <a:latin typeface="VK Sans Display Light" pitchFamily="2" charset="0"/>
              </a:rPr>
              <a:t>инфраструктуре клиента, облака или в гибриде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4" name="Заголовок 58">
            <a:extLst>
              <a:ext uri="{FF2B5EF4-FFF2-40B4-BE49-F238E27FC236}">
                <a16:creationId xmlns:a16="http://schemas.microsoft.com/office/drawing/2014/main" id="{F893C094-97C2-9A13-6C61-7A6B1807AD6A}"/>
              </a:ext>
            </a:extLst>
          </p:cNvPr>
          <p:cNvSpPr txBox="1">
            <a:spLocks/>
          </p:cNvSpPr>
          <p:nvPr/>
        </p:nvSpPr>
        <p:spPr>
          <a:xfrm>
            <a:off x="776771" y="3320400"/>
            <a:ext cx="3385221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Включена в реестр российского ПО</a:t>
            </a:r>
            <a:r>
              <a:rPr lang="en-US" sz="1800" b="1" dirty="0">
                <a:latin typeface="VK Sans Display Light" pitchFamily="2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54457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E068657B-7F4C-BD09-097C-9EE3C30C0BEF}"/>
              </a:ext>
            </a:extLst>
          </p:cNvPr>
          <p:cNvSpPr/>
          <p:nvPr/>
        </p:nvSpPr>
        <p:spPr>
          <a:xfrm>
            <a:off x="330200" y="1080537"/>
            <a:ext cx="11557000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51" y="350884"/>
            <a:ext cx="6456893" cy="572424"/>
          </a:xfrm>
        </p:spPr>
        <p:txBody>
          <a:bodyPr/>
          <a:lstStyle/>
          <a:p>
            <a:r>
              <a:rPr lang="en-US" sz="3200" b="1" dirty="0">
                <a:latin typeface="VK Sans Display DemiBold" pitchFamily="2" charset="0"/>
              </a:rPr>
              <a:t>VK Data Platform</a:t>
            </a:r>
            <a:r>
              <a:rPr lang="ru-RU" sz="3200" b="1" dirty="0">
                <a:latin typeface="VK Sans Display DemiBold" pitchFamily="2" charset="0"/>
              </a:rPr>
              <a:t>. Состав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FB3E286E-65C2-967A-9ACF-533F7DA3F4EC}"/>
              </a:ext>
            </a:extLst>
          </p:cNvPr>
          <p:cNvGrpSpPr/>
          <p:nvPr/>
        </p:nvGrpSpPr>
        <p:grpSpPr>
          <a:xfrm>
            <a:off x="728785" y="2154925"/>
            <a:ext cx="10695428" cy="3375200"/>
            <a:chOff x="3059559" y="2316602"/>
            <a:chExt cx="6280096" cy="1981836"/>
          </a:xfrm>
        </p:grpSpPr>
        <p:sp>
          <p:nvSpPr>
            <p:cNvPr id="7" name="Шестиугольник 6">
              <a:extLst>
                <a:ext uri="{FF2B5EF4-FFF2-40B4-BE49-F238E27FC236}">
                  <a16:creationId xmlns:a16="http://schemas.microsoft.com/office/drawing/2014/main" id="{6B22605F-82F0-A0A0-34A0-B49A73CEF8A6}"/>
                </a:ext>
              </a:extLst>
            </p:cNvPr>
            <p:cNvSpPr/>
            <p:nvPr/>
          </p:nvSpPr>
          <p:spPr>
            <a:xfrm>
              <a:off x="5185767" y="2559815"/>
              <a:ext cx="1820466" cy="1569367"/>
            </a:xfrm>
            <a:prstGeom prst="hexagon">
              <a:avLst/>
            </a:prstGeom>
            <a:solidFill>
              <a:srgbClr val="0177FF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44696FB9-333E-B1FC-CC68-3514AB4B3F5D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 flipV="1">
              <a:off x="6613892" y="2319593"/>
              <a:ext cx="223070" cy="2402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E5D8EE7D-F1A8-9862-786E-1255DE2B8D2B}"/>
                </a:ext>
              </a:extLst>
            </p:cNvPr>
            <p:cNvCxnSpPr>
              <a:cxnSpLocks/>
            </p:cNvCxnSpPr>
            <p:nvPr/>
          </p:nvCxnSpPr>
          <p:spPr>
            <a:xfrm>
              <a:off x="6836962" y="2316602"/>
              <a:ext cx="244612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0298D4F0-22D6-84E1-AB65-8A054CB2F7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130" y="2334308"/>
              <a:ext cx="180315" cy="2314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4CFE16A1-506F-952D-9C60-BB8BE81E6193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59" y="2326762"/>
              <a:ext cx="234157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0F7F1800-CD6C-7F2C-3852-AA9BCE319610}"/>
                </a:ext>
              </a:extLst>
            </p:cNvPr>
            <p:cNvCxnSpPr>
              <a:cxnSpLocks/>
            </p:cNvCxnSpPr>
            <p:nvPr/>
          </p:nvCxnSpPr>
          <p:spPr>
            <a:xfrm>
              <a:off x="3087735" y="3344498"/>
              <a:ext cx="209803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DCD01771-2C6A-1124-CAF4-F2EB4054E835}"/>
                </a:ext>
              </a:extLst>
            </p:cNvPr>
            <p:cNvCxnSpPr>
              <a:cxnSpLocks/>
            </p:cNvCxnSpPr>
            <p:nvPr/>
          </p:nvCxnSpPr>
          <p:spPr>
            <a:xfrm>
              <a:off x="7006233" y="3344498"/>
              <a:ext cx="227684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D61DA76-789A-43E7-C8D8-0C0CF55A61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7016" y="4119021"/>
              <a:ext cx="162309" cy="178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881D310E-4D8F-65C4-836C-1F5BC36168E1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25" y="4298438"/>
              <a:ext cx="25703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Заголовок 58">
              <a:extLst>
                <a:ext uri="{FF2B5EF4-FFF2-40B4-BE49-F238E27FC236}">
                  <a16:creationId xmlns:a16="http://schemas.microsoft.com/office/drawing/2014/main" id="{C12E74A5-57B1-1B92-5484-9EE196B5D4BE}"/>
                </a:ext>
              </a:extLst>
            </p:cNvPr>
            <p:cNvSpPr txBox="1">
              <a:spLocks/>
            </p:cNvSpPr>
            <p:nvPr/>
          </p:nvSpPr>
          <p:spPr>
            <a:xfrm>
              <a:off x="5450912" y="3041556"/>
              <a:ext cx="1290174" cy="92825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ru-RU" sz="44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VK Sans Display Light" pitchFamily="2" charset="0"/>
                </a:rPr>
                <a:t>VK Data Platform</a:t>
              </a:r>
            </a:p>
          </p:txBody>
        </p:sp>
      </p:grpSp>
      <p:sp>
        <p:nvSpPr>
          <p:cNvPr id="27" name="Заголовок 58">
            <a:extLst>
              <a:ext uri="{FF2B5EF4-FFF2-40B4-BE49-F238E27FC236}">
                <a16:creationId xmlns:a16="http://schemas.microsoft.com/office/drawing/2014/main" id="{67BC1E24-56B3-B378-7065-C9376DB010A2}"/>
              </a:ext>
            </a:extLst>
          </p:cNvPr>
          <p:cNvSpPr txBox="1">
            <a:spLocks/>
          </p:cNvSpPr>
          <p:nvPr/>
        </p:nvSpPr>
        <p:spPr>
          <a:xfrm>
            <a:off x="728552" y="1392331"/>
            <a:ext cx="4908318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Продукты хранения и обработки данных 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29" name="Заголовок 58">
            <a:extLst>
              <a:ext uri="{FF2B5EF4-FFF2-40B4-BE49-F238E27FC236}">
                <a16:creationId xmlns:a16="http://schemas.microsoft.com/office/drawing/2014/main" id="{F143EA3D-6A79-BF3C-92F7-E6B430D23156}"/>
              </a:ext>
            </a:extLst>
          </p:cNvPr>
          <p:cNvSpPr txBox="1">
            <a:spLocks/>
          </p:cNvSpPr>
          <p:nvPr/>
        </p:nvSpPr>
        <p:spPr>
          <a:xfrm>
            <a:off x="776772" y="3308712"/>
            <a:ext cx="378387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800" b="1" dirty="0">
                <a:latin typeface="VK Sans Display Light" pitchFamily="2" charset="0"/>
              </a:rPr>
              <a:t>ML Platform 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30" name="Заголовок 58">
            <a:extLst>
              <a:ext uri="{FF2B5EF4-FFF2-40B4-BE49-F238E27FC236}">
                <a16:creationId xmlns:a16="http://schemas.microsoft.com/office/drawing/2014/main" id="{921A6014-B3F7-8BB6-2BBD-CB9FF480A84F}"/>
              </a:ext>
            </a:extLst>
          </p:cNvPr>
          <p:cNvSpPr txBox="1">
            <a:spLocks/>
          </p:cNvSpPr>
          <p:nvPr/>
        </p:nvSpPr>
        <p:spPr>
          <a:xfrm>
            <a:off x="7161957" y="1546706"/>
            <a:ext cx="344853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Интеграционные инструменты 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31" name="Заголовок 58">
            <a:extLst>
              <a:ext uri="{FF2B5EF4-FFF2-40B4-BE49-F238E27FC236}">
                <a16:creationId xmlns:a16="http://schemas.microsoft.com/office/drawing/2014/main" id="{2CF05FD0-E3FF-9234-AA44-96EDD4E04E33}"/>
              </a:ext>
            </a:extLst>
          </p:cNvPr>
          <p:cNvSpPr txBox="1">
            <a:spLocks/>
          </p:cNvSpPr>
          <p:nvPr/>
        </p:nvSpPr>
        <p:spPr>
          <a:xfrm>
            <a:off x="7549507" y="3112850"/>
            <a:ext cx="3865721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800" b="1" dirty="0">
                <a:latin typeface="VK Sans Display Light" pitchFamily="2" charset="0"/>
              </a:rPr>
              <a:t>UI/BI </a:t>
            </a:r>
            <a:r>
              <a:rPr lang="ru-RU" sz="1800" b="1" dirty="0">
                <a:latin typeface="VK Sans Display Light" pitchFamily="2" charset="0"/>
              </a:rPr>
              <a:t>для доступа к данным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32" name="Заголовок 58">
            <a:extLst>
              <a:ext uri="{FF2B5EF4-FFF2-40B4-BE49-F238E27FC236}">
                <a16:creationId xmlns:a16="http://schemas.microsoft.com/office/drawing/2014/main" id="{4980D628-922F-205C-A961-018D891F3BC0}"/>
              </a:ext>
            </a:extLst>
          </p:cNvPr>
          <p:cNvSpPr txBox="1">
            <a:spLocks/>
          </p:cNvSpPr>
          <p:nvPr/>
        </p:nvSpPr>
        <p:spPr>
          <a:xfrm>
            <a:off x="7103668" y="4911357"/>
            <a:ext cx="4366232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 Light" pitchFamily="2" charset="0"/>
              </a:rPr>
              <a:t>Инструменты отказоустойчивости и </a:t>
            </a:r>
            <a:r>
              <a:rPr lang="ru-RU" sz="1800" b="1" dirty="0" err="1">
                <a:latin typeface="VK Sans Display Light" pitchFamily="2" charset="0"/>
              </a:rPr>
              <a:t>бэкапирования</a:t>
            </a:r>
            <a:r>
              <a:rPr lang="ru-RU" sz="1800" b="1" dirty="0">
                <a:latin typeface="VK Sans Display Light" pitchFamily="2" charset="0"/>
              </a:rPr>
              <a:t> 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49" name="Заголовок 58">
            <a:extLst>
              <a:ext uri="{FF2B5EF4-FFF2-40B4-BE49-F238E27FC236}">
                <a16:creationId xmlns:a16="http://schemas.microsoft.com/office/drawing/2014/main" id="{A6EBD3A8-CA86-95C1-3C66-670023186C65}"/>
              </a:ext>
            </a:extLst>
          </p:cNvPr>
          <p:cNvSpPr txBox="1">
            <a:spLocks/>
          </p:cNvSpPr>
          <p:nvPr/>
        </p:nvSpPr>
        <p:spPr>
          <a:xfrm>
            <a:off x="728551" y="1702781"/>
            <a:ext cx="3981805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latin typeface="VK Sans Display Light" pitchFamily="2" charset="0"/>
              </a:rPr>
              <a:t>Объектное </a:t>
            </a:r>
          </a:p>
          <a:p>
            <a:r>
              <a:rPr lang="ru-RU" sz="1400" dirty="0">
                <a:latin typeface="VK Sans Display Light" pitchFamily="2" charset="0"/>
              </a:rPr>
              <a:t>хранилище </a:t>
            </a:r>
            <a:r>
              <a:rPr lang="en" sz="1400" dirty="0">
                <a:latin typeface="VK Sans Display Light" pitchFamily="2" charset="0"/>
              </a:rPr>
              <a:t>VK S3, </a:t>
            </a:r>
            <a:r>
              <a:rPr lang="ru-RU" sz="1400" dirty="0">
                <a:latin typeface="VK Sans Display Light" pitchFamily="2" charset="0"/>
              </a:rPr>
              <a:t>все типовые БД, </a:t>
            </a:r>
            <a:r>
              <a:rPr lang="en" sz="1400" dirty="0">
                <a:latin typeface="VK Sans Display Light" pitchFamily="2" charset="0"/>
              </a:rPr>
              <a:t>Spark, </a:t>
            </a:r>
            <a:r>
              <a:rPr lang="en" sz="1400" dirty="0" err="1">
                <a:latin typeface="VK Sans Display Light" pitchFamily="2" charset="0"/>
              </a:rPr>
              <a:t>Trino</a:t>
            </a:r>
            <a:endParaRPr lang="en-US" sz="1400" dirty="0">
              <a:latin typeface="VK Sans Display Light" pitchFamily="2" charset="0"/>
            </a:endParaRPr>
          </a:p>
        </p:txBody>
      </p:sp>
      <p:sp>
        <p:nvSpPr>
          <p:cNvPr id="50" name="Заголовок 58">
            <a:extLst>
              <a:ext uri="{FF2B5EF4-FFF2-40B4-BE49-F238E27FC236}">
                <a16:creationId xmlns:a16="http://schemas.microsoft.com/office/drawing/2014/main" id="{B130C2D6-7E83-F005-1A11-CEA82868B4C6}"/>
              </a:ext>
            </a:extLst>
          </p:cNvPr>
          <p:cNvSpPr txBox="1">
            <a:spLocks/>
          </p:cNvSpPr>
          <p:nvPr/>
        </p:nvSpPr>
        <p:spPr>
          <a:xfrm>
            <a:off x="776771" y="3601467"/>
            <a:ext cx="3664260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400" dirty="0" err="1">
                <a:latin typeface="VK Sans Display Light" pitchFamily="2" charset="0"/>
              </a:rPr>
              <a:t>Jupyter,mlflow</a:t>
            </a:r>
            <a:endParaRPr lang="en-US" sz="1400" dirty="0">
              <a:latin typeface="VK Sans Display Light" pitchFamily="2" charset="0"/>
            </a:endParaRPr>
          </a:p>
        </p:txBody>
      </p:sp>
      <p:sp>
        <p:nvSpPr>
          <p:cNvPr id="52" name="Заголовок 58">
            <a:extLst>
              <a:ext uri="{FF2B5EF4-FFF2-40B4-BE49-F238E27FC236}">
                <a16:creationId xmlns:a16="http://schemas.microsoft.com/office/drawing/2014/main" id="{835416EF-A39E-80CE-C297-507C61AF20F4}"/>
              </a:ext>
            </a:extLst>
          </p:cNvPr>
          <p:cNvSpPr txBox="1">
            <a:spLocks/>
          </p:cNvSpPr>
          <p:nvPr/>
        </p:nvSpPr>
        <p:spPr>
          <a:xfrm>
            <a:off x="7162190" y="1862881"/>
            <a:ext cx="4653310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400" dirty="0">
                <a:latin typeface="VK Sans Display Light" pitchFamily="2" charset="0"/>
              </a:rPr>
              <a:t>Kafka, </a:t>
            </a:r>
            <a:r>
              <a:rPr lang="en" sz="1400" dirty="0" err="1">
                <a:latin typeface="VK Sans Display Light" pitchFamily="2" charset="0"/>
              </a:rPr>
              <a:t>Flink</a:t>
            </a:r>
            <a:r>
              <a:rPr lang="en" sz="1400" dirty="0">
                <a:latin typeface="VK Sans Display Light" pitchFamily="2" charset="0"/>
              </a:rPr>
              <a:t>, </a:t>
            </a:r>
            <a:r>
              <a:rPr lang="en" sz="1400" dirty="0" err="1">
                <a:latin typeface="VK Sans Display Light" pitchFamily="2" charset="0"/>
              </a:rPr>
              <a:t>Tarantool</a:t>
            </a:r>
            <a:r>
              <a:rPr lang="en" sz="1400" dirty="0">
                <a:latin typeface="VK Sans Display Light" pitchFamily="2" charset="0"/>
              </a:rPr>
              <a:t> CDC, Airflow</a:t>
            </a:r>
            <a:endParaRPr lang="en-US" sz="1400" dirty="0">
              <a:latin typeface="VK Sans Display Light" pitchFamily="2" charset="0"/>
            </a:endParaRPr>
          </a:p>
        </p:txBody>
      </p:sp>
      <p:sp>
        <p:nvSpPr>
          <p:cNvPr id="53" name="Заголовок 58">
            <a:extLst>
              <a:ext uri="{FF2B5EF4-FFF2-40B4-BE49-F238E27FC236}">
                <a16:creationId xmlns:a16="http://schemas.microsoft.com/office/drawing/2014/main" id="{FCBE3808-E82C-FD2A-1B07-666806EF6D7E}"/>
              </a:ext>
            </a:extLst>
          </p:cNvPr>
          <p:cNvSpPr txBox="1">
            <a:spLocks/>
          </p:cNvSpPr>
          <p:nvPr/>
        </p:nvSpPr>
        <p:spPr>
          <a:xfrm>
            <a:off x="7549508" y="3478906"/>
            <a:ext cx="4224198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latin typeface="VK Sans Display Light" pitchFamily="2" charset="0"/>
              </a:rPr>
              <a:t>Инструменты управления Базами Данных, сервисами и интерфейсы для ЛПР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BA8D9AA-2C2B-5AB0-4057-532447B3B36A}"/>
              </a:ext>
            </a:extLst>
          </p:cNvPr>
          <p:cNvCxnSpPr>
            <a:cxnSpLocks/>
          </p:cNvCxnSpPr>
          <p:nvPr/>
        </p:nvCxnSpPr>
        <p:spPr>
          <a:xfrm flipV="1">
            <a:off x="4710358" y="5246745"/>
            <a:ext cx="307962" cy="280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4C029F-798F-6F49-CD25-DE2B48E1DE3E}"/>
              </a:ext>
            </a:extLst>
          </p:cNvPr>
          <p:cNvCxnSpPr>
            <a:cxnSpLocks/>
          </p:cNvCxnSpPr>
          <p:nvPr/>
        </p:nvCxnSpPr>
        <p:spPr>
          <a:xfrm>
            <a:off x="790451" y="5530488"/>
            <a:ext cx="3919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58">
            <a:extLst>
              <a:ext uri="{FF2B5EF4-FFF2-40B4-BE49-F238E27FC236}">
                <a16:creationId xmlns:a16="http://schemas.microsoft.com/office/drawing/2014/main" id="{4ED72AA1-20CB-41C8-20F0-A96D1859948A}"/>
              </a:ext>
            </a:extLst>
          </p:cNvPr>
          <p:cNvSpPr txBox="1">
            <a:spLocks/>
          </p:cNvSpPr>
          <p:nvPr/>
        </p:nvSpPr>
        <p:spPr>
          <a:xfrm>
            <a:off x="774769" y="4833586"/>
            <a:ext cx="378387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800" b="1" dirty="0" err="1">
                <a:latin typeface="VK Sans Display Light" pitchFamily="2" charset="0"/>
              </a:rPr>
              <a:t>DataPlatformer</a:t>
            </a:r>
            <a:endParaRPr lang="en-US" sz="1800" b="1" dirty="0">
              <a:latin typeface="VK Sans Display Light" pitchFamily="2" charset="0"/>
            </a:endParaRPr>
          </a:p>
        </p:txBody>
      </p:sp>
      <p:sp>
        <p:nvSpPr>
          <p:cNvPr id="6" name="Заголовок 58">
            <a:extLst>
              <a:ext uri="{FF2B5EF4-FFF2-40B4-BE49-F238E27FC236}">
                <a16:creationId xmlns:a16="http://schemas.microsoft.com/office/drawing/2014/main" id="{7D8C9340-514B-5C67-93AC-3D18AF7D2E88}"/>
              </a:ext>
            </a:extLst>
          </p:cNvPr>
          <p:cNvSpPr txBox="1">
            <a:spLocks/>
          </p:cNvSpPr>
          <p:nvPr/>
        </p:nvSpPr>
        <p:spPr>
          <a:xfrm>
            <a:off x="790450" y="5092486"/>
            <a:ext cx="4044616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latin typeface="VK Sans Display Light" pitchFamily="2" charset="0"/>
              </a:rPr>
              <a:t>Универсальный </a:t>
            </a:r>
            <a:r>
              <a:rPr lang="ru-RU" sz="1400" dirty="0" err="1">
                <a:latin typeface="VK Sans Display Light" pitchFamily="2" charset="0"/>
              </a:rPr>
              <a:t>орекстратор</a:t>
            </a:r>
            <a:r>
              <a:rPr lang="ru-RU" sz="1400" dirty="0">
                <a:latin typeface="VK Sans Display Light" pitchFamily="2" charset="0"/>
              </a:rPr>
              <a:t> </a:t>
            </a:r>
          </a:p>
          <a:p>
            <a:r>
              <a:rPr lang="en-US" sz="1400" dirty="0">
                <a:latin typeface="VK Sans Display Light" pitchFamily="2" charset="0"/>
              </a:rPr>
              <a:t>PaaS</a:t>
            </a:r>
            <a:r>
              <a:rPr lang="ru-RU" sz="1400" dirty="0">
                <a:latin typeface="VK Sans Display Light" pitchFamily="2" charset="0"/>
              </a:rPr>
              <a:t>-</a:t>
            </a:r>
            <a:r>
              <a:rPr lang="en-US" sz="1400" dirty="0">
                <a:latin typeface="VK Sans Display Light" pitchFamily="2" charset="0"/>
              </a:rPr>
              <a:t>Data </a:t>
            </a:r>
            <a:r>
              <a:rPr lang="ru-RU" sz="1400" dirty="0">
                <a:latin typeface="VK Sans Display Light" pitchFamily="2" charset="0"/>
              </a:rPr>
              <a:t>сервисами поверх </a:t>
            </a:r>
            <a:r>
              <a:rPr lang="en-US" sz="1400" dirty="0">
                <a:latin typeface="VK Sans Display Light" pitchFamily="2" charset="0"/>
              </a:rPr>
              <a:t>k8s</a:t>
            </a:r>
          </a:p>
        </p:txBody>
      </p:sp>
    </p:spTree>
    <p:extLst>
      <p:ext uri="{BB962C8B-B14F-4D97-AF65-F5344CB8AC3E}">
        <p14:creationId xmlns:p14="http://schemas.microsoft.com/office/powerpoint/2010/main" val="178237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3B50E5A-DDA4-1ACE-E4B4-65621508EECF}"/>
              </a:ext>
            </a:extLst>
          </p:cNvPr>
          <p:cNvSpPr/>
          <p:nvPr/>
        </p:nvSpPr>
        <p:spPr>
          <a:xfrm>
            <a:off x="6044039" y="1"/>
            <a:ext cx="6147961" cy="6858000"/>
          </a:xfrm>
          <a:prstGeom prst="rect">
            <a:avLst/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04" y="350883"/>
            <a:ext cx="8340524" cy="1158379"/>
          </a:xfrm>
        </p:spPr>
        <p:txBody>
          <a:bodyPr/>
          <a:lstStyle/>
          <a:p>
            <a:r>
              <a:rPr lang="en-US" sz="3200" b="1" dirty="0">
                <a:latin typeface="VK Sans Display" pitchFamily="2" charset="0"/>
              </a:rPr>
              <a:t>VK</a:t>
            </a:r>
            <a:r>
              <a:rPr lang="en-US" sz="3200" b="1" dirty="0">
                <a:latin typeface="VK Sans Display DemiBold" pitchFamily="2" charset="0"/>
              </a:rPr>
              <a:t> Data Platform</a:t>
            </a:r>
            <a:r>
              <a:rPr lang="ru-RU" sz="3200" b="1" dirty="0">
                <a:latin typeface="VK Sans Display DemiBold" pitchFamily="2" charset="0"/>
              </a:rPr>
              <a:t>. </a:t>
            </a:r>
            <a:r>
              <a:rPr lang="en-US" sz="3200" b="1" dirty="0">
                <a:latin typeface="VK Sans Display DemiBold" pitchFamily="2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latin typeface="VK Sans Display DemiBold" pitchFamily="2" charset="0"/>
              </a:rPr>
              <a:t>Ценность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sp>
        <p:nvSpPr>
          <p:cNvPr id="6" name="Заголовок 58">
            <a:extLst>
              <a:ext uri="{FF2B5EF4-FFF2-40B4-BE49-F238E27FC236}">
                <a16:creationId xmlns:a16="http://schemas.microsoft.com/office/drawing/2014/main" id="{08F47290-CF7D-756E-C8E8-51DA14FAF090}"/>
              </a:ext>
            </a:extLst>
          </p:cNvPr>
          <p:cNvSpPr txBox="1">
            <a:spLocks/>
          </p:cNvSpPr>
          <p:nvPr/>
        </p:nvSpPr>
        <p:spPr>
          <a:xfrm>
            <a:off x="567160" y="1786566"/>
            <a:ext cx="3956488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" pitchFamily="2" charset="0"/>
              </a:rPr>
              <a:t>Построение и поддержка </a:t>
            </a:r>
            <a:r>
              <a:rPr lang="en-US" sz="1800" b="1" dirty="0">
                <a:latin typeface="VK Sans Display" pitchFamily="2" charset="0"/>
              </a:rPr>
              <a:t>Data Platform </a:t>
            </a:r>
            <a:r>
              <a:rPr lang="ru-RU" sz="1800" b="1" dirty="0">
                <a:latin typeface="VK Sans Display" pitchFamily="2" charset="0"/>
              </a:rPr>
              <a:t>самостоятельно</a:t>
            </a:r>
            <a:endParaRPr lang="en-US" sz="1800" b="1" dirty="0">
              <a:latin typeface="VK Sans Display" pitchFamily="2" charset="0"/>
            </a:endParaRPr>
          </a:p>
        </p:txBody>
      </p:sp>
      <p:sp>
        <p:nvSpPr>
          <p:cNvPr id="7" name="Заголовок 58">
            <a:extLst>
              <a:ext uri="{FF2B5EF4-FFF2-40B4-BE49-F238E27FC236}">
                <a16:creationId xmlns:a16="http://schemas.microsoft.com/office/drawing/2014/main" id="{4242B75A-ECE6-EBF5-24A1-F4243E8516B1}"/>
              </a:ext>
            </a:extLst>
          </p:cNvPr>
          <p:cNvSpPr txBox="1">
            <a:spLocks/>
          </p:cNvSpPr>
          <p:nvPr/>
        </p:nvSpPr>
        <p:spPr>
          <a:xfrm>
            <a:off x="551830" y="2495927"/>
            <a:ext cx="5393802" cy="23769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Сложность реализации бэкапов, </a:t>
            </a:r>
            <a:r>
              <a:rPr lang="ru-RU" sz="1400" dirty="0" err="1">
                <a:latin typeface="VK Sans Display Light" pitchFamily="2" charset="0"/>
              </a:rPr>
              <a:t>реплицирования</a:t>
            </a:r>
            <a:r>
              <a:rPr lang="ru-RU" sz="1400" dirty="0">
                <a:latin typeface="VK Sans Display Light" pitchFamily="2" charset="0"/>
              </a:rPr>
              <a:t>, отказоустойчивости (требуются </a:t>
            </a:r>
            <a:r>
              <a:rPr lang="en-US" sz="1400" dirty="0" err="1">
                <a:latin typeface="VK Sans Display Light" pitchFamily="2" charset="0"/>
              </a:rPr>
              <a:t>DevOPS</a:t>
            </a:r>
            <a:r>
              <a:rPr lang="en-US" sz="1400" dirty="0">
                <a:latin typeface="VK Sans Display Light" pitchFamily="2" charset="0"/>
              </a:rPr>
              <a:t>/DBA </a:t>
            </a:r>
            <a:r>
              <a:rPr lang="ru-RU" sz="1400" dirty="0">
                <a:latin typeface="VK Sans Display Light" pitchFamily="2" charset="0"/>
              </a:rPr>
              <a:t>инженеры)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Сложность поддержки инфраструктуры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Сложность с внедрением в действующие процессы компании и сложности интеграции с действующими системами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Сложность унификации стека компании и объединения разрозненных данных в разных источниках для бизнес приложений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endParaRPr lang="ru-RU" sz="1400" dirty="0"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VK Sans Display Light" pitchFamily="2" charset="0"/>
            </a:endParaRPr>
          </a:p>
        </p:txBody>
      </p:sp>
      <p:sp>
        <p:nvSpPr>
          <p:cNvPr id="8" name="Заголовок 58">
            <a:extLst>
              <a:ext uri="{FF2B5EF4-FFF2-40B4-BE49-F238E27FC236}">
                <a16:creationId xmlns:a16="http://schemas.microsoft.com/office/drawing/2014/main" id="{AF2DF01B-4EC5-43E0-74AD-C60033823DCF}"/>
              </a:ext>
            </a:extLst>
          </p:cNvPr>
          <p:cNvSpPr txBox="1">
            <a:spLocks/>
          </p:cNvSpPr>
          <p:nvPr/>
        </p:nvSpPr>
        <p:spPr>
          <a:xfrm>
            <a:off x="6571839" y="1786566"/>
            <a:ext cx="4215766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solidFill>
                  <a:schemeClr val="bg1"/>
                </a:solidFill>
                <a:latin typeface="VK Sans Display" pitchFamily="2" charset="0"/>
              </a:rPr>
              <a:t>С</a:t>
            </a:r>
            <a:r>
              <a:rPr lang="en-US" sz="1800" b="1" dirty="0">
                <a:solidFill>
                  <a:schemeClr val="bg1"/>
                </a:solidFill>
                <a:latin typeface="VK Sans Display" pitchFamily="2" charset="0"/>
              </a:rPr>
              <a:t> </a:t>
            </a:r>
            <a:r>
              <a:rPr lang="ru-RU" sz="1800" b="1" dirty="0">
                <a:solidFill>
                  <a:schemeClr val="bg1"/>
                </a:solidFill>
                <a:latin typeface="VK Sans Display" pitchFamily="2" charset="0"/>
              </a:rPr>
              <a:t>V</a:t>
            </a:r>
            <a:r>
              <a:rPr lang="en-US" sz="1800" b="1" dirty="0">
                <a:solidFill>
                  <a:schemeClr val="bg1"/>
                </a:solidFill>
                <a:latin typeface="VK Sans Display" pitchFamily="2" charset="0"/>
              </a:rPr>
              <a:t>K Data Platform</a:t>
            </a:r>
          </a:p>
        </p:txBody>
      </p:sp>
      <p:sp>
        <p:nvSpPr>
          <p:cNvPr id="9" name="Заголовок 58">
            <a:extLst>
              <a:ext uri="{FF2B5EF4-FFF2-40B4-BE49-F238E27FC236}">
                <a16:creationId xmlns:a16="http://schemas.microsoft.com/office/drawing/2014/main" id="{5B02BDB3-5EE4-D70F-F945-8575E298AEFC}"/>
              </a:ext>
            </a:extLst>
          </p:cNvPr>
          <p:cNvSpPr txBox="1">
            <a:spLocks/>
          </p:cNvSpPr>
          <p:nvPr/>
        </p:nvSpPr>
        <p:spPr>
          <a:xfrm>
            <a:off x="6571839" y="2495927"/>
            <a:ext cx="4844082" cy="32513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В платформе уже реализованы бэкапы, реплики, средства отказоустойчивости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В гибридном сценарии часть поддержки инфраструктуры берет на себя облако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K Sans Display Light" pitchFamily="2" charset="0"/>
              </a:rPr>
              <a:t>C VK Data Platform </a:t>
            </a: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упрощается процесс внедрения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VK Sans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Единая </a:t>
            </a:r>
            <a:r>
              <a:rPr lang="en-US" sz="1400" dirty="0">
                <a:solidFill>
                  <a:schemeClr val="bg1"/>
                </a:solidFill>
                <a:latin typeface="VK Sans Display Light" pitchFamily="2" charset="0"/>
              </a:rPr>
              <a:t>Data </a:t>
            </a: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Платформа унифицирует стек компании и его поддержку/обновление </a:t>
            </a:r>
            <a:endParaRPr lang="en-US" sz="1400" dirty="0">
              <a:solidFill>
                <a:schemeClr val="bg1"/>
              </a:solidFill>
              <a:latin typeface="VK Sans Display Light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B9EF4F-FAF6-6BED-812F-74D18AE3A8F5}"/>
              </a:ext>
            </a:extLst>
          </p:cNvPr>
          <p:cNvSpPr/>
          <p:nvPr/>
        </p:nvSpPr>
        <p:spPr>
          <a:xfrm>
            <a:off x="-1" y="5247162"/>
            <a:ext cx="5752619" cy="659757"/>
          </a:xfrm>
          <a:prstGeom prst="rect">
            <a:avLst/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400" dirty="0"/>
              <a:t>Для поддержки требуются </a:t>
            </a:r>
            <a:r>
              <a:rPr lang="en-US" sz="1400" dirty="0"/>
              <a:t>hardware-</a:t>
            </a:r>
            <a:r>
              <a:rPr lang="ru-RU" sz="1400" dirty="0"/>
              <a:t>инженеры, </a:t>
            </a:r>
            <a:br>
              <a:rPr lang="ru-RU" sz="1400" dirty="0"/>
            </a:br>
            <a:r>
              <a:rPr lang="en-US" sz="1400" dirty="0" err="1"/>
              <a:t>devops</a:t>
            </a:r>
            <a:r>
              <a:rPr lang="ru-RU" sz="1400" dirty="0"/>
              <a:t>, </a:t>
            </a:r>
            <a:r>
              <a:rPr lang="en-US" sz="1400" dirty="0"/>
              <a:t>DE, DBA, Backend </a:t>
            </a:r>
            <a:r>
              <a:rPr lang="ru-RU" sz="1400" dirty="0"/>
              <a:t>и др. разработчики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D3643F3-4406-0E27-7FD5-6551F339D13D}"/>
              </a:ext>
            </a:extLst>
          </p:cNvPr>
          <p:cNvSpPr/>
          <p:nvPr/>
        </p:nvSpPr>
        <p:spPr>
          <a:xfrm>
            <a:off x="6450959" y="5214367"/>
            <a:ext cx="5752619" cy="659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</a:rPr>
              <a:t>Поддержка предоставляется </a:t>
            </a:r>
            <a:r>
              <a:rPr lang="en-US" sz="1400" dirty="0">
                <a:solidFill>
                  <a:schemeClr val="tx1"/>
                </a:solidFill>
              </a:rPr>
              <a:t>VK*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FB316C-BD6F-36B5-B828-A7897CB87109}"/>
              </a:ext>
            </a:extLst>
          </p:cNvPr>
          <p:cNvSpPr txBox="1"/>
          <p:nvPr/>
        </p:nvSpPr>
        <p:spPr>
          <a:xfrm>
            <a:off x="6439384" y="6235247"/>
            <a:ext cx="3500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  <a:latin typeface="VK Sans Display" pitchFamily="2" charset="0"/>
              </a:rPr>
              <a:t>* </a:t>
            </a:r>
            <a:r>
              <a:rPr lang="ru-RU" sz="900" i="1" dirty="0">
                <a:solidFill>
                  <a:schemeClr val="bg1"/>
                </a:solidFill>
                <a:latin typeface="VK Sans Display" pitchFamily="2" charset="0"/>
              </a:rPr>
              <a:t>В случае  развертывания в инфраструктуре заказчика – </a:t>
            </a:r>
          </a:p>
          <a:p>
            <a:r>
              <a:rPr lang="ru-RU" sz="900" i="1" dirty="0">
                <a:solidFill>
                  <a:schemeClr val="bg1"/>
                </a:solidFill>
                <a:latin typeface="VK Sans Display" pitchFamily="2" charset="0"/>
              </a:rPr>
              <a:t>поддержка инфраструктуры не гарантируется</a:t>
            </a:r>
          </a:p>
        </p:txBody>
      </p:sp>
    </p:spTree>
    <p:extLst>
      <p:ext uri="{BB962C8B-B14F-4D97-AF65-F5344CB8AC3E}">
        <p14:creationId xmlns:p14="http://schemas.microsoft.com/office/powerpoint/2010/main" val="93359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3B50E5A-DDA4-1ACE-E4B4-65621508EECF}"/>
              </a:ext>
            </a:extLst>
          </p:cNvPr>
          <p:cNvSpPr/>
          <p:nvPr/>
        </p:nvSpPr>
        <p:spPr>
          <a:xfrm>
            <a:off x="6044039" y="1"/>
            <a:ext cx="6147961" cy="6858000"/>
          </a:xfrm>
          <a:prstGeom prst="rect">
            <a:avLst/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sp>
        <p:nvSpPr>
          <p:cNvPr id="6" name="Заголовок 58">
            <a:extLst>
              <a:ext uri="{FF2B5EF4-FFF2-40B4-BE49-F238E27FC236}">
                <a16:creationId xmlns:a16="http://schemas.microsoft.com/office/drawing/2014/main" id="{08F47290-CF7D-756E-C8E8-51DA14FAF090}"/>
              </a:ext>
            </a:extLst>
          </p:cNvPr>
          <p:cNvSpPr txBox="1">
            <a:spLocks/>
          </p:cNvSpPr>
          <p:nvPr/>
        </p:nvSpPr>
        <p:spPr>
          <a:xfrm>
            <a:off x="567160" y="1786566"/>
            <a:ext cx="3956488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VK Sans Display" pitchFamily="2" charset="0"/>
              </a:rPr>
              <a:t>Построение и поддержка </a:t>
            </a:r>
            <a:r>
              <a:rPr lang="en-US" sz="1800" b="1" dirty="0">
                <a:latin typeface="VK Sans Display" pitchFamily="2" charset="0"/>
              </a:rPr>
              <a:t>Data Platform </a:t>
            </a:r>
            <a:r>
              <a:rPr lang="ru-RU" sz="1800" b="1" dirty="0">
                <a:latin typeface="VK Sans Display" pitchFamily="2" charset="0"/>
              </a:rPr>
              <a:t>самостоятельно</a:t>
            </a:r>
            <a:endParaRPr lang="en-US" sz="1800" b="1" dirty="0">
              <a:latin typeface="VK Sans Display" pitchFamily="2" charset="0"/>
            </a:endParaRPr>
          </a:p>
        </p:txBody>
      </p:sp>
      <p:sp>
        <p:nvSpPr>
          <p:cNvPr id="8" name="Заголовок 58">
            <a:extLst>
              <a:ext uri="{FF2B5EF4-FFF2-40B4-BE49-F238E27FC236}">
                <a16:creationId xmlns:a16="http://schemas.microsoft.com/office/drawing/2014/main" id="{AF2DF01B-4EC5-43E0-74AD-C60033823DCF}"/>
              </a:ext>
            </a:extLst>
          </p:cNvPr>
          <p:cNvSpPr txBox="1">
            <a:spLocks/>
          </p:cNvSpPr>
          <p:nvPr/>
        </p:nvSpPr>
        <p:spPr>
          <a:xfrm>
            <a:off x="6571839" y="1786566"/>
            <a:ext cx="4215766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solidFill>
                  <a:schemeClr val="bg1"/>
                </a:solidFill>
                <a:latin typeface="VK Sans Display" pitchFamily="2" charset="0"/>
              </a:rPr>
              <a:t>С</a:t>
            </a:r>
            <a:r>
              <a:rPr lang="en-US" sz="1800" b="1" dirty="0">
                <a:solidFill>
                  <a:schemeClr val="bg1"/>
                </a:solidFill>
                <a:latin typeface="VK Sans Display" pitchFamily="2" charset="0"/>
              </a:rPr>
              <a:t> VK Data Platform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8970195-DA7D-5E71-FFE2-9ADD1095762D}"/>
              </a:ext>
            </a:extLst>
          </p:cNvPr>
          <p:cNvGrpSpPr/>
          <p:nvPr/>
        </p:nvGrpSpPr>
        <p:grpSpPr>
          <a:xfrm>
            <a:off x="567160" y="2695146"/>
            <a:ext cx="1820855" cy="499475"/>
            <a:chOff x="567160" y="2695146"/>
            <a:chExt cx="1820855" cy="49947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6728349E-2418-19CD-0104-75D49B234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160" y="2695148"/>
              <a:ext cx="499473" cy="499473"/>
            </a:xfrm>
            <a:prstGeom prst="rect">
              <a:avLst/>
            </a:prstGeom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0C671E7-083B-84B6-B75D-FE5CC1643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7851" y="2695147"/>
              <a:ext cx="499473" cy="499473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146D082B-997F-00B6-8672-0DF02CE61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8542" y="2695146"/>
              <a:ext cx="499473" cy="499473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FE68AFA-14D5-98AE-04B8-81EE24663E2A}"/>
              </a:ext>
            </a:extLst>
          </p:cNvPr>
          <p:cNvSpPr txBox="1"/>
          <p:nvPr/>
        </p:nvSpPr>
        <p:spPr>
          <a:xfrm>
            <a:off x="2388015" y="2805061"/>
            <a:ext cx="409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VK Sans Display" pitchFamily="2" charset="0"/>
              </a:rPr>
              <a:t>Команда эксплуатации инфраструктуры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F789C4-7E86-9E9F-2E2A-93478FF9A64A}"/>
              </a:ext>
            </a:extLst>
          </p:cNvPr>
          <p:cNvSpPr txBox="1"/>
          <p:nvPr/>
        </p:nvSpPr>
        <p:spPr>
          <a:xfrm>
            <a:off x="2388015" y="3584682"/>
            <a:ext cx="365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VK Sans Display" pitchFamily="2" charset="0"/>
              </a:rPr>
              <a:t>Команда </a:t>
            </a:r>
            <a:r>
              <a:rPr lang="en-US" sz="1400" dirty="0" err="1">
                <a:latin typeface="VK Sans Display" pitchFamily="2" charset="0"/>
              </a:rPr>
              <a:t>DevOPS</a:t>
            </a:r>
            <a:r>
              <a:rPr lang="ru-RU" sz="1400" dirty="0">
                <a:latin typeface="VK Sans Display" pitchFamily="2" charset="0"/>
              </a:rPr>
              <a:t>, </a:t>
            </a:r>
            <a:r>
              <a:rPr lang="en-US" sz="1400" dirty="0">
                <a:latin typeface="VK Sans Display" pitchFamily="2" charset="0"/>
              </a:rPr>
              <a:t>SRE </a:t>
            </a:r>
            <a:r>
              <a:rPr lang="ru-RU" sz="1400" dirty="0">
                <a:latin typeface="VK Sans Display" pitchFamily="2" charset="0"/>
              </a:rPr>
              <a:t>и </a:t>
            </a:r>
            <a:r>
              <a:rPr lang="en-US" sz="1400" dirty="0">
                <a:latin typeface="VK Sans Display" pitchFamily="2" charset="0"/>
              </a:rPr>
              <a:t>DBA</a:t>
            </a:r>
            <a:r>
              <a:rPr lang="ru-RU" sz="1400" dirty="0">
                <a:latin typeface="VK Sans Display" pitchFamily="2" charset="0"/>
              </a:rPr>
              <a:t> обслуживания сервисов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425734-D282-C1D6-B9E3-7F554A3B6191}"/>
              </a:ext>
            </a:extLst>
          </p:cNvPr>
          <p:cNvSpPr txBox="1"/>
          <p:nvPr/>
        </p:nvSpPr>
        <p:spPr>
          <a:xfrm>
            <a:off x="2388015" y="4474303"/>
            <a:ext cx="365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VK Sans Display" pitchFamily="2" charset="0"/>
              </a:rPr>
              <a:t>Команда </a:t>
            </a:r>
            <a:r>
              <a:rPr lang="en-US" sz="1400" dirty="0" err="1">
                <a:latin typeface="VK Sans Display" pitchFamily="2" charset="0"/>
              </a:rPr>
              <a:t>DevOPS</a:t>
            </a:r>
            <a:r>
              <a:rPr lang="ru-RU" sz="1400" dirty="0">
                <a:latin typeface="VK Sans Display" pitchFamily="2" charset="0"/>
              </a:rPr>
              <a:t>, </a:t>
            </a:r>
            <a:r>
              <a:rPr lang="en-US" sz="1400" dirty="0">
                <a:latin typeface="VK Sans Display" pitchFamily="2" charset="0"/>
              </a:rPr>
              <a:t>DE, Backend </a:t>
            </a:r>
            <a:r>
              <a:rPr lang="ru-RU" sz="1400" dirty="0">
                <a:latin typeface="VK Sans Display" pitchFamily="2" charset="0"/>
              </a:rPr>
              <a:t>интеграции сервисов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E74CDC-A98B-38E5-CCF5-C198CFB764F2}"/>
              </a:ext>
            </a:extLst>
          </p:cNvPr>
          <p:cNvSpPr txBox="1"/>
          <p:nvPr/>
        </p:nvSpPr>
        <p:spPr>
          <a:xfrm>
            <a:off x="2388015" y="5322451"/>
            <a:ext cx="365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VK Sans Display" pitchFamily="2" charset="0"/>
              </a:rPr>
              <a:t>Бизнес пользователи платформы (аналитики, ЛПР, </a:t>
            </a:r>
            <a:r>
              <a:rPr lang="en-US" sz="1400" dirty="0">
                <a:latin typeface="VK Sans Display" pitchFamily="2" charset="0"/>
              </a:rPr>
              <a:t>data scientist’s</a:t>
            </a:r>
            <a:r>
              <a:rPr lang="ru-RU" sz="1400" dirty="0">
                <a:latin typeface="VK Sans Display" pitchFamily="2" charset="0"/>
              </a:rPr>
              <a:t> и </a:t>
            </a:r>
            <a:r>
              <a:rPr lang="ru-RU" sz="1400" dirty="0" err="1">
                <a:latin typeface="VK Sans Display" pitchFamily="2" charset="0"/>
              </a:rPr>
              <a:t>др</a:t>
            </a:r>
            <a:r>
              <a:rPr lang="ru-RU" sz="1400" dirty="0">
                <a:latin typeface="VK Sans Display" pitchFamily="2" charset="0"/>
              </a:rPr>
              <a:t>)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41446FF-8B08-4289-7FDF-31D10C8A7D89}"/>
              </a:ext>
            </a:extLst>
          </p:cNvPr>
          <p:cNvGrpSpPr/>
          <p:nvPr/>
        </p:nvGrpSpPr>
        <p:grpSpPr>
          <a:xfrm>
            <a:off x="567160" y="3568806"/>
            <a:ext cx="1820855" cy="499475"/>
            <a:chOff x="567160" y="2695146"/>
            <a:chExt cx="1820855" cy="499475"/>
          </a:xfrm>
        </p:grpSpPr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F81C356F-77EF-29CA-32DF-C946B7881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160" y="2695148"/>
              <a:ext cx="499473" cy="499473"/>
            </a:xfrm>
            <a:prstGeom prst="rect">
              <a:avLst/>
            </a:prstGeom>
          </p:spPr>
        </p:pic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73ACAF34-D642-C98F-1067-70274B7AB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7851" y="2695147"/>
              <a:ext cx="499473" cy="499473"/>
            </a:xfrm>
            <a:prstGeom prst="rect">
              <a:avLst/>
            </a:prstGeom>
          </p:spPr>
        </p:pic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50457B73-B265-44C4-6683-8753389C9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8542" y="2695146"/>
              <a:ext cx="499473" cy="499473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1B89C29-4160-FA48-AE88-8C3CE16F3BE3}"/>
              </a:ext>
            </a:extLst>
          </p:cNvPr>
          <p:cNvGrpSpPr/>
          <p:nvPr/>
        </p:nvGrpSpPr>
        <p:grpSpPr>
          <a:xfrm>
            <a:off x="567159" y="4442466"/>
            <a:ext cx="1820855" cy="499475"/>
            <a:chOff x="567160" y="2695146"/>
            <a:chExt cx="1820855" cy="499475"/>
          </a:xfrm>
        </p:grpSpPr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31E3E6C8-3783-1C2D-07F6-A2ADE8E82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160" y="2695148"/>
              <a:ext cx="499473" cy="499473"/>
            </a:xfrm>
            <a:prstGeom prst="rect">
              <a:avLst/>
            </a:prstGeom>
          </p:spPr>
        </p:pic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73FD4B1E-8ECE-2144-6BB7-B6B5E0D6E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7851" y="2695147"/>
              <a:ext cx="499473" cy="499473"/>
            </a:xfrm>
            <a:prstGeom prst="rect">
              <a:avLst/>
            </a:prstGeom>
          </p:spPr>
        </p:pic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0928DD9-9AE0-4741-6C1A-ADEDF14CE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8542" y="2695146"/>
              <a:ext cx="499473" cy="499473"/>
            </a:xfrm>
            <a:prstGeom prst="rect">
              <a:avLst/>
            </a:prstGeom>
          </p:spPr>
        </p:pic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CAB95CA-AA5D-10C3-FF28-46BC1FF14FDC}"/>
              </a:ext>
            </a:extLst>
          </p:cNvPr>
          <p:cNvGrpSpPr/>
          <p:nvPr/>
        </p:nvGrpSpPr>
        <p:grpSpPr>
          <a:xfrm>
            <a:off x="567158" y="5316127"/>
            <a:ext cx="1820855" cy="499475"/>
            <a:chOff x="567160" y="2695146"/>
            <a:chExt cx="1820855" cy="499475"/>
          </a:xfrm>
        </p:grpSpPr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DCA71B5F-B3DD-1C7F-A23E-B6BAA36AB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160" y="2695148"/>
              <a:ext cx="499473" cy="499473"/>
            </a:xfrm>
            <a:prstGeom prst="rect">
              <a:avLst/>
            </a:prstGeom>
          </p:spPr>
        </p:pic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E59268A7-B104-4CE2-5815-2DDAE093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7851" y="2695147"/>
              <a:ext cx="499473" cy="499473"/>
            </a:xfrm>
            <a:prstGeom prst="rect">
              <a:avLst/>
            </a:prstGeom>
          </p:spPr>
        </p:pic>
        <p:pic>
          <p:nvPicPr>
            <p:cNvPr id="45" name="Рисунок 44">
              <a:extLst>
                <a:ext uri="{FF2B5EF4-FFF2-40B4-BE49-F238E27FC236}">
                  <a16:creationId xmlns:a16="http://schemas.microsoft.com/office/drawing/2014/main" id="{9E4C322A-043D-45F8-0DBE-215D800D9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8542" y="2695146"/>
              <a:ext cx="499473" cy="499473"/>
            </a:xfrm>
            <a:prstGeom prst="rect">
              <a:avLst/>
            </a:prstGeom>
          </p:spPr>
        </p:pic>
      </p:grp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49D1E1E5-A66A-F635-7704-1F28630E87A2}"/>
              </a:ext>
            </a:extLst>
          </p:cNvPr>
          <p:cNvCxnSpPr/>
          <p:nvPr/>
        </p:nvCxnSpPr>
        <p:spPr>
          <a:xfrm>
            <a:off x="0" y="5102078"/>
            <a:ext cx="60440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9D4F150E-254B-A3DB-3FEC-54C0FBE2F9D9}"/>
              </a:ext>
            </a:extLst>
          </p:cNvPr>
          <p:cNvCxnSpPr>
            <a:cxnSpLocks/>
          </p:cNvCxnSpPr>
          <p:nvPr/>
        </p:nvCxnSpPr>
        <p:spPr>
          <a:xfrm>
            <a:off x="6044039" y="5102078"/>
            <a:ext cx="6147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Крест 49">
            <a:extLst>
              <a:ext uri="{FF2B5EF4-FFF2-40B4-BE49-F238E27FC236}">
                <a16:creationId xmlns:a16="http://schemas.microsoft.com/office/drawing/2014/main" id="{69FCE6D4-80AB-9DB8-82DE-46BF726CB31F}"/>
              </a:ext>
            </a:extLst>
          </p:cNvPr>
          <p:cNvSpPr/>
          <p:nvPr/>
        </p:nvSpPr>
        <p:spPr>
          <a:xfrm>
            <a:off x="1360394" y="3247062"/>
            <a:ext cx="234381" cy="234381"/>
          </a:xfrm>
          <a:prstGeom prst="plus">
            <a:avLst>
              <a:gd name="adj" fmla="val 37239"/>
            </a:avLst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Крест 50">
            <a:extLst>
              <a:ext uri="{FF2B5EF4-FFF2-40B4-BE49-F238E27FC236}">
                <a16:creationId xmlns:a16="http://schemas.microsoft.com/office/drawing/2014/main" id="{B3A62FA7-E096-0AAA-09E3-492288B88504}"/>
              </a:ext>
            </a:extLst>
          </p:cNvPr>
          <p:cNvSpPr/>
          <p:nvPr/>
        </p:nvSpPr>
        <p:spPr>
          <a:xfrm>
            <a:off x="1360393" y="4160505"/>
            <a:ext cx="234381" cy="234381"/>
          </a:xfrm>
          <a:prstGeom prst="plus">
            <a:avLst>
              <a:gd name="adj" fmla="val 37239"/>
            </a:avLst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B62CCF-C271-70A5-095A-E9D55CDB937B}"/>
              </a:ext>
            </a:extLst>
          </p:cNvPr>
          <p:cNvSpPr txBox="1"/>
          <p:nvPr/>
        </p:nvSpPr>
        <p:spPr>
          <a:xfrm rot="16200000">
            <a:off x="-1738812" y="2992826"/>
            <a:ext cx="3951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VK Sans Display" pitchFamily="2" charset="0"/>
              </a:rPr>
              <a:t>Поддержка, развитие и эксплуатация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D58990-F43B-9419-DBDD-8AE8EA4C9ACC}"/>
              </a:ext>
            </a:extLst>
          </p:cNvPr>
          <p:cNvSpPr txBox="1"/>
          <p:nvPr/>
        </p:nvSpPr>
        <p:spPr>
          <a:xfrm rot="16200000">
            <a:off x="-1736728" y="4190315"/>
            <a:ext cx="3951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VK Sans Display" pitchFamily="2" charset="0"/>
              </a:rPr>
              <a:t>Пользователи</a:t>
            </a: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DC3544D3-BB38-77CA-E803-B96A9EF786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1839" y="2555482"/>
            <a:ext cx="631276" cy="631276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B21ED98-5D24-7A8A-C4D0-E5D92AAFA4D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508231" y="2631852"/>
            <a:ext cx="499473" cy="499473"/>
          </a:xfrm>
          <a:prstGeom prst="rect">
            <a:avLst/>
          </a:prstGeom>
        </p:spPr>
      </p:pic>
      <p:sp>
        <p:nvSpPr>
          <p:cNvPr id="57" name="Крест 56">
            <a:extLst>
              <a:ext uri="{FF2B5EF4-FFF2-40B4-BE49-F238E27FC236}">
                <a16:creationId xmlns:a16="http://schemas.microsoft.com/office/drawing/2014/main" id="{359C3ACD-A34A-8026-F3C7-42C13E73B586}"/>
              </a:ext>
            </a:extLst>
          </p:cNvPr>
          <p:cNvSpPr/>
          <p:nvPr/>
        </p:nvSpPr>
        <p:spPr>
          <a:xfrm>
            <a:off x="7287641" y="2805981"/>
            <a:ext cx="153888" cy="153888"/>
          </a:xfrm>
          <a:prstGeom prst="plus">
            <a:avLst>
              <a:gd name="adj" fmla="val 350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408118-16AC-1F23-59C2-70A7F05FAF1C}"/>
              </a:ext>
            </a:extLst>
          </p:cNvPr>
          <p:cNvSpPr txBox="1"/>
          <p:nvPr/>
        </p:nvSpPr>
        <p:spPr>
          <a:xfrm>
            <a:off x="8135201" y="2727699"/>
            <a:ext cx="3755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VK Sans Display" pitchFamily="2" charset="0"/>
              </a:rPr>
              <a:t>Администратор облака</a:t>
            </a:r>
            <a:r>
              <a:rPr lang="en-US" sz="1400" dirty="0">
                <a:solidFill>
                  <a:schemeClr val="bg1"/>
                </a:solidFill>
                <a:latin typeface="VK Sans Display" pitchFamily="2" charset="0"/>
              </a:rPr>
              <a:t> / </a:t>
            </a:r>
            <a:r>
              <a:rPr lang="ru-RU" sz="1400" dirty="0">
                <a:solidFill>
                  <a:schemeClr val="bg1"/>
                </a:solidFill>
                <a:latin typeface="VK Sans Display" pitchFamily="2" charset="0"/>
              </a:rPr>
              <a:t>инфраструктуры</a:t>
            </a:r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48188530-114E-477A-AF3E-395F928DAD5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733274" y="2805061"/>
            <a:ext cx="281839" cy="281839"/>
          </a:xfrm>
          <a:prstGeom prst="rect">
            <a:avLst/>
          </a:prstGeom>
        </p:spPr>
      </p:pic>
      <p:sp>
        <p:nvSpPr>
          <p:cNvPr id="68" name="Крест 67">
            <a:extLst>
              <a:ext uri="{FF2B5EF4-FFF2-40B4-BE49-F238E27FC236}">
                <a16:creationId xmlns:a16="http://schemas.microsoft.com/office/drawing/2014/main" id="{9D8443A6-CC37-E981-CA19-417716A7C43D}"/>
              </a:ext>
            </a:extLst>
          </p:cNvPr>
          <p:cNvSpPr/>
          <p:nvPr/>
        </p:nvSpPr>
        <p:spPr>
          <a:xfrm>
            <a:off x="7024164" y="3247062"/>
            <a:ext cx="234381" cy="234381"/>
          </a:xfrm>
          <a:prstGeom prst="plus">
            <a:avLst>
              <a:gd name="adj" fmla="val 372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77B638-296E-450D-9968-9DAEC74C1213}"/>
              </a:ext>
            </a:extLst>
          </p:cNvPr>
          <p:cNvSpPr txBox="1"/>
          <p:nvPr/>
        </p:nvSpPr>
        <p:spPr>
          <a:xfrm>
            <a:off x="6571839" y="3852800"/>
            <a:ext cx="3755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VK Sans Display" pitchFamily="2" charset="0"/>
              </a:rPr>
              <a:t>VK Data Platform</a:t>
            </a:r>
            <a:endParaRPr lang="ru-RU" sz="3200" b="1" dirty="0">
              <a:solidFill>
                <a:schemeClr val="bg1"/>
              </a:solidFill>
              <a:latin typeface="VK Sans Display" pitchFamily="2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23A7EA-CE24-F364-B18D-7FA02D1312CD}"/>
              </a:ext>
            </a:extLst>
          </p:cNvPr>
          <p:cNvSpPr txBox="1"/>
          <p:nvPr/>
        </p:nvSpPr>
        <p:spPr>
          <a:xfrm>
            <a:off x="8392696" y="5326164"/>
            <a:ext cx="365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VK Sans Display" pitchFamily="2" charset="0"/>
              </a:rPr>
              <a:t>Бизнес пользователи платформы (аналитики, ЛПР, </a:t>
            </a:r>
            <a:r>
              <a:rPr lang="en-US" sz="1400" dirty="0">
                <a:solidFill>
                  <a:schemeClr val="bg1"/>
                </a:solidFill>
                <a:latin typeface="VK Sans Display" pitchFamily="2" charset="0"/>
              </a:rPr>
              <a:t>data scientist’s</a:t>
            </a:r>
            <a:r>
              <a:rPr lang="ru-RU" sz="1400" dirty="0">
                <a:solidFill>
                  <a:schemeClr val="bg1"/>
                </a:solidFill>
                <a:latin typeface="VK Sans Display" pitchFamily="2" charset="0"/>
              </a:rPr>
              <a:t> и </a:t>
            </a:r>
            <a:r>
              <a:rPr lang="ru-RU" sz="1400" dirty="0" err="1">
                <a:solidFill>
                  <a:schemeClr val="bg1"/>
                </a:solidFill>
                <a:latin typeface="VK Sans Display" pitchFamily="2" charset="0"/>
              </a:rPr>
              <a:t>др</a:t>
            </a:r>
            <a:r>
              <a:rPr lang="ru-RU" sz="1400" dirty="0">
                <a:solidFill>
                  <a:schemeClr val="bg1"/>
                </a:solidFill>
                <a:latin typeface="VK Sans Display" pitchFamily="2" charset="0"/>
              </a:rPr>
              <a:t>)</a:t>
            </a:r>
          </a:p>
        </p:txBody>
      </p: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66DE5164-4EA0-E869-B541-A219D88C5664}"/>
              </a:ext>
            </a:extLst>
          </p:cNvPr>
          <p:cNvGrpSpPr/>
          <p:nvPr/>
        </p:nvGrpSpPr>
        <p:grpSpPr>
          <a:xfrm>
            <a:off x="6571839" y="5319840"/>
            <a:ext cx="1820855" cy="499475"/>
            <a:chOff x="567160" y="2695146"/>
            <a:chExt cx="1820855" cy="499475"/>
          </a:xfrm>
        </p:grpSpPr>
        <p:pic>
          <p:nvPicPr>
            <p:cNvPr id="72" name="Рисунок 71">
              <a:extLst>
                <a:ext uri="{FF2B5EF4-FFF2-40B4-BE49-F238E27FC236}">
                  <a16:creationId xmlns:a16="http://schemas.microsoft.com/office/drawing/2014/main" id="{72D6070B-A4F5-99B0-9927-39A45253F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567160" y="2695148"/>
              <a:ext cx="499473" cy="499473"/>
            </a:xfrm>
            <a:prstGeom prst="rect">
              <a:avLst/>
            </a:prstGeom>
          </p:spPr>
        </p:pic>
        <p:pic>
          <p:nvPicPr>
            <p:cNvPr id="73" name="Рисунок 72">
              <a:extLst>
                <a:ext uri="{FF2B5EF4-FFF2-40B4-BE49-F238E27FC236}">
                  <a16:creationId xmlns:a16="http://schemas.microsoft.com/office/drawing/2014/main" id="{FD41758F-A166-4665-1E7B-1FE9C3BBD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1227851" y="2695147"/>
              <a:ext cx="499473" cy="499473"/>
            </a:xfrm>
            <a:prstGeom prst="rect">
              <a:avLst/>
            </a:prstGeom>
          </p:spPr>
        </p:pic>
        <p:pic>
          <p:nvPicPr>
            <p:cNvPr id="74" name="Рисунок 73">
              <a:extLst>
                <a:ext uri="{FF2B5EF4-FFF2-40B4-BE49-F238E27FC236}">
                  <a16:creationId xmlns:a16="http://schemas.microsoft.com/office/drawing/2014/main" id="{63FB1DDB-F738-6690-BE46-357C72E0E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1888542" y="2695146"/>
              <a:ext cx="499473" cy="499473"/>
            </a:xfrm>
            <a:prstGeom prst="rect">
              <a:avLst/>
            </a:prstGeom>
          </p:spPr>
        </p:pic>
      </p:grpSp>
      <p:sp>
        <p:nvSpPr>
          <p:cNvPr id="7" name="Заголовок 58">
            <a:extLst>
              <a:ext uri="{FF2B5EF4-FFF2-40B4-BE49-F238E27FC236}">
                <a16:creationId xmlns:a16="http://schemas.microsoft.com/office/drawing/2014/main" id="{C370C46A-3AB4-E227-559E-09D1F7A81360}"/>
              </a:ext>
            </a:extLst>
          </p:cNvPr>
          <p:cNvSpPr txBox="1">
            <a:spLocks/>
          </p:cNvSpPr>
          <p:nvPr/>
        </p:nvSpPr>
        <p:spPr>
          <a:xfrm>
            <a:off x="2545404" y="350883"/>
            <a:ext cx="8340524" cy="11583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VK Sans Display" pitchFamily="2" charset="0"/>
              </a:rPr>
              <a:t>VK</a:t>
            </a:r>
            <a:r>
              <a:rPr lang="en-US" sz="3200" b="1">
                <a:latin typeface="VK Sans Display DemiBold" pitchFamily="2" charset="0"/>
              </a:rPr>
              <a:t> Data Platform.  </a:t>
            </a:r>
            <a:r>
              <a:rPr lang="ru-RU" sz="3200" b="1">
                <a:solidFill>
                  <a:schemeClr val="bg1"/>
                </a:solidFill>
                <a:latin typeface="VK Sans Display DemiBold" pitchFamily="2" charset="0"/>
              </a:rPr>
              <a:t>Ценность</a:t>
            </a:r>
          </a:p>
        </p:txBody>
      </p:sp>
    </p:spTree>
    <p:extLst>
      <p:ext uri="{BB962C8B-B14F-4D97-AF65-F5344CB8AC3E}">
        <p14:creationId xmlns:p14="http://schemas.microsoft.com/office/powerpoint/2010/main" val="240386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5F5B38-3ECF-CFD3-0678-242AC2558EDB}"/>
              </a:ext>
            </a:extLst>
          </p:cNvPr>
          <p:cNvSpPr/>
          <p:nvPr/>
        </p:nvSpPr>
        <p:spPr>
          <a:xfrm>
            <a:off x="320391" y="1080537"/>
            <a:ext cx="2718240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ADC1B85-5B79-95D0-D821-3133BCD15398}"/>
              </a:ext>
            </a:extLst>
          </p:cNvPr>
          <p:cNvSpPr/>
          <p:nvPr/>
        </p:nvSpPr>
        <p:spPr>
          <a:xfrm>
            <a:off x="3305077" y="1080536"/>
            <a:ext cx="2718240" cy="4845701"/>
          </a:xfrm>
          <a:prstGeom prst="rect">
            <a:avLst/>
          </a:prstGeom>
          <a:solidFill>
            <a:srgbClr val="0177FF"/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394C832-C87F-F39D-F10C-BCC4EC44BBA5}"/>
              </a:ext>
            </a:extLst>
          </p:cNvPr>
          <p:cNvSpPr/>
          <p:nvPr/>
        </p:nvSpPr>
        <p:spPr>
          <a:xfrm>
            <a:off x="6262709" y="1080536"/>
            <a:ext cx="2718240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FE197BA-6A35-ABCD-EFF4-99389D91B09E}"/>
              </a:ext>
            </a:extLst>
          </p:cNvPr>
          <p:cNvSpPr/>
          <p:nvPr/>
        </p:nvSpPr>
        <p:spPr>
          <a:xfrm>
            <a:off x="9220341" y="1080536"/>
            <a:ext cx="2718240" cy="4845701"/>
          </a:xfrm>
          <a:prstGeom prst="rect">
            <a:avLst/>
          </a:prstGeom>
          <a:solidFill>
            <a:srgbClr val="0177FF"/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51" y="350884"/>
            <a:ext cx="8340524" cy="572424"/>
          </a:xfrm>
        </p:spPr>
        <p:txBody>
          <a:bodyPr/>
          <a:lstStyle/>
          <a:p>
            <a:r>
              <a:rPr lang="en-US" sz="3200" b="1" dirty="0">
                <a:latin typeface="VK Sans Display DemiBold" pitchFamily="2" charset="0"/>
              </a:rPr>
              <a:t>VK Data Platform</a:t>
            </a:r>
            <a:r>
              <a:rPr lang="ru-RU" sz="3200" b="1" dirty="0">
                <a:latin typeface="VK Sans Display DemiBold" pitchFamily="2" charset="0"/>
              </a:rPr>
              <a:t>. Преимущества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sp>
        <p:nvSpPr>
          <p:cNvPr id="6" name="Заголовок 58">
            <a:extLst>
              <a:ext uri="{FF2B5EF4-FFF2-40B4-BE49-F238E27FC236}">
                <a16:creationId xmlns:a16="http://schemas.microsoft.com/office/drawing/2014/main" id="{08F47290-CF7D-756E-C8E8-51DA14FAF090}"/>
              </a:ext>
            </a:extLst>
          </p:cNvPr>
          <p:cNvSpPr txBox="1">
            <a:spLocks/>
          </p:cNvSpPr>
          <p:nvPr/>
        </p:nvSpPr>
        <p:spPr>
          <a:xfrm>
            <a:off x="507738" y="1448876"/>
            <a:ext cx="2491603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VK Sans Display Medium" pitchFamily="2" charset="0"/>
              </a:rPr>
              <a:t>Уменьшение стоимости владения и обслуживания</a:t>
            </a:r>
            <a:endParaRPr lang="en-US" sz="1800" dirty="0">
              <a:latin typeface="VK Sans Display Medium" pitchFamily="2" charset="0"/>
            </a:endParaRPr>
          </a:p>
        </p:txBody>
      </p:sp>
      <p:sp>
        <p:nvSpPr>
          <p:cNvPr id="7" name="Заголовок 58">
            <a:extLst>
              <a:ext uri="{FF2B5EF4-FFF2-40B4-BE49-F238E27FC236}">
                <a16:creationId xmlns:a16="http://schemas.microsoft.com/office/drawing/2014/main" id="{4242B75A-ECE6-EBF5-24A1-F4243E8516B1}"/>
              </a:ext>
            </a:extLst>
          </p:cNvPr>
          <p:cNvSpPr txBox="1">
            <a:spLocks/>
          </p:cNvSpPr>
          <p:nvPr/>
        </p:nvSpPr>
        <p:spPr>
          <a:xfrm>
            <a:off x="361248" y="2397183"/>
            <a:ext cx="2638093" cy="32513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Низкая стоимость хранения</a:t>
            </a:r>
            <a:r>
              <a:rPr lang="en-US" sz="1400" dirty="0">
                <a:latin typeface="VK Sans Display Light" pitchFamily="2" charset="0"/>
              </a:rPr>
              <a:t> </a:t>
            </a:r>
            <a:r>
              <a:rPr lang="ru-RU" sz="1400" dirty="0">
                <a:latin typeface="VK Sans Display Light" pitchFamily="2" charset="0"/>
              </a:rPr>
              <a:t>и обработки данных</a:t>
            </a:r>
          </a:p>
          <a:p>
            <a:pPr marL="273050" indent="-173038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Эффективный способ утилизации оборудования</a:t>
            </a:r>
          </a:p>
          <a:p>
            <a:pPr marL="273050" indent="-173038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Гибридная архитектура</a:t>
            </a:r>
            <a:endParaRPr lang="en-US" sz="1400" dirty="0"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endParaRPr lang="en-US" sz="1400" dirty="0"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Встроенное шифрование данных</a:t>
            </a:r>
            <a:endParaRPr lang="en-US" sz="1400" dirty="0">
              <a:highlight>
                <a:srgbClr val="FFFF00"/>
              </a:highlight>
              <a:latin typeface="VK Sans Display Light" pitchFamily="2" charset="0"/>
            </a:endParaRPr>
          </a:p>
        </p:txBody>
      </p:sp>
      <p:sp>
        <p:nvSpPr>
          <p:cNvPr id="8" name="Заголовок 58">
            <a:extLst>
              <a:ext uri="{FF2B5EF4-FFF2-40B4-BE49-F238E27FC236}">
                <a16:creationId xmlns:a16="http://schemas.microsoft.com/office/drawing/2014/main" id="{AF2DF01B-4EC5-43E0-74AD-C60033823DCF}"/>
              </a:ext>
            </a:extLst>
          </p:cNvPr>
          <p:cNvSpPr txBox="1">
            <a:spLocks/>
          </p:cNvSpPr>
          <p:nvPr/>
        </p:nvSpPr>
        <p:spPr>
          <a:xfrm>
            <a:off x="3586287" y="1408959"/>
            <a:ext cx="2235965" cy="8309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chemeClr val="bg1"/>
                </a:solidFill>
                <a:latin typeface="VK Sans Display Medium" pitchFamily="2" charset="0"/>
              </a:rPr>
              <a:t>Унификация зоопарка инструментов</a:t>
            </a:r>
            <a:endParaRPr lang="en-US" sz="1800" dirty="0">
              <a:solidFill>
                <a:schemeClr val="bg1"/>
              </a:solidFill>
              <a:latin typeface="VK Sans Display Medium" pitchFamily="2" charset="0"/>
            </a:endParaRPr>
          </a:p>
        </p:txBody>
      </p:sp>
      <p:sp>
        <p:nvSpPr>
          <p:cNvPr id="9" name="Заголовок 58">
            <a:extLst>
              <a:ext uri="{FF2B5EF4-FFF2-40B4-BE49-F238E27FC236}">
                <a16:creationId xmlns:a16="http://schemas.microsoft.com/office/drawing/2014/main" id="{5B02BDB3-5EE4-D70F-F945-8575E298AEFC}"/>
              </a:ext>
            </a:extLst>
          </p:cNvPr>
          <p:cNvSpPr txBox="1">
            <a:spLocks/>
          </p:cNvSpPr>
          <p:nvPr/>
        </p:nvSpPr>
        <p:spPr>
          <a:xfrm>
            <a:off x="3488795" y="2397183"/>
            <a:ext cx="2464083" cy="32513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ru-RU"/>
            </a:defPPr>
            <a:lvl1pPr marL="273050" indent="-173038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400">
                <a:latin typeface="VK Sans Display Light" pitchFamily="2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Объединение принципов подходов </a:t>
            </a:r>
            <a:r>
              <a:rPr lang="en-US" dirty="0">
                <a:solidFill>
                  <a:schemeClr val="bg1"/>
                </a:solidFill>
              </a:rPr>
              <a:t>Lakehouse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-US" dirty="0" err="1">
                <a:solidFill>
                  <a:schemeClr val="bg1"/>
                </a:solidFill>
              </a:rPr>
              <a:t>DataMesh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Единое окно/среда для всех задач связанных с данными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Повышение зрелости компании в части работы с данными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Заголовок 58">
            <a:extLst>
              <a:ext uri="{FF2B5EF4-FFF2-40B4-BE49-F238E27FC236}">
                <a16:creationId xmlns:a16="http://schemas.microsoft.com/office/drawing/2014/main" id="{C21D3D29-0C6B-0AC0-AEF9-DDC688BA18D7}"/>
              </a:ext>
            </a:extLst>
          </p:cNvPr>
          <p:cNvSpPr txBox="1">
            <a:spLocks/>
          </p:cNvSpPr>
          <p:nvPr/>
        </p:nvSpPr>
        <p:spPr>
          <a:xfrm>
            <a:off x="6511909" y="1402682"/>
            <a:ext cx="2469039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VK Sans Display Medium" pitchFamily="2" charset="0"/>
              </a:rPr>
              <a:t>Доступность данных и ускорение </a:t>
            </a:r>
          </a:p>
          <a:p>
            <a:r>
              <a:rPr lang="en-US" sz="1800" dirty="0">
                <a:latin typeface="VK Sans Display Medium" pitchFamily="2" charset="0"/>
              </a:rPr>
              <a:t>Time-to-market</a:t>
            </a:r>
          </a:p>
        </p:txBody>
      </p:sp>
      <p:sp>
        <p:nvSpPr>
          <p:cNvPr id="11" name="Заголовок 58">
            <a:extLst>
              <a:ext uri="{FF2B5EF4-FFF2-40B4-BE49-F238E27FC236}">
                <a16:creationId xmlns:a16="http://schemas.microsoft.com/office/drawing/2014/main" id="{1204D224-257D-05AB-D460-C44294E20D4D}"/>
              </a:ext>
            </a:extLst>
          </p:cNvPr>
          <p:cNvSpPr txBox="1">
            <a:spLocks/>
          </p:cNvSpPr>
          <p:nvPr/>
        </p:nvSpPr>
        <p:spPr>
          <a:xfrm>
            <a:off x="6369909" y="2397183"/>
            <a:ext cx="2516947" cy="32513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Управление кластерами в зависимости от профиля нагрузки</a:t>
            </a:r>
            <a:endParaRPr lang="en-US" sz="1400" dirty="0"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endParaRPr lang="ru-RU" sz="1400" dirty="0"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latin typeface="VK Sans Display Light" pitchFamily="2" charset="0"/>
              </a:rPr>
              <a:t>Высокая доступность данных из единого защищенного хранилища для любых инструментов системы</a:t>
            </a:r>
          </a:p>
        </p:txBody>
      </p:sp>
      <p:sp>
        <p:nvSpPr>
          <p:cNvPr id="12" name="Заголовок 58">
            <a:extLst>
              <a:ext uri="{FF2B5EF4-FFF2-40B4-BE49-F238E27FC236}">
                <a16:creationId xmlns:a16="http://schemas.microsoft.com/office/drawing/2014/main" id="{B3318F8E-4333-E1D5-088E-8106F40169D3}"/>
              </a:ext>
            </a:extLst>
          </p:cNvPr>
          <p:cNvSpPr txBox="1">
            <a:spLocks/>
          </p:cNvSpPr>
          <p:nvPr/>
        </p:nvSpPr>
        <p:spPr>
          <a:xfrm>
            <a:off x="9535231" y="1402681"/>
            <a:ext cx="2228903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chemeClr val="bg1"/>
                </a:solidFill>
                <a:latin typeface="VK Sans Display Medium" pitchFamily="2" charset="0"/>
              </a:rPr>
              <a:t>Открытые форматы данных / </a:t>
            </a:r>
            <a:r>
              <a:rPr lang="en-US" sz="1800" dirty="0">
                <a:solidFill>
                  <a:schemeClr val="bg1"/>
                </a:solidFill>
                <a:latin typeface="VK Sans Display Medium" pitchFamily="2" charset="0"/>
              </a:rPr>
              <a:t>API</a:t>
            </a:r>
          </a:p>
        </p:txBody>
      </p:sp>
      <p:sp>
        <p:nvSpPr>
          <p:cNvPr id="13" name="Заголовок 58">
            <a:extLst>
              <a:ext uri="{FF2B5EF4-FFF2-40B4-BE49-F238E27FC236}">
                <a16:creationId xmlns:a16="http://schemas.microsoft.com/office/drawing/2014/main" id="{2D2DF8C9-72A1-65C3-8DE3-364BE97DD022}"/>
              </a:ext>
            </a:extLst>
          </p:cNvPr>
          <p:cNvSpPr txBox="1">
            <a:spLocks/>
          </p:cNvSpPr>
          <p:nvPr/>
        </p:nvSpPr>
        <p:spPr>
          <a:xfrm>
            <a:off x="9358683" y="2397183"/>
            <a:ext cx="2228903" cy="32513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Гибкая совместимость с компонентами современной ИТ экосистемы от стриминга</a:t>
            </a:r>
            <a:r>
              <a:rPr lang="en-US" sz="1400" dirty="0">
                <a:solidFill>
                  <a:schemeClr val="bg1"/>
                </a:solidFill>
                <a:latin typeface="VK Sans Display Light" pitchFamily="2" charset="0"/>
              </a:rPr>
              <a:t>/CDC </a:t>
            </a: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до </a:t>
            </a:r>
            <a:r>
              <a:rPr lang="en-US" sz="1400" dirty="0">
                <a:solidFill>
                  <a:schemeClr val="bg1"/>
                </a:solidFill>
                <a:latin typeface="VK Sans Display Light" pitchFamily="2" charset="0"/>
              </a:rPr>
              <a:t>BI</a:t>
            </a:r>
          </a:p>
          <a:p>
            <a:pPr marL="273050" indent="-173038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VK Sans Display Light" pitchFamily="2" charset="0"/>
            </a:endParaRPr>
          </a:p>
          <a:p>
            <a:pPr marL="273050" indent="-173038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VK Sans Display Light" pitchFamily="2" charset="0"/>
              </a:rPr>
              <a:t>Простота миграции данных как между инструментами/БД, так и в облако</a:t>
            </a:r>
            <a:endParaRPr lang="en-US" sz="1400" dirty="0">
              <a:solidFill>
                <a:schemeClr val="bg1"/>
              </a:solidFill>
              <a:latin typeface="VK Sans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9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FA2F1A-616E-C65B-732A-8215BA09E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536"/>
          <a:stretch/>
        </p:blipFill>
        <p:spPr>
          <a:xfrm>
            <a:off x="124467" y="918803"/>
            <a:ext cx="11754081" cy="5624965"/>
          </a:xfrm>
          <a:prstGeom prst="rect">
            <a:avLst/>
          </a:prstGeom>
        </p:spPr>
      </p:pic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51" y="350884"/>
            <a:ext cx="11754080" cy="572424"/>
          </a:xfrm>
        </p:spPr>
        <p:txBody>
          <a:bodyPr/>
          <a:lstStyle/>
          <a:p>
            <a:r>
              <a:rPr lang="en-US" sz="3200" b="1" dirty="0">
                <a:latin typeface="VK Sans Display DemiBold" pitchFamily="2" charset="0"/>
              </a:rPr>
              <a:t>VK Data Platform. </a:t>
            </a:r>
            <a:r>
              <a:rPr lang="ru-RU" sz="3200" b="1" dirty="0">
                <a:latin typeface="VK Sans Display DemiBold" pitchFamily="2" charset="0"/>
              </a:rPr>
              <a:t>Получение ценности из данных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0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sp>
        <p:nvSpPr>
          <p:cNvPr id="3" name="Заголовок 58">
            <a:extLst>
              <a:ext uri="{FF2B5EF4-FFF2-40B4-BE49-F238E27FC236}">
                <a16:creationId xmlns:a16="http://schemas.microsoft.com/office/drawing/2014/main" id="{3145F545-C380-5D51-C3B8-E32EDB6F8201}"/>
              </a:ext>
            </a:extLst>
          </p:cNvPr>
          <p:cNvSpPr txBox="1">
            <a:spLocks/>
          </p:cNvSpPr>
          <p:nvPr/>
        </p:nvSpPr>
        <p:spPr>
          <a:xfrm>
            <a:off x="313451" y="350884"/>
            <a:ext cx="9715452" cy="5724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VK Sans Display DemiBold" pitchFamily="2" charset="0"/>
              </a:rPr>
              <a:t>VK Data Platform. </a:t>
            </a:r>
            <a:r>
              <a:rPr lang="ru-RU" sz="3200" b="1" dirty="0">
                <a:latin typeface="VK Sans Display DemiBold" pitchFamily="2" charset="0"/>
              </a:rPr>
              <a:t>Слои платформы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78CC0F9-EA9B-6E3F-1E16-4543C965D198}"/>
              </a:ext>
            </a:extLst>
          </p:cNvPr>
          <p:cNvSpPr/>
          <p:nvPr/>
        </p:nvSpPr>
        <p:spPr>
          <a:xfrm>
            <a:off x="313451" y="1019755"/>
            <a:ext cx="10717406" cy="5055822"/>
          </a:xfrm>
          <a:prstGeom prst="roundRect">
            <a:avLst>
              <a:gd name="adj" fmla="val 1126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6FB37B2-A951-5FDD-3D95-662FF68DDFDC}"/>
              </a:ext>
            </a:extLst>
          </p:cNvPr>
          <p:cNvSpPr/>
          <p:nvPr/>
        </p:nvSpPr>
        <p:spPr>
          <a:xfrm>
            <a:off x="534794" y="1584960"/>
            <a:ext cx="9810263" cy="1212543"/>
          </a:xfrm>
          <a:prstGeom prst="roundRect">
            <a:avLst>
              <a:gd name="adj" fmla="val 4983"/>
            </a:avLst>
          </a:prstGeom>
          <a:solidFill>
            <a:srgbClr val="0177FF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8" name="Заголовок 58">
            <a:extLst>
              <a:ext uri="{FF2B5EF4-FFF2-40B4-BE49-F238E27FC236}">
                <a16:creationId xmlns:a16="http://schemas.microsoft.com/office/drawing/2014/main" id="{2914F418-A9B5-9808-B366-AC209919B65D}"/>
              </a:ext>
            </a:extLst>
          </p:cNvPr>
          <p:cNvSpPr txBox="1">
            <a:spLocks/>
          </p:cNvSpPr>
          <p:nvPr/>
        </p:nvSpPr>
        <p:spPr>
          <a:xfrm>
            <a:off x="3547656" y="1146272"/>
            <a:ext cx="3784537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>
                <a:latin typeface="VK Sans Display Light" pitchFamily="2" charset="0"/>
              </a:rPr>
              <a:t>DATA PLATFORM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781A45B-5672-521C-6179-2A8DD923FC28}"/>
              </a:ext>
            </a:extLst>
          </p:cNvPr>
          <p:cNvSpPr/>
          <p:nvPr/>
        </p:nvSpPr>
        <p:spPr>
          <a:xfrm>
            <a:off x="896468" y="2076017"/>
            <a:ext cx="4222163" cy="603611"/>
          </a:xfrm>
          <a:prstGeom prst="roundRect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EA36105-45C9-8D22-2C24-3A73575CDAE4}"/>
              </a:ext>
            </a:extLst>
          </p:cNvPr>
          <p:cNvSpPr/>
          <p:nvPr/>
        </p:nvSpPr>
        <p:spPr>
          <a:xfrm>
            <a:off x="5755232" y="2076017"/>
            <a:ext cx="4222163" cy="603611"/>
          </a:xfrm>
          <a:prstGeom prst="roundRect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11" name="Заголовок 58">
            <a:extLst>
              <a:ext uri="{FF2B5EF4-FFF2-40B4-BE49-F238E27FC236}">
                <a16:creationId xmlns:a16="http://schemas.microsoft.com/office/drawing/2014/main" id="{B9E7846A-E460-1C95-799F-06B60D57EACB}"/>
              </a:ext>
            </a:extLst>
          </p:cNvPr>
          <p:cNvSpPr txBox="1">
            <a:spLocks/>
          </p:cNvSpPr>
          <p:nvPr/>
        </p:nvSpPr>
        <p:spPr>
          <a:xfrm>
            <a:off x="714938" y="1718164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bg1"/>
                </a:solidFill>
                <a:latin typeface="VK Sans Display Light" pitchFamily="2" charset="0"/>
              </a:rPr>
              <a:t>Data Reflector</a:t>
            </a:r>
          </a:p>
        </p:txBody>
      </p:sp>
      <p:sp>
        <p:nvSpPr>
          <p:cNvPr id="13" name="Заголовок 58">
            <a:extLst>
              <a:ext uri="{FF2B5EF4-FFF2-40B4-BE49-F238E27FC236}">
                <a16:creationId xmlns:a16="http://schemas.microsoft.com/office/drawing/2014/main" id="{D28766A9-B669-AD9B-6751-7C14A07FCD58}"/>
              </a:ext>
            </a:extLst>
          </p:cNvPr>
          <p:cNvSpPr txBox="1">
            <a:spLocks/>
          </p:cNvSpPr>
          <p:nvPr/>
        </p:nvSpPr>
        <p:spPr>
          <a:xfrm>
            <a:off x="896468" y="2298981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>
                <a:solidFill>
                  <a:schemeClr val="bg1"/>
                </a:solidFill>
                <a:latin typeface="VK Sans Display Light" pitchFamily="2" charset="0"/>
              </a:rPr>
              <a:t>Business Intelligence</a:t>
            </a:r>
          </a:p>
        </p:txBody>
      </p:sp>
      <p:sp>
        <p:nvSpPr>
          <p:cNvPr id="14" name="Заголовок 58">
            <a:extLst>
              <a:ext uri="{FF2B5EF4-FFF2-40B4-BE49-F238E27FC236}">
                <a16:creationId xmlns:a16="http://schemas.microsoft.com/office/drawing/2014/main" id="{8C8CE318-C873-365D-7AE4-0EC99644B9ED}"/>
              </a:ext>
            </a:extLst>
          </p:cNvPr>
          <p:cNvSpPr txBox="1">
            <a:spLocks/>
          </p:cNvSpPr>
          <p:nvPr/>
        </p:nvSpPr>
        <p:spPr>
          <a:xfrm>
            <a:off x="5747273" y="2253140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>
                <a:solidFill>
                  <a:schemeClr val="bg1"/>
                </a:solidFill>
                <a:latin typeface="VK Sans Display Light" pitchFamily="2" charset="0"/>
              </a:rPr>
              <a:t>Cognitive Intelligence</a:t>
            </a:r>
          </a:p>
        </p:txBody>
      </p:sp>
      <p:sp>
        <p:nvSpPr>
          <p:cNvPr id="15" name="Заголовок 58">
            <a:extLst>
              <a:ext uri="{FF2B5EF4-FFF2-40B4-BE49-F238E27FC236}">
                <a16:creationId xmlns:a16="http://schemas.microsoft.com/office/drawing/2014/main" id="{D9E6DFDF-209F-522F-2F71-C7C26416D84E}"/>
              </a:ext>
            </a:extLst>
          </p:cNvPr>
          <p:cNvSpPr txBox="1">
            <a:spLocks/>
          </p:cNvSpPr>
          <p:nvPr/>
        </p:nvSpPr>
        <p:spPr>
          <a:xfrm>
            <a:off x="2955931" y="2157593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Слой представляющий инструменты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BI </a:t>
            </a:r>
          </a:p>
        </p:txBody>
      </p:sp>
      <p:sp>
        <p:nvSpPr>
          <p:cNvPr id="16" name="Заголовок 58">
            <a:extLst>
              <a:ext uri="{FF2B5EF4-FFF2-40B4-BE49-F238E27FC236}">
                <a16:creationId xmlns:a16="http://schemas.microsoft.com/office/drawing/2014/main" id="{14C95133-FC24-A490-689A-641E5446EC1C}"/>
              </a:ext>
            </a:extLst>
          </p:cNvPr>
          <p:cNvSpPr txBox="1">
            <a:spLocks/>
          </p:cNvSpPr>
          <p:nvPr/>
        </p:nvSpPr>
        <p:spPr>
          <a:xfrm>
            <a:off x="7880162" y="2157593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Слой представляющий интеллектуальные системы принятия решения </a:t>
            </a:r>
            <a:endParaRPr lang="en-US" sz="1200" b="1" dirty="0">
              <a:solidFill>
                <a:schemeClr val="bg2">
                  <a:lumMod val="75000"/>
                </a:schemeClr>
              </a:solidFill>
              <a:latin typeface="VK Sans Display Light" pitchFamily="2" charset="0"/>
            </a:endParaRPr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E22FD9D5-FEB4-4DE6-4181-73EC43DA7915}"/>
              </a:ext>
            </a:extLst>
          </p:cNvPr>
          <p:cNvSpPr/>
          <p:nvPr/>
        </p:nvSpPr>
        <p:spPr>
          <a:xfrm>
            <a:off x="534794" y="3155356"/>
            <a:ext cx="9810263" cy="1212543"/>
          </a:xfrm>
          <a:prstGeom prst="roundRect">
            <a:avLst>
              <a:gd name="adj" fmla="val 4983"/>
            </a:avLst>
          </a:prstGeom>
          <a:solidFill>
            <a:srgbClr val="0177FF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BAB9B6A2-C4F3-27DF-D162-43633922656C}"/>
              </a:ext>
            </a:extLst>
          </p:cNvPr>
          <p:cNvSpPr/>
          <p:nvPr/>
        </p:nvSpPr>
        <p:spPr>
          <a:xfrm>
            <a:off x="896468" y="3646413"/>
            <a:ext cx="4222163" cy="603611"/>
          </a:xfrm>
          <a:prstGeom prst="roundRect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2525AE28-F180-B791-C411-6481F5D59F07}"/>
              </a:ext>
            </a:extLst>
          </p:cNvPr>
          <p:cNvSpPr/>
          <p:nvPr/>
        </p:nvSpPr>
        <p:spPr>
          <a:xfrm>
            <a:off x="5755232" y="3646413"/>
            <a:ext cx="4222163" cy="603611"/>
          </a:xfrm>
          <a:prstGeom prst="roundRect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36" name="Заголовок 58">
            <a:extLst>
              <a:ext uri="{FF2B5EF4-FFF2-40B4-BE49-F238E27FC236}">
                <a16:creationId xmlns:a16="http://schemas.microsoft.com/office/drawing/2014/main" id="{FFB4C52A-5FB5-248F-BA1B-EC7251BCFF62}"/>
              </a:ext>
            </a:extLst>
          </p:cNvPr>
          <p:cNvSpPr txBox="1">
            <a:spLocks/>
          </p:cNvSpPr>
          <p:nvPr/>
        </p:nvSpPr>
        <p:spPr>
          <a:xfrm>
            <a:off x="714938" y="3288560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bg1"/>
                </a:solidFill>
                <a:latin typeface="VK Sans Display Light" pitchFamily="2" charset="0"/>
              </a:rPr>
              <a:t>Data Factory</a:t>
            </a:r>
          </a:p>
        </p:txBody>
      </p:sp>
      <p:sp>
        <p:nvSpPr>
          <p:cNvPr id="37" name="Заголовок 58">
            <a:extLst>
              <a:ext uri="{FF2B5EF4-FFF2-40B4-BE49-F238E27FC236}">
                <a16:creationId xmlns:a16="http://schemas.microsoft.com/office/drawing/2014/main" id="{39FA56A2-26D3-9510-ABCD-E90F77D1FAEB}"/>
              </a:ext>
            </a:extLst>
          </p:cNvPr>
          <p:cNvSpPr txBox="1">
            <a:spLocks/>
          </p:cNvSpPr>
          <p:nvPr/>
        </p:nvSpPr>
        <p:spPr>
          <a:xfrm>
            <a:off x="1100118" y="3869377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bg1"/>
                </a:solidFill>
                <a:latin typeface="VK Sans Display Light" pitchFamily="2" charset="0"/>
              </a:rPr>
              <a:t>DE Edition</a:t>
            </a:r>
          </a:p>
        </p:txBody>
      </p:sp>
      <p:sp>
        <p:nvSpPr>
          <p:cNvPr id="38" name="Заголовок 58">
            <a:extLst>
              <a:ext uri="{FF2B5EF4-FFF2-40B4-BE49-F238E27FC236}">
                <a16:creationId xmlns:a16="http://schemas.microsoft.com/office/drawing/2014/main" id="{D0E29404-6115-FCB0-50C8-C6DCF33022A9}"/>
              </a:ext>
            </a:extLst>
          </p:cNvPr>
          <p:cNvSpPr txBox="1">
            <a:spLocks/>
          </p:cNvSpPr>
          <p:nvPr/>
        </p:nvSpPr>
        <p:spPr>
          <a:xfrm>
            <a:off x="5950923" y="3823536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bg1"/>
                </a:solidFill>
                <a:latin typeface="VK Sans Display Light" pitchFamily="2" charset="0"/>
              </a:rPr>
              <a:t>ML Edition</a:t>
            </a:r>
          </a:p>
        </p:txBody>
      </p:sp>
      <p:sp>
        <p:nvSpPr>
          <p:cNvPr id="39" name="Заголовок 58">
            <a:extLst>
              <a:ext uri="{FF2B5EF4-FFF2-40B4-BE49-F238E27FC236}">
                <a16:creationId xmlns:a16="http://schemas.microsoft.com/office/drawing/2014/main" id="{378362A2-36D7-F011-6150-EAAB115C8A31}"/>
              </a:ext>
            </a:extLst>
          </p:cNvPr>
          <p:cNvSpPr txBox="1">
            <a:spLocks/>
          </p:cNvSpPr>
          <p:nvPr/>
        </p:nvSpPr>
        <p:spPr>
          <a:xfrm>
            <a:off x="2955931" y="3727989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Слой для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 </a:t>
            </a:r>
            <a:r>
              <a:rPr lang="ru-RU" sz="12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обработки данных и получения из них ценности </a:t>
            </a:r>
            <a:endParaRPr lang="en-US" sz="1200" b="1" dirty="0">
              <a:solidFill>
                <a:schemeClr val="bg2">
                  <a:lumMod val="75000"/>
                </a:schemeClr>
              </a:solidFill>
              <a:latin typeface="VK Sans Display Light" pitchFamily="2" charset="0"/>
            </a:endParaRPr>
          </a:p>
        </p:txBody>
      </p:sp>
      <p:sp>
        <p:nvSpPr>
          <p:cNvPr id="40" name="Заголовок 58">
            <a:extLst>
              <a:ext uri="{FF2B5EF4-FFF2-40B4-BE49-F238E27FC236}">
                <a16:creationId xmlns:a16="http://schemas.microsoft.com/office/drawing/2014/main" id="{49320FBE-531B-0FCE-679C-37F3E6D69F18}"/>
              </a:ext>
            </a:extLst>
          </p:cNvPr>
          <p:cNvSpPr txBox="1">
            <a:spLocks/>
          </p:cNvSpPr>
          <p:nvPr/>
        </p:nvSpPr>
        <p:spPr>
          <a:xfrm>
            <a:off x="7880162" y="3727989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Слой обработки данных средствами и инструментами машинного обучения</a:t>
            </a:r>
            <a:endParaRPr lang="en-US" sz="1100" b="1" dirty="0">
              <a:solidFill>
                <a:schemeClr val="bg2">
                  <a:lumMod val="75000"/>
                </a:schemeClr>
              </a:solidFill>
              <a:latin typeface="VK Sans Display Light" pitchFamily="2" charset="0"/>
            </a:endParaRPr>
          </a:p>
        </p:txBody>
      </p:sp>
      <p:sp>
        <p:nvSpPr>
          <p:cNvPr id="41" name="Скругленный прямоугольник 40">
            <a:extLst>
              <a:ext uri="{FF2B5EF4-FFF2-40B4-BE49-F238E27FC236}">
                <a16:creationId xmlns:a16="http://schemas.microsoft.com/office/drawing/2014/main" id="{61B43D9D-5DB3-FEF8-34CE-071362A8DA2A}"/>
              </a:ext>
            </a:extLst>
          </p:cNvPr>
          <p:cNvSpPr/>
          <p:nvPr/>
        </p:nvSpPr>
        <p:spPr>
          <a:xfrm>
            <a:off x="534794" y="4725752"/>
            <a:ext cx="9810263" cy="1212543"/>
          </a:xfrm>
          <a:prstGeom prst="roundRect">
            <a:avLst>
              <a:gd name="adj" fmla="val 4983"/>
            </a:avLst>
          </a:prstGeom>
          <a:solidFill>
            <a:srgbClr val="0177FF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42" name="Скругленный прямоугольник 41">
            <a:extLst>
              <a:ext uri="{FF2B5EF4-FFF2-40B4-BE49-F238E27FC236}">
                <a16:creationId xmlns:a16="http://schemas.microsoft.com/office/drawing/2014/main" id="{EB277D4C-A8F7-9D29-3169-B0057C1C81A5}"/>
              </a:ext>
            </a:extLst>
          </p:cNvPr>
          <p:cNvSpPr/>
          <p:nvPr/>
        </p:nvSpPr>
        <p:spPr>
          <a:xfrm>
            <a:off x="896468" y="5216809"/>
            <a:ext cx="4222163" cy="603611"/>
          </a:xfrm>
          <a:prstGeom prst="roundRect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33B0CD05-FADB-BA04-6056-0502CA355230}"/>
              </a:ext>
            </a:extLst>
          </p:cNvPr>
          <p:cNvSpPr/>
          <p:nvPr/>
        </p:nvSpPr>
        <p:spPr>
          <a:xfrm>
            <a:off x="5755232" y="5216809"/>
            <a:ext cx="4222163" cy="603611"/>
          </a:xfrm>
          <a:prstGeom prst="roundRect">
            <a:avLst/>
          </a:prstGeom>
          <a:noFill/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lang="ru-RU" sz="2000">
              <a:solidFill>
                <a:schemeClr val="dk1"/>
              </a:solidFill>
              <a:latin typeface="Play"/>
            </a:endParaRPr>
          </a:p>
        </p:txBody>
      </p:sp>
      <p:sp>
        <p:nvSpPr>
          <p:cNvPr id="44" name="Заголовок 58">
            <a:extLst>
              <a:ext uri="{FF2B5EF4-FFF2-40B4-BE49-F238E27FC236}">
                <a16:creationId xmlns:a16="http://schemas.microsoft.com/office/drawing/2014/main" id="{7FB49A69-FF3A-9004-FD9F-7D5DD273AC67}"/>
              </a:ext>
            </a:extLst>
          </p:cNvPr>
          <p:cNvSpPr txBox="1">
            <a:spLocks/>
          </p:cNvSpPr>
          <p:nvPr/>
        </p:nvSpPr>
        <p:spPr>
          <a:xfrm>
            <a:off x="714938" y="4858956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bg1"/>
                </a:solidFill>
                <a:latin typeface="VK Sans Display Light" pitchFamily="2" charset="0"/>
              </a:rPr>
              <a:t>Data Mesh</a:t>
            </a:r>
          </a:p>
        </p:txBody>
      </p:sp>
      <p:sp>
        <p:nvSpPr>
          <p:cNvPr id="45" name="Заголовок 58">
            <a:extLst>
              <a:ext uri="{FF2B5EF4-FFF2-40B4-BE49-F238E27FC236}">
                <a16:creationId xmlns:a16="http://schemas.microsoft.com/office/drawing/2014/main" id="{3FACC809-AFEF-BEC7-18C1-85C0581368E2}"/>
              </a:ext>
            </a:extLst>
          </p:cNvPr>
          <p:cNvSpPr txBox="1">
            <a:spLocks/>
          </p:cNvSpPr>
          <p:nvPr/>
        </p:nvSpPr>
        <p:spPr>
          <a:xfrm>
            <a:off x="1100118" y="5439773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bg1"/>
                </a:solidFill>
                <a:latin typeface="VK Sans Display Light" pitchFamily="2" charset="0"/>
              </a:rPr>
              <a:t>Applications Edition</a:t>
            </a:r>
          </a:p>
        </p:txBody>
      </p:sp>
      <p:sp>
        <p:nvSpPr>
          <p:cNvPr id="46" name="Заголовок 58">
            <a:extLst>
              <a:ext uri="{FF2B5EF4-FFF2-40B4-BE49-F238E27FC236}">
                <a16:creationId xmlns:a16="http://schemas.microsoft.com/office/drawing/2014/main" id="{BF659B74-72EF-0884-F8A9-CB5D65325297}"/>
              </a:ext>
            </a:extLst>
          </p:cNvPr>
          <p:cNvSpPr txBox="1">
            <a:spLocks/>
          </p:cNvSpPr>
          <p:nvPr/>
        </p:nvSpPr>
        <p:spPr>
          <a:xfrm>
            <a:off x="5950923" y="5393932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bg1"/>
                </a:solidFill>
                <a:latin typeface="VK Sans Display Light" pitchFamily="2" charset="0"/>
              </a:rPr>
              <a:t>Analytics Edition</a:t>
            </a:r>
          </a:p>
        </p:txBody>
      </p:sp>
      <p:sp>
        <p:nvSpPr>
          <p:cNvPr id="47" name="Заголовок 58">
            <a:extLst>
              <a:ext uri="{FF2B5EF4-FFF2-40B4-BE49-F238E27FC236}">
                <a16:creationId xmlns:a16="http://schemas.microsoft.com/office/drawing/2014/main" id="{A1279FD6-AA25-1E58-47AB-015D11B63466}"/>
              </a:ext>
            </a:extLst>
          </p:cNvPr>
          <p:cNvSpPr txBox="1">
            <a:spLocks/>
          </p:cNvSpPr>
          <p:nvPr/>
        </p:nvSpPr>
        <p:spPr>
          <a:xfrm>
            <a:off x="2955931" y="5298385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Слой хранения транзакционных данных приложений</a:t>
            </a:r>
            <a:endParaRPr lang="en-US" sz="1200" b="1" dirty="0">
              <a:solidFill>
                <a:schemeClr val="bg2">
                  <a:lumMod val="75000"/>
                </a:schemeClr>
              </a:solidFill>
              <a:latin typeface="VK Sans Display Light" pitchFamily="2" charset="0"/>
            </a:endParaRPr>
          </a:p>
        </p:txBody>
      </p:sp>
      <p:sp>
        <p:nvSpPr>
          <p:cNvPr id="48" name="Заголовок 58">
            <a:extLst>
              <a:ext uri="{FF2B5EF4-FFF2-40B4-BE49-F238E27FC236}">
                <a16:creationId xmlns:a16="http://schemas.microsoft.com/office/drawing/2014/main" id="{526A9601-534A-70FC-6C9D-D661FE3200A6}"/>
              </a:ext>
            </a:extLst>
          </p:cNvPr>
          <p:cNvSpPr txBox="1">
            <a:spLocks/>
          </p:cNvSpPr>
          <p:nvPr/>
        </p:nvSpPr>
        <p:spPr>
          <a:xfrm>
            <a:off x="7880162" y="5298385"/>
            <a:ext cx="2119040" cy="4100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>
                <a:solidFill>
                  <a:schemeClr val="bg2">
                    <a:lumMod val="75000"/>
                  </a:schemeClr>
                </a:solidFill>
                <a:latin typeface="VK Sans Display Light" pitchFamily="2" charset="0"/>
              </a:rPr>
              <a:t>Слой хранения данных для задач аналитики</a:t>
            </a:r>
            <a:endParaRPr lang="en-US" sz="1400" b="1" dirty="0">
              <a:solidFill>
                <a:schemeClr val="bg2">
                  <a:lumMod val="75000"/>
                </a:schemeClr>
              </a:solidFill>
              <a:latin typeface="VK Sans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06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6411BD4-F3AC-9C44-52A4-5B4B4C288E4B}"/>
              </a:ext>
            </a:extLst>
          </p:cNvPr>
          <p:cNvSpPr/>
          <p:nvPr/>
        </p:nvSpPr>
        <p:spPr>
          <a:xfrm>
            <a:off x="162883" y="1629252"/>
            <a:ext cx="11834676" cy="861352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solidFill>
              <a:srgbClr val="0177FF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Google Shape;1218;g22d498192ef_0_118">
            <a:extLst>
              <a:ext uri="{FF2B5EF4-FFF2-40B4-BE49-F238E27FC236}">
                <a16:creationId xmlns:a16="http://schemas.microsoft.com/office/drawing/2014/main" id="{B6874CC4-AB86-F052-014F-67E5B3E2E833}"/>
              </a:ext>
            </a:extLst>
          </p:cNvPr>
          <p:cNvSpPr/>
          <p:nvPr/>
        </p:nvSpPr>
        <p:spPr>
          <a:xfrm>
            <a:off x="4283425" y="1774103"/>
            <a:ext cx="139467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D1E5B4A8-497F-4354-5F89-615D8FF052DA}"/>
              </a:ext>
            </a:extLst>
          </p:cNvPr>
          <p:cNvSpPr/>
          <p:nvPr/>
        </p:nvSpPr>
        <p:spPr>
          <a:xfrm>
            <a:off x="162882" y="2576730"/>
            <a:ext cx="11834676" cy="1899424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solidFill>
              <a:srgbClr val="0177FF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7F52C4F6-8D3D-20E3-BAC7-FACA9E42A284}"/>
              </a:ext>
            </a:extLst>
          </p:cNvPr>
          <p:cNvSpPr/>
          <p:nvPr/>
        </p:nvSpPr>
        <p:spPr>
          <a:xfrm>
            <a:off x="162883" y="4577522"/>
            <a:ext cx="11834676" cy="1547634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solidFill>
              <a:srgbClr val="0177FF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51" y="350884"/>
            <a:ext cx="6790547" cy="572424"/>
          </a:xfrm>
        </p:spPr>
        <p:txBody>
          <a:bodyPr/>
          <a:lstStyle/>
          <a:p>
            <a:r>
              <a:rPr lang="en-US" sz="3200" b="1" dirty="0">
                <a:latin typeface="VK Sans Display DemiBold" pitchFamily="2" charset="0"/>
              </a:rPr>
              <a:t>VK Data Platform. </a:t>
            </a:r>
            <a:r>
              <a:rPr lang="ru-RU" sz="3200" b="1" dirty="0">
                <a:latin typeface="VK Sans Display DemiBold" pitchFamily="2" charset="0"/>
              </a:rPr>
              <a:t>Сервисы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sp>
        <p:nvSpPr>
          <p:cNvPr id="5" name="Заголовок 58">
            <a:extLst>
              <a:ext uri="{FF2B5EF4-FFF2-40B4-BE49-F238E27FC236}">
                <a16:creationId xmlns:a16="http://schemas.microsoft.com/office/drawing/2014/main" id="{C5D50F7D-EA4A-C3AF-3C23-65C85BCCED0D}"/>
              </a:ext>
            </a:extLst>
          </p:cNvPr>
          <p:cNvSpPr txBox="1">
            <a:spLocks/>
          </p:cNvSpPr>
          <p:nvPr/>
        </p:nvSpPr>
        <p:spPr>
          <a:xfrm>
            <a:off x="1124473" y="5584738"/>
            <a:ext cx="2119040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>
                <a:latin typeface="VK Sans Display Light" pitchFamily="2" charset="0"/>
              </a:rPr>
              <a:t>Базы данных</a:t>
            </a:r>
            <a:endParaRPr lang="en-US" sz="1400" b="1" dirty="0">
              <a:latin typeface="VK Sans Display Light" pitchFamily="2" charset="0"/>
            </a:endParaRPr>
          </a:p>
        </p:txBody>
      </p:sp>
      <p:sp>
        <p:nvSpPr>
          <p:cNvPr id="7" name="Заголовок 58">
            <a:extLst>
              <a:ext uri="{FF2B5EF4-FFF2-40B4-BE49-F238E27FC236}">
                <a16:creationId xmlns:a16="http://schemas.microsoft.com/office/drawing/2014/main" id="{F7E05268-4A17-44B3-5479-DFAEA5FA0E1F}"/>
              </a:ext>
            </a:extLst>
          </p:cNvPr>
          <p:cNvSpPr txBox="1">
            <a:spLocks/>
          </p:cNvSpPr>
          <p:nvPr/>
        </p:nvSpPr>
        <p:spPr>
          <a:xfrm>
            <a:off x="1124473" y="4790853"/>
            <a:ext cx="119195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>
                <a:latin typeface="VK Sans Display Light" pitchFamily="2" charset="0"/>
              </a:rPr>
              <a:t>Объектное </a:t>
            </a:r>
            <a:endParaRPr lang="en-US" sz="1400" b="1" dirty="0">
              <a:latin typeface="VK Sans Display Light" pitchFamily="2" charset="0"/>
            </a:endParaRPr>
          </a:p>
          <a:p>
            <a:r>
              <a:rPr lang="ru-RU" sz="1400" b="1" dirty="0">
                <a:latin typeface="VK Sans Display Light" pitchFamily="2" charset="0"/>
              </a:rPr>
              <a:t>хранилище</a:t>
            </a:r>
            <a:endParaRPr lang="en-US" sz="1400" b="1" dirty="0">
              <a:latin typeface="VK Sans Display Light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979B8FF-E1A9-367C-1976-BC3D9B08A958}"/>
              </a:ext>
            </a:extLst>
          </p:cNvPr>
          <p:cNvSpPr/>
          <p:nvPr/>
        </p:nvSpPr>
        <p:spPr>
          <a:xfrm>
            <a:off x="-1" y="890517"/>
            <a:ext cx="11152096" cy="578683"/>
          </a:xfrm>
          <a:prstGeom prst="rect">
            <a:avLst/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VK Data Platform </a:t>
            </a:r>
            <a:r>
              <a:rPr lang="ru-RU" sz="1600" dirty="0"/>
              <a:t>предоставляет интегрированные между собой все необходимые инструменты для работы с</a:t>
            </a:r>
            <a:r>
              <a:rPr lang="en-US" sz="1600" dirty="0"/>
              <a:t> </a:t>
            </a:r>
            <a:r>
              <a:rPr lang="ru-RU" sz="1600" dirty="0"/>
              <a:t>данными </a:t>
            </a:r>
          </a:p>
        </p:txBody>
      </p:sp>
      <p:sp>
        <p:nvSpPr>
          <p:cNvPr id="10" name="Заголовок 58">
            <a:extLst>
              <a:ext uri="{FF2B5EF4-FFF2-40B4-BE49-F238E27FC236}">
                <a16:creationId xmlns:a16="http://schemas.microsoft.com/office/drawing/2014/main" id="{D2DC1A20-92C2-AEF7-29DB-FE132C0BA4F6}"/>
              </a:ext>
            </a:extLst>
          </p:cNvPr>
          <p:cNvSpPr txBox="1">
            <a:spLocks/>
          </p:cNvSpPr>
          <p:nvPr/>
        </p:nvSpPr>
        <p:spPr>
          <a:xfrm>
            <a:off x="1124473" y="3816630"/>
            <a:ext cx="1554789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b="1" dirty="0">
                <a:latin typeface="VK Sans Display Light" pitchFamily="2" charset="0"/>
              </a:rPr>
              <a:t>Интеграционный слой</a:t>
            </a:r>
            <a:endParaRPr lang="en-US" sz="1400" b="1" dirty="0">
              <a:latin typeface="VK Sans Display Light" pitchFamily="2" charset="0"/>
            </a:endParaRPr>
          </a:p>
        </p:txBody>
      </p:sp>
      <p:sp>
        <p:nvSpPr>
          <p:cNvPr id="12" name="Заголовок 58">
            <a:extLst>
              <a:ext uri="{FF2B5EF4-FFF2-40B4-BE49-F238E27FC236}">
                <a16:creationId xmlns:a16="http://schemas.microsoft.com/office/drawing/2014/main" id="{2EC161CC-2BCE-A174-1312-B1D8CF95574D}"/>
              </a:ext>
            </a:extLst>
          </p:cNvPr>
          <p:cNvSpPr txBox="1">
            <a:spLocks/>
          </p:cNvSpPr>
          <p:nvPr/>
        </p:nvSpPr>
        <p:spPr>
          <a:xfrm>
            <a:off x="1124473" y="3404593"/>
            <a:ext cx="2119040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VK Sans Display Light" pitchFamily="2" charset="0"/>
              </a:rPr>
              <a:t>Lakehouse</a:t>
            </a:r>
          </a:p>
        </p:txBody>
      </p:sp>
      <p:sp>
        <p:nvSpPr>
          <p:cNvPr id="13" name="Заголовок 58">
            <a:extLst>
              <a:ext uri="{FF2B5EF4-FFF2-40B4-BE49-F238E27FC236}">
                <a16:creationId xmlns:a16="http://schemas.microsoft.com/office/drawing/2014/main" id="{53FC97A2-6392-D228-FEDF-3FA4F8AEB7A4}"/>
              </a:ext>
            </a:extLst>
          </p:cNvPr>
          <p:cNvSpPr txBox="1">
            <a:spLocks/>
          </p:cNvSpPr>
          <p:nvPr/>
        </p:nvSpPr>
        <p:spPr>
          <a:xfrm>
            <a:off x="1124473" y="2860837"/>
            <a:ext cx="2119040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VK Sans Display Light" pitchFamily="2" charset="0"/>
              </a:rPr>
              <a:t>ML Platform</a:t>
            </a:r>
          </a:p>
        </p:txBody>
      </p:sp>
      <p:sp>
        <p:nvSpPr>
          <p:cNvPr id="14" name="Заголовок 58">
            <a:extLst>
              <a:ext uri="{FF2B5EF4-FFF2-40B4-BE49-F238E27FC236}">
                <a16:creationId xmlns:a16="http://schemas.microsoft.com/office/drawing/2014/main" id="{0B509C8C-29EA-2BA3-6CC2-BE3E9CA5A9DF}"/>
              </a:ext>
            </a:extLst>
          </p:cNvPr>
          <p:cNvSpPr txBox="1">
            <a:spLocks/>
          </p:cNvSpPr>
          <p:nvPr/>
        </p:nvSpPr>
        <p:spPr>
          <a:xfrm>
            <a:off x="1124473" y="1767710"/>
            <a:ext cx="1191954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VK Sans Display Light" pitchFamily="2" charset="0"/>
              </a:rPr>
              <a:t>UI </a:t>
            </a:r>
            <a:r>
              <a:rPr lang="ru-RU" sz="1400" b="1" dirty="0">
                <a:latin typeface="VK Sans Display Light" pitchFamily="2" charset="0"/>
              </a:rPr>
              <a:t>для доступа к данным</a:t>
            </a:r>
            <a:endParaRPr lang="en-US" sz="1400" b="1" dirty="0">
              <a:latin typeface="VK Sans Display Light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816A289-B6C0-1939-E106-BCF4A49A5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4470" y="3886557"/>
            <a:ext cx="877068" cy="338926"/>
          </a:xfrm>
          <a:prstGeom prst="rect">
            <a:avLst/>
          </a:prstGeom>
        </p:spPr>
      </p:pic>
      <p:sp>
        <p:nvSpPr>
          <p:cNvPr id="20" name="Google Shape;1218;g22d498192ef_0_118">
            <a:extLst>
              <a:ext uri="{FF2B5EF4-FFF2-40B4-BE49-F238E27FC236}">
                <a16:creationId xmlns:a16="http://schemas.microsoft.com/office/drawing/2014/main" id="{9705403F-1A13-0000-091B-FA04720A03C0}"/>
              </a:ext>
            </a:extLst>
          </p:cNvPr>
          <p:cNvSpPr/>
          <p:nvPr/>
        </p:nvSpPr>
        <p:spPr>
          <a:xfrm>
            <a:off x="6642751" y="5425885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8D4B4C0-13E3-F0C7-4E89-8E897DAC7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124" y="3244844"/>
            <a:ext cx="426081" cy="426081"/>
          </a:xfrm>
          <a:prstGeom prst="rect">
            <a:avLst/>
          </a:prstGeom>
        </p:spPr>
      </p:pic>
      <p:sp>
        <p:nvSpPr>
          <p:cNvPr id="23" name="Google Shape;1250;g22d498192ef_0_118">
            <a:extLst>
              <a:ext uri="{FF2B5EF4-FFF2-40B4-BE49-F238E27FC236}">
                <a16:creationId xmlns:a16="http://schemas.microsoft.com/office/drawing/2014/main" id="{585E2CD1-30CD-3F1C-355F-BA5B9E752386}"/>
              </a:ext>
            </a:extLst>
          </p:cNvPr>
          <p:cNvSpPr txBox="1"/>
          <p:nvPr/>
        </p:nvSpPr>
        <p:spPr>
          <a:xfrm>
            <a:off x="3176085" y="3342605"/>
            <a:ext cx="73352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>
                <a:latin typeface="+mj-lt"/>
                <a:ea typeface="Play"/>
                <a:cs typeface="Play"/>
                <a:sym typeface="Play"/>
              </a:rPr>
              <a:t>Trino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6A13DD2-BD1B-4BC6-B7B4-F337BCF79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1108" y="5546797"/>
            <a:ext cx="312830" cy="322244"/>
          </a:xfrm>
          <a:prstGeom prst="rect">
            <a:avLst/>
          </a:prstGeom>
        </p:spPr>
      </p:pic>
      <p:sp>
        <p:nvSpPr>
          <p:cNvPr id="25" name="Google Shape;1218;g22d498192ef_0_118">
            <a:extLst>
              <a:ext uri="{FF2B5EF4-FFF2-40B4-BE49-F238E27FC236}">
                <a16:creationId xmlns:a16="http://schemas.microsoft.com/office/drawing/2014/main" id="{26D35713-39EF-0061-6BFE-3B514A29E002}"/>
              </a:ext>
            </a:extLst>
          </p:cNvPr>
          <p:cNvSpPr/>
          <p:nvPr/>
        </p:nvSpPr>
        <p:spPr>
          <a:xfrm>
            <a:off x="2785252" y="5418703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26" name="Google Shape;1250;g22d498192ef_0_118">
            <a:extLst>
              <a:ext uri="{FF2B5EF4-FFF2-40B4-BE49-F238E27FC236}">
                <a16:creationId xmlns:a16="http://schemas.microsoft.com/office/drawing/2014/main" id="{95911CFF-75B4-7B28-81B1-320259B934B5}"/>
              </a:ext>
            </a:extLst>
          </p:cNvPr>
          <p:cNvSpPr txBox="1"/>
          <p:nvPr/>
        </p:nvSpPr>
        <p:spPr>
          <a:xfrm>
            <a:off x="3130638" y="5592319"/>
            <a:ext cx="911502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>
                <a:latin typeface="+mj-lt"/>
                <a:ea typeface="Play"/>
                <a:cs typeface="Play"/>
                <a:sym typeface="Play"/>
              </a:rPr>
              <a:t>PostgreSQL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8177B01D-2DC6-047D-7BCC-5EE08B337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315" y="3268132"/>
            <a:ext cx="764825" cy="40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F6FB2971-6237-8B4C-1257-565AF0B29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413" y="3874526"/>
            <a:ext cx="362989" cy="36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1250;g22d498192ef_0_118">
            <a:extLst>
              <a:ext uri="{FF2B5EF4-FFF2-40B4-BE49-F238E27FC236}">
                <a16:creationId xmlns:a16="http://schemas.microsoft.com/office/drawing/2014/main" id="{3FF11C98-161A-1754-EA63-44291A5061C8}"/>
              </a:ext>
            </a:extLst>
          </p:cNvPr>
          <p:cNvSpPr txBox="1"/>
          <p:nvPr/>
        </p:nvSpPr>
        <p:spPr>
          <a:xfrm>
            <a:off x="4846545" y="3945222"/>
            <a:ext cx="7211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 err="1">
                <a:latin typeface="+mj-lt"/>
                <a:ea typeface="Play"/>
                <a:cs typeface="Play"/>
                <a:sym typeface="Play"/>
              </a:rPr>
              <a:t>Flink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459FE97-CF2C-6D0E-D79B-B55A2DAB8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029" y="3871971"/>
            <a:ext cx="1190442" cy="263956"/>
          </a:xfrm>
          <a:prstGeom prst="rect">
            <a:avLst/>
          </a:prstGeom>
        </p:spPr>
      </p:pic>
      <p:sp>
        <p:nvSpPr>
          <p:cNvPr id="34" name="AutoShape 4">
            <a:extLst>
              <a:ext uri="{FF2B5EF4-FFF2-40B4-BE49-F238E27FC236}">
                <a16:creationId xmlns:a16="http://schemas.microsoft.com/office/drawing/2014/main" id="{F5588B1C-D5A0-9F85-3184-C7C0E79EFD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5119" y="5480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5" name="Picture 8">
            <a:extLst>
              <a:ext uri="{FF2B5EF4-FFF2-40B4-BE49-F238E27FC236}">
                <a16:creationId xmlns:a16="http://schemas.microsoft.com/office/drawing/2014/main" id="{A1FC4354-2D2B-B242-6D89-51602B905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946" y="5589288"/>
            <a:ext cx="1115557" cy="27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AFA94FE-2A7A-0D4B-DE3E-FE4CF20340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05609" y="3807792"/>
            <a:ext cx="932176" cy="489990"/>
          </a:xfrm>
          <a:prstGeom prst="rect">
            <a:avLst/>
          </a:prstGeom>
        </p:spPr>
      </p:pic>
      <p:sp>
        <p:nvSpPr>
          <p:cNvPr id="37" name="Google Shape;1250;g22d498192ef_0_118">
            <a:extLst>
              <a:ext uri="{FF2B5EF4-FFF2-40B4-BE49-F238E27FC236}">
                <a16:creationId xmlns:a16="http://schemas.microsoft.com/office/drawing/2014/main" id="{AE9339BE-7E83-5E0F-1427-0E140C1D429C}"/>
              </a:ext>
            </a:extLst>
          </p:cNvPr>
          <p:cNvSpPr txBox="1"/>
          <p:nvPr/>
        </p:nvSpPr>
        <p:spPr>
          <a:xfrm>
            <a:off x="6483119" y="4074249"/>
            <a:ext cx="733524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+mj-lt"/>
                <a:ea typeface="Play"/>
                <a:cs typeface="Play"/>
                <a:sym typeface="Play"/>
              </a:rPr>
              <a:t>CDC</a:t>
            </a:r>
            <a:endParaRPr sz="11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38" name="Google Shape;1218;g22d498192ef_0_118">
            <a:extLst>
              <a:ext uri="{FF2B5EF4-FFF2-40B4-BE49-F238E27FC236}">
                <a16:creationId xmlns:a16="http://schemas.microsoft.com/office/drawing/2014/main" id="{1A2D7E85-5BD7-C614-D871-13C9D31451E6}"/>
              </a:ext>
            </a:extLst>
          </p:cNvPr>
          <p:cNvSpPr/>
          <p:nvPr/>
        </p:nvSpPr>
        <p:spPr>
          <a:xfrm>
            <a:off x="2685069" y="4704028"/>
            <a:ext cx="139467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3F7BA010-EA2B-4483-6858-CA69C9D119DB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9EAD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44445" y="4813307"/>
            <a:ext cx="348835" cy="348835"/>
          </a:xfrm>
          <a:prstGeom prst="rect">
            <a:avLst/>
          </a:prstGeom>
        </p:spPr>
      </p:pic>
      <p:sp>
        <p:nvSpPr>
          <p:cNvPr id="41" name="Google Shape;1218;g22d498192ef_0_118">
            <a:extLst>
              <a:ext uri="{FF2B5EF4-FFF2-40B4-BE49-F238E27FC236}">
                <a16:creationId xmlns:a16="http://schemas.microsoft.com/office/drawing/2014/main" id="{9395B504-4710-EEA9-A887-08E94A9AE44C}"/>
              </a:ext>
            </a:extLst>
          </p:cNvPr>
          <p:cNvSpPr/>
          <p:nvPr/>
        </p:nvSpPr>
        <p:spPr>
          <a:xfrm>
            <a:off x="4086317" y="5418703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5DD985F0-9C64-2710-F2F5-28815BDCA2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8877" y="5524359"/>
            <a:ext cx="999412" cy="221599"/>
          </a:xfrm>
          <a:prstGeom prst="rect">
            <a:avLst/>
          </a:prstGeom>
        </p:spPr>
      </p:pic>
      <p:sp>
        <p:nvSpPr>
          <p:cNvPr id="43" name="Google Shape;1250;g22d498192ef_0_118">
            <a:extLst>
              <a:ext uri="{FF2B5EF4-FFF2-40B4-BE49-F238E27FC236}">
                <a16:creationId xmlns:a16="http://schemas.microsoft.com/office/drawing/2014/main" id="{F2B90952-AE74-CC66-32DD-C28BF7C59A69}"/>
              </a:ext>
            </a:extLst>
          </p:cNvPr>
          <p:cNvSpPr txBox="1"/>
          <p:nvPr/>
        </p:nvSpPr>
        <p:spPr>
          <a:xfrm>
            <a:off x="4404425" y="5742766"/>
            <a:ext cx="868677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100" dirty="0">
                <a:latin typeface="+mj-lt"/>
                <a:ea typeface="Play"/>
                <a:cs typeface="Play"/>
                <a:sym typeface="Play"/>
              </a:rPr>
              <a:t>Column Store</a:t>
            </a:r>
            <a:endParaRPr sz="11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48" name="Заголовок 58">
            <a:extLst>
              <a:ext uri="{FF2B5EF4-FFF2-40B4-BE49-F238E27FC236}">
                <a16:creationId xmlns:a16="http://schemas.microsoft.com/office/drawing/2014/main" id="{66606333-F64A-B22F-F753-8A3F923C9559}"/>
              </a:ext>
            </a:extLst>
          </p:cNvPr>
          <p:cNvSpPr txBox="1">
            <a:spLocks/>
          </p:cNvSpPr>
          <p:nvPr/>
        </p:nvSpPr>
        <p:spPr>
          <a:xfrm rot="16200000">
            <a:off x="-101971" y="5086342"/>
            <a:ext cx="1139461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VK Sans Display Light" pitchFamily="2" charset="0"/>
              </a:rPr>
              <a:t>Data Mesh Layer</a:t>
            </a:r>
          </a:p>
        </p:txBody>
      </p:sp>
      <p:sp>
        <p:nvSpPr>
          <p:cNvPr id="49" name="Заголовок 58">
            <a:extLst>
              <a:ext uri="{FF2B5EF4-FFF2-40B4-BE49-F238E27FC236}">
                <a16:creationId xmlns:a16="http://schemas.microsoft.com/office/drawing/2014/main" id="{B11D1D5A-A36A-9805-EDD7-59540324C645}"/>
              </a:ext>
            </a:extLst>
          </p:cNvPr>
          <p:cNvSpPr txBox="1">
            <a:spLocks/>
          </p:cNvSpPr>
          <p:nvPr/>
        </p:nvSpPr>
        <p:spPr>
          <a:xfrm rot="16200000">
            <a:off x="-166039" y="3434184"/>
            <a:ext cx="1267600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VK Sans Display Light" pitchFamily="2" charset="0"/>
              </a:rPr>
              <a:t>Data Factory Layer</a:t>
            </a:r>
          </a:p>
        </p:txBody>
      </p:sp>
      <p:sp>
        <p:nvSpPr>
          <p:cNvPr id="50" name="Заголовок 58">
            <a:extLst>
              <a:ext uri="{FF2B5EF4-FFF2-40B4-BE49-F238E27FC236}">
                <a16:creationId xmlns:a16="http://schemas.microsoft.com/office/drawing/2014/main" id="{4A630DAA-4393-77D3-0128-4CEC9214589D}"/>
              </a:ext>
            </a:extLst>
          </p:cNvPr>
          <p:cNvSpPr txBox="1">
            <a:spLocks/>
          </p:cNvSpPr>
          <p:nvPr/>
        </p:nvSpPr>
        <p:spPr>
          <a:xfrm rot="16200000">
            <a:off x="9594" y="1826890"/>
            <a:ext cx="873736" cy="465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VK Sans Display Light" pitchFamily="2" charset="0"/>
              </a:rPr>
              <a:t>Data Reflector Layer</a:t>
            </a:r>
          </a:p>
        </p:txBody>
      </p:sp>
      <p:sp>
        <p:nvSpPr>
          <p:cNvPr id="52" name="Google Shape;1250;g22d498192ef_0_118">
            <a:extLst>
              <a:ext uri="{FF2B5EF4-FFF2-40B4-BE49-F238E27FC236}">
                <a16:creationId xmlns:a16="http://schemas.microsoft.com/office/drawing/2014/main" id="{9A72263C-12FB-47D4-22E0-90AA8682718D}"/>
              </a:ext>
            </a:extLst>
          </p:cNvPr>
          <p:cNvSpPr txBox="1"/>
          <p:nvPr/>
        </p:nvSpPr>
        <p:spPr>
          <a:xfrm>
            <a:off x="3152656" y="4878117"/>
            <a:ext cx="7211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>
                <a:latin typeface="+mj-lt"/>
                <a:ea typeface="Play"/>
                <a:cs typeface="Play"/>
                <a:sym typeface="Play"/>
              </a:rPr>
              <a:t>S3 Storage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53" name="Google Shape;1218;g22d498192ef_0_118">
            <a:extLst>
              <a:ext uri="{FF2B5EF4-FFF2-40B4-BE49-F238E27FC236}">
                <a16:creationId xmlns:a16="http://schemas.microsoft.com/office/drawing/2014/main" id="{5C67C392-B7B6-581E-4236-9ADAEE7B8EEE}"/>
              </a:ext>
            </a:extLst>
          </p:cNvPr>
          <p:cNvSpPr/>
          <p:nvPr/>
        </p:nvSpPr>
        <p:spPr>
          <a:xfrm>
            <a:off x="5373151" y="5418703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8C3B87E-515B-BD1B-55F1-790282B467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2308" y="5524359"/>
            <a:ext cx="1044530" cy="231603"/>
          </a:xfrm>
          <a:prstGeom prst="rect">
            <a:avLst/>
          </a:prstGeom>
        </p:spPr>
      </p:pic>
      <p:sp>
        <p:nvSpPr>
          <p:cNvPr id="55" name="Google Shape;1250;g22d498192ef_0_118">
            <a:extLst>
              <a:ext uri="{FF2B5EF4-FFF2-40B4-BE49-F238E27FC236}">
                <a16:creationId xmlns:a16="http://schemas.microsoft.com/office/drawing/2014/main" id="{9E5060DA-CE38-A261-9170-ACF1FA77653C}"/>
              </a:ext>
            </a:extLst>
          </p:cNvPr>
          <p:cNvSpPr txBox="1"/>
          <p:nvPr/>
        </p:nvSpPr>
        <p:spPr>
          <a:xfrm>
            <a:off x="5691259" y="5742766"/>
            <a:ext cx="868677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100" dirty="0">
                <a:latin typeface="+mj-lt"/>
                <a:ea typeface="Play"/>
                <a:cs typeface="Play"/>
                <a:sym typeface="Play"/>
              </a:rPr>
              <a:t>DB</a:t>
            </a:r>
            <a:endParaRPr sz="11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56" name="Google Shape;1218;g22d498192ef_0_118">
            <a:extLst>
              <a:ext uri="{FF2B5EF4-FFF2-40B4-BE49-F238E27FC236}">
                <a16:creationId xmlns:a16="http://schemas.microsoft.com/office/drawing/2014/main" id="{76032D4F-35D8-F7DD-DC51-F1CEE74A64F9}"/>
              </a:ext>
            </a:extLst>
          </p:cNvPr>
          <p:cNvSpPr/>
          <p:nvPr/>
        </p:nvSpPr>
        <p:spPr>
          <a:xfrm>
            <a:off x="7912351" y="5425885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D2989AC6-AE81-F5AE-52BB-6EA1845BA4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7935" y="5553772"/>
            <a:ext cx="952571" cy="325214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B949526C-93A6-DB1D-C166-4893A2C250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87776" y="5642187"/>
            <a:ext cx="1011779" cy="151767"/>
          </a:xfrm>
          <a:prstGeom prst="rect">
            <a:avLst/>
          </a:prstGeom>
        </p:spPr>
      </p:pic>
      <p:sp>
        <p:nvSpPr>
          <p:cNvPr id="64" name="Google Shape;1218;g22d498192ef_0_118">
            <a:extLst>
              <a:ext uri="{FF2B5EF4-FFF2-40B4-BE49-F238E27FC236}">
                <a16:creationId xmlns:a16="http://schemas.microsoft.com/office/drawing/2014/main" id="{5D532B1A-3B12-DF36-576D-7D32E7DE8539}"/>
              </a:ext>
            </a:extLst>
          </p:cNvPr>
          <p:cNvSpPr/>
          <p:nvPr/>
        </p:nvSpPr>
        <p:spPr>
          <a:xfrm>
            <a:off x="9181951" y="5420768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D4588B9D-AD24-08DA-1648-85BFCF811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2241" y="1878574"/>
            <a:ext cx="329109" cy="381348"/>
          </a:xfrm>
          <a:prstGeom prst="rect">
            <a:avLst/>
          </a:prstGeom>
        </p:spPr>
      </p:pic>
      <p:sp>
        <p:nvSpPr>
          <p:cNvPr id="67" name="Google Shape;1218;g22d498192ef_0_118">
            <a:extLst>
              <a:ext uri="{FF2B5EF4-FFF2-40B4-BE49-F238E27FC236}">
                <a16:creationId xmlns:a16="http://schemas.microsoft.com/office/drawing/2014/main" id="{45F273B2-C424-885B-1483-40DCDC667440}"/>
              </a:ext>
            </a:extLst>
          </p:cNvPr>
          <p:cNvSpPr/>
          <p:nvPr/>
        </p:nvSpPr>
        <p:spPr>
          <a:xfrm>
            <a:off x="2681874" y="1778754"/>
            <a:ext cx="139467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68" name="Google Shape;1250;g22d498192ef_0_118">
            <a:extLst>
              <a:ext uri="{FF2B5EF4-FFF2-40B4-BE49-F238E27FC236}">
                <a16:creationId xmlns:a16="http://schemas.microsoft.com/office/drawing/2014/main" id="{D02EDA8A-B820-28D0-0F33-49A48F5F8371}"/>
              </a:ext>
            </a:extLst>
          </p:cNvPr>
          <p:cNvSpPr txBox="1"/>
          <p:nvPr/>
        </p:nvSpPr>
        <p:spPr>
          <a:xfrm>
            <a:off x="3102431" y="1953797"/>
            <a:ext cx="7211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 err="1">
                <a:latin typeface="+mj-lt"/>
                <a:ea typeface="Play"/>
                <a:cs typeface="Play"/>
                <a:sym typeface="Play"/>
              </a:rPr>
              <a:t>Jupyter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BB69B5BD-6C5A-DA3C-0F46-1223F648536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57871" y="1867328"/>
            <a:ext cx="370889" cy="363617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A460070E-76AB-1F7C-EB0A-266B41B086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3034" y="1867328"/>
            <a:ext cx="370889" cy="370889"/>
          </a:xfrm>
          <a:prstGeom prst="rect">
            <a:avLst/>
          </a:prstGeom>
        </p:spPr>
      </p:pic>
      <p:sp>
        <p:nvSpPr>
          <p:cNvPr id="72" name="Google Shape;1218;g22d498192ef_0_118">
            <a:extLst>
              <a:ext uri="{FF2B5EF4-FFF2-40B4-BE49-F238E27FC236}">
                <a16:creationId xmlns:a16="http://schemas.microsoft.com/office/drawing/2014/main" id="{1FCA9F78-1FA8-4B0D-E46F-A5D3ED5FB46C}"/>
              </a:ext>
            </a:extLst>
          </p:cNvPr>
          <p:cNvSpPr/>
          <p:nvPr/>
        </p:nvSpPr>
        <p:spPr>
          <a:xfrm>
            <a:off x="5884976" y="1771260"/>
            <a:ext cx="139467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73" name="Google Shape;1250;g22d498192ef_0_118">
            <a:extLst>
              <a:ext uri="{FF2B5EF4-FFF2-40B4-BE49-F238E27FC236}">
                <a16:creationId xmlns:a16="http://schemas.microsoft.com/office/drawing/2014/main" id="{6AB66FBB-C5C1-BC1A-4493-621136CA9FB0}"/>
              </a:ext>
            </a:extLst>
          </p:cNvPr>
          <p:cNvSpPr txBox="1"/>
          <p:nvPr/>
        </p:nvSpPr>
        <p:spPr>
          <a:xfrm>
            <a:off x="4803206" y="1840155"/>
            <a:ext cx="721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>
                <a:latin typeface="+mj-lt"/>
                <a:ea typeface="Play"/>
                <a:cs typeface="Play"/>
                <a:sym typeface="Play"/>
              </a:rPr>
              <a:t>VK Data Symphony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74" name="Google Shape;1250;g22d498192ef_0_118">
            <a:extLst>
              <a:ext uri="{FF2B5EF4-FFF2-40B4-BE49-F238E27FC236}">
                <a16:creationId xmlns:a16="http://schemas.microsoft.com/office/drawing/2014/main" id="{F7F50E2A-B1E5-C75B-82E5-72CC3A11D7DA}"/>
              </a:ext>
            </a:extLst>
          </p:cNvPr>
          <p:cNvSpPr txBox="1"/>
          <p:nvPr/>
        </p:nvSpPr>
        <p:spPr>
          <a:xfrm>
            <a:off x="6397766" y="1951228"/>
            <a:ext cx="7211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>
                <a:latin typeface="+mj-lt"/>
                <a:ea typeface="Play"/>
                <a:cs typeface="Play"/>
                <a:sym typeface="Play"/>
              </a:rPr>
              <a:t>VK BI Tool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B0D5FCAC-B27E-9F1B-CC3D-4127174D74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2241" y="2706949"/>
            <a:ext cx="329109" cy="381348"/>
          </a:xfrm>
          <a:prstGeom prst="rect">
            <a:avLst/>
          </a:prstGeom>
        </p:spPr>
      </p:pic>
      <p:sp>
        <p:nvSpPr>
          <p:cNvPr id="76" name="Google Shape;1218;g22d498192ef_0_118">
            <a:extLst>
              <a:ext uri="{FF2B5EF4-FFF2-40B4-BE49-F238E27FC236}">
                <a16:creationId xmlns:a16="http://schemas.microsoft.com/office/drawing/2014/main" id="{4BDEAD3A-6778-DD3E-A37B-98DC0569C676}"/>
              </a:ext>
            </a:extLst>
          </p:cNvPr>
          <p:cNvSpPr/>
          <p:nvPr/>
        </p:nvSpPr>
        <p:spPr>
          <a:xfrm>
            <a:off x="2681874" y="2659758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77" name="Google Shape;1250;g22d498192ef_0_118">
            <a:extLst>
              <a:ext uri="{FF2B5EF4-FFF2-40B4-BE49-F238E27FC236}">
                <a16:creationId xmlns:a16="http://schemas.microsoft.com/office/drawing/2014/main" id="{60DB514E-E28E-16FF-2301-1BB624C0E3C3}"/>
              </a:ext>
            </a:extLst>
          </p:cNvPr>
          <p:cNvSpPr txBox="1"/>
          <p:nvPr/>
        </p:nvSpPr>
        <p:spPr>
          <a:xfrm>
            <a:off x="3102431" y="2779372"/>
            <a:ext cx="7211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dirty="0" err="1">
                <a:latin typeface="+mj-lt"/>
                <a:ea typeface="Play"/>
                <a:cs typeface="Play"/>
                <a:sym typeface="Play"/>
              </a:rPr>
              <a:t>Jupyter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sp>
        <p:nvSpPr>
          <p:cNvPr id="81" name="Google Shape;1218;g22d498192ef_0_118">
            <a:extLst>
              <a:ext uri="{FF2B5EF4-FFF2-40B4-BE49-F238E27FC236}">
                <a16:creationId xmlns:a16="http://schemas.microsoft.com/office/drawing/2014/main" id="{B555134F-774E-37F3-85E6-8B2FDD551502}"/>
              </a:ext>
            </a:extLst>
          </p:cNvPr>
          <p:cNvSpPr/>
          <p:nvPr/>
        </p:nvSpPr>
        <p:spPr>
          <a:xfrm>
            <a:off x="2681874" y="3232369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82" name="Google Shape;1218;g22d498192ef_0_118">
            <a:extLst>
              <a:ext uri="{FF2B5EF4-FFF2-40B4-BE49-F238E27FC236}">
                <a16:creationId xmlns:a16="http://schemas.microsoft.com/office/drawing/2014/main" id="{51A7D042-7C99-53CF-DB1E-E324D8D2241D}"/>
              </a:ext>
            </a:extLst>
          </p:cNvPr>
          <p:cNvSpPr/>
          <p:nvPr/>
        </p:nvSpPr>
        <p:spPr>
          <a:xfrm>
            <a:off x="2674361" y="3803392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83" name="Google Shape;1218;g22d498192ef_0_118">
            <a:extLst>
              <a:ext uri="{FF2B5EF4-FFF2-40B4-BE49-F238E27FC236}">
                <a16:creationId xmlns:a16="http://schemas.microsoft.com/office/drawing/2014/main" id="{DAB42319-B968-1B32-0A66-7D1338402E58}"/>
              </a:ext>
            </a:extLst>
          </p:cNvPr>
          <p:cNvSpPr/>
          <p:nvPr/>
        </p:nvSpPr>
        <p:spPr>
          <a:xfrm>
            <a:off x="4289530" y="3232369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84" name="Google Shape;1218;g22d498192ef_0_118">
            <a:extLst>
              <a:ext uri="{FF2B5EF4-FFF2-40B4-BE49-F238E27FC236}">
                <a16:creationId xmlns:a16="http://schemas.microsoft.com/office/drawing/2014/main" id="{EA96C6E9-FA5C-4DC9-DC44-8CB4FF3411B9}"/>
              </a:ext>
            </a:extLst>
          </p:cNvPr>
          <p:cNvSpPr/>
          <p:nvPr/>
        </p:nvSpPr>
        <p:spPr>
          <a:xfrm>
            <a:off x="4289530" y="3807792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85" name="Google Shape;1218;g22d498192ef_0_118">
            <a:extLst>
              <a:ext uri="{FF2B5EF4-FFF2-40B4-BE49-F238E27FC236}">
                <a16:creationId xmlns:a16="http://schemas.microsoft.com/office/drawing/2014/main" id="{4D3B0468-69C5-5F0B-F55E-EEBD6D5C32A5}"/>
              </a:ext>
            </a:extLst>
          </p:cNvPr>
          <p:cNvSpPr/>
          <p:nvPr/>
        </p:nvSpPr>
        <p:spPr>
          <a:xfrm>
            <a:off x="4283390" y="2662247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7EEEECED-2843-5522-556D-1EE5A8A99F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25313" y="2741866"/>
            <a:ext cx="972624" cy="356514"/>
          </a:xfrm>
          <a:prstGeom prst="rect">
            <a:avLst/>
          </a:prstGeom>
        </p:spPr>
      </p:pic>
      <p:sp>
        <p:nvSpPr>
          <p:cNvPr id="88" name="Google Shape;1218;g22d498192ef_0_118">
            <a:extLst>
              <a:ext uri="{FF2B5EF4-FFF2-40B4-BE49-F238E27FC236}">
                <a16:creationId xmlns:a16="http://schemas.microsoft.com/office/drawing/2014/main" id="{98C573B3-11A6-136E-3B20-2083C0A8D432}"/>
              </a:ext>
            </a:extLst>
          </p:cNvPr>
          <p:cNvSpPr/>
          <p:nvPr/>
        </p:nvSpPr>
        <p:spPr>
          <a:xfrm>
            <a:off x="5884606" y="2661404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89" name="Picture 2">
            <a:extLst>
              <a:ext uri="{FF2B5EF4-FFF2-40B4-BE49-F238E27FC236}">
                <a16:creationId xmlns:a16="http://schemas.microsoft.com/office/drawing/2014/main" id="{9DA0AAB3-CF0C-B87B-1801-49FF59965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188" y="2681475"/>
            <a:ext cx="764825" cy="40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Google Shape;1218;g22d498192ef_0_118">
            <a:extLst>
              <a:ext uri="{FF2B5EF4-FFF2-40B4-BE49-F238E27FC236}">
                <a16:creationId xmlns:a16="http://schemas.microsoft.com/office/drawing/2014/main" id="{7397CA90-A1FA-64A8-F410-BFECADBADD5C}"/>
              </a:ext>
            </a:extLst>
          </p:cNvPr>
          <p:cNvSpPr/>
          <p:nvPr/>
        </p:nvSpPr>
        <p:spPr>
          <a:xfrm>
            <a:off x="5880086" y="3811642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91" name="Google Shape;1218;g22d498192ef_0_118">
            <a:extLst>
              <a:ext uri="{FF2B5EF4-FFF2-40B4-BE49-F238E27FC236}">
                <a16:creationId xmlns:a16="http://schemas.microsoft.com/office/drawing/2014/main" id="{E298E666-1B86-50B9-764B-128FCDB2E1A0}"/>
              </a:ext>
            </a:extLst>
          </p:cNvPr>
          <p:cNvSpPr/>
          <p:nvPr/>
        </p:nvSpPr>
        <p:spPr>
          <a:xfrm>
            <a:off x="7470642" y="3797451"/>
            <a:ext cx="1394673" cy="482290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3" name="Google Shape;1218;g22d498192ef_0_118">
            <a:extLst>
              <a:ext uri="{FF2B5EF4-FFF2-40B4-BE49-F238E27FC236}">
                <a16:creationId xmlns:a16="http://schemas.microsoft.com/office/drawing/2014/main" id="{40F58DF8-63CF-99AF-3646-3B9C6788DB0D}"/>
              </a:ext>
            </a:extLst>
          </p:cNvPr>
          <p:cNvSpPr/>
          <p:nvPr/>
        </p:nvSpPr>
        <p:spPr>
          <a:xfrm>
            <a:off x="7470642" y="1767710"/>
            <a:ext cx="1394673" cy="580988"/>
          </a:xfrm>
          <a:prstGeom prst="flowChartAlternateProcess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sp>
        <p:nvSpPr>
          <p:cNvPr id="4" name="Google Shape;1250;g22d498192ef_0_118">
            <a:extLst>
              <a:ext uri="{FF2B5EF4-FFF2-40B4-BE49-F238E27FC236}">
                <a16:creationId xmlns:a16="http://schemas.microsoft.com/office/drawing/2014/main" id="{62B69FF7-40A9-C8BD-9516-09005888B916}"/>
              </a:ext>
            </a:extLst>
          </p:cNvPr>
          <p:cNvSpPr txBox="1"/>
          <p:nvPr/>
        </p:nvSpPr>
        <p:spPr>
          <a:xfrm>
            <a:off x="7981792" y="1953796"/>
            <a:ext cx="721125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"/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+mj-lt"/>
                <a:ea typeface="Play"/>
                <a:cs typeface="Play"/>
                <a:sym typeface="Play"/>
              </a:rPr>
              <a:t>Data</a:t>
            </a:r>
            <a:r>
              <a:rPr lang="en-US" sz="1200" b="1" dirty="0" err="1">
                <a:solidFill>
                  <a:srgbClr val="000000"/>
                </a:solidFill>
                <a:latin typeface="+mj-lt"/>
                <a:ea typeface="Play"/>
                <a:cs typeface="Play"/>
                <a:sym typeface="Play"/>
              </a:rPr>
              <a:t>Hub</a:t>
            </a:r>
            <a:endParaRPr sz="1200" b="1" i="0" u="none" strike="noStrike" cap="none" dirty="0">
              <a:solidFill>
                <a:srgbClr val="000000"/>
              </a:solidFill>
              <a:latin typeface="+mj-lt"/>
              <a:ea typeface="Play"/>
              <a:cs typeface="Play"/>
              <a:sym typeface="Play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D2F359-4795-74B8-B3BB-706875F0B3B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15625" y="1878574"/>
            <a:ext cx="417690" cy="355403"/>
          </a:xfrm>
          <a:prstGeom prst="rect">
            <a:avLst/>
          </a:prstGeom>
        </p:spPr>
      </p:pic>
      <p:sp>
        <p:nvSpPr>
          <p:cNvPr id="16" name="Google Shape;1218;g22d498192ef_0_118">
            <a:extLst>
              <a:ext uri="{FF2B5EF4-FFF2-40B4-BE49-F238E27FC236}">
                <a16:creationId xmlns:a16="http://schemas.microsoft.com/office/drawing/2014/main" id="{96E4F6E5-AC41-B03F-805A-3B5738A325DE}"/>
              </a:ext>
            </a:extLst>
          </p:cNvPr>
          <p:cNvSpPr/>
          <p:nvPr/>
        </p:nvSpPr>
        <p:spPr>
          <a:xfrm>
            <a:off x="10500250" y="5418703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3074" name="Picture 2" descr="Установка, настройка и эксплуатация стэка OpenSearch в классической среде /  Хабр">
            <a:extLst>
              <a:ext uri="{FF2B5EF4-FFF2-40B4-BE49-F238E27FC236}">
                <a16:creationId xmlns:a16="http://schemas.microsoft.com/office/drawing/2014/main" id="{DD21EA19-8709-00C9-AE39-1B8D12598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91" b="24751"/>
          <a:stretch/>
        </p:blipFill>
        <p:spPr bwMode="auto">
          <a:xfrm>
            <a:off x="10556687" y="5603756"/>
            <a:ext cx="1021679" cy="24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218;g22d498192ef_0_118">
            <a:extLst>
              <a:ext uri="{FF2B5EF4-FFF2-40B4-BE49-F238E27FC236}">
                <a16:creationId xmlns:a16="http://schemas.microsoft.com/office/drawing/2014/main" id="{DA6FD28A-7A35-9EA2-B3E0-097C08D66562}"/>
              </a:ext>
            </a:extLst>
          </p:cNvPr>
          <p:cNvSpPr/>
          <p:nvPr/>
        </p:nvSpPr>
        <p:spPr>
          <a:xfrm>
            <a:off x="9027950" y="1767710"/>
            <a:ext cx="1190443" cy="580988"/>
          </a:xfrm>
          <a:prstGeom prst="flowChartAlternateProcess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algn="ctr">
              <a:lnSpc>
                <a:spcPct val="75000"/>
              </a:lnSpc>
              <a:buSzPts val="900"/>
            </a:pPr>
            <a:endParaRPr sz="2000">
              <a:solidFill>
                <a:schemeClr val="dk1"/>
              </a:solidFill>
              <a:latin typeface="Play"/>
              <a:sym typeface="Play"/>
            </a:endParaRPr>
          </a:p>
        </p:txBody>
      </p:sp>
      <p:pic>
        <p:nvPicPr>
          <p:cNvPr id="19" name="Picture 2" descr="Установка, настройка и эксплуатация стэка OpenSearch в классической среде /  Хабр">
            <a:extLst>
              <a:ext uri="{FF2B5EF4-FFF2-40B4-BE49-F238E27FC236}">
                <a16:creationId xmlns:a16="http://schemas.microsoft.com/office/drawing/2014/main" id="{CDE10927-9C15-7C16-35BB-9B820546F3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91" b="24751"/>
          <a:stretch/>
        </p:blipFill>
        <p:spPr bwMode="auto">
          <a:xfrm>
            <a:off x="9084387" y="1952763"/>
            <a:ext cx="1021679" cy="24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08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5F5B38-3ECF-CFD3-0678-242AC2558EDB}"/>
              </a:ext>
            </a:extLst>
          </p:cNvPr>
          <p:cNvSpPr/>
          <p:nvPr/>
        </p:nvSpPr>
        <p:spPr>
          <a:xfrm>
            <a:off x="320391" y="1080537"/>
            <a:ext cx="2237041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ADC1B85-5B79-95D0-D821-3133BCD15398}"/>
              </a:ext>
            </a:extLst>
          </p:cNvPr>
          <p:cNvSpPr/>
          <p:nvPr/>
        </p:nvSpPr>
        <p:spPr>
          <a:xfrm>
            <a:off x="2701583" y="1080536"/>
            <a:ext cx="2237041" cy="4845701"/>
          </a:xfrm>
          <a:prstGeom prst="rect">
            <a:avLst/>
          </a:prstGeom>
          <a:solidFill>
            <a:srgbClr val="0177FF"/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Заголовок 58">
            <a:extLst>
              <a:ext uri="{FF2B5EF4-FFF2-40B4-BE49-F238E27FC236}">
                <a16:creationId xmlns:a16="http://schemas.microsoft.com/office/drawing/2014/main" id="{69F980FD-233B-45D6-A052-F4E56B62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50" y="350884"/>
            <a:ext cx="11878549" cy="572424"/>
          </a:xfrm>
        </p:spPr>
        <p:txBody>
          <a:bodyPr/>
          <a:lstStyle/>
          <a:p>
            <a:r>
              <a:rPr lang="en-US" sz="3200" b="1" dirty="0">
                <a:latin typeface="VK Sans Display DemiBold" pitchFamily="2" charset="0"/>
              </a:rPr>
              <a:t>VK Data Platform. </a:t>
            </a:r>
            <a:r>
              <a:rPr lang="ru-RU" sz="3200" b="1" dirty="0">
                <a:latin typeface="VK Sans Display DemiBold" pitchFamily="2" charset="0"/>
              </a:rPr>
              <a:t>Задачи решаемые с платформой данных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41BE9-3E11-BCEB-CDA7-2F7C9FD4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51" y="6216965"/>
            <a:ext cx="1290173" cy="405897"/>
          </a:xfrm>
          <a:prstGeom prst="rect">
            <a:avLst/>
          </a:prstGeom>
        </p:spPr>
      </p:pic>
      <p:sp>
        <p:nvSpPr>
          <p:cNvPr id="6" name="Заголовок 58">
            <a:extLst>
              <a:ext uri="{FF2B5EF4-FFF2-40B4-BE49-F238E27FC236}">
                <a16:creationId xmlns:a16="http://schemas.microsoft.com/office/drawing/2014/main" id="{08F47290-CF7D-756E-C8E8-51DA14FAF090}"/>
              </a:ext>
            </a:extLst>
          </p:cNvPr>
          <p:cNvSpPr txBox="1">
            <a:spLocks/>
          </p:cNvSpPr>
          <p:nvPr/>
        </p:nvSpPr>
        <p:spPr>
          <a:xfrm>
            <a:off x="507738" y="1448876"/>
            <a:ext cx="1983253" cy="40675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/>
              <a:t>Улучшение качества управления компанией. </a:t>
            </a:r>
          </a:p>
          <a:p>
            <a:r>
              <a:rPr lang="ru-RU" sz="1600" b="1" dirty="0"/>
              <a:t>(</a:t>
            </a:r>
            <a:r>
              <a:rPr lang="en-US" sz="1600" b="1" dirty="0"/>
              <a:t>Data-Driven </a:t>
            </a:r>
            <a:r>
              <a:rPr lang="ru-RU" sz="1600" b="1" dirty="0"/>
              <a:t>подход)</a:t>
            </a:r>
          </a:p>
          <a:p>
            <a:endParaRPr lang="ru-RU" sz="1600" b="1" dirty="0"/>
          </a:p>
          <a:p>
            <a:endParaRPr lang="ru-RU" sz="1600" b="1" dirty="0"/>
          </a:p>
          <a:p>
            <a:endParaRPr lang="ru-RU" sz="1600" dirty="0"/>
          </a:p>
          <a:p>
            <a:r>
              <a:rPr lang="ru-RU" sz="1600" dirty="0"/>
              <a:t>Платформа данных помогает анализировать большие объемы информации, чтобы принимать более обоснованные решения. (при помощи например BI инструментов собственной разработки)</a:t>
            </a:r>
            <a:endParaRPr lang="en-US" sz="1600" dirty="0"/>
          </a:p>
        </p:txBody>
      </p:sp>
      <p:sp>
        <p:nvSpPr>
          <p:cNvPr id="8" name="Заголовок 58">
            <a:extLst>
              <a:ext uri="{FF2B5EF4-FFF2-40B4-BE49-F238E27FC236}">
                <a16:creationId xmlns:a16="http://schemas.microsoft.com/office/drawing/2014/main" id="{AF2DF01B-4EC5-43E0-74AD-C60033823DCF}"/>
              </a:ext>
            </a:extLst>
          </p:cNvPr>
          <p:cNvSpPr txBox="1">
            <a:spLocks/>
          </p:cNvSpPr>
          <p:nvPr/>
        </p:nvSpPr>
        <p:spPr>
          <a:xfrm>
            <a:off x="2960458" y="1408959"/>
            <a:ext cx="2029941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solidFill>
                  <a:schemeClr val="bg1"/>
                </a:solidFill>
              </a:rPr>
              <a:t>Повышение эффективности производства и процессов. </a:t>
            </a:r>
          </a:p>
          <a:p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Анализ данных позволяет выявить проблемы в производственном процессе и найти способы их решения.</a:t>
            </a:r>
          </a:p>
          <a:p>
            <a:endParaRPr lang="en-US" sz="1600" dirty="0">
              <a:solidFill>
                <a:schemeClr val="bg1"/>
              </a:solidFill>
              <a:latin typeface="VK Sans Display Medium" pitchFamily="2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859BFD-4DF3-43F5-BA4E-C28BDAF3A592}"/>
              </a:ext>
            </a:extLst>
          </p:cNvPr>
          <p:cNvSpPr/>
          <p:nvPr/>
        </p:nvSpPr>
        <p:spPr>
          <a:xfrm>
            <a:off x="5082775" y="1080536"/>
            <a:ext cx="2237041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7F58BB-7D37-A87A-8EE4-701F7A0FB59A}"/>
              </a:ext>
            </a:extLst>
          </p:cNvPr>
          <p:cNvSpPr/>
          <p:nvPr/>
        </p:nvSpPr>
        <p:spPr>
          <a:xfrm>
            <a:off x="7463967" y="1080535"/>
            <a:ext cx="2237041" cy="4845701"/>
          </a:xfrm>
          <a:prstGeom prst="rect">
            <a:avLst/>
          </a:prstGeom>
          <a:solidFill>
            <a:srgbClr val="0177FF"/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64108C-889E-3BFA-5649-E922FFA47681}"/>
              </a:ext>
            </a:extLst>
          </p:cNvPr>
          <p:cNvSpPr/>
          <p:nvPr/>
        </p:nvSpPr>
        <p:spPr>
          <a:xfrm>
            <a:off x="9845159" y="1080534"/>
            <a:ext cx="2237041" cy="4845701"/>
          </a:xfrm>
          <a:prstGeom prst="rect">
            <a:avLst/>
          </a:prstGeom>
          <a:solidFill>
            <a:schemeClr val="bg1">
              <a:alpha val="98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953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Заголовок 58">
            <a:extLst>
              <a:ext uri="{FF2B5EF4-FFF2-40B4-BE49-F238E27FC236}">
                <a16:creationId xmlns:a16="http://schemas.microsoft.com/office/drawing/2014/main" id="{ED863A01-0201-8786-366E-EF874EC94458}"/>
              </a:ext>
            </a:extLst>
          </p:cNvPr>
          <p:cNvSpPr txBox="1">
            <a:spLocks/>
          </p:cNvSpPr>
          <p:nvPr/>
        </p:nvSpPr>
        <p:spPr>
          <a:xfrm>
            <a:off x="5186324" y="1408959"/>
            <a:ext cx="2045749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/>
              <a:t>Снижение затрат на производство и оптимизация ресурсов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Благодаря анализу данных можно оптимизировать использование ресурсов и сократить расходы на производство и закупки. </a:t>
            </a:r>
          </a:p>
          <a:p>
            <a:endParaRPr lang="en-US" sz="1600" dirty="0">
              <a:latin typeface="VK Sans Display Medium" pitchFamily="2" charset="0"/>
            </a:endParaRPr>
          </a:p>
        </p:txBody>
      </p:sp>
      <p:sp>
        <p:nvSpPr>
          <p:cNvPr id="19" name="Заголовок 58">
            <a:extLst>
              <a:ext uri="{FF2B5EF4-FFF2-40B4-BE49-F238E27FC236}">
                <a16:creationId xmlns:a16="http://schemas.microsoft.com/office/drawing/2014/main" id="{5D62A470-54DD-E813-0E2A-8614302C779F}"/>
              </a:ext>
            </a:extLst>
          </p:cNvPr>
          <p:cNvSpPr txBox="1">
            <a:spLocks/>
          </p:cNvSpPr>
          <p:nvPr/>
        </p:nvSpPr>
        <p:spPr>
          <a:xfrm>
            <a:off x="7597429" y="1445935"/>
            <a:ext cx="1970116" cy="372567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solidFill>
                  <a:schemeClr val="bg1"/>
                </a:solidFill>
              </a:rPr>
              <a:t>Улучшение взаимодействия между подразделениями компании.</a:t>
            </a:r>
          </a:p>
          <a:p>
            <a:endParaRPr lang="ru-RU" sz="1600" dirty="0">
              <a:solidFill>
                <a:schemeClr val="bg1"/>
              </a:solidFill>
            </a:endParaRP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Платформа данных позволяет автоматизировать обмен информацией между различными отделами и повышать уровень координации работы.</a:t>
            </a:r>
          </a:p>
          <a:p>
            <a:endParaRPr lang="en-US" sz="1600" dirty="0">
              <a:solidFill>
                <a:schemeClr val="bg1"/>
              </a:solidFill>
              <a:latin typeface="VK Sans Display Medium" pitchFamily="2" charset="0"/>
            </a:endParaRPr>
          </a:p>
        </p:txBody>
      </p:sp>
      <p:sp>
        <p:nvSpPr>
          <p:cNvPr id="20" name="Заголовок 58">
            <a:extLst>
              <a:ext uri="{FF2B5EF4-FFF2-40B4-BE49-F238E27FC236}">
                <a16:creationId xmlns:a16="http://schemas.microsoft.com/office/drawing/2014/main" id="{79222D7A-5CB3-2530-4609-244ABD51B678}"/>
              </a:ext>
            </a:extLst>
          </p:cNvPr>
          <p:cNvSpPr txBox="1">
            <a:spLocks/>
          </p:cNvSpPr>
          <p:nvPr/>
        </p:nvSpPr>
        <p:spPr>
          <a:xfrm>
            <a:off x="9948708" y="1408959"/>
            <a:ext cx="2029941" cy="4994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/>
              <a:t>Обеспечение безопасности данных.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Платформа защищает конфиденциальную информацию от несанкционированного доступа и предотвращает утечку данных.</a:t>
            </a:r>
          </a:p>
          <a:p>
            <a:endParaRPr lang="en-US" sz="1600" dirty="0">
              <a:latin typeface="VK Sans Displ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19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Группа 5"/>
          <p:cNvGrpSpPr/>
          <p:nvPr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289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0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1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2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3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4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5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6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7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8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299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0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1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2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3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4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5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6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07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  <p:grpSp>
        <p:nvGrpSpPr>
          <p:cNvPr id="328" name="Группа 25"/>
          <p:cNvGrpSpPr/>
          <p:nvPr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309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0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1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2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3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4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5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6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7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8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19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0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1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2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3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4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5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6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327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874955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98652</TotalTime>
  <Words>716</Words>
  <Application>Microsoft Macintosh PowerPoint</Application>
  <PresentationFormat>Широкоэкранный</PresentationFormat>
  <Paragraphs>161</Paragraphs>
  <Slides>11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Play</vt:lpstr>
      <vt:lpstr>VK Sans Display</vt:lpstr>
      <vt:lpstr>VK Sans Display DemiBold</vt:lpstr>
      <vt:lpstr>VK Sans Display Light</vt:lpstr>
      <vt:lpstr>VK Sans Display Medium</vt:lpstr>
      <vt:lpstr>Тема Office</vt:lpstr>
      <vt:lpstr>Презентация PowerPoint</vt:lpstr>
      <vt:lpstr>VK Data Platform</vt:lpstr>
      <vt:lpstr>VK Data Platform. Состав</vt:lpstr>
      <vt:lpstr>VK Data Platform.  Ценность</vt:lpstr>
      <vt:lpstr>Презентация PowerPoint</vt:lpstr>
      <vt:lpstr>VK Data Platform. Преимущества</vt:lpstr>
      <vt:lpstr>VK Data Platform. Получение ценности из данных</vt:lpstr>
      <vt:lpstr>Презентация PowerPoint</vt:lpstr>
      <vt:lpstr>VK Data Platform. Сервисы</vt:lpstr>
      <vt:lpstr>VK Data Platform. Задачи решаемые с платформой данных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Novojenov Vladimir</dc:creator>
  <cp:lastModifiedBy>Microsoft Office User</cp:lastModifiedBy>
  <cp:revision>304</cp:revision>
  <dcterms:created xsi:type="dcterms:W3CDTF">2024-06-26T15:59:44Z</dcterms:created>
  <dcterms:modified xsi:type="dcterms:W3CDTF">2024-10-11T19:51:26Z</dcterms:modified>
</cp:coreProperties>
</file>