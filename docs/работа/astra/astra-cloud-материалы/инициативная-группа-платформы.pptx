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371" r:id="rId2"/>
    <p:sldId id="382" r:id="rId3"/>
    <p:sldId id="373" r:id="rId4"/>
    <p:sldId id="374" r:id="rId5"/>
    <p:sldId id="375" r:id="rId6"/>
    <p:sldId id="377" r:id="rId7"/>
    <p:sldId id="378" r:id="rId8"/>
    <p:sldId id="380" r:id="rId9"/>
    <p:sldId id="38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45" autoAdjust="0"/>
    <p:restoredTop sz="94619"/>
  </p:normalViewPr>
  <p:slideViewPr>
    <p:cSldViewPr snapToGrid="0">
      <p:cViewPr varScale="1">
        <p:scale>
          <a:sx n="92" d="100"/>
          <a:sy n="92" d="100"/>
        </p:scale>
        <p:origin x="20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50C2F-21E5-47F1-B7E0-ACAC5AF32FE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F5F99-481E-4BC0-A0F2-585E623E8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346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0B6E4-60B3-4731-69A4-D05CBD8F0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C7321-779E-8092-CC38-29B14199D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E4A82-37ED-4D32-BA87-7581F857D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E59CA-9C12-55B6-DD3D-CD8360384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1012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870D6-5762-D974-BE85-E3A8E849B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12CB4-E387-C79D-F6CF-9D3AAC1FF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A2743-ACC5-AC23-8989-01786FCE5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3567C-8FAD-8EE9-46F9-8965D0916F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6367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12668-5154-E79A-BD72-6616C0EA3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87F5D-1958-C880-7C8D-315823FE3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AB66B-CA78-0DF2-C279-1E8A6F4A4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56B65-6868-DC6D-6CF7-BCC4F4F6A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60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F6F55-19D0-8670-ED55-0C67C7B57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CE19F2-479B-B84D-74FA-C6736BFD8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79EA2-6FEE-BD59-DC31-E731B8B1C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58839-721B-2A44-1A18-D954FC5C65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1220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14232-C2DC-CF2E-0683-D19DC27C1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C5A192-F521-82CD-1C52-23F284475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19C0D2-99B1-773F-717B-3C83A3C96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9E512-D3E5-CA09-3BA1-98E7663CBA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5681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66642-BA85-1AAE-F4D4-44B6B0321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4A58D-57E0-5276-E8E0-222D035A4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6C7BF-9CF2-7E83-3C69-EF4D0FDD5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9C425-8934-57D1-AFCA-5D51230195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831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2485C-BF53-8C74-020C-EA718582C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EFA97-3714-26D7-3D76-BFD934B41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8172E-63BD-B353-FF54-EB5DCC822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14A18-F041-30F3-DBD4-710C354C54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0936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E8252-E30E-1870-BCB2-8A3F086E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1B856-E7B6-AD4E-732E-896C61449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81CED9-A04C-CDC5-778C-B7E3AF249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3FF06-B697-715D-523C-CEFA49B3B6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7841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2485C-BF53-8C74-020C-EA718582C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EFA97-3714-26D7-3D76-BFD934B41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8172E-63BD-B353-FF54-EB5DCC822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14A18-F041-30F3-DBD4-710C354C54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0936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118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97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457109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16" indent="-171416" algn="l" defTabSz="457109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01" indent="-142846" algn="l" defTabSz="457109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86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99940" indent="-114277" algn="l" defTabSz="457109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494" indent="-114277" algn="l" defTabSz="457109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049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603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26" Type="http://schemas.openxmlformats.org/officeDocument/2006/relationships/image" Target="../media/image26.sv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sv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sv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svg"/><Relationship Id="rId27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30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31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32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33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34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35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36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68295-A8D1-5559-834B-4B9D7D99B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F2312E67-71F8-6A65-222E-7BEC497FF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1480" y="45642"/>
            <a:ext cx="1479542" cy="6857107"/>
          </a:xfrm>
          <a:prstGeom prst="rect">
            <a:avLst/>
          </a:prstGeom>
        </p:spPr>
      </p:pic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D0ADD00B-EEBD-679C-7A3D-86A3A3B0AE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2990" y="1040211"/>
            <a:ext cx="281482" cy="229017"/>
          </a:xfrm>
          <a:prstGeom prst="rect">
            <a:avLst/>
          </a:prstGeom>
        </p:spPr>
      </p:pic>
      <p:pic>
        <p:nvPicPr>
          <p:cNvPr id="5" name="Image 3" descr=" ">
            <a:extLst>
              <a:ext uri="{FF2B5EF4-FFF2-40B4-BE49-F238E27FC236}">
                <a16:creationId xmlns:a16="http://schemas.microsoft.com/office/drawing/2014/main" id="{3358F5B8-0FC5-8D26-E8A2-747EED7EDA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7994" y="1035362"/>
            <a:ext cx="210690" cy="238825"/>
          </a:xfrm>
          <a:prstGeom prst="rect">
            <a:avLst/>
          </a:prstGeom>
        </p:spPr>
      </p:pic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CF0AAE12-4CE6-29EC-E393-1D570BE246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7854" y="1040211"/>
            <a:ext cx="207515" cy="229017"/>
          </a:xfrm>
          <a:prstGeom prst="rect">
            <a:avLst/>
          </a:prstGeom>
        </p:spPr>
      </p:pic>
      <p:pic>
        <p:nvPicPr>
          <p:cNvPr id="7" name="Image 5" descr=" ">
            <a:extLst>
              <a:ext uri="{FF2B5EF4-FFF2-40B4-BE49-F238E27FC236}">
                <a16:creationId xmlns:a16="http://schemas.microsoft.com/office/drawing/2014/main" id="{0F836CFC-3FC8-5AB1-A8C1-D000405196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5829" y="1040880"/>
            <a:ext cx="215651" cy="229116"/>
          </a:xfrm>
          <a:prstGeom prst="rect">
            <a:avLst/>
          </a:prstGeom>
        </p:spPr>
      </p:pic>
      <p:pic>
        <p:nvPicPr>
          <p:cNvPr id="8" name="Image 6" descr=" ">
            <a:extLst>
              <a:ext uri="{FF2B5EF4-FFF2-40B4-BE49-F238E27FC236}">
                <a16:creationId xmlns:a16="http://schemas.microsoft.com/office/drawing/2014/main" id="{DD2F6E47-8B2F-1B5E-8EA6-BC0B0F214B3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62089" y="1040211"/>
            <a:ext cx="281482" cy="229017"/>
          </a:xfrm>
          <a:prstGeom prst="rect">
            <a:avLst/>
          </a:prstGeom>
        </p:spPr>
      </p:pic>
      <p:pic>
        <p:nvPicPr>
          <p:cNvPr id="9" name="Image 7" descr=" ">
            <a:extLst>
              <a:ext uri="{FF2B5EF4-FFF2-40B4-BE49-F238E27FC236}">
                <a16:creationId xmlns:a16="http://schemas.microsoft.com/office/drawing/2014/main" id="{FA9F2AE9-7A2C-B7D9-79AD-1191C367050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69063" y="1342460"/>
            <a:ext cx="245813" cy="238925"/>
          </a:xfrm>
          <a:prstGeom prst="rect">
            <a:avLst/>
          </a:prstGeom>
        </p:spPr>
      </p:pic>
      <p:pic>
        <p:nvPicPr>
          <p:cNvPr id="10" name="Image 8" descr=" ">
            <a:extLst>
              <a:ext uri="{FF2B5EF4-FFF2-40B4-BE49-F238E27FC236}">
                <a16:creationId xmlns:a16="http://schemas.microsoft.com/office/drawing/2014/main" id="{E3BF5FD6-69EB-33E2-4837-948BE0784D9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52976" y="1347420"/>
            <a:ext cx="181966" cy="229116"/>
          </a:xfrm>
          <a:prstGeom prst="rect">
            <a:avLst/>
          </a:prstGeom>
        </p:spPr>
      </p:pic>
      <p:pic>
        <p:nvPicPr>
          <p:cNvPr id="11" name="Image 9" descr=" ">
            <a:extLst>
              <a:ext uri="{FF2B5EF4-FFF2-40B4-BE49-F238E27FC236}">
                <a16:creationId xmlns:a16="http://schemas.microsoft.com/office/drawing/2014/main" id="{8A780465-4091-198C-B612-A7B0591D91D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62624" y="1342460"/>
            <a:ext cx="251022" cy="238925"/>
          </a:xfrm>
          <a:prstGeom prst="rect">
            <a:avLst/>
          </a:prstGeom>
        </p:spPr>
      </p:pic>
      <p:pic>
        <p:nvPicPr>
          <p:cNvPr id="12" name="Image 10" descr=" ">
            <a:extLst>
              <a:ext uri="{FF2B5EF4-FFF2-40B4-BE49-F238E27FC236}">
                <a16:creationId xmlns:a16="http://schemas.microsoft.com/office/drawing/2014/main" id="{ED3C6EA4-BBB2-3CBD-7D29-2F5B8E667A4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58642" y="1347420"/>
            <a:ext cx="213270" cy="232979"/>
          </a:xfrm>
          <a:prstGeom prst="rect">
            <a:avLst/>
          </a:prstGeom>
        </p:spPr>
      </p:pic>
      <p:pic>
        <p:nvPicPr>
          <p:cNvPr id="13" name="Image 11" descr=" ">
            <a:extLst>
              <a:ext uri="{FF2B5EF4-FFF2-40B4-BE49-F238E27FC236}">
                <a16:creationId xmlns:a16="http://schemas.microsoft.com/office/drawing/2014/main" id="{F2B927A1-61B8-4050-9E61-BECDF480B06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19139" y="1347420"/>
            <a:ext cx="226763" cy="229017"/>
          </a:xfrm>
          <a:prstGeom prst="rect">
            <a:avLst/>
          </a:prstGeom>
        </p:spPr>
      </p:pic>
      <p:pic>
        <p:nvPicPr>
          <p:cNvPr id="14" name="Image 12" descr=" ">
            <a:extLst>
              <a:ext uri="{FF2B5EF4-FFF2-40B4-BE49-F238E27FC236}">
                <a16:creationId xmlns:a16="http://schemas.microsoft.com/office/drawing/2014/main" id="{25FA2F78-DFF9-8EED-756A-833A52BE5AC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3210" y="1453539"/>
            <a:ext cx="514496" cy="127740"/>
          </a:xfrm>
          <a:prstGeom prst="rect">
            <a:avLst/>
          </a:prstGeom>
        </p:spPr>
      </p:pic>
      <p:pic>
        <p:nvPicPr>
          <p:cNvPr id="15" name="Image 13" descr=" ">
            <a:extLst>
              <a:ext uri="{FF2B5EF4-FFF2-40B4-BE49-F238E27FC236}">
                <a16:creationId xmlns:a16="http://schemas.microsoft.com/office/drawing/2014/main" id="{BBC85CCF-A806-DEAA-8286-1F04003AA76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47" y="1036347"/>
            <a:ext cx="260547" cy="462293"/>
          </a:xfrm>
          <a:prstGeom prst="rect">
            <a:avLst/>
          </a:prstGeom>
        </p:spPr>
      </p:pic>
      <p:pic>
        <p:nvPicPr>
          <p:cNvPr id="16" name="Image 14" descr=" ">
            <a:extLst>
              <a:ext uri="{FF2B5EF4-FFF2-40B4-BE49-F238E27FC236}">
                <a16:creationId xmlns:a16="http://schemas.microsoft.com/office/drawing/2014/main" id="{99A8406D-19DC-FCFD-64AD-F2A9CCB09E1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6272" y="1036366"/>
            <a:ext cx="260349" cy="462293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31464E83-785B-58B1-9DB5-5EFCAC9A6FEF}"/>
              </a:ext>
            </a:extLst>
          </p:cNvPr>
          <p:cNvSpPr/>
          <p:nvPr/>
        </p:nvSpPr>
        <p:spPr>
          <a:xfrm>
            <a:off x="3721081" y="832188"/>
            <a:ext cx="72241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r>
              <a:rPr lang="ru-RU" sz="2649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Проблематика и результат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7C0D453-FFAD-8332-2497-4FC1AA509B9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33384" y="2045435"/>
            <a:ext cx="4400582" cy="1428760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D08BBDE6-36C3-BFE6-BECB-A9C1B17E965C}"/>
              </a:ext>
            </a:extLst>
          </p:cNvPr>
          <p:cNvSpPr/>
          <p:nvPr/>
        </p:nvSpPr>
        <p:spPr>
          <a:xfrm>
            <a:off x="5430504" y="1960900"/>
            <a:ext cx="64376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Проблематика</a:t>
            </a:r>
          </a:p>
          <a:p>
            <a:pPr marL="457200" indent="-457200" defTabSz="457109">
              <a:buFont typeface="Arial" panose="020B0604020202020204" pitchFamily="34" charset="0"/>
              <a:buChar char="•"/>
            </a:pP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Нет централизованного управления архитектурой и полномочий по претворению этого в жизнь</a:t>
            </a:r>
          </a:p>
          <a:p>
            <a:pPr marL="914400" lvl="1" indent="-457200" defTabSz="457109">
              <a:buFont typeface="Arial" panose="020B0604020202020204" pitchFamily="34" charset="0"/>
              <a:buChar char="•"/>
            </a:pP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Нет центра принятия решений о продукте</a:t>
            </a:r>
          </a:p>
          <a:p>
            <a:pPr marL="914400" lvl="1" indent="-457200" defTabSz="457109">
              <a:buFont typeface="Arial" panose="020B0604020202020204" pitchFamily="34" charset="0"/>
              <a:buChar char="•"/>
            </a:pP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Нет факта согласования и доведения до исполнения принятого решения по продукту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/</a:t>
            </a: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архитектуре</a:t>
            </a:r>
          </a:p>
          <a:p>
            <a:pPr marL="914400" lvl="1" indent="-457200" defTabSz="457109">
              <a:buFont typeface="Arial" panose="020B0604020202020204" pitchFamily="34" charset="0"/>
              <a:buChar char="•"/>
            </a:pPr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marL="914400" lvl="1" indent="-457200" defTabSz="457109">
              <a:buFont typeface="Arial" panose="020B0604020202020204" pitchFamily="34" charset="0"/>
              <a:buChar char="•"/>
            </a:pPr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lvl="1" defTabSz="457109"/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9CC76035-F482-7C72-0225-05FB63299914}"/>
              </a:ext>
            </a:extLst>
          </p:cNvPr>
          <p:cNvSpPr/>
          <p:nvPr/>
        </p:nvSpPr>
        <p:spPr>
          <a:xfrm>
            <a:off x="1096628" y="4713342"/>
            <a:ext cx="10885822" cy="170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Конечный результат:</a:t>
            </a:r>
            <a:b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</a:b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Готовая к промышленной эксплуатации и продаже платформа в объеме 1-ого релиза</a:t>
            </a:r>
          </a:p>
          <a:p>
            <a:pPr defTabSz="457109"/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Готовая к развитию (занесения новых сервисов) и стандартизированная платформа в последующих релизах</a:t>
            </a:r>
          </a:p>
          <a:p>
            <a:pPr defTabSz="457109"/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Готовый набор стандартов и артефактов для развития платформы и добавлению компонентов</a:t>
            </a:r>
          </a:p>
          <a:p>
            <a:pPr marL="914400" lvl="1" indent="-457200" defTabSz="457109">
              <a:buFont typeface="Arial" panose="020B0604020202020204" pitchFamily="34" charset="0"/>
              <a:buChar char="•"/>
            </a:pPr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lvl="1" defTabSz="457109"/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74397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8E58A-05F4-3614-5E9A-FC95A9AF9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D2E2DF1E-A4AA-6DA9-7D03-ECEC01614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2990" y="1040211"/>
            <a:ext cx="281482" cy="229017"/>
          </a:xfrm>
          <a:prstGeom prst="rect">
            <a:avLst/>
          </a:prstGeom>
        </p:spPr>
      </p:pic>
      <p:pic>
        <p:nvPicPr>
          <p:cNvPr id="5" name="Image 3" descr=" ">
            <a:extLst>
              <a:ext uri="{FF2B5EF4-FFF2-40B4-BE49-F238E27FC236}">
                <a16:creationId xmlns:a16="http://schemas.microsoft.com/office/drawing/2014/main" id="{C1260C04-176D-0B3A-C163-1678B86D4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37994" y="1035362"/>
            <a:ext cx="210690" cy="238825"/>
          </a:xfrm>
          <a:prstGeom prst="rect">
            <a:avLst/>
          </a:prstGeom>
        </p:spPr>
      </p:pic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99605ACA-C4CC-615F-AAAE-DABA3C49F5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77854" y="1040211"/>
            <a:ext cx="207515" cy="229017"/>
          </a:xfrm>
          <a:prstGeom prst="rect">
            <a:avLst/>
          </a:prstGeom>
        </p:spPr>
      </p:pic>
      <p:pic>
        <p:nvPicPr>
          <p:cNvPr id="7" name="Image 5" descr=" ">
            <a:extLst>
              <a:ext uri="{FF2B5EF4-FFF2-40B4-BE49-F238E27FC236}">
                <a16:creationId xmlns:a16="http://schemas.microsoft.com/office/drawing/2014/main" id="{5FB4F85C-11D1-0402-ECF1-BDB364C1D0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15829" y="1040880"/>
            <a:ext cx="215651" cy="229116"/>
          </a:xfrm>
          <a:prstGeom prst="rect">
            <a:avLst/>
          </a:prstGeom>
        </p:spPr>
      </p:pic>
      <p:pic>
        <p:nvPicPr>
          <p:cNvPr id="8" name="Image 6" descr=" ">
            <a:extLst>
              <a:ext uri="{FF2B5EF4-FFF2-40B4-BE49-F238E27FC236}">
                <a16:creationId xmlns:a16="http://schemas.microsoft.com/office/drawing/2014/main" id="{72BD4526-38A9-D159-FFB4-00996FF41D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62089" y="1040211"/>
            <a:ext cx="281482" cy="229017"/>
          </a:xfrm>
          <a:prstGeom prst="rect">
            <a:avLst/>
          </a:prstGeom>
        </p:spPr>
      </p:pic>
      <p:pic>
        <p:nvPicPr>
          <p:cNvPr id="9" name="Image 7" descr=" ">
            <a:extLst>
              <a:ext uri="{FF2B5EF4-FFF2-40B4-BE49-F238E27FC236}">
                <a16:creationId xmlns:a16="http://schemas.microsoft.com/office/drawing/2014/main" id="{F4EADA29-D185-C839-4AD3-891DA3B6672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69063" y="1342460"/>
            <a:ext cx="245813" cy="238925"/>
          </a:xfrm>
          <a:prstGeom prst="rect">
            <a:avLst/>
          </a:prstGeom>
        </p:spPr>
      </p:pic>
      <p:pic>
        <p:nvPicPr>
          <p:cNvPr id="10" name="Image 8" descr=" ">
            <a:extLst>
              <a:ext uri="{FF2B5EF4-FFF2-40B4-BE49-F238E27FC236}">
                <a16:creationId xmlns:a16="http://schemas.microsoft.com/office/drawing/2014/main" id="{57B1F7EF-CD2B-DE7E-74B0-71E0CC56357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52976" y="1347420"/>
            <a:ext cx="181966" cy="229116"/>
          </a:xfrm>
          <a:prstGeom prst="rect">
            <a:avLst/>
          </a:prstGeom>
        </p:spPr>
      </p:pic>
      <p:pic>
        <p:nvPicPr>
          <p:cNvPr id="11" name="Image 9" descr=" ">
            <a:extLst>
              <a:ext uri="{FF2B5EF4-FFF2-40B4-BE49-F238E27FC236}">
                <a16:creationId xmlns:a16="http://schemas.microsoft.com/office/drawing/2014/main" id="{432A88FA-85A7-04F8-3FA1-027CE151B5F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862624" y="1342460"/>
            <a:ext cx="251022" cy="238925"/>
          </a:xfrm>
          <a:prstGeom prst="rect">
            <a:avLst/>
          </a:prstGeom>
        </p:spPr>
      </p:pic>
      <p:pic>
        <p:nvPicPr>
          <p:cNvPr id="12" name="Image 10" descr=" ">
            <a:extLst>
              <a:ext uri="{FF2B5EF4-FFF2-40B4-BE49-F238E27FC236}">
                <a16:creationId xmlns:a16="http://schemas.microsoft.com/office/drawing/2014/main" id="{85A161AE-5275-33DF-9806-9E0AC8D9E81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158642" y="1347420"/>
            <a:ext cx="213270" cy="232979"/>
          </a:xfrm>
          <a:prstGeom prst="rect">
            <a:avLst/>
          </a:prstGeom>
        </p:spPr>
      </p:pic>
      <p:pic>
        <p:nvPicPr>
          <p:cNvPr id="13" name="Image 11" descr=" ">
            <a:extLst>
              <a:ext uri="{FF2B5EF4-FFF2-40B4-BE49-F238E27FC236}">
                <a16:creationId xmlns:a16="http://schemas.microsoft.com/office/drawing/2014/main" id="{9654C10C-A89C-9194-47EC-9EBC67A1E31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419139" y="1347420"/>
            <a:ext cx="226763" cy="229017"/>
          </a:xfrm>
          <a:prstGeom prst="rect">
            <a:avLst/>
          </a:prstGeom>
        </p:spPr>
      </p:pic>
      <p:pic>
        <p:nvPicPr>
          <p:cNvPr id="14" name="Image 12" descr=" ">
            <a:extLst>
              <a:ext uri="{FF2B5EF4-FFF2-40B4-BE49-F238E27FC236}">
                <a16:creationId xmlns:a16="http://schemas.microsoft.com/office/drawing/2014/main" id="{5ADE92D3-CCC5-C737-1296-4F726E14233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03210" y="1453539"/>
            <a:ext cx="514496" cy="127740"/>
          </a:xfrm>
          <a:prstGeom prst="rect">
            <a:avLst/>
          </a:prstGeom>
        </p:spPr>
      </p:pic>
      <p:pic>
        <p:nvPicPr>
          <p:cNvPr id="15" name="Image 13" descr=" ">
            <a:extLst>
              <a:ext uri="{FF2B5EF4-FFF2-40B4-BE49-F238E27FC236}">
                <a16:creationId xmlns:a16="http://schemas.microsoft.com/office/drawing/2014/main" id="{71119CAC-6A6F-7C4F-A2EE-FB9ED659C16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54047" y="1036347"/>
            <a:ext cx="260547" cy="462293"/>
          </a:xfrm>
          <a:prstGeom prst="rect">
            <a:avLst/>
          </a:prstGeom>
        </p:spPr>
      </p:pic>
      <p:pic>
        <p:nvPicPr>
          <p:cNvPr id="16" name="Image 14" descr=" ">
            <a:extLst>
              <a:ext uri="{FF2B5EF4-FFF2-40B4-BE49-F238E27FC236}">
                <a16:creationId xmlns:a16="http://schemas.microsoft.com/office/drawing/2014/main" id="{67EDC74F-0B46-84BE-1038-B592DC0D71B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06272" y="1036366"/>
            <a:ext cx="260349" cy="462293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6F059A0C-5696-2DC5-7178-FF8753B3B08C}"/>
              </a:ext>
            </a:extLst>
          </p:cNvPr>
          <p:cNvSpPr/>
          <p:nvPr/>
        </p:nvSpPr>
        <p:spPr>
          <a:xfrm>
            <a:off x="3721081" y="832188"/>
            <a:ext cx="72241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endParaRPr lang="ru-RU" sz="2649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CAC618D2-FFDB-D0FC-A366-8B076F4E58D3}"/>
              </a:ext>
            </a:extLst>
          </p:cNvPr>
          <p:cNvSpPr/>
          <p:nvPr/>
        </p:nvSpPr>
        <p:spPr>
          <a:xfrm>
            <a:off x="2911142" y="2772765"/>
            <a:ext cx="64376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Инициатива = проект по созданию первого релиза платформы</a:t>
            </a:r>
          </a:p>
        </p:txBody>
      </p:sp>
    </p:spTree>
    <p:extLst>
      <p:ext uri="{BB962C8B-B14F-4D97-AF65-F5344CB8AC3E}">
        <p14:creationId xmlns:p14="http://schemas.microsoft.com/office/powerpoint/2010/main" val="214125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C7CC10-B6A1-4669-E78E-966BC5F50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2DDEA292-2E3E-3660-7347-F6ACE6F02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1480" y="-1266366"/>
            <a:ext cx="1479542" cy="6857107"/>
          </a:xfrm>
          <a:prstGeom prst="rect">
            <a:avLst/>
          </a:prstGeom>
        </p:spPr>
      </p:pic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B77C3E25-3822-D8A3-3C73-643DAD7E81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2990" y="1040211"/>
            <a:ext cx="281482" cy="229017"/>
          </a:xfrm>
          <a:prstGeom prst="rect">
            <a:avLst/>
          </a:prstGeom>
        </p:spPr>
      </p:pic>
      <p:pic>
        <p:nvPicPr>
          <p:cNvPr id="5" name="Image 3" descr=" ">
            <a:extLst>
              <a:ext uri="{FF2B5EF4-FFF2-40B4-BE49-F238E27FC236}">
                <a16:creationId xmlns:a16="http://schemas.microsoft.com/office/drawing/2014/main" id="{1EEE01E0-0D9E-B5DB-A8B0-D0CE7B5F37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7994" y="1035362"/>
            <a:ext cx="210690" cy="238825"/>
          </a:xfrm>
          <a:prstGeom prst="rect">
            <a:avLst/>
          </a:prstGeom>
        </p:spPr>
      </p:pic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DFA4CFA2-CBB9-A0D7-3FF8-BED8F22A05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7854" y="1040211"/>
            <a:ext cx="207515" cy="229017"/>
          </a:xfrm>
          <a:prstGeom prst="rect">
            <a:avLst/>
          </a:prstGeom>
        </p:spPr>
      </p:pic>
      <p:pic>
        <p:nvPicPr>
          <p:cNvPr id="7" name="Image 5" descr=" ">
            <a:extLst>
              <a:ext uri="{FF2B5EF4-FFF2-40B4-BE49-F238E27FC236}">
                <a16:creationId xmlns:a16="http://schemas.microsoft.com/office/drawing/2014/main" id="{CC0684E4-5C29-361A-F05C-0F943A7892D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5829" y="1040880"/>
            <a:ext cx="215651" cy="229116"/>
          </a:xfrm>
          <a:prstGeom prst="rect">
            <a:avLst/>
          </a:prstGeom>
        </p:spPr>
      </p:pic>
      <p:pic>
        <p:nvPicPr>
          <p:cNvPr id="8" name="Image 6" descr=" ">
            <a:extLst>
              <a:ext uri="{FF2B5EF4-FFF2-40B4-BE49-F238E27FC236}">
                <a16:creationId xmlns:a16="http://schemas.microsoft.com/office/drawing/2014/main" id="{2C5F7CF3-6A2D-34CC-01C6-8CB85F700DA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62089" y="1040211"/>
            <a:ext cx="281482" cy="229017"/>
          </a:xfrm>
          <a:prstGeom prst="rect">
            <a:avLst/>
          </a:prstGeom>
        </p:spPr>
      </p:pic>
      <p:pic>
        <p:nvPicPr>
          <p:cNvPr id="9" name="Image 7" descr=" ">
            <a:extLst>
              <a:ext uri="{FF2B5EF4-FFF2-40B4-BE49-F238E27FC236}">
                <a16:creationId xmlns:a16="http://schemas.microsoft.com/office/drawing/2014/main" id="{2D24C43C-B7E3-93B3-56B1-4FB08E3BCEB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69063" y="1342460"/>
            <a:ext cx="245813" cy="238925"/>
          </a:xfrm>
          <a:prstGeom prst="rect">
            <a:avLst/>
          </a:prstGeom>
        </p:spPr>
      </p:pic>
      <p:pic>
        <p:nvPicPr>
          <p:cNvPr id="10" name="Image 8" descr=" ">
            <a:extLst>
              <a:ext uri="{FF2B5EF4-FFF2-40B4-BE49-F238E27FC236}">
                <a16:creationId xmlns:a16="http://schemas.microsoft.com/office/drawing/2014/main" id="{564E1347-5618-3688-E9CF-73EC838C421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52976" y="1347420"/>
            <a:ext cx="181966" cy="229116"/>
          </a:xfrm>
          <a:prstGeom prst="rect">
            <a:avLst/>
          </a:prstGeom>
        </p:spPr>
      </p:pic>
      <p:pic>
        <p:nvPicPr>
          <p:cNvPr id="11" name="Image 9" descr=" ">
            <a:extLst>
              <a:ext uri="{FF2B5EF4-FFF2-40B4-BE49-F238E27FC236}">
                <a16:creationId xmlns:a16="http://schemas.microsoft.com/office/drawing/2014/main" id="{E9A01B6A-5886-17A9-F6CD-139683A118C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62624" y="1342460"/>
            <a:ext cx="251022" cy="238925"/>
          </a:xfrm>
          <a:prstGeom prst="rect">
            <a:avLst/>
          </a:prstGeom>
        </p:spPr>
      </p:pic>
      <p:pic>
        <p:nvPicPr>
          <p:cNvPr id="12" name="Image 10" descr=" ">
            <a:extLst>
              <a:ext uri="{FF2B5EF4-FFF2-40B4-BE49-F238E27FC236}">
                <a16:creationId xmlns:a16="http://schemas.microsoft.com/office/drawing/2014/main" id="{E8ECBEF6-33B5-23AC-D5AE-AD471445924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58642" y="1347420"/>
            <a:ext cx="213270" cy="232979"/>
          </a:xfrm>
          <a:prstGeom prst="rect">
            <a:avLst/>
          </a:prstGeom>
        </p:spPr>
      </p:pic>
      <p:pic>
        <p:nvPicPr>
          <p:cNvPr id="13" name="Image 11" descr=" ">
            <a:extLst>
              <a:ext uri="{FF2B5EF4-FFF2-40B4-BE49-F238E27FC236}">
                <a16:creationId xmlns:a16="http://schemas.microsoft.com/office/drawing/2014/main" id="{85D941D7-7104-A976-DE65-8AD59F3054B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19139" y="1347420"/>
            <a:ext cx="226763" cy="229017"/>
          </a:xfrm>
          <a:prstGeom prst="rect">
            <a:avLst/>
          </a:prstGeom>
        </p:spPr>
      </p:pic>
      <p:pic>
        <p:nvPicPr>
          <p:cNvPr id="14" name="Image 12" descr=" ">
            <a:extLst>
              <a:ext uri="{FF2B5EF4-FFF2-40B4-BE49-F238E27FC236}">
                <a16:creationId xmlns:a16="http://schemas.microsoft.com/office/drawing/2014/main" id="{EA69407D-BC2E-664A-FE67-08B00E081E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3210" y="1453539"/>
            <a:ext cx="514496" cy="127740"/>
          </a:xfrm>
          <a:prstGeom prst="rect">
            <a:avLst/>
          </a:prstGeom>
        </p:spPr>
      </p:pic>
      <p:pic>
        <p:nvPicPr>
          <p:cNvPr id="15" name="Image 13" descr=" ">
            <a:extLst>
              <a:ext uri="{FF2B5EF4-FFF2-40B4-BE49-F238E27FC236}">
                <a16:creationId xmlns:a16="http://schemas.microsoft.com/office/drawing/2014/main" id="{101158B8-1224-3C0E-AD2E-B8FEA6EB406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47" y="1036347"/>
            <a:ext cx="260547" cy="462293"/>
          </a:xfrm>
          <a:prstGeom prst="rect">
            <a:avLst/>
          </a:prstGeom>
        </p:spPr>
      </p:pic>
      <p:pic>
        <p:nvPicPr>
          <p:cNvPr id="16" name="Image 14" descr=" ">
            <a:extLst>
              <a:ext uri="{FF2B5EF4-FFF2-40B4-BE49-F238E27FC236}">
                <a16:creationId xmlns:a16="http://schemas.microsoft.com/office/drawing/2014/main" id="{F0AA4D4A-8BEB-AEAF-1805-B15C6B631BD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6272" y="1036366"/>
            <a:ext cx="260349" cy="462293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3B0C5BB7-2278-7DC2-9915-608B19651C8B}"/>
              </a:ext>
            </a:extLst>
          </p:cNvPr>
          <p:cNvSpPr/>
          <p:nvPr/>
        </p:nvSpPr>
        <p:spPr>
          <a:xfrm>
            <a:off x="3721081" y="832188"/>
            <a:ext cx="72241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r>
              <a:rPr lang="ru-RU" sz="2649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Первый релиз</a:t>
            </a: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A001775B-F67D-9486-EFA5-574E2E45787A}"/>
              </a:ext>
            </a:extLst>
          </p:cNvPr>
          <p:cNvSpPr/>
          <p:nvPr/>
        </p:nvSpPr>
        <p:spPr>
          <a:xfrm>
            <a:off x="1266621" y="2162187"/>
            <a:ext cx="10217354" cy="418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Конечный результат:</a:t>
            </a: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IaaS (</a:t>
            </a:r>
            <a:r>
              <a:rPr lang="en-US" sz="2000" kern="0" spc="-53" dirty="0" err="1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VMaaS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, </a:t>
            </a:r>
            <a:r>
              <a:rPr lang="en-US" sz="2000" kern="0" spc="-53" dirty="0" err="1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NWaaS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, </a:t>
            </a:r>
            <a:r>
              <a:rPr lang="en-US" sz="2000" kern="0" spc="-53" dirty="0" err="1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VolumeaaS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, </a:t>
            </a:r>
            <a:r>
              <a:rPr lang="en-US" sz="2000" kern="0" spc="-53" dirty="0" err="1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ImageaaS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)</a:t>
            </a:r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Billing</a:t>
            </a:r>
            <a:endParaRPr lang="ru-RU" sz="2000" kern="0" spc="-53" dirty="0">
              <a:solidFill>
                <a:srgbClr val="FFFFFF">
                  <a:alpha val="100000"/>
                </a:srgbClr>
              </a:solidFill>
              <a:ea typeface="Geologica Roman Medium" pitchFamily="34" charset="-122"/>
            </a:endParaRP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IAM</a:t>
            </a:r>
            <a:endParaRPr lang="ru-RU" sz="2000" kern="0" spc="-53" dirty="0">
              <a:solidFill>
                <a:srgbClr val="FFFFFF">
                  <a:alpha val="100000"/>
                </a:srgbClr>
              </a:solidFill>
              <a:ea typeface="Geologica Roman Medium" pitchFamily="34" charset="-122"/>
            </a:endParaRP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Tenants</a:t>
            </a:r>
            <a:endParaRPr lang="ru-RU" sz="2000" kern="0" spc="-53" dirty="0">
              <a:solidFill>
                <a:srgbClr val="FFFFFF">
                  <a:alpha val="100000"/>
                </a:srgbClr>
              </a:solidFill>
              <a:ea typeface="Geologica Roman Medium" pitchFamily="34" charset="-122"/>
            </a:endParaRP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Resource Usage/Quotas</a:t>
            </a:r>
            <a:endParaRPr lang="ru-RU" sz="2000" kern="0" spc="-53" dirty="0">
              <a:solidFill>
                <a:srgbClr val="FFFFFF">
                  <a:alpha val="100000"/>
                </a:srgbClr>
              </a:solidFill>
              <a:ea typeface="Geologica Roman Medium" pitchFamily="34" charset="-122"/>
            </a:endParaRP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Observability</a:t>
            </a:r>
            <a:endParaRPr lang="ru-RU" sz="2000" kern="0" spc="-53" dirty="0">
              <a:solidFill>
                <a:srgbClr val="FFFFFF">
                  <a:alpha val="100000"/>
                </a:srgbClr>
              </a:solidFill>
              <a:ea typeface="Geologica Roman Medium" pitchFamily="34" charset="-122"/>
            </a:endParaRP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Audit</a:t>
            </a: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HA</a:t>
            </a: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ea typeface="Geologica Roman Medium" pitchFamily="34" charset="-122"/>
              </a:rPr>
              <a:t>ИБ 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approved</a:t>
            </a: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ea typeface="Geologica Roman Medium" pitchFamily="34" charset="-122"/>
              </a:rPr>
              <a:t>Общий 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API (</a:t>
            </a: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ea typeface="Geologica Roman Medium" pitchFamily="34" charset="-122"/>
              </a:rPr>
              <a:t>через </a:t>
            </a:r>
            <a:r>
              <a:rPr lang="en-US" sz="2000" kern="0" spc="-53" dirty="0" err="1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aggreg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 </a:t>
            </a:r>
            <a:r>
              <a:rPr lang="en-US" sz="2000" kern="0" spc="-53" dirty="0" err="1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api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</a:rPr>
              <a:t>)</a:t>
            </a: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ru-RU" sz="2000" kern="0" spc="-26" dirty="0">
                <a:solidFill>
                  <a:srgbClr val="FFFFFF">
                    <a:alpha val="100000"/>
                  </a:srgbClr>
                </a:solidFill>
                <a:ea typeface="Onest Light" pitchFamily="34" charset="-122"/>
              </a:rPr>
              <a:t>Жизненный цикл инсталяции</a:t>
            </a:r>
            <a:endParaRPr lang="en-US" sz="2000" kern="0" spc="-26" dirty="0">
              <a:solidFill>
                <a:srgbClr val="FFFFFF">
                  <a:alpha val="100000"/>
                </a:srgbClr>
              </a:solidFill>
              <a:ea typeface="Onest Light" pitchFamily="34" charset="-122"/>
            </a:endParaRP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r>
              <a:rPr lang="en-US" sz="2000" kern="0" spc="-26" dirty="0">
                <a:solidFill>
                  <a:srgbClr val="FFFFFF">
                    <a:alpha val="100000"/>
                  </a:srgbClr>
                </a:solidFill>
                <a:ea typeface="Onest Light" pitchFamily="34" charset="-122"/>
              </a:rPr>
              <a:t>API GW </a:t>
            </a:r>
            <a:r>
              <a:rPr lang="ru-RU" sz="2000" kern="0" spc="-26" dirty="0">
                <a:solidFill>
                  <a:srgbClr val="FFFFFF">
                    <a:alpha val="100000"/>
                  </a:srgbClr>
                </a:solidFill>
                <a:ea typeface="Onest Light" pitchFamily="34" charset="-122"/>
              </a:rPr>
              <a:t>внутренний и внешний и контракты</a:t>
            </a: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endParaRPr lang="en-US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</a:endParaRP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endParaRPr lang="en-US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</a:endParaRPr>
          </a:p>
          <a:p>
            <a:pPr marL="342900" indent="-342900" defTabSz="457109">
              <a:buFont typeface="Arial" panose="020B0604020202020204" pitchFamily="34" charset="0"/>
              <a:buChar char="•"/>
            </a:pPr>
            <a:endParaRPr lang="ru-RU" sz="2000" kern="0" spc="-53" dirty="0">
              <a:solidFill>
                <a:srgbClr val="FFFFFF">
                  <a:alpha val="100000"/>
                </a:srgbClr>
              </a:solidFill>
              <a:ea typeface="Geologica Roman Medium" pitchFamily="34" charset="-122"/>
            </a:endParaRPr>
          </a:p>
          <a:p>
            <a:pPr marL="914400" lvl="1" indent="-457200" defTabSz="457109">
              <a:buFont typeface="Arial" panose="020B0604020202020204" pitchFamily="34" charset="0"/>
              <a:buChar char="•"/>
            </a:pPr>
            <a:endParaRPr lang="ru-RU" sz="2000" kern="0" spc="-53" dirty="0">
              <a:solidFill>
                <a:srgbClr val="FFFFFF">
                  <a:alpha val="100000"/>
                </a:srgbClr>
              </a:solidFill>
              <a:ea typeface="Geologica Roman Medium" pitchFamily="34" charset="-122"/>
            </a:endParaRPr>
          </a:p>
          <a:p>
            <a:pPr marL="914400" lvl="1" indent="-457200" defTabSz="457109">
              <a:buFont typeface="Arial" panose="020B0604020202020204" pitchFamily="34" charset="0"/>
              <a:buChar char="•"/>
            </a:pPr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lvl="1" defTabSz="457109"/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BD9BF8-04F3-4976-A0ED-3AB9A9E3F30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759372" y="3634264"/>
            <a:ext cx="3914804" cy="87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809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33CFAA-CDA6-7380-370B-C8839F281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C9E3E63C-355F-78A4-0FFE-8BFA3055D5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1480" y="45642"/>
            <a:ext cx="1479542" cy="6857107"/>
          </a:xfrm>
          <a:prstGeom prst="rect">
            <a:avLst/>
          </a:prstGeom>
        </p:spPr>
      </p:pic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FCA6D010-5B68-4DB3-E7BF-FD1B75A6CA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2990" y="1040211"/>
            <a:ext cx="281482" cy="229017"/>
          </a:xfrm>
          <a:prstGeom prst="rect">
            <a:avLst/>
          </a:prstGeom>
        </p:spPr>
      </p:pic>
      <p:pic>
        <p:nvPicPr>
          <p:cNvPr id="5" name="Image 3" descr=" ">
            <a:extLst>
              <a:ext uri="{FF2B5EF4-FFF2-40B4-BE49-F238E27FC236}">
                <a16:creationId xmlns:a16="http://schemas.microsoft.com/office/drawing/2014/main" id="{B689A331-AB7F-4DE7-55B3-DC16DF2DE7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7994" y="1035362"/>
            <a:ext cx="210690" cy="238825"/>
          </a:xfrm>
          <a:prstGeom prst="rect">
            <a:avLst/>
          </a:prstGeom>
        </p:spPr>
      </p:pic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8339D49A-7B17-B55E-3F7E-0D5BC8E23B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7854" y="1040211"/>
            <a:ext cx="207515" cy="229017"/>
          </a:xfrm>
          <a:prstGeom prst="rect">
            <a:avLst/>
          </a:prstGeom>
        </p:spPr>
      </p:pic>
      <p:pic>
        <p:nvPicPr>
          <p:cNvPr id="7" name="Image 5" descr=" ">
            <a:extLst>
              <a:ext uri="{FF2B5EF4-FFF2-40B4-BE49-F238E27FC236}">
                <a16:creationId xmlns:a16="http://schemas.microsoft.com/office/drawing/2014/main" id="{60206CF8-9B14-38C3-8BB9-3D2E6A7F5C8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5829" y="1040880"/>
            <a:ext cx="215651" cy="229116"/>
          </a:xfrm>
          <a:prstGeom prst="rect">
            <a:avLst/>
          </a:prstGeom>
        </p:spPr>
      </p:pic>
      <p:pic>
        <p:nvPicPr>
          <p:cNvPr id="8" name="Image 6" descr=" ">
            <a:extLst>
              <a:ext uri="{FF2B5EF4-FFF2-40B4-BE49-F238E27FC236}">
                <a16:creationId xmlns:a16="http://schemas.microsoft.com/office/drawing/2014/main" id="{507AB843-6BB0-8EBF-CDE2-CD58430D43C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62089" y="1040211"/>
            <a:ext cx="281482" cy="229017"/>
          </a:xfrm>
          <a:prstGeom prst="rect">
            <a:avLst/>
          </a:prstGeom>
        </p:spPr>
      </p:pic>
      <p:pic>
        <p:nvPicPr>
          <p:cNvPr id="9" name="Image 7" descr=" ">
            <a:extLst>
              <a:ext uri="{FF2B5EF4-FFF2-40B4-BE49-F238E27FC236}">
                <a16:creationId xmlns:a16="http://schemas.microsoft.com/office/drawing/2014/main" id="{6C056B6F-460C-0A39-C4CF-1759312BCA7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69063" y="1342460"/>
            <a:ext cx="245813" cy="238925"/>
          </a:xfrm>
          <a:prstGeom prst="rect">
            <a:avLst/>
          </a:prstGeom>
        </p:spPr>
      </p:pic>
      <p:pic>
        <p:nvPicPr>
          <p:cNvPr id="10" name="Image 8" descr=" ">
            <a:extLst>
              <a:ext uri="{FF2B5EF4-FFF2-40B4-BE49-F238E27FC236}">
                <a16:creationId xmlns:a16="http://schemas.microsoft.com/office/drawing/2014/main" id="{9F5D97CB-E8D4-2015-A594-A4E3A9DAF4D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52976" y="1347420"/>
            <a:ext cx="181966" cy="229116"/>
          </a:xfrm>
          <a:prstGeom prst="rect">
            <a:avLst/>
          </a:prstGeom>
        </p:spPr>
      </p:pic>
      <p:pic>
        <p:nvPicPr>
          <p:cNvPr id="11" name="Image 9" descr=" ">
            <a:extLst>
              <a:ext uri="{FF2B5EF4-FFF2-40B4-BE49-F238E27FC236}">
                <a16:creationId xmlns:a16="http://schemas.microsoft.com/office/drawing/2014/main" id="{AC852E57-49C5-85D5-6054-ED50173C693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62624" y="1342460"/>
            <a:ext cx="251022" cy="238925"/>
          </a:xfrm>
          <a:prstGeom prst="rect">
            <a:avLst/>
          </a:prstGeom>
        </p:spPr>
      </p:pic>
      <p:pic>
        <p:nvPicPr>
          <p:cNvPr id="12" name="Image 10" descr=" ">
            <a:extLst>
              <a:ext uri="{FF2B5EF4-FFF2-40B4-BE49-F238E27FC236}">
                <a16:creationId xmlns:a16="http://schemas.microsoft.com/office/drawing/2014/main" id="{BE652623-4A2A-B603-FBC4-67BD115F553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58642" y="1347420"/>
            <a:ext cx="213270" cy="232979"/>
          </a:xfrm>
          <a:prstGeom prst="rect">
            <a:avLst/>
          </a:prstGeom>
        </p:spPr>
      </p:pic>
      <p:pic>
        <p:nvPicPr>
          <p:cNvPr id="13" name="Image 11" descr=" ">
            <a:extLst>
              <a:ext uri="{FF2B5EF4-FFF2-40B4-BE49-F238E27FC236}">
                <a16:creationId xmlns:a16="http://schemas.microsoft.com/office/drawing/2014/main" id="{E9B8A036-574C-C595-04E1-D9576B02A4E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19139" y="1347420"/>
            <a:ext cx="226763" cy="229017"/>
          </a:xfrm>
          <a:prstGeom prst="rect">
            <a:avLst/>
          </a:prstGeom>
        </p:spPr>
      </p:pic>
      <p:pic>
        <p:nvPicPr>
          <p:cNvPr id="14" name="Image 12" descr=" ">
            <a:extLst>
              <a:ext uri="{FF2B5EF4-FFF2-40B4-BE49-F238E27FC236}">
                <a16:creationId xmlns:a16="http://schemas.microsoft.com/office/drawing/2014/main" id="{BCB33D6F-B8CB-8455-B079-76F0DBA7ACE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3210" y="1453539"/>
            <a:ext cx="514496" cy="127740"/>
          </a:xfrm>
          <a:prstGeom prst="rect">
            <a:avLst/>
          </a:prstGeom>
        </p:spPr>
      </p:pic>
      <p:pic>
        <p:nvPicPr>
          <p:cNvPr id="15" name="Image 13" descr=" ">
            <a:extLst>
              <a:ext uri="{FF2B5EF4-FFF2-40B4-BE49-F238E27FC236}">
                <a16:creationId xmlns:a16="http://schemas.microsoft.com/office/drawing/2014/main" id="{B578CEC4-869B-8252-3FB9-3BEC0DFEE3F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47" y="1036347"/>
            <a:ext cx="260547" cy="462293"/>
          </a:xfrm>
          <a:prstGeom prst="rect">
            <a:avLst/>
          </a:prstGeom>
        </p:spPr>
      </p:pic>
      <p:pic>
        <p:nvPicPr>
          <p:cNvPr id="16" name="Image 14" descr=" ">
            <a:extLst>
              <a:ext uri="{FF2B5EF4-FFF2-40B4-BE49-F238E27FC236}">
                <a16:creationId xmlns:a16="http://schemas.microsoft.com/office/drawing/2014/main" id="{A5B60C19-B1E1-49D2-5C55-4A571044E4C7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6272" y="1036366"/>
            <a:ext cx="260349" cy="462293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BF4A0B71-18A0-EEE5-761D-5A4D0C1C0428}"/>
              </a:ext>
            </a:extLst>
          </p:cNvPr>
          <p:cNvSpPr/>
          <p:nvPr/>
        </p:nvSpPr>
        <p:spPr>
          <a:xfrm>
            <a:off x="3721081" y="832188"/>
            <a:ext cx="72241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endParaRPr lang="ru-RU" sz="2649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AD18F2C-A243-8973-D55E-DF3840D4DB5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03210" y="2140781"/>
            <a:ext cx="4362482" cy="704855"/>
          </a:xfrm>
          <a:prstGeom prst="rect">
            <a:avLst/>
          </a:prstGeom>
        </p:spPr>
      </p:pic>
      <p:sp>
        <p:nvSpPr>
          <p:cNvPr id="24" name="Text 0">
            <a:extLst>
              <a:ext uri="{FF2B5EF4-FFF2-40B4-BE49-F238E27FC236}">
                <a16:creationId xmlns:a16="http://schemas.microsoft.com/office/drawing/2014/main" id="{CE4E2718-FDF5-D00C-AD59-9BD17E82BA9A}"/>
              </a:ext>
            </a:extLst>
          </p:cNvPr>
          <p:cNvSpPr/>
          <p:nvPr/>
        </p:nvSpPr>
        <p:spPr>
          <a:xfrm>
            <a:off x="784320" y="3237100"/>
            <a:ext cx="6437646" cy="19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00100" lvl="1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CEO</a:t>
            </a:r>
          </a:p>
          <a:p>
            <a:pPr marL="800100" lvl="1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CPO</a:t>
            </a:r>
          </a:p>
          <a:p>
            <a:pPr marL="800100" lvl="1" indent="-342900" defTabSz="457109">
              <a:buFont typeface="Arial" panose="020B0604020202020204" pitchFamily="34" charset="0"/>
              <a:buChar char="•"/>
            </a:pP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ИБ</a:t>
            </a:r>
            <a:endParaRPr lang="en-US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marL="800100" lvl="1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HR</a:t>
            </a:r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marL="800100" lvl="1" indent="-342900" defTabSz="457109">
              <a:buFont typeface="Arial" panose="020B0604020202020204" pitchFamily="34" charset="0"/>
              <a:buChar char="•"/>
            </a:pP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Производство продукта (разработка,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 </a:t>
            </a:r>
            <a:r>
              <a:rPr lang="en-US" sz="2000" kern="0" spc="-53" dirty="0" err="1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Roox</a:t>
            </a: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/Ingri</a:t>
            </a: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, документирование, тестирование  и т.д.)</a:t>
            </a:r>
          </a:p>
          <a:p>
            <a:pPr marL="800100" lvl="1" indent="-342900" defTabSz="457109">
              <a:buFont typeface="Arial" panose="020B0604020202020204" pitchFamily="34" charset="0"/>
              <a:buChar char="•"/>
            </a:pPr>
            <a:r>
              <a:rPr lang="en-US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Sale/pre-sale (</a:t>
            </a: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подготовка к продаже)</a:t>
            </a:r>
          </a:p>
          <a:p>
            <a:pPr marL="800100" lvl="1" indent="-342900" defTabSz="457109">
              <a:buFont typeface="Arial" panose="020B0604020202020204" pitchFamily="34" charset="0"/>
              <a:buChar char="•"/>
            </a:pPr>
            <a:r>
              <a:rPr lang="ru-RU" sz="2000" kern="0" spc="-53" dirty="0">
                <a:solidFill>
                  <a:srgbClr val="FFFFFF">
                    <a:alpha val="100000"/>
                  </a:srgbClr>
                </a:solidFill>
                <a:latin typeface="Geologica Roman Medium" pitchFamily="34" charset="0"/>
                <a:ea typeface="Geologica Roman Medium" pitchFamily="34" charset="-122"/>
                <a:cs typeface="Geologica Roman Medium" pitchFamily="34" charset="-120"/>
              </a:rPr>
              <a:t>Эксплуатация продукта</a:t>
            </a:r>
            <a:endParaRPr lang="en-US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marL="800100" lvl="1" indent="-342900" defTabSz="457109">
              <a:buFont typeface="Arial" panose="020B0604020202020204" pitchFamily="34" charset="0"/>
              <a:buChar char="•"/>
            </a:pPr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marL="800100" lvl="1" indent="-342900" defTabSz="457109">
              <a:buFont typeface="Arial" panose="020B0604020202020204" pitchFamily="34" charset="0"/>
              <a:buChar char="•"/>
            </a:pPr>
            <a:endParaRPr lang="en-US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  <a:p>
            <a:pPr marL="800100" lvl="1" indent="-342900" defTabSz="457109">
              <a:buFont typeface="Arial" panose="020B0604020202020204" pitchFamily="34" charset="0"/>
              <a:buChar char="•"/>
            </a:pPr>
            <a:endParaRPr lang="ru-RU" sz="2000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12036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CA20B5-D7EB-DBCA-BB5A-E34E1FBA4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09F9E11D-C6AD-67B1-B9DF-E0182688E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1480" y="45642"/>
            <a:ext cx="1479542" cy="6857107"/>
          </a:xfrm>
          <a:prstGeom prst="rect">
            <a:avLst/>
          </a:prstGeom>
        </p:spPr>
      </p:pic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7B66F400-E923-5BE8-538B-523FA827ED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2990" y="1040211"/>
            <a:ext cx="281482" cy="229017"/>
          </a:xfrm>
          <a:prstGeom prst="rect">
            <a:avLst/>
          </a:prstGeom>
        </p:spPr>
      </p:pic>
      <p:pic>
        <p:nvPicPr>
          <p:cNvPr id="5" name="Image 3" descr=" ">
            <a:extLst>
              <a:ext uri="{FF2B5EF4-FFF2-40B4-BE49-F238E27FC236}">
                <a16:creationId xmlns:a16="http://schemas.microsoft.com/office/drawing/2014/main" id="{690A6A40-C3FE-24DC-4973-6CDC31333A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7994" y="1035362"/>
            <a:ext cx="210690" cy="238825"/>
          </a:xfrm>
          <a:prstGeom prst="rect">
            <a:avLst/>
          </a:prstGeom>
        </p:spPr>
      </p:pic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94AF9189-48D7-6CB3-C5CE-8BA1A178A0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7854" y="1040211"/>
            <a:ext cx="207515" cy="229017"/>
          </a:xfrm>
          <a:prstGeom prst="rect">
            <a:avLst/>
          </a:prstGeom>
        </p:spPr>
      </p:pic>
      <p:pic>
        <p:nvPicPr>
          <p:cNvPr id="7" name="Image 5" descr=" ">
            <a:extLst>
              <a:ext uri="{FF2B5EF4-FFF2-40B4-BE49-F238E27FC236}">
                <a16:creationId xmlns:a16="http://schemas.microsoft.com/office/drawing/2014/main" id="{2934EF97-6F94-0255-217C-98B792113BA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5829" y="1040880"/>
            <a:ext cx="215651" cy="229116"/>
          </a:xfrm>
          <a:prstGeom prst="rect">
            <a:avLst/>
          </a:prstGeom>
        </p:spPr>
      </p:pic>
      <p:pic>
        <p:nvPicPr>
          <p:cNvPr id="8" name="Image 6" descr=" ">
            <a:extLst>
              <a:ext uri="{FF2B5EF4-FFF2-40B4-BE49-F238E27FC236}">
                <a16:creationId xmlns:a16="http://schemas.microsoft.com/office/drawing/2014/main" id="{B0E8E289-3CA4-FFCE-45DA-AE6B1CD630E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62089" y="1040211"/>
            <a:ext cx="281482" cy="229017"/>
          </a:xfrm>
          <a:prstGeom prst="rect">
            <a:avLst/>
          </a:prstGeom>
        </p:spPr>
      </p:pic>
      <p:pic>
        <p:nvPicPr>
          <p:cNvPr id="9" name="Image 7" descr=" ">
            <a:extLst>
              <a:ext uri="{FF2B5EF4-FFF2-40B4-BE49-F238E27FC236}">
                <a16:creationId xmlns:a16="http://schemas.microsoft.com/office/drawing/2014/main" id="{4BF74B89-A8A3-C42B-3069-F8CB5EA7577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69063" y="1342460"/>
            <a:ext cx="245813" cy="238925"/>
          </a:xfrm>
          <a:prstGeom prst="rect">
            <a:avLst/>
          </a:prstGeom>
        </p:spPr>
      </p:pic>
      <p:pic>
        <p:nvPicPr>
          <p:cNvPr id="10" name="Image 8" descr=" ">
            <a:extLst>
              <a:ext uri="{FF2B5EF4-FFF2-40B4-BE49-F238E27FC236}">
                <a16:creationId xmlns:a16="http://schemas.microsoft.com/office/drawing/2014/main" id="{3F6ADCF9-392C-75B1-88D9-7991921F2F0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52976" y="1347420"/>
            <a:ext cx="181966" cy="229116"/>
          </a:xfrm>
          <a:prstGeom prst="rect">
            <a:avLst/>
          </a:prstGeom>
        </p:spPr>
      </p:pic>
      <p:pic>
        <p:nvPicPr>
          <p:cNvPr id="11" name="Image 9" descr=" ">
            <a:extLst>
              <a:ext uri="{FF2B5EF4-FFF2-40B4-BE49-F238E27FC236}">
                <a16:creationId xmlns:a16="http://schemas.microsoft.com/office/drawing/2014/main" id="{81099878-FCB0-A3E4-C01A-05DD52D822B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62624" y="1342460"/>
            <a:ext cx="251022" cy="238925"/>
          </a:xfrm>
          <a:prstGeom prst="rect">
            <a:avLst/>
          </a:prstGeom>
        </p:spPr>
      </p:pic>
      <p:pic>
        <p:nvPicPr>
          <p:cNvPr id="12" name="Image 10" descr=" ">
            <a:extLst>
              <a:ext uri="{FF2B5EF4-FFF2-40B4-BE49-F238E27FC236}">
                <a16:creationId xmlns:a16="http://schemas.microsoft.com/office/drawing/2014/main" id="{CD5CB6E9-3269-A455-3C49-2505B2E9B79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58642" y="1347420"/>
            <a:ext cx="213270" cy="232979"/>
          </a:xfrm>
          <a:prstGeom prst="rect">
            <a:avLst/>
          </a:prstGeom>
        </p:spPr>
      </p:pic>
      <p:pic>
        <p:nvPicPr>
          <p:cNvPr id="13" name="Image 11" descr=" ">
            <a:extLst>
              <a:ext uri="{FF2B5EF4-FFF2-40B4-BE49-F238E27FC236}">
                <a16:creationId xmlns:a16="http://schemas.microsoft.com/office/drawing/2014/main" id="{9786917C-2BE0-4BBE-2B6A-6F1E6CC9768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19139" y="1347420"/>
            <a:ext cx="226763" cy="229017"/>
          </a:xfrm>
          <a:prstGeom prst="rect">
            <a:avLst/>
          </a:prstGeom>
        </p:spPr>
      </p:pic>
      <p:pic>
        <p:nvPicPr>
          <p:cNvPr id="14" name="Image 12" descr=" ">
            <a:extLst>
              <a:ext uri="{FF2B5EF4-FFF2-40B4-BE49-F238E27FC236}">
                <a16:creationId xmlns:a16="http://schemas.microsoft.com/office/drawing/2014/main" id="{E515A793-00A5-5F46-8FE8-A08DCEEEEB2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3210" y="1453539"/>
            <a:ext cx="514496" cy="127740"/>
          </a:xfrm>
          <a:prstGeom prst="rect">
            <a:avLst/>
          </a:prstGeom>
        </p:spPr>
      </p:pic>
      <p:pic>
        <p:nvPicPr>
          <p:cNvPr id="15" name="Image 13" descr=" ">
            <a:extLst>
              <a:ext uri="{FF2B5EF4-FFF2-40B4-BE49-F238E27FC236}">
                <a16:creationId xmlns:a16="http://schemas.microsoft.com/office/drawing/2014/main" id="{4CB12CF0-143D-221A-170C-154D117E093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47" y="1036347"/>
            <a:ext cx="260547" cy="462293"/>
          </a:xfrm>
          <a:prstGeom prst="rect">
            <a:avLst/>
          </a:prstGeom>
        </p:spPr>
      </p:pic>
      <p:pic>
        <p:nvPicPr>
          <p:cNvPr id="16" name="Image 14" descr=" ">
            <a:extLst>
              <a:ext uri="{FF2B5EF4-FFF2-40B4-BE49-F238E27FC236}">
                <a16:creationId xmlns:a16="http://schemas.microsoft.com/office/drawing/2014/main" id="{F5DA5ECF-F418-31C0-9103-94D22E748E0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6272" y="1036366"/>
            <a:ext cx="260349" cy="462293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FEF9AF5B-B5F5-6349-9EAA-C60377BF8B43}"/>
              </a:ext>
            </a:extLst>
          </p:cNvPr>
          <p:cNvSpPr/>
          <p:nvPr/>
        </p:nvSpPr>
        <p:spPr>
          <a:xfrm>
            <a:off x="3721081" y="832188"/>
            <a:ext cx="72241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endParaRPr lang="ru-RU" sz="2649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01B9D88-662F-B7CB-368D-FBFFF803D32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31727" y="2038466"/>
            <a:ext cx="3267099" cy="428628"/>
          </a:xfrm>
          <a:prstGeom prst="rect">
            <a:avLst/>
          </a:prstGeom>
        </p:spPr>
      </p:pic>
      <p:sp>
        <p:nvSpPr>
          <p:cNvPr id="19" name="Text 1">
            <a:extLst>
              <a:ext uri="{FF2B5EF4-FFF2-40B4-BE49-F238E27FC236}">
                <a16:creationId xmlns:a16="http://schemas.microsoft.com/office/drawing/2014/main" id="{CB69BA81-92AC-A559-FB72-1D493B43B994}"/>
              </a:ext>
            </a:extLst>
          </p:cNvPr>
          <p:cNvSpPr/>
          <p:nvPr/>
        </p:nvSpPr>
        <p:spPr>
          <a:xfrm>
            <a:off x="703210" y="2729803"/>
            <a:ext cx="5418343" cy="7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>
              <a:lnSpc>
                <a:spcPts val="2301"/>
              </a:lnSpc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Предположительно в конвейер:</a:t>
            </a:r>
          </a:p>
          <a:p>
            <a:pPr marL="257124" indent="-257124" defTabSz="457109">
              <a:lnSpc>
                <a:spcPts val="2301"/>
              </a:lnSpc>
              <a:buFontTx/>
              <a:buAutoNum type="arabicPeriod"/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Дисциплина исполнения с централизованным вижном для достижения выбранного виденья будущего</a:t>
            </a:r>
          </a:p>
          <a:p>
            <a:pPr marL="257124" indent="-257124" defTabSz="457109">
              <a:lnSpc>
                <a:spcPts val="2301"/>
              </a:lnSpc>
              <a:buFontTx/>
              <a:buAutoNum type="arabicPeriod"/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Единый обязательный релизный план платформы </a:t>
            </a:r>
          </a:p>
          <a:p>
            <a:pPr marL="257124" indent="-257124" defTabSz="457109">
              <a:lnSpc>
                <a:spcPts val="2301"/>
              </a:lnSpc>
              <a:buFontTx/>
              <a:buAutoNum type="arabicPeriod"/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Релизные планы компонент должны следовать релизному плану платформы</a:t>
            </a:r>
          </a:p>
          <a:p>
            <a:pPr marL="257124" indent="-257124" defTabSz="457109">
              <a:lnSpc>
                <a:spcPts val="2301"/>
              </a:lnSpc>
              <a:buFontTx/>
              <a:buAutoNum type="arabicPeriod"/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Функциональныеи платформенные компоненты обязаны исполнять и использовать платформенный контекст</a:t>
            </a:r>
          </a:p>
          <a:p>
            <a:pPr marL="257124" indent="-257124" defTabSz="457109">
              <a:lnSpc>
                <a:spcPts val="2301"/>
              </a:lnSpc>
              <a:buFontTx/>
              <a:buAutoNum type="arabicPeriod"/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До гигиенического минимума (первого релиза) мы должны уменьшить цикл разработки платформы</a:t>
            </a:r>
          </a:p>
          <a:p>
            <a:pPr marL="257124" indent="-257124" defTabSz="457109">
              <a:lnSpc>
                <a:spcPts val="2301"/>
              </a:lnSpc>
              <a:buFontTx/>
              <a:buAutoNum type="arabicPeriod"/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Участие службы эксплуатации на ранних этапах</a:t>
            </a:r>
          </a:p>
          <a:p>
            <a:pPr marL="257124" indent="-257124" defTabSz="457109">
              <a:lnSpc>
                <a:spcPts val="2301"/>
              </a:lnSpc>
              <a:buFontTx/>
              <a:buAutoNum type="arabicPeriod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57124" indent="-257124" defTabSz="457109">
              <a:lnSpc>
                <a:spcPts val="2301"/>
              </a:lnSpc>
              <a:buFontTx/>
              <a:buAutoNum type="arabicPeriod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57124" indent="-257124" defTabSz="457109">
              <a:lnSpc>
                <a:spcPts val="2301"/>
              </a:lnSpc>
              <a:buFontTx/>
              <a:buAutoNum type="arabicPeriod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C6861ADB-213A-D0AA-D872-3D1F3077D0BF}"/>
              </a:ext>
            </a:extLst>
          </p:cNvPr>
          <p:cNvSpPr/>
          <p:nvPr/>
        </p:nvSpPr>
        <p:spPr>
          <a:xfrm>
            <a:off x="6367664" y="2712534"/>
            <a:ext cx="5418343" cy="7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>
              <a:lnSpc>
                <a:spcPts val="2301"/>
              </a:lnSpc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В ценности:</a:t>
            </a: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Релизная политика в рынок (намерения)</a:t>
            </a: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Фокус исходя из внешего позиционирования и сформулированных ценностей</a:t>
            </a: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F1EE676E-4E2C-9812-58DB-542BC130BDE6}"/>
              </a:ext>
            </a:extLst>
          </p:cNvPr>
          <p:cNvSpPr/>
          <p:nvPr/>
        </p:nvSpPr>
        <p:spPr>
          <a:xfrm>
            <a:off x="6367664" y="4446084"/>
            <a:ext cx="5418343" cy="7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>
              <a:lnSpc>
                <a:spcPts val="2301"/>
              </a:lnSpc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В эффективность:</a:t>
            </a: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r>
              <a:rPr lang="ru-RU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Мотивация</a:t>
            </a:r>
            <a:r>
              <a:rPr lang="en-US" sz="1300" kern="0" spc="-26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Onest Light" pitchFamily="34" charset="-122"/>
              </a:rPr>
              <a:t>;</a:t>
            </a: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373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F5CFC-E44D-F118-F9AB-C02398DA9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8AD064A1-5575-E49A-0698-14C4E6A62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1480" y="45642"/>
            <a:ext cx="1479542" cy="6857107"/>
          </a:xfrm>
          <a:prstGeom prst="rect">
            <a:avLst/>
          </a:prstGeom>
        </p:spPr>
      </p:pic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154CE85A-F03C-12EB-44EF-F8557E90CE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2990" y="1040211"/>
            <a:ext cx="281482" cy="229017"/>
          </a:xfrm>
          <a:prstGeom prst="rect">
            <a:avLst/>
          </a:prstGeom>
        </p:spPr>
      </p:pic>
      <p:pic>
        <p:nvPicPr>
          <p:cNvPr id="5" name="Image 3" descr=" ">
            <a:extLst>
              <a:ext uri="{FF2B5EF4-FFF2-40B4-BE49-F238E27FC236}">
                <a16:creationId xmlns:a16="http://schemas.microsoft.com/office/drawing/2014/main" id="{E3155B89-8EC6-9C5E-9F62-C7077050DD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7994" y="1035362"/>
            <a:ext cx="210690" cy="238825"/>
          </a:xfrm>
          <a:prstGeom prst="rect">
            <a:avLst/>
          </a:prstGeom>
        </p:spPr>
      </p:pic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CECEBE66-666D-80C6-1DA6-3CF9364840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7854" y="1040211"/>
            <a:ext cx="207515" cy="229017"/>
          </a:xfrm>
          <a:prstGeom prst="rect">
            <a:avLst/>
          </a:prstGeom>
        </p:spPr>
      </p:pic>
      <p:pic>
        <p:nvPicPr>
          <p:cNvPr id="7" name="Image 5" descr=" ">
            <a:extLst>
              <a:ext uri="{FF2B5EF4-FFF2-40B4-BE49-F238E27FC236}">
                <a16:creationId xmlns:a16="http://schemas.microsoft.com/office/drawing/2014/main" id="{52F30EE0-61FD-70F2-6CCD-DA4A171DA0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5829" y="1040880"/>
            <a:ext cx="215651" cy="229116"/>
          </a:xfrm>
          <a:prstGeom prst="rect">
            <a:avLst/>
          </a:prstGeom>
        </p:spPr>
      </p:pic>
      <p:pic>
        <p:nvPicPr>
          <p:cNvPr id="8" name="Image 6" descr=" ">
            <a:extLst>
              <a:ext uri="{FF2B5EF4-FFF2-40B4-BE49-F238E27FC236}">
                <a16:creationId xmlns:a16="http://schemas.microsoft.com/office/drawing/2014/main" id="{BC2F5E78-29A4-5E52-4D71-8B23F86E7A4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62089" y="1040211"/>
            <a:ext cx="281482" cy="229017"/>
          </a:xfrm>
          <a:prstGeom prst="rect">
            <a:avLst/>
          </a:prstGeom>
        </p:spPr>
      </p:pic>
      <p:pic>
        <p:nvPicPr>
          <p:cNvPr id="9" name="Image 7" descr=" ">
            <a:extLst>
              <a:ext uri="{FF2B5EF4-FFF2-40B4-BE49-F238E27FC236}">
                <a16:creationId xmlns:a16="http://schemas.microsoft.com/office/drawing/2014/main" id="{370B46D2-D799-1C46-113B-CEB3AD4629A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69063" y="1342460"/>
            <a:ext cx="245813" cy="238925"/>
          </a:xfrm>
          <a:prstGeom prst="rect">
            <a:avLst/>
          </a:prstGeom>
        </p:spPr>
      </p:pic>
      <p:pic>
        <p:nvPicPr>
          <p:cNvPr id="10" name="Image 8" descr=" ">
            <a:extLst>
              <a:ext uri="{FF2B5EF4-FFF2-40B4-BE49-F238E27FC236}">
                <a16:creationId xmlns:a16="http://schemas.microsoft.com/office/drawing/2014/main" id="{BC4322C7-57C5-2BB4-6027-F6C433CD2CA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52976" y="1347420"/>
            <a:ext cx="181966" cy="229116"/>
          </a:xfrm>
          <a:prstGeom prst="rect">
            <a:avLst/>
          </a:prstGeom>
        </p:spPr>
      </p:pic>
      <p:pic>
        <p:nvPicPr>
          <p:cNvPr id="11" name="Image 9" descr=" ">
            <a:extLst>
              <a:ext uri="{FF2B5EF4-FFF2-40B4-BE49-F238E27FC236}">
                <a16:creationId xmlns:a16="http://schemas.microsoft.com/office/drawing/2014/main" id="{3CCA8A58-A65D-987D-B711-3D3DEB68764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62624" y="1342460"/>
            <a:ext cx="251022" cy="238925"/>
          </a:xfrm>
          <a:prstGeom prst="rect">
            <a:avLst/>
          </a:prstGeom>
        </p:spPr>
      </p:pic>
      <p:pic>
        <p:nvPicPr>
          <p:cNvPr id="12" name="Image 10" descr=" ">
            <a:extLst>
              <a:ext uri="{FF2B5EF4-FFF2-40B4-BE49-F238E27FC236}">
                <a16:creationId xmlns:a16="http://schemas.microsoft.com/office/drawing/2014/main" id="{71E066BF-0CCF-DAD9-5252-715BD637A94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58642" y="1347420"/>
            <a:ext cx="213270" cy="232979"/>
          </a:xfrm>
          <a:prstGeom prst="rect">
            <a:avLst/>
          </a:prstGeom>
        </p:spPr>
      </p:pic>
      <p:pic>
        <p:nvPicPr>
          <p:cNvPr id="13" name="Image 11" descr=" ">
            <a:extLst>
              <a:ext uri="{FF2B5EF4-FFF2-40B4-BE49-F238E27FC236}">
                <a16:creationId xmlns:a16="http://schemas.microsoft.com/office/drawing/2014/main" id="{C6B57521-4788-AC4C-5323-AD2B999D279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19139" y="1347420"/>
            <a:ext cx="226763" cy="229017"/>
          </a:xfrm>
          <a:prstGeom prst="rect">
            <a:avLst/>
          </a:prstGeom>
        </p:spPr>
      </p:pic>
      <p:pic>
        <p:nvPicPr>
          <p:cNvPr id="14" name="Image 12" descr=" ">
            <a:extLst>
              <a:ext uri="{FF2B5EF4-FFF2-40B4-BE49-F238E27FC236}">
                <a16:creationId xmlns:a16="http://schemas.microsoft.com/office/drawing/2014/main" id="{7C3435CE-A626-9A4B-4F81-247B3497285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3210" y="1453539"/>
            <a:ext cx="514496" cy="127740"/>
          </a:xfrm>
          <a:prstGeom prst="rect">
            <a:avLst/>
          </a:prstGeom>
        </p:spPr>
      </p:pic>
      <p:pic>
        <p:nvPicPr>
          <p:cNvPr id="15" name="Image 13" descr=" ">
            <a:extLst>
              <a:ext uri="{FF2B5EF4-FFF2-40B4-BE49-F238E27FC236}">
                <a16:creationId xmlns:a16="http://schemas.microsoft.com/office/drawing/2014/main" id="{320707AF-E716-B9BC-F881-3BE50D7455C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47" y="1036347"/>
            <a:ext cx="260547" cy="462293"/>
          </a:xfrm>
          <a:prstGeom prst="rect">
            <a:avLst/>
          </a:prstGeom>
        </p:spPr>
      </p:pic>
      <p:pic>
        <p:nvPicPr>
          <p:cNvPr id="16" name="Image 14" descr=" ">
            <a:extLst>
              <a:ext uri="{FF2B5EF4-FFF2-40B4-BE49-F238E27FC236}">
                <a16:creationId xmlns:a16="http://schemas.microsoft.com/office/drawing/2014/main" id="{E496CA5A-B8D0-3658-86DB-31D202797FC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6272" y="1036366"/>
            <a:ext cx="260349" cy="462293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99129683-A900-EF41-B0DD-E32BAFC9347F}"/>
              </a:ext>
            </a:extLst>
          </p:cNvPr>
          <p:cNvSpPr/>
          <p:nvPr/>
        </p:nvSpPr>
        <p:spPr>
          <a:xfrm>
            <a:off x="3721081" y="832188"/>
            <a:ext cx="72241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endParaRPr lang="ru-RU" sz="2649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8F1FADBB-A83B-CB7A-BC06-E9D612C423AD}"/>
              </a:ext>
            </a:extLst>
          </p:cNvPr>
          <p:cNvSpPr/>
          <p:nvPr/>
        </p:nvSpPr>
        <p:spPr>
          <a:xfrm>
            <a:off x="784319" y="3429000"/>
            <a:ext cx="9926543" cy="315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accent6">
                    <a:lumMod val="60000"/>
                    <a:lumOff val="40000"/>
                  </a:schemeClr>
                </a:solidFill>
                <a:ea typeface="Onest Light" pitchFamily="34" charset="-122"/>
              </a:rPr>
              <a:t>Менеджер проекта (релизный менеджер) всей платформы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accent6">
                    <a:lumMod val="60000"/>
                    <a:lumOff val="40000"/>
                  </a:schemeClr>
                </a:solidFill>
                <a:ea typeface="Onest Light" pitchFamily="34" charset="-122"/>
              </a:rPr>
              <a:t>Общий продуктовый вижн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accent4">
                    <a:lumMod val="40000"/>
                    <a:lumOff val="60000"/>
                  </a:schemeClr>
                </a:solidFill>
                <a:ea typeface="Onest Light" pitchFamily="34" charset="-122"/>
              </a:rPr>
              <a:t>Обшая архитектура платформы (над компонентами) 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rgbClr val="FF0000"/>
                </a:solidFill>
                <a:ea typeface="Onest Light" pitchFamily="34" charset="-122"/>
              </a:rPr>
              <a:t>Доменная архитектура (по компонентам)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rgbClr val="FF0000"/>
                </a:solidFill>
                <a:ea typeface="Onest Light" pitchFamily="34" charset="-122"/>
              </a:rPr>
              <a:t>Каждая компонента должна иметь ответственного внутри платформы</a:t>
            </a:r>
            <a:endParaRPr lang="en-US" b="1" kern="0" spc="-26" dirty="0">
              <a:solidFill>
                <a:srgbClr val="FF0000"/>
              </a:solidFill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rgbClr val="FF0000"/>
                </a:solidFill>
                <a:ea typeface="Onest Light" pitchFamily="34" charset="-122"/>
              </a:rPr>
              <a:t>Укомплектованные кросс-функицональные комапнды по каждому компоненту платформы 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rgbClr val="FF0000"/>
                </a:solidFill>
                <a:latin typeface="Calibri" panose="020F0502020204030204"/>
                <a:ea typeface="Onest Light" pitchFamily="34" charset="-122"/>
              </a:rPr>
              <a:t>Привлечение сопустующих функций – ИБ (нужен выделенный ИБ архитектор платформы)</a:t>
            </a:r>
            <a:endParaRPr lang="en-US" b="1" kern="0" spc="-26" dirty="0">
              <a:solidFill>
                <a:srgbClr val="FF0000"/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7B84C333-B730-9176-210B-B08D49986653}"/>
              </a:ext>
            </a:extLst>
          </p:cNvPr>
          <p:cNvSpPr/>
          <p:nvPr/>
        </p:nvSpPr>
        <p:spPr>
          <a:xfrm>
            <a:off x="6367664" y="2712534"/>
            <a:ext cx="5418343" cy="7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814F1012-B473-02B8-0DA9-F848D4956AF6}"/>
              </a:ext>
            </a:extLst>
          </p:cNvPr>
          <p:cNvSpPr/>
          <p:nvPr/>
        </p:nvSpPr>
        <p:spPr>
          <a:xfrm>
            <a:off x="6367664" y="4446084"/>
            <a:ext cx="5418343" cy="7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51CBD64-49FB-969C-40F1-A3E5F463ACE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03210" y="1933156"/>
            <a:ext cx="4476783" cy="118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502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EC10BA-F958-4A4F-4B67-A64E7D4F8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5C77758-1B53-5042-045C-A49B43128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1480" y="45642"/>
            <a:ext cx="1479542" cy="6857107"/>
          </a:xfrm>
          <a:prstGeom prst="rect">
            <a:avLst/>
          </a:prstGeom>
        </p:spPr>
      </p:pic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4694CF50-FAB6-3C3C-440A-F613B1BDC0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2990" y="1040211"/>
            <a:ext cx="281482" cy="229017"/>
          </a:xfrm>
          <a:prstGeom prst="rect">
            <a:avLst/>
          </a:prstGeom>
        </p:spPr>
      </p:pic>
      <p:pic>
        <p:nvPicPr>
          <p:cNvPr id="5" name="Image 3" descr=" ">
            <a:extLst>
              <a:ext uri="{FF2B5EF4-FFF2-40B4-BE49-F238E27FC236}">
                <a16:creationId xmlns:a16="http://schemas.microsoft.com/office/drawing/2014/main" id="{66F708A7-3C71-AA18-738A-E1B964568C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7994" y="1035362"/>
            <a:ext cx="210690" cy="238825"/>
          </a:xfrm>
          <a:prstGeom prst="rect">
            <a:avLst/>
          </a:prstGeom>
        </p:spPr>
      </p:pic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6755798B-DACB-6D97-9720-C48458BA80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7854" y="1040211"/>
            <a:ext cx="207515" cy="229017"/>
          </a:xfrm>
          <a:prstGeom prst="rect">
            <a:avLst/>
          </a:prstGeom>
        </p:spPr>
      </p:pic>
      <p:pic>
        <p:nvPicPr>
          <p:cNvPr id="7" name="Image 5" descr=" ">
            <a:extLst>
              <a:ext uri="{FF2B5EF4-FFF2-40B4-BE49-F238E27FC236}">
                <a16:creationId xmlns:a16="http://schemas.microsoft.com/office/drawing/2014/main" id="{847E7625-FD90-0E89-A855-DED54745F4E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5829" y="1040880"/>
            <a:ext cx="215651" cy="229116"/>
          </a:xfrm>
          <a:prstGeom prst="rect">
            <a:avLst/>
          </a:prstGeom>
        </p:spPr>
      </p:pic>
      <p:pic>
        <p:nvPicPr>
          <p:cNvPr id="8" name="Image 6" descr=" ">
            <a:extLst>
              <a:ext uri="{FF2B5EF4-FFF2-40B4-BE49-F238E27FC236}">
                <a16:creationId xmlns:a16="http://schemas.microsoft.com/office/drawing/2014/main" id="{35173CF8-75A8-310D-43C5-444B720E690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62089" y="1040211"/>
            <a:ext cx="281482" cy="229017"/>
          </a:xfrm>
          <a:prstGeom prst="rect">
            <a:avLst/>
          </a:prstGeom>
        </p:spPr>
      </p:pic>
      <p:pic>
        <p:nvPicPr>
          <p:cNvPr id="9" name="Image 7" descr=" ">
            <a:extLst>
              <a:ext uri="{FF2B5EF4-FFF2-40B4-BE49-F238E27FC236}">
                <a16:creationId xmlns:a16="http://schemas.microsoft.com/office/drawing/2014/main" id="{73F21B82-2963-8A84-27EE-6DC16B0CE7D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69063" y="1342460"/>
            <a:ext cx="245813" cy="238925"/>
          </a:xfrm>
          <a:prstGeom prst="rect">
            <a:avLst/>
          </a:prstGeom>
        </p:spPr>
      </p:pic>
      <p:pic>
        <p:nvPicPr>
          <p:cNvPr id="10" name="Image 8" descr=" ">
            <a:extLst>
              <a:ext uri="{FF2B5EF4-FFF2-40B4-BE49-F238E27FC236}">
                <a16:creationId xmlns:a16="http://schemas.microsoft.com/office/drawing/2014/main" id="{2C519519-29A5-52E4-F5AA-7D6CB8E8A1A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52976" y="1347420"/>
            <a:ext cx="181966" cy="229116"/>
          </a:xfrm>
          <a:prstGeom prst="rect">
            <a:avLst/>
          </a:prstGeom>
        </p:spPr>
      </p:pic>
      <p:pic>
        <p:nvPicPr>
          <p:cNvPr id="11" name="Image 9" descr=" ">
            <a:extLst>
              <a:ext uri="{FF2B5EF4-FFF2-40B4-BE49-F238E27FC236}">
                <a16:creationId xmlns:a16="http://schemas.microsoft.com/office/drawing/2014/main" id="{D93C5FBF-C948-6ABF-3157-758889E2CD1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62624" y="1342460"/>
            <a:ext cx="251022" cy="238925"/>
          </a:xfrm>
          <a:prstGeom prst="rect">
            <a:avLst/>
          </a:prstGeom>
        </p:spPr>
      </p:pic>
      <p:pic>
        <p:nvPicPr>
          <p:cNvPr id="12" name="Image 10" descr=" ">
            <a:extLst>
              <a:ext uri="{FF2B5EF4-FFF2-40B4-BE49-F238E27FC236}">
                <a16:creationId xmlns:a16="http://schemas.microsoft.com/office/drawing/2014/main" id="{53797962-1769-0FF8-EFED-C9A7CA0B18B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58642" y="1347420"/>
            <a:ext cx="213270" cy="232979"/>
          </a:xfrm>
          <a:prstGeom prst="rect">
            <a:avLst/>
          </a:prstGeom>
        </p:spPr>
      </p:pic>
      <p:pic>
        <p:nvPicPr>
          <p:cNvPr id="13" name="Image 11" descr=" ">
            <a:extLst>
              <a:ext uri="{FF2B5EF4-FFF2-40B4-BE49-F238E27FC236}">
                <a16:creationId xmlns:a16="http://schemas.microsoft.com/office/drawing/2014/main" id="{E2E0AAE1-0039-4717-B424-ACBCD03C264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19139" y="1347420"/>
            <a:ext cx="226763" cy="229017"/>
          </a:xfrm>
          <a:prstGeom prst="rect">
            <a:avLst/>
          </a:prstGeom>
        </p:spPr>
      </p:pic>
      <p:pic>
        <p:nvPicPr>
          <p:cNvPr id="14" name="Image 12" descr=" ">
            <a:extLst>
              <a:ext uri="{FF2B5EF4-FFF2-40B4-BE49-F238E27FC236}">
                <a16:creationId xmlns:a16="http://schemas.microsoft.com/office/drawing/2014/main" id="{6AF5020C-40EE-9F7B-9541-548946FF405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3210" y="1453539"/>
            <a:ext cx="514496" cy="127740"/>
          </a:xfrm>
          <a:prstGeom prst="rect">
            <a:avLst/>
          </a:prstGeom>
        </p:spPr>
      </p:pic>
      <p:pic>
        <p:nvPicPr>
          <p:cNvPr id="15" name="Image 13" descr=" ">
            <a:extLst>
              <a:ext uri="{FF2B5EF4-FFF2-40B4-BE49-F238E27FC236}">
                <a16:creationId xmlns:a16="http://schemas.microsoft.com/office/drawing/2014/main" id="{01C90938-BDAE-967E-0FC6-81AF4111BAF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47" y="1036347"/>
            <a:ext cx="260547" cy="462293"/>
          </a:xfrm>
          <a:prstGeom prst="rect">
            <a:avLst/>
          </a:prstGeom>
        </p:spPr>
      </p:pic>
      <p:pic>
        <p:nvPicPr>
          <p:cNvPr id="16" name="Image 14" descr=" ">
            <a:extLst>
              <a:ext uri="{FF2B5EF4-FFF2-40B4-BE49-F238E27FC236}">
                <a16:creationId xmlns:a16="http://schemas.microsoft.com/office/drawing/2014/main" id="{FC728572-F7AC-34F5-354C-296815E3C92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6272" y="1036366"/>
            <a:ext cx="260349" cy="462293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805B88FA-D810-5333-F044-5BC1AEDAB480}"/>
              </a:ext>
            </a:extLst>
          </p:cNvPr>
          <p:cNvSpPr/>
          <p:nvPr/>
        </p:nvSpPr>
        <p:spPr>
          <a:xfrm>
            <a:off x="3721081" y="832188"/>
            <a:ext cx="72241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endParaRPr lang="ru-RU" sz="2649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2186A0A6-BD8A-0465-43B8-CF298F132FB4}"/>
              </a:ext>
            </a:extLst>
          </p:cNvPr>
          <p:cNvSpPr/>
          <p:nvPr/>
        </p:nvSpPr>
        <p:spPr>
          <a:xfrm>
            <a:off x="784319" y="2712534"/>
            <a:ext cx="9926543" cy="3874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3 квартала реализации с момента получения ресурсов и проведения </a:t>
            </a:r>
            <a:r>
              <a:rPr lang="en-US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kick-off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Работа над ошибками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Стабилизация продукта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Работа над следующими релизами</a:t>
            </a:r>
            <a:endParaRPr lang="en-US" b="1" kern="0" spc="-26" dirty="0">
              <a:solidFill>
                <a:schemeClr val="bg1"/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BB41DBE3-224D-547F-D6B0-CAB77BACF788}"/>
              </a:ext>
            </a:extLst>
          </p:cNvPr>
          <p:cNvSpPr/>
          <p:nvPr/>
        </p:nvSpPr>
        <p:spPr>
          <a:xfrm>
            <a:off x="6367664" y="2712534"/>
            <a:ext cx="5418343" cy="7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CC84E3D5-7A4A-3E99-63DB-0A3673734AC1}"/>
              </a:ext>
            </a:extLst>
          </p:cNvPr>
          <p:cNvSpPr/>
          <p:nvPr/>
        </p:nvSpPr>
        <p:spPr>
          <a:xfrm>
            <a:off x="6367664" y="4446084"/>
            <a:ext cx="5418343" cy="7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121071A-BBCC-C454-2AD9-1A532901E9A9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42934" y="1915813"/>
            <a:ext cx="4267231" cy="37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234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60B71C-7AF5-E5B4-20C7-1BBD28684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CC35A27D-C97E-3440-1779-078E9793D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1480" y="45642"/>
            <a:ext cx="1479542" cy="6857107"/>
          </a:xfrm>
          <a:prstGeom prst="rect">
            <a:avLst/>
          </a:prstGeom>
        </p:spPr>
      </p:pic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5D8033D6-DB6E-7BD4-1FBD-F546396183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2990" y="1040211"/>
            <a:ext cx="281482" cy="229017"/>
          </a:xfrm>
          <a:prstGeom prst="rect">
            <a:avLst/>
          </a:prstGeom>
        </p:spPr>
      </p:pic>
      <p:pic>
        <p:nvPicPr>
          <p:cNvPr id="5" name="Image 3" descr=" ">
            <a:extLst>
              <a:ext uri="{FF2B5EF4-FFF2-40B4-BE49-F238E27FC236}">
                <a16:creationId xmlns:a16="http://schemas.microsoft.com/office/drawing/2014/main" id="{C491897B-5352-E5B9-BD67-8F9C455F64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7994" y="1035362"/>
            <a:ext cx="210690" cy="238825"/>
          </a:xfrm>
          <a:prstGeom prst="rect">
            <a:avLst/>
          </a:prstGeom>
        </p:spPr>
      </p:pic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5FC74D8C-5DD8-16FB-B610-C8826B77F0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7854" y="1040211"/>
            <a:ext cx="207515" cy="229017"/>
          </a:xfrm>
          <a:prstGeom prst="rect">
            <a:avLst/>
          </a:prstGeom>
        </p:spPr>
      </p:pic>
      <p:pic>
        <p:nvPicPr>
          <p:cNvPr id="7" name="Image 5" descr=" ">
            <a:extLst>
              <a:ext uri="{FF2B5EF4-FFF2-40B4-BE49-F238E27FC236}">
                <a16:creationId xmlns:a16="http://schemas.microsoft.com/office/drawing/2014/main" id="{E7AD5A63-DB51-81E0-EA64-125F017712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5829" y="1040880"/>
            <a:ext cx="215651" cy="229116"/>
          </a:xfrm>
          <a:prstGeom prst="rect">
            <a:avLst/>
          </a:prstGeom>
        </p:spPr>
      </p:pic>
      <p:pic>
        <p:nvPicPr>
          <p:cNvPr id="8" name="Image 6" descr=" ">
            <a:extLst>
              <a:ext uri="{FF2B5EF4-FFF2-40B4-BE49-F238E27FC236}">
                <a16:creationId xmlns:a16="http://schemas.microsoft.com/office/drawing/2014/main" id="{8A675B6B-CA62-DEAA-31DA-8AD24AAA668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62089" y="1040211"/>
            <a:ext cx="281482" cy="229017"/>
          </a:xfrm>
          <a:prstGeom prst="rect">
            <a:avLst/>
          </a:prstGeom>
        </p:spPr>
      </p:pic>
      <p:pic>
        <p:nvPicPr>
          <p:cNvPr id="9" name="Image 7" descr=" ">
            <a:extLst>
              <a:ext uri="{FF2B5EF4-FFF2-40B4-BE49-F238E27FC236}">
                <a16:creationId xmlns:a16="http://schemas.microsoft.com/office/drawing/2014/main" id="{973ED287-F603-E327-0888-EDA012F5DAD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69063" y="1342460"/>
            <a:ext cx="245813" cy="238925"/>
          </a:xfrm>
          <a:prstGeom prst="rect">
            <a:avLst/>
          </a:prstGeom>
        </p:spPr>
      </p:pic>
      <p:pic>
        <p:nvPicPr>
          <p:cNvPr id="10" name="Image 8" descr=" ">
            <a:extLst>
              <a:ext uri="{FF2B5EF4-FFF2-40B4-BE49-F238E27FC236}">
                <a16:creationId xmlns:a16="http://schemas.microsoft.com/office/drawing/2014/main" id="{9EF21639-DCC1-A516-EED9-F6ED8161D20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52976" y="1347420"/>
            <a:ext cx="181966" cy="229116"/>
          </a:xfrm>
          <a:prstGeom prst="rect">
            <a:avLst/>
          </a:prstGeom>
        </p:spPr>
      </p:pic>
      <p:pic>
        <p:nvPicPr>
          <p:cNvPr id="11" name="Image 9" descr=" ">
            <a:extLst>
              <a:ext uri="{FF2B5EF4-FFF2-40B4-BE49-F238E27FC236}">
                <a16:creationId xmlns:a16="http://schemas.microsoft.com/office/drawing/2014/main" id="{3BC32934-C2FC-4875-A126-B86C5A2A1C8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62624" y="1342460"/>
            <a:ext cx="251022" cy="238925"/>
          </a:xfrm>
          <a:prstGeom prst="rect">
            <a:avLst/>
          </a:prstGeom>
        </p:spPr>
      </p:pic>
      <p:pic>
        <p:nvPicPr>
          <p:cNvPr id="12" name="Image 10" descr=" ">
            <a:extLst>
              <a:ext uri="{FF2B5EF4-FFF2-40B4-BE49-F238E27FC236}">
                <a16:creationId xmlns:a16="http://schemas.microsoft.com/office/drawing/2014/main" id="{6BE92657-8811-603B-72FF-855E68D2CD6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58642" y="1347420"/>
            <a:ext cx="213270" cy="232979"/>
          </a:xfrm>
          <a:prstGeom prst="rect">
            <a:avLst/>
          </a:prstGeom>
        </p:spPr>
      </p:pic>
      <p:pic>
        <p:nvPicPr>
          <p:cNvPr id="13" name="Image 11" descr=" ">
            <a:extLst>
              <a:ext uri="{FF2B5EF4-FFF2-40B4-BE49-F238E27FC236}">
                <a16:creationId xmlns:a16="http://schemas.microsoft.com/office/drawing/2014/main" id="{99EF7C72-03BA-EA69-4DA4-CB2A90E398B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19139" y="1347420"/>
            <a:ext cx="226763" cy="229017"/>
          </a:xfrm>
          <a:prstGeom prst="rect">
            <a:avLst/>
          </a:prstGeom>
        </p:spPr>
      </p:pic>
      <p:pic>
        <p:nvPicPr>
          <p:cNvPr id="14" name="Image 12" descr=" ">
            <a:extLst>
              <a:ext uri="{FF2B5EF4-FFF2-40B4-BE49-F238E27FC236}">
                <a16:creationId xmlns:a16="http://schemas.microsoft.com/office/drawing/2014/main" id="{01BC803F-BDFB-E6FF-6E57-1339B01425B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3210" y="1453539"/>
            <a:ext cx="514496" cy="127740"/>
          </a:xfrm>
          <a:prstGeom prst="rect">
            <a:avLst/>
          </a:prstGeom>
        </p:spPr>
      </p:pic>
      <p:pic>
        <p:nvPicPr>
          <p:cNvPr id="15" name="Image 13" descr=" ">
            <a:extLst>
              <a:ext uri="{FF2B5EF4-FFF2-40B4-BE49-F238E27FC236}">
                <a16:creationId xmlns:a16="http://schemas.microsoft.com/office/drawing/2014/main" id="{2B3EC47A-C064-F108-EC98-17D89FE2385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47" y="1036347"/>
            <a:ext cx="260547" cy="462293"/>
          </a:xfrm>
          <a:prstGeom prst="rect">
            <a:avLst/>
          </a:prstGeom>
        </p:spPr>
      </p:pic>
      <p:pic>
        <p:nvPicPr>
          <p:cNvPr id="16" name="Image 14" descr=" ">
            <a:extLst>
              <a:ext uri="{FF2B5EF4-FFF2-40B4-BE49-F238E27FC236}">
                <a16:creationId xmlns:a16="http://schemas.microsoft.com/office/drawing/2014/main" id="{847BD042-BB80-1D2E-56D8-2349A33B8DC4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6272" y="1036366"/>
            <a:ext cx="260349" cy="462293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133224A2-D97C-EC25-38CA-EA1A52452484}"/>
              </a:ext>
            </a:extLst>
          </p:cNvPr>
          <p:cNvSpPr/>
          <p:nvPr/>
        </p:nvSpPr>
        <p:spPr>
          <a:xfrm>
            <a:off x="3721081" y="832188"/>
            <a:ext cx="7224146" cy="95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/>
            <a:endParaRPr lang="ru-RU" sz="2649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64E28565-2A10-8B2A-B0C5-5167582B103C}"/>
              </a:ext>
            </a:extLst>
          </p:cNvPr>
          <p:cNvSpPr/>
          <p:nvPr/>
        </p:nvSpPr>
        <p:spPr>
          <a:xfrm>
            <a:off x="784319" y="2712534"/>
            <a:ext cx="9926543" cy="3874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>
              <a:lnSpc>
                <a:spcPts val="2301"/>
              </a:lnSpc>
            </a:pPr>
            <a:r>
              <a:rPr lang="en-US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Kick-off </a:t>
            </a: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детализации целей для проекта (с </a:t>
            </a:r>
            <a:r>
              <a:rPr lang="en-US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CEO/CPO/HR </a:t>
            </a: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и всеми инициативами)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Определение структуры управления инициативы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Определение ресурсных гэпов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Выработка решения с </a:t>
            </a:r>
            <a:r>
              <a:rPr lang="en-US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CPO/HR </a:t>
            </a: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и</a:t>
            </a:r>
            <a:r>
              <a:rPr lang="en-US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 CEO </a:t>
            </a: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по закрытию или митигации гэпов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Детализация требований первого релиза (верхнеуровнево)</a:t>
            </a:r>
          </a:p>
          <a:p>
            <a:pPr defTabSz="457109">
              <a:lnSpc>
                <a:spcPts val="2301"/>
              </a:lnSpc>
            </a:pPr>
            <a:r>
              <a:rPr lang="en-US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Kick-off </a:t>
            </a: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со всей командой инициативы</a:t>
            </a:r>
          </a:p>
          <a:p>
            <a:pPr defTabSz="457109">
              <a:lnSpc>
                <a:spcPts val="2301"/>
              </a:lnSpc>
            </a:pPr>
            <a:endParaRPr lang="ru-RU" b="1" kern="0" spc="-26" dirty="0">
              <a:solidFill>
                <a:schemeClr val="bg1"/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Еженедельный статус со всей командой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Еженедельные статусы по подгруппам после старта реализации</a:t>
            </a:r>
          </a:p>
          <a:p>
            <a:pPr defTabSz="457109">
              <a:lnSpc>
                <a:spcPts val="2301"/>
              </a:lnSpc>
            </a:pPr>
            <a:r>
              <a:rPr lang="ru-RU" b="1" kern="0" spc="-26" dirty="0">
                <a:solidFill>
                  <a:schemeClr val="bg1"/>
                </a:solidFill>
                <a:latin typeface="Calibri" panose="020F0502020204030204"/>
                <a:ea typeface="Onest Light" pitchFamily="34" charset="-122"/>
              </a:rPr>
              <a:t>Рабочие встречи по необходимости</a:t>
            </a:r>
          </a:p>
          <a:p>
            <a:pPr defTabSz="457109">
              <a:lnSpc>
                <a:spcPts val="2301"/>
              </a:lnSpc>
            </a:pPr>
            <a:endParaRPr lang="ru-RU" b="1" kern="0" spc="-26" dirty="0">
              <a:solidFill>
                <a:schemeClr val="bg1"/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2468F492-7CC0-5E6C-8C28-9598E04198AE}"/>
              </a:ext>
            </a:extLst>
          </p:cNvPr>
          <p:cNvSpPr/>
          <p:nvPr/>
        </p:nvSpPr>
        <p:spPr>
          <a:xfrm>
            <a:off x="6367664" y="2712534"/>
            <a:ext cx="5418343" cy="7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89B4BF04-A42D-F206-126F-F8882D0AB35F}"/>
              </a:ext>
            </a:extLst>
          </p:cNvPr>
          <p:cNvSpPr/>
          <p:nvPr/>
        </p:nvSpPr>
        <p:spPr>
          <a:xfrm>
            <a:off x="6367664" y="4446084"/>
            <a:ext cx="5418343" cy="7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54" indent="-228554" defTabSz="457109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109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557808B-88FE-1F62-2893-9A2DA4AB89C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61997" y="1861850"/>
            <a:ext cx="4219606" cy="40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272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00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EC10BA-F958-4A4F-4B67-A64E7D4F8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5C77758-1B53-5042-045C-A49B43128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1970" y="46083"/>
            <a:ext cx="1479349" cy="6856214"/>
          </a:xfrm>
          <a:prstGeom prst="rect">
            <a:avLst/>
          </a:prstGeom>
        </p:spPr>
      </p:pic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4694CF50-FAB6-3C3C-440A-F613B1BDC0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3608" y="1040523"/>
            <a:ext cx="281445" cy="228987"/>
          </a:xfrm>
          <a:prstGeom prst="rect">
            <a:avLst/>
          </a:prstGeom>
        </p:spPr>
      </p:pic>
      <p:pic>
        <p:nvPicPr>
          <p:cNvPr id="5" name="Image 3" descr=" ">
            <a:extLst>
              <a:ext uri="{FF2B5EF4-FFF2-40B4-BE49-F238E27FC236}">
                <a16:creationId xmlns:a16="http://schemas.microsoft.com/office/drawing/2014/main" id="{66F708A7-3C71-AA18-738A-E1B964568C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8574" y="1035674"/>
            <a:ext cx="210663" cy="238794"/>
          </a:xfrm>
          <a:prstGeom prst="rect">
            <a:avLst/>
          </a:prstGeom>
        </p:spPr>
      </p:pic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6755798B-DACB-6D97-9720-C48458BA80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8404" y="1040523"/>
            <a:ext cx="207488" cy="228987"/>
          </a:xfrm>
          <a:prstGeom prst="rect">
            <a:avLst/>
          </a:prstGeom>
        </p:spPr>
      </p:pic>
      <p:pic>
        <p:nvPicPr>
          <p:cNvPr id="7" name="Image 5" descr=" ">
            <a:extLst>
              <a:ext uri="{FF2B5EF4-FFF2-40B4-BE49-F238E27FC236}">
                <a16:creationId xmlns:a16="http://schemas.microsoft.com/office/drawing/2014/main" id="{847E7625-FD90-0E89-A855-DED54745F4E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6348" y="1041191"/>
            <a:ext cx="215623" cy="229086"/>
          </a:xfrm>
          <a:prstGeom prst="rect">
            <a:avLst/>
          </a:prstGeom>
        </p:spPr>
      </p:pic>
      <p:pic>
        <p:nvPicPr>
          <p:cNvPr id="8" name="Image 6" descr=" ">
            <a:extLst>
              <a:ext uri="{FF2B5EF4-FFF2-40B4-BE49-F238E27FC236}">
                <a16:creationId xmlns:a16="http://schemas.microsoft.com/office/drawing/2014/main" id="{35173CF8-75A8-310D-43C5-444B720E690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62575" y="1040523"/>
            <a:ext cx="281445" cy="228987"/>
          </a:xfrm>
          <a:prstGeom prst="rect">
            <a:avLst/>
          </a:prstGeom>
        </p:spPr>
      </p:pic>
      <p:pic>
        <p:nvPicPr>
          <p:cNvPr id="9" name="Image 7" descr=" ">
            <a:extLst>
              <a:ext uri="{FF2B5EF4-FFF2-40B4-BE49-F238E27FC236}">
                <a16:creationId xmlns:a16="http://schemas.microsoft.com/office/drawing/2014/main" id="{73F21B82-2963-8A84-27EE-6DC16B0CE7D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69679" y="1342732"/>
            <a:ext cx="245781" cy="238894"/>
          </a:xfrm>
          <a:prstGeom prst="rect">
            <a:avLst/>
          </a:prstGeom>
        </p:spPr>
      </p:pic>
      <p:pic>
        <p:nvPicPr>
          <p:cNvPr id="10" name="Image 8" descr=" ">
            <a:extLst>
              <a:ext uri="{FF2B5EF4-FFF2-40B4-BE49-F238E27FC236}">
                <a16:creationId xmlns:a16="http://schemas.microsoft.com/office/drawing/2014/main" id="{2C519519-29A5-52E4-F5AA-7D6CB8E8A1A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53555" y="1347691"/>
            <a:ext cx="181942" cy="229086"/>
          </a:xfrm>
          <a:prstGeom prst="rect">
            <a:avLst/>
          </a:prstGeom>
        </p:spPr>
      </p:pic>
      <p:pic>
        <p:nvPicPr>
          <p:cNvPr id="11" name="Image 9" descr=" ">
            <a:extLst>
              <a:ext uri="{FF2B5EF4-FFF2-40B4-BE49-F238E27FC236}">
                <a16:creationId xmlns:a16="http://schemas.microsoft.com/office/drawing/2014/main" id="{D93C5FBF-C948-6ABF-3157-758889E2CD1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63175" y="1342732"/>
            <a:ext cx="250989" cy="238894"/>
          </a:xfrm>
          <a:prstGeom prst="rect">
            <a:avLst/>
          </a:prstGeom>
        </p:spPr>
      </p:pic>
      <p:pic>
        <p:nvPicPr>
          <p:cNvPr id="12" name="Image 10" descr=" ">
            <a:extLst>
              <a:ext uri="{FF2B5EF4-FFF2-40B4-BE49-F238E27FC236}">
                <a16:creationId xmlns:a16="http://schemas.microsoft.com/office/drawing/2014/main" id="{53797962-1769-0FF8-EFED-C9A7CA0B18B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59155" y="1347691"/>
            <a:ext cx="213242" cy="232949"/>
          </a:xfrm>
          <a:prstGeom prst="rect">
            <a:avLst/>
          </a:prstGeom>
        </p:spPr>
      </p:pic>
      <p:pic>
        <p:nvPicPr>
          <p:cNvPr id="13" name="Image 11" descr=" ">
            <a:extLst>
              <a:ext uri="{FF2B5EF4-FFF2-40B4-BE49-F238E27FC236}">
                <a16:creationId xmlns:a16="http://schemas.microsoft.com/office/drawing/2014/main" id="{E2E0AAE1-0039-4717-B424-ACBCD03C264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419618" y="1347692"/>
            <a:ext cx="226733" cy="228987"/>
          </a:xfrm>
          <a:prstGeom prst="rect">
            <a:avLst/>
          </a:prstGeom>
        </p:spPr>
      </p:pic>
      <p:pic>
        <p:nvPicPr>
          <p:cNvPr id="14" name="Image 12" descr=" ">
            <a:extLst>
              <a:ext uri="{FF2B5EF4-FFF2-40B4-BE49-F238E27FC236}">
                <a16:creationId xmlns:a16="http://schemas.microsoft.com/office/drawing/2014/main" id="{6AF5020C-40EE-9F7B-9541-548946FF405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3912" y="1453796"/>
            <a:ext cx="514429" cy="127723"/>
          </a:xfrm>
          <a:prstGeom prst="rect">
            <a:avLst/>
          </a:prstGeom>
        </p:spPr>
      </p:pic>
      <p:pic>
        <p:nvPicPr>
          <p:cNvPr id="15" name="Image 13" descr=" ">
            <a:extLst>
              <a:ext uri="{FF2B5EF4-FFF2-40B4-BE49-F238E27FC236}">
                <a16:creationId xmlns:a16="http://schemas.microsoft.com/office/drawing/2014/main" id="{01C90938-BDAE-967E-0FC6-81AF4111BAF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756" y="1036659"/>
            <a:ext cx="260513" cy="462233"/>
          </a:xfrm>
          <a:prstGeom prst="rect">
            <a:avLst/>
          </a:prstGeom>
        </p:spPr>
      </p:pic>
      <p:pic>
        <p:nvPicPr>
          <p:cNvPr id="16" name="Image 14" descr=" ">
            <a:extLst>
              <a:ext uri="{FF2B5EF4-FFF2-40B4-BE49-F238E27FC236}">
                <a16:creationId xmlns:a16="http://schemas.microsoft.com/office/drawing/2014/main" id="{FC728572-F7AC-34F5-354C-296815E3C92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6935" y="1036678"/>
            <a:ext cx="260315" cy="462233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805B88FA-D810-5333-F044-5BC1AEDAB480}"/>
              </a:ext>
            </a:extLst>
          </p:cNvPr>
          <p:cNvSpPr/>
          <p:nvPr/>
        </p:nvSpPr>
        <p:spPr>
          <a:xfrm>
            <a:off x="3721390" y="832526"/>
            <a:ext cx="7223205" cy="950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018"/>
            <a:endParaRPr lang="ru-RU" sz="2648" kern="0" spc="-53" dirty="0">
              <a:solidFill>
                <a:srgbClr val="FFFFFF">
                  <a:alpha val="100000"/>
                </a:srgbClr>
              </a:solidFill>
              <a:latin typeface="Geologica Roman Medium" pitchFamily="34" charset="0"/>
              <a:ea typeface="Geologica Roman Medium" pitchFamily="34" charset="-122"/>
              <a:cs typeface="Geologica Roman Medium" pitchFamily="34" charset="-12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2186A0A6-BD8A-0465-43B8-CF298F132FB4}"/>
              </a:ext>
            </a:extLst>
          </p:cNvPr>
          <p:cNvSpPr/>
          <p:nvPr/>
        </p:nvSpPr>
        <p:spPr>
          <a:xfrm>
            <a:off x="785011" y="2712627"/>
            <a:ext cx="9925251" cy="387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018">
              <a:lnSpc>
                <a:spcPts val="2301"/>
              </a:lnSpc>
            </a:pPr>
            <a:r>
              <a:rPr lang="ru-RU" b="1" kern="0" spc="-26" dirty="0">
                <a:solidFill>
                  <a:prstClr val="white"/>
                </a:solidFill>
                <a:latin typeface="Calibri" panose="020F0502020204030204"/>
                <a:ea typeface="Onest Light" pitchFamily="34" charset="-122"/>
              </a:rPr>
              <a:t>Инфра для разработки и тестирования</a:t>
            </a:r>
          </a:p>
          <a:p>
            <a:pPr defTabSz="457018">
              <a:lnSpc>
                <a:spcPts val="2301"/>
              </a:lnSpc>
            </a:pPr>
            <a:r>
              <a:rPr lang="ru-RU" b="1" kern="0" spc="-26" dirty="0">
                <a:solidFill>
                  <a:prstClr val="white"/>
                </a:solidFill>
                <a:latin typeface="Calibri" panose="020F0502020204030204"/>
                <a:ea typeface="Onest Light" pitchFamily="34" charset="-122"/>
              </a:rPr>
              <a:t>Человеческие ресурсы (см. выше)</a:t>
            </a:r>
          </a:p>
          <a:p>
            <a:pPr defTabSz="457018">
              <a:lnSpc>
                <a:spcPts val="2301"/>
              </a:lnSpc>
            </a:pPr>
            <a:r>
              <a:rPr lang="ru-RU" b="1" kern="0" spc="-26" dirty="0">
                <a:solidFill>
                  <a:prstClr val="white"/>
                </a:solidFill>
                <a:latin typeface="Calibri" panose="020F0502020204030204"/>
                <a:ea typeface="Onest Light" pitchFamily="34" charset="-122"/>
              </a:rPr>
              <a:t>Запросы на обучения сотрудников (доменные знания (</a:t>
            </a:r>
            <a:r>
              <a:rPr lang="en-US" b="1" kern="0" spc="-26" dirty="0">
                <a:solidFill>
                  <a:prstClr val="white"/>
                </a:solidFill>
                <a:latin typeface="Calibri" panose="020F0502020204030204"/>
                <a:ea typeface="Onest Light" pitchFamily="34" charset="-122"/>
              </a:rPr>
              <a:t>IAM/BSS/OSS </a:t>
            </a:r>
            <a:r>
              <a:rPr lang="ru-RU" b="1" kern="0" spc="-26" dirty="0">
                <a:solidFill>
                  <a:prstClr val="white"/>
                </a:solidFill>
                <a:latin typeface="Calibri" panose="020F0502020204030204"/>
                <a:ea typeface="Onest Light" pitchFamily="34" charset="-122"/>
              </a:rPr>
              <a:t>и т.д.))</a:t>
            </a:r>
          </a:p>
          <a:p>
            <a:pPr defTabSz="457018">
              <a:lnSpc>
                <a:spcPts val="2301"/>
              </a:lnSpc>
            </a:pPr>
            <a:endParaRPr lang="ru-RU" b="1" kern="0" spc="-26" dirty="0">
              <a:solidFill>
                <a:prstClr val="white"/>
              </a:solidFill>
              <a:latin typeface="Calibri" panose="020F0502020204030204"/>
              <a:ea typeface="Onest Light" pitchFamily="34" charset="-122"/>
            </a:endParaRPr>
          </a:p>
          <a:p>
            <a:pPr defTabSz="457018">
              <a:lnSpc>
                <a:spcPts val="2301"/>
              </a:lnSpc>
            </a:pPr>
            <a:endParaRPr lang="ru-RU" b="1" kern="0" spc="-26" dirty="0">
              <a:solidFill>
                <a:prstClr val="white"/>
              </a:solidFill>
              <a:latin typeface="Calibri" panose="020F0502020204030204"/>
              <a:ea typeface="Onest Light" pitchFamily="34" charset="-122"/>
            </a:endParaRPr>
          </a:p>
          <a:p>
            <a:pPr defTabSz="457018">
              <a:lnSpc>
                <a:spcPts val="2301"/>
              </a:lnSpc>
            </a:pPr>
            <a:endParaRPr lang="en-US" b="1" kern="0" spc="-26" dirty="0">
              <a:solidFill>
                <a:prstClr val="white"/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BB41DBE3-224D-547F-D6B0-CAB77BACF788}"/>
              </a:ext>
            </a:extLst>
          </p:cNvPr>
          <p:cNvSpPr/>
          <p:nvPr/>
        </p:nvSpPr>
        <p:spPr>
          <a:xfrm>
            <a:off x="6367629" y="2712628"/>
            <a:ext cx="5417638" cy="761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08" indent="-228508" defTabSz="457018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018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CC84E3D5-7A4A-3E99-63DB-0A3673734AC1}"/>
              </a:ext>
            </a:extLst>
          </p:cNvPr>
          <p:cNvSpPr/>
          <p:nvPr/>
        </p:nvSpPr>
        <p:spPr>
          <a:xfrm>
            <a:off x="6367629" y="4445952"/>
            <a:ext cx="5417638" cy="761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508" indent="-228508" defTabSz="457018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08" indent="-228508" defTabSz="457018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marL="228508" indent="-228508" defTabSz="457018">
              <a:lnSpc>
                <a:spcPts val="2301"/>
              </a:lnSpc>
              <a:buFont typeface="Arial" panose="020B0604020202020204" pitchFamily="34" charset="0"/>
              <a:buChar char="•"/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  <a:p>
            <a:pPr defTabSz="457018">
              <a:lnSpc>
                <a:spcPts val="2301"/>
              </a:lnSpc>
            </a:pPr>
            <a:endParaRPr lang="ru-RU" sz="1300" kern="0" spc="-26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Onest Light" pitchFamily="34" charset="-122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EF3CAD-3863-6519-9B99-51F69B6BDE39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67935" y="1972423"/>
            <a:ext cx="2190481" cy="35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60294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4753</TotalTime>
  <Words>407</Words>
  <Application>Microsoft Macintosh PowerPoint</Application>
  <PresentationFormat>Широкоэкранный</PresentationFormat>
  <Paragraphs>96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Geologica Roman Medium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Dmitry Pronyushkin</dc:creator>
  <cp:lastModifiedBy>Microsoft Office User</cp:lastModifiedBy>
  <cp:revision>4</cp:revision>
  <dcterms:created xsi:type="dcterms:W3CDTF">2026-02-12T12:10:50Z</dcterms:created>
  <dcterms:modified xsi:type="dcterms:W3CDTF">2026-02-16T14:39:36Z</dcterms:modified>
</cp:coreProperties>
</file>