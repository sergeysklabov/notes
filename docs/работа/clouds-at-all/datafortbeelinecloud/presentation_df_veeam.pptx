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sldIdLst>
    <p:sldId id="256" r:id="rId3"/>
    <p:sldId id="257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7" r:id="rId20"/>
    <p:sldId id="295" r:id="rId21"/>
    <p:sldId id="264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009698"/>
    <a:srgbClr val="00305D"/>
    <a:srgbClr val="C2FFFF"/>
    <a:srgbClr val="002060"/>
    <a:srgbClr val="66EEEE"/>
    <a:srgbClr val="A3F5F5"/>
    <a:srgbClr val="FCE19C"/>
    <a:srgbClr val="AC4020"/>
    <a:srgbClr val="E38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 autoAdjust="0"/>
  </p:normalViewPr>
  <p:slideViewPr>
    <p:cSldViewPr>
      <p:cViewPr varScale="1">
        <p:scale>
          <a:sx n="94" d="100"/>
          <a:sy n="94" d="100"/>
        </p:scale>
        <p:origin x="60" y="7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2A06B-2BCB-498A-9AFF-908CB895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5000"/>
            <a:ext cx="3429000" cy="1418919"/>
          </a:xfrm>
        </p:spPr>
        <p:txBody>
          <a:bodyPr anchor="b">
            <a:normAutofit/>
          </a:bodyPr>
          <a:lstStyle>
            <a:lvl1pPr>
              <a:defRPr sz="3200">
                <a:latin typeface="Montserrat Black" panose="00000A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DE6FAF22-3625-48AE-AEDE-78C286C4B5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53280" y="0"/>
            <a:ext cx="753872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Фото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FCE0C40-A42B-4C96-BD6D-60A3BDF31E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800" y="558800"/>
            <a:ext cx="1376680" cy="275336"/>
          </a:xfrm>
          <a:prstGeom prst="rect">
            <a:avLst/>
          </a:prstGeom>
        </p:spPr>
      </p:pic>
      <p:sp>
        <p:nvSpPr>
          <p:cNvPr id="13" name="Текст 12">
            <a:extLst>
              <a:ext uri="{FF2B5EF4-FFF2-40B4-BE49-F238E27FC236}">
                <a16:creationId xmlns:a16="http://schemas.microsoft.com/office/drawing/2014/main" id="{6713A3CB-B413-4F6C-A359-937D3388A8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005709"/>
            <a:ext cx="3429000" cy="14528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3E7D3394-47A6-4C84-8051-7BBD4A1400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38400" y="5405120"/>
            <a:ext cx="2214563" cy="14528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ru-RU" dirty="0"/>
              <a:t>пиктограмма</a:t>
            </a:r>
          </a:p>
        </p:txBody>
      </p:sp>
    </p:spTree>
    <p:extLst>
      <p:ext uri="{BB962C8B-B14F-4D97-AF65-F5344CB8AC3E}">
        <p14:creationId xmlns:p14="http://schemas.microsoft.com/office/powerpoint/2010/main" val="126659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2A06B-2BCB-498A-9AFF-908CB895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5000"/>
            <a:ext cx="6697800" cy="141891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  <a:latin typeface="Montserrat Black" panose="00000A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6713A3CB-B413-4F6C-A359-937D3388A8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005709"/>
            <a:ext cx="6697800" cy="145288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4D7135-F8AB-47CE-8397-65B8BB9FCB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549000"/>
            <a:ext cx="270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8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FBABC-40C0-4A40-94E6-22EFA9326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F7C2F9-3EB3-425A-98B4-72287BDEC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AAE639-B2DA-49C6-8BFF-6B995C897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498F9F-FF18-4485-9646-26F1C40DD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2B4846-23DA-4912-A32F-73C5FABFF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189EA58-9532-4654-88E5-9B476F4DA3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1122363"/>
            <a:ext cx="1145059" cy="108743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75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C7B71-C5C5-4873-B83D-8B9D866A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D02BEA-A0BF-4CDE-8FDC-519798170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AB4B92-9012-4449-9B53-20892E66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13D823-4793-4945-87FC-7774FF2B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D42C45-9B8D-4B9A-958B-8D802F77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550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8EE04-03F8-47FC-B0E1-603499AFA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A3FA93-1A79-4869-967F-0F717F48E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AC3CB6-8E17-4AE4-8CCB-4C603516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A03AC8-7C72-42B3-9618-58A5AEC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7AEBA6-87A1-4FD6-B787-3A107C02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013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AF1450-2BC5-4644-8F21-BA9066BF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9B4FD1-5969-446D-B6F4-1C9036E11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0C4C50-C13A-49CD-856F-7B8E60804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323D9F-ADDA-49E0-B158-D72B496A8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641A16-27F3-446D-A7C2-57AC09CBA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8AC39A-A080-4528-80F4-9AE19228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187C949-8FE5-468D-B49A-E709367D9B99}"/>
              </a:ext>
            </a:extLst>
          </p:cNvPr>
          <p:cNvSpPr/>
          <p:nvPr userDrawn="1"/>
        </p:nvSpPr>
        <p:spPr>
          <a:xfrm>
            <a:off x="838200" y="3213000"/>
            <a:ext cx="2953800" cy="2664000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ый треугольник 8">
            <a:extLst>
              <a:ext uri="{FF2B5EF4-FFF2-40B4-BE49-F238E27FC236}">
                <a16:creationId xmlns:a16="http://schemas.microsoft.com/office/drawing/2014/main" id="{51D26D85-38AD-4AB9-9FFF-0EF5BB2236A0}"/>
              </a:ext>
            </a:extLst>
          </p:cNvPr>
          <p:cNvSpPr/>
          <p:nvPr userDrawn="1"/>
        </p:nvSpPr>
        <p:spPr>
          <a:xfrm flipH="1" flipV="1">
            <a:off x="406200" y="5554137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AF1450-2BC5-4644-8F21-BA9066BF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9B4FD1-5969-446D-B6F4-1C9036E11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212999"/>
            <a:ext cx="2953800" cy="266400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323D9F-ADDA-49E0-B158-D72B496A8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641A16-27F3-446D-A7C2-57AC09CBA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8AC39A-A080-4528-80F4-9AE19228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ый треугольник 9">
            <a:extLst>
              <a:ext uri="{FF2B5EF4-FFF2-40B4-BE49-F238E27FC236}">
                <a16:creationId xmlns:a16="http://schemas.microsoft.com/office/drawing/2014/main" id="{A8AF2E33-F766-418E-94DB-16624332F27D}"/>
              </a:ext>
            </a:extLst>
          </p:cNvPr>
          <p:cNvSpPr/>
          <p:nvPr userDrawn="1"/>
        </p:nvSpPr>
        <p:spPr>
          <a:xfrm flipH="1" flipV="1">
            <a:off x="4187100" y="5554136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ый треугольник 12">
            <a:extLst>
              <a:ext uri="{FF2B5EF4-FFF2-40B4-BE49-F238E27FC236}">
                <a16:creationId xmlns:a16="http://schemas.microsoft.com/office/drawing/2014/main" id="{BFD525C3-74BC-4830-9A42-872523F30312}"/>
              </a:ext>
            </a:extLst>
          </p:cNvPr>
          <p:cNvSpPr/>
          <p:nvPr userDrawn="1"/>
        </p:nvSpPr>
        <p:spPr>
          <a:xfrm flipH="1" flipV="1">
            <a:off x="7968000" y="5554135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1BD36F3-AEBB-4D7D-AAC2-900F506C325F}"/>
              </a:ext>
            </a:extLst>
          </p:cNvPr>
          <p:cNvSpPr/>
          <p:nvPr userDrawn="1"/>
        </p:nvSpPr>
        <p:spPr>
          <a:xfrm>
            <a:off x="4619100" y="3213000"/>
            <a:ext cx="2953800" cy="2664000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984A412-CA5A-4142-8E0F-E3ADDD096ECB}"/>
              </a:ext>
            </a:extLst>
          </p:cNvPr>
          <p:cNvSpPr/>
          <p:nvPr userDrawn="1"/>
        </p:nvSpPr>
        <p:spPr>
          <a:xfrm>
            <a:off x="8400000" y="3212998"/>
            <a:ext cx="2953800" cy="2664000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99F13DE0-A103-4590-858C-F6E8E23E76A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31061" y="3212998"/>
            <a:ext cx="2953800" cy="266400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2EA752C6-E7A5-46A3-AE17-F504BEF6CAE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11961" y="3212996"/>
            <a:ext cx="2953800" cy="266400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DCB7F4DB-4A99-4AC3-A4AB-D76A2D136A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8200" y="1989138"/>
            <a:ext cx="2954338" cy="936625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Рисунок 20">
            <a:extLst>
              <a:ext uri="{FF2B5EF4-FFF2-40B4-BE49-F238E27FC236}">
                <a16:creationId xmlns:a16="http://schemas.microsoft.com/office/drawing/2014/main" id="{ABBC3994-1782-4CAD-B21A-4F84497F7AB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0523" y="1989138"/>
            <a:ext cx="2954338" cy="936625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Рисунок 20">
            <a:extLst>
              <a:ext uri="{FF2B5EF4-FFF2-40B4-BE49-F238E27FC236}">
                <a16:creationId xmlns:a16="http://schemas.microsoft.com/office/drawing/2014/main" id="{B1AB9833-63B6-4663-A1F2-D5CDD8B8637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11423" y="1989138"/>
            <a:ext cx="2954338" cy="93662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768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008A0-4BE7-4DAD-BE39-29BC51E31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14ED86-CB54-4FB7-86C9-40610ED12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3B8E85-9BCB-4E26-8BA7-EEAF6BAAE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8B66B4-26DA-4D64-AC15-0415F77B2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EDD394-2B22-439C-B7A6-EBFD075D7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0DF7D8-08BA-4C59-8723-1085E29B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BC6AD2-80FB-4C4C-A5FB-6726010A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4513830-436C-4C45-A329-CA8FD137F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48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21262-7599-4FCE-AEE8-C59FAFC50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BAAA25-0674-4971-9626-438803D8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8495558-35A1-4AFA-89E4-649D8DF7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E667D6-BFCE-4FCD-A51D-D146CA32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26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0206F48-DB0B-48AA-AAD7-BC56E1766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41AFB6-5CB0-48E2-8A5E-81F2F1CBA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2D8BB4-0F59-4EF6-9C34-B25600AE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96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DEB4A-5D83-40C1-AB8E-48C9BF29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570335-80D8-43AC-8509-0DA547E7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282737-FF37-4678-95FA-9150338B3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D9ECD9-E03E-434F-A9E6-FB62AE033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704C05-BB22-4CA6-8ADF-492A3E3E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11B5CD-EE1B-4ED9-ADAB-9B845544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148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41317F-422C-4EBD-8459-FB344D55C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ABEE99-C4F8-4937-9D53-093A3FFD3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106557-ADDF-43C0-AB33-99D9FE926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3E6816-CC9B-4BFB-A199-F0C5BAA1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06F483-AC54-425C-AE94-D78EFF48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6601CC-8765-46B1-90A3-A0ACD363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061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B04E7-F4F2-484F-9634-47EE87209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8BC92F-8BD1-4041-9CD7-76E2B5267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45AB43-3E4F-478A-9F91-729C8741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044002-A302-4898-916C-3763C8DAB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4575AD-3350-4C87-8051-DF9F5F46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309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4A6ADA7-2E19-4ACC-9B6F-AF96F97546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C8A4B9-EAB6-4CE2-B608-C4754F34D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BD425C-0605-43BE-A06E-A43F8CFD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6525-BA49-45CA-9F5F-CF650D20BC01}" type="datetimeFigureOut">
              <a:rPr lang="ru-RU" smtClean="0"/>
              <a:t>30.08.2022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8009C5-5114-4B06-B8A7-6782EADE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60058B-1275-4685-AFEB-739113FC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CCD-688A-4335-9B90-A8775F34B7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0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 l="26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A63C5F-BDAD-42FC-9360-0D4E7215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9040A6-CB3C-43B5-864B-D1F879280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84B670-F7FA-4772-A01F-E4F699B4E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fld id="{B335FF7E-6058-4748-8192-545B2B3FCFF0}" type="datetimeFigureOut">
              <a:rPr lang="ru-RU" smtClean="0"/>
              <a:pPr/>
              <a:t>30.08.2022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79EECB-5C31-4DB7-A030-BA566001B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9E2F26-D695-4529-8002-20F7FD3B8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fld id="{01142D09-3CE6-442C-BE7A-BB95BA97589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20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E5EB1-615D-48C2-8E97-65556668F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B6CD47-45A5-4331-A28D-2B7DD016D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8FD6E6-F957-4DAA-8AEE-428923682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fld id="{4E2C6525-BA49-45CA-9F5F-CF650D20BC01}" type="datetimeFigureOut">
              <a:rPr lang="ru-RU" smtClean="0"/>
              <a:pPr/>
              <a:t>30.08.2022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B66C17-109B-45E3-9343-72BA3AE17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AEB6BE-99C1-4166-8CE1-AFFF2BD61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fld id="{2E09ACCD-688A-4335-9B90-A8775F34B7C6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6B065F0-8F3D-4E67-8F46-1F10783485C1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53800" y="365047"/>
            <a:ext cx="180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8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75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ontserrat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7AB5020-81CD-4396-85B9-4A165BB3E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00" y="2349000"/>
            <a:ext cx="3528000" cy="1355481"/>
          </a:xfrm>
        </p:spPr>
        <p:txBody>
          <a:bodyPr>
            <a:noAutofit/>
          </a:bodyPr>
          <a:lstStyle/>
          <a:p>
            <a:r>
              <a:rPr lang="en-US" sz="5400" dirty="0"/>
              <a:t>Veeam</a:t>
            </a:r>
            <a:endParaRPr lang="ru-RU" sz="5400" dirty="0"/>
          </a:p>
        </p:txBody>
      </p:sp>
      <p:pic>
        <p:nvPicPr>
          <p:cNvPr id="9" name="Picture 2" descr="EU SST – EUROPEAN SPACE SURVEILLANCE AND TRACKI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52" b="6904"/>
          <a:stretch/>
        </p:blipFill>
        <p:spPr bwMode="auto">
          <a:xfrm>
            <a:off x="4647783" y="0"/>
            <a:ext cx="7543215" cy="686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EA06FC-8BDB-479B-82DF-65F28DE87D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008" y="5923339"/>
            <a:ext cx="1401992" cy="93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5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B518AD-E688-4D54-80A8-C16C83E8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13800" cy="975875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Варианты резервного копирования</a:t>
            </a:r>
            <a:r>
              <a:rPr lang="en-US" sz="3000" dirty="0">
                <a:ea typeface="MTS Sans" panose="02000000000000000000" pitchFamily="50" charset="0"/>
              </a:rPr>
              <a:t> </a:t>
            </a:r>
            <a:r>
              <a:rPr lang="ru-RU" sz="3000" dirty="0">
                <a:ea typeface="MTS Sans" panose="02000000000000000000" pitchFamily="50" charset="0"/>
              </a:rPr>
              <a:t>на базе </a:t>
            </a:r>
            <a:r>
              <a:rPr lang="en-US" sz="3000" dirty="0">
                <a:ea typeface="MTS Sans" panose="02000000000000000000" pitchFamily="50" charset="0"/>
              </a:rPr>
              <a:t>Veeam</a:t>
            </a:r>
            <a:endParaRPr lang="ru-RU" sz="3000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F7CCB7BA-7F48-4336-9462-07C969C8CE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0000" y="1701000"/>
            <a:ext cx="8784000" cy="4968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Clr>
                <a:srgbClr val="006699"/>
              </a:buClr>
              <a:buNone/>
            </a:pP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 Black" panose="02000000000000000000" pitchFamily="2" charset="0"/>
              </a:rPr>
              <a:t>РЕЗЕРНВОЕ КОПИРОВАНИЕ ВИРТУАЛЬНЫХ МАШИН </a:t>
            </a:r>
            <a:r>
              <a:rPr lang="en-US" sz="1000" dirty="0">
                <a:solidFill>
                  <a:srgbClr val="009698"/>
                </a:solidFill>
                <a:latin typeface="Montserrat Bold" pitchFamily="2" charset="-52"/>
                <a:ea typeface="MTS Sans Black" panose="02000000000000000000" pitchFamily="2" charset="0"/>
              </a:rPr>
              <a:t>ELASTIC CLOUD</a:t>
            </a:r>
            <a:r>
              <a:rPr lang="en-US" sz="1000" dirty="0">
                <a:solidFill>
                  <a:srgbClr val="009698"/>
                </a:solidFill>
                <a:latin typeface="Montserrat Bold" pitchFamily="2" charset="-52"/>
              </a:rPr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ea typeface="MTS Sans" panose="02000000000000000000" pitchFamily="50" charset="0"/>
              </a:rPr>
              <a:t>Если вам нужно получить резервное копирования </a:t>
            </a:r>
            <a:r>
              <a:rPr lang="en-US" sz="1000" dirty="0">
                <a:ea typeface="MTS Sans" panose="02000000000000000000" pitchFamily="50" charset="0"/>
              </a:rPr>
              <a:t>“</a:t>
            </a:r>
            <a:r>
              <a:rPr lang="ru-RU" sz="1000" dirty="0">
                <a:ea typeface="MTS Sans" panose="02000000000000000000" pitchFamily="50" charset="0"/>
              </a:rPr>
              <a:t>из коробки</a:t>
            </a:r>
            <a:r>
              <a:rPr lang="en-US" sz="1000" dirty="0">
                <a:ea typeface="MTS Sans" panose="02000000000000000000" pitchFamily="50" charset="0"/>
              </a:rPr>
              <a:t>”</a:t>
            </a:r>
            <a:r>
              <a:rPr lang="ru-RU" sz="1000" dirty="0">
                <a:ea typeface="MTS Sans" panose="02000000000000000000" pitchFamily="50" charset="0"/>
              </a:rPr>
              <a:t> для всех ваших виртуальных машины в облаке </a:t>
            </a:r>
            <a:r>
              <a:rPr lang="en-US" sz="1000" dirty="0">
                <a:ea typeface="MTS Sans" panose="02000000000000000000" pitchFamily="50" charset="0"/>
              </a:rPr>
              <a:t>DataFort</a:t>
            </a:r>
            <a:r>
              <a:rPr lang="ru-RU" sz="1000" dirty="0">
                <a:ea typeface="MTS Sans" panose="02000000000000000000" pitchFamily="50" charset="0"/>
              </a:rPr>
              <a:t>, не тратя на настройку сервиса время ИТ-специалистов и быть уверенным, что ваши данные надежно защищены</a:t>
            </a:r>
            <a:endParaRPr lang="ru-RU" sz="1000" dirty="0"/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000" dirty="0"/>
              <a:t> </a:t>
            </a:r>
            <a:r>
              <a:rPr lang="ru-RU" sz="1000" dirty="0">
                <a:ea typeface="MTS Sans" panose="02000000000000000000" pitchFamily="50" charset="0"/>
              </a:rPr>
              <a:t>Если вам нужно самостоятельно осуществлять настройку политик резервного копирования и в случае необходимости самостоятельно восстанавливать данные из резервных копий</a:t>
            </a:r>
            <a:endParaRPr lang="en-US" sz="1000" dirty="0">
              <a:ea typeface="MTS Sans" panose="02000000000000000000" pitchFamily="50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000" dirty="0"/>
          </a:p>
          <a:p>
            <a:pPr marL="0" indent="0">
              <a:lnSpc>
                <a:spcPct val="150000"/>
              </a:lnSpc>
              <a:spcBef>
                <a:spcPts val="1200"/>
              </a:spcBef>
              <a:buClr>
                <a:srgbClr val="006699"/>
              </a:buClr>
              <a:buNone/>
            </a:pP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 Black" panose="02000000000000000000" pitchFamily="2" charset="0"/>
              </a:rPr>
              <a:t>РЕЗЕРНВОЕ КОПИРОВАНИЕ В СЕГМЕНТЕ 152-ФЗ</a:t>
            </a:r>
            <a:endParaRPr lang="ru-RU" sz="1000" dirty="0">
              <a:solidFill>
                <a:srgbClr val="009698"/>
              </a:solidFill>
              <a:latin typeface="Montserrat Bold" pitchFamily="2" charset="-52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000" dirty="0"/>
              <a:t> 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Если вам нужно делать резервные копии данных, содержащих персональную информацию</a:t>
            </a:r>
            <a:endParaRPr lang="ru-RU" sz="1000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000" dirty="0">
                <a:latin typeface="+mn-lt"/>
              </a:rPr>
              <a:t> 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Данные, содержащие персональную информацию могут находится, как в защищенном сегменте облака </a:t>
            </a:r>
            <a:r>
              <a:rPr lang="en-US" sz="1000" dirty="0">
                <a:latin typeface="+mn-lt"/>
                <a:ea typeface="MTS Sans" panose="02000000000000000000" pitchFamily="50" charset="0"/>
              </a:rPr>
              <a:t>DataFort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, так и в рамках вашей инфраструктуры, сертифицированной для работы по 152-ФЗ</a:t>
            </a:r>
            <a:endParaRPr lang="en-US" sz="1000" dirty="0">
              <a:latin typeface="+mn-lt"/>
              <a:ea typeface="MTS Sans" panose="02000000000000000000" pitchFamily="50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000" dirty="0">
              <a:latin typeface="+mn-lt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9698"/>
                </a:solidFill>
              </a:rPr>
              <a:t> </a:t>
            </a: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 Black" panose="02000000000000000000" pitchFamily="2" charset="0"/>
              </a:rPr>
              <a:t>РЕЗЕРНВОЕ КОПИРОВАНИЕ С ВАШЕЙ ПЛОЩАДКИ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у вас есть сервер </a:t>
            </a:r>
            <a:r>
              <a:rPr lang="en-US" sz="1000" dirty="0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Veeam Cloud </a:t>
            </a:r>
            <a:r>
              <a:rPr lang="en-US" sz="1000" dirty="0" err="1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Backup&amp;Replication</a:t>
            </a:r>
            <a:endParaRPr lang="en-US" sz="1000" dirty="0">
              <a:solidFill>
                <a:srgbClr val="009698"/>
              </a:solidFill>
              <a:latin typeface="Montserrat Bold" pitchFamily="2" charset="-52"/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latin typeface="+mn-lt"/>
                <a:ea typeface="MTS Sans" panose="02000000000000000000" pitchFamily="50" charset="0"/>
              </a:rPr>
              <a:t>Если вам нужно временно или на постоянной основе расширить свое локальное пространство для хранения резервных копий дополнительно используя облачный </a:t>
            </a:r>
            <a:r>
              <a:rPr lang="ru-RU" sz="1000" dirty="0" err="1">
                <a:latin typeface="+mn-lt"/>
                <a:ea typeface="MTS Sans" panose="02000000000000000000" pitchFamily="50" charset="0"/>
              </a:rPr>
              <a:t>репозиторий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 </a:t>
            </a:r>
            <a:r>
              <a:rPr lang="en-US" sz="1000" dirty="0">
                <a:latin typeface="+mn-lt"/>
                <a:ea typeface="MTS Sans" panose="02000000000000000000" pitchFamily="50" charset="0"/>
              </a:rPr>
              <a:t>DataFort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000" dirty="0">
                <a:latin typeface="+mn-lt"/>
              </a:rPr>
              <a:t> 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Если вы не хотите нести капитальные затраты на приобретение оборудования под хранение резервных копий, а платить только за фактический объем </a:t>
            </a:r>
            <a:r>
              <a:rPr lang="ru-RU" sz="1000" dirty="0" err="1">
                <a:latin typeface="+mn-lt"/>
                <a:ea typeface="MTS Sans" panose="02000000000000000000" pitchFamily="50" charset="0"/>
              </a:rPr>
              <a:t>бэкапа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, хранящегося в облачном </a:t>
            </a:r>
            <a:r>
              <a:rPr lang="ru-RU" sz="1000" dirty="0" err="1">
                <a:latin typeface="+mn-lt"/>
                <a:ea typeface="MTS Sans" panose="02000000000000000000" pitchFamily="50" charset="0"/>
              </a:rPr>
              <a:t>репозитории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 </a:t>
            </a:r>
            <a:r>
              <a:rPr lang="en-US" sz="1000" dirty="0">
                <a:latin typeface="+mn-lt"/>
                <a:ea typeface="MTS Sans" panose="02000000000000000000" pitchFamily="50" charset="0"/>
              </a:rPr>
              <a:t>DataFort</a:t>
            </a:r>
            <a:endParaRPr lang="ru-RU" sz="1000" dirty="0">
              <a:latin typeface="+mn-lt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35E12260-8A78-D140-B9D8-A8874CC589DD}"/>
              </a:ext>
            </a:extLst>
          </p:cNvPr>
          <p:cNvSpPr/>
          <p:nvPr/>
        </p:nvSpPr>
        <p:spPr>
          <a:xfrm>
            <a:off x="1239918" y="1813416"/>
            <a:ext cx="964575" cy="964575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DFCB178-C193-6146-9D91-7F676D291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8000" y="2061000"/>
            <a:ext cx="468411" cy="46841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B852B73-12F8-2145-A03C-53AD7F3B0E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8000" y="3645000"/>
            <a:ext cx="483325" cy="483325"/>
          </a:xfrm>
          <a:prstGeom prst="rect">
            <a:avLst/>
          </a:prstGeom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FC0CD517-4D9B-674F-B0BC-015511F3E0AD}"/>
              </a:ext>
            </a:extLst>
          </p:cNvPr>
          <p:cNvSpPr/>
          <p:nvPr/>
        </p:nvSpPr>
        <p:spPr>
          <a:xfrm>
            <a:off x="1247375" y="3380369"/>
            <a:ext cx="964575" cy="964575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C2B9418F-F47E-D14D-B58E-D62C36F23A40}"/>
              </a:ext>
            </a:extLst>
          </p:cNvPr>
          <p:cNvSpPr/>
          <p:nvPr/>
        </p:nvSpPr>
        <p:spPr>
          <a:xfrm>
            <a:off x="1274846" y="4799657"/>
            <a:ext cx="964575" cy="964575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9DEE4EF-0F97-4D4C-8D8A-68BCBEEAE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971" y="5204615"/>
            <a:ext cx="708324" cy="1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00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B518AD-E688-4D54-80A8-C16C83E8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13800" cy="975875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Варианты резервного копирования</a:t>
            </a:r>
            <a:r>
              <a:rPr lang="en-US" sz="3000" dirty="0">
                <a:ea typeface="MTS Sans" panose="02000000000000000000" pitchFamily="50" charset="0"/>
              </a:rPr>
              <a:t> </a:t>
            </a:r>
            <a:r>
              <a:rPr lang="ru-RU" sz="3000" dirty="0">
                <a:ea typeface="MTS Sans" panose="02000000000000000000" pitchFamily="50" charset="0"/>
              </a:rPr>
              <a:t>на базе </a:t>
            </a:r>
            <a:r>
              <a:rPr lang="en-US" sz="3000" dirty="0">
                <a:ea typeface="MTS Sans" panose="02000000000000000000" pitchFamily="50" charset="0"/>
              </a:rPr>
              <a:t>Veeam</a:t>
            </a:r>
            <a:endParaRPr lang="ru-RU" sz="3000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F7CCB7BA-7F48-4336-9462-07C969C8CE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0000" y="1701000"/>
            <a:ext cx="8424000" cy="4752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 Black" panose="02000000000000000000" pitchFamily="2" charset="0"/>
              </a:rPr>
              <a:t>РЕЗЕРНВОЕ КОПИРОВАНИЕ С ВАШЕЙ ПЛОЩАДКИ</a:t>
            </a:r>
          </a:p>
          <a:p>
            <a:pPr marL="0" indent="0">
              <a:buNone/>
            </a:pPr>
            <a:r>
              <a:rPr lang="ru-RU" sz="1000" dirty="0">
                <a:latin typeface="+mn-lt"/>
                <a:ea typeface="MTS Sans" panose="02000000000000000000" pitchFamily="50" charset="0"/>
              </a:rPr>
              <a:t>у вас есть сервер </a:t>
            </a:r>
            <a:r>
              <a:rPr lang="en-US" sz="1000" dirty="0">
                <a:latin typeface="+mn-lt"/>
                <a:ea typeface="MTS Sans" panose="02000000000000000000" pitchFamily="50" charset="0"/>
              </a:rPr>
              <a:t>Veeam Cloud </a:t>
            </a:r>
            <a:r>
              <a:rPr lang="en-US" sz="1000" dirty="0" err="1">
                <a:latin typeface="+mn-lt"/>
                <a:ea typeface="MTS Sans" panose="02000000000000000000" pitchFamily="50" charset="0"/>
              </a:rPr>
              <a:t>Backup&amp;Replication</a:t>
            </a:r>
            <a:endParaRPr lang="ru-RU" sz="1000" dirty="0">
              <a:latin typeface="+mn-lt"/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latin typeface="+mn-lt"/>
                <a:ea typeface="MTS Sans" panose="02000000000000000000" pitchFamily="50" charset="0"/>
              </a:rPr>
              <a:t>Если вам нужно увеличить надежность своих данных используя правило 3 – 2 – 1</a:t>
            </a:r>
            <a:endParaRPr lang="en-US" sz="1000" dirty="0">
              <a:latin typeface="+mn-lt"/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</a:pPr>
            <a:r>
              <a:rPr lang="ru-RU" sz="1000" dirty="0">
                <a:latin typeface="+mn-lt"/>
                <a:ea typeface="MTS Sans" panose="02000000000000000000" pitchFamily="50" charset="0"/>
              </a:rPr>
              <a:t>3 копии данных должно быть предусмотрено</a:t>
            </a:r>
            <a:endParaRPr lang="en-US" sz="1000" dirty="0">
              <a:latin typeface="+mn-lt"/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</a:pPr>
            <a:r>
              <a:rPr lang="en-US" sz="1000" dirty="0">
                <a:latin typeface="+mn-lt"/>
                <a:ea typeface="MTS Sans" panose="02000000000000000000" pitchFamily="50" charset="0"/>
              </a:rPr>
              <a:t>2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 копии находятся в разнесенных хранилищах в пределах организации</a:t>
            </a:r>
            <a:endParaRPr lang="en-US" sz="1000" dirty="0">
              <a:latin typeface="+mn-lt"/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</a:pPr>
            <a:r>
              <a:rPr lang="ru-RU" sz="1000" dirty="0">
                <a:latin typeface="+mn-lt"/>
                <a:ea typeface="MTS Sans" panose="02000000000000000000" pitchFamily="50" charset="0"/>
              </a:rPr>
              <a:t>1 копия</a:t>
            </a:r>
            <a:r>
              <a:rPr lang="en-US" sz="1000" dirty="0">
                <a:latin typeface="+mn-lt"/>
                <a:ea typeface="MTS Sans" panose="02000000000000000000" pitchFamily="50" charset="0"/>
              </a:rPr>
              <a:t> 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находится за пределами организации</a:t>
            </a:r>
            <a:endParaRPr lang="en-US" sz="1000" dirty="0">
              <a:latin typeface="+mn-lt"/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000" dirty="0">
                <a:latin typeface="+mn-lt"/>
              </a:rPr>
              <a:t> 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Если вам нужно осуществлять резервное копирование </a:t>
            </a:r>
            <a:r>
              <a:rPr lang="en-US" sz="1000" dirty="0">
                <a:latin typeface="+mn-lt"/>
                <a:ea typeface="MTS Sans" panose="02000000000000000000" pitchFamily="50" charset="0"/>
              </a:rPr>
              <a:t>Office 365</a:t>
            </a:r>
            <a:endParaRPr lang="ru-RU" sz="1000" dirty="0">
              <a:latin typeface="+mn-lt"/>
              <a:ea typeface="MTS Sans" panose="02000000000000000000" pitchFamily="50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000" dirty="0">
              <a:latin typeface="+mn-lt"/>
            </a:endParaRPr>
          </a:p>
          <a:p>
            <a:pPr marL="0" indent="0">
              <a:buNone/>
            </a:pP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 Black" panose="02000000000000000000" pitchFamily="2" charset="0"/>
              </a:rPr>
              <a:t>РЕЗЕРНВОЕ КОПИРОВАНИЕ С ВАШЕЙ ПЛОЩАДКИ</a:t>
            </a:r>
            <a:endParaRPr lang="ru-RU" sz="1000" dirty="0">
              <a:solidFill>
                <a:srgbClr val="009698"/>
              </a:solidFill>
              <a:latin typeface="Montserrat Bold" pitchFamily="2" charset="-52"/>
              <a:ea typeface="MTS Sans" panose="02000000000000000000" pitchFamily="50" charset="0"/>
            </a:endParaRPr>
          </a:p>
          <a:p>
            <a:pPr marL="0" indent="0">
              <a:buNone/>
            </a:pP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у вас нет сервера </a:t>
            </a:r>
            <a:r>
              <a:rPr lang="en-US" sz="1000" dirty="0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Veeam Cloud </a:t>
            </a:r>
            <a:r>
              <a:rPr lang="en-US" sz="1000" dirty="0" err="1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Backup&amp;Replication</a:t>
            </a:r>
            <a:endParaRPr lang="en-US" sz="1000" dirty="0">
              <a:solidFill>
                <a:srgbClr val="009698"/>
              </a:solidFill>
              <a:latin typeface="Montserrat Bold" pitchFamily="2" charset="-52"/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latin typeface="+mn-lt"/>
                <a:ea typeface="MTS Sans" panose="02000000000000000000" pitchFamily="50" charset="0"/>
              </a:rPr>
              <a:t>Если вы хотите использовать услугу от </a:t>
            </a:r>
            <a:r>
              <a:rPr lang="en-US" sz="1000" dirty="0">
                <a:latin typeface="+mn-lt"/>
                <a:ea typeface="MTS Sans" panose="02000000000000000000" pitchFamily="50" charset="0"/>
              </a:rPr>
              <a:t>DataFort 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в качестве основной системы резервного копирования для вашей организации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000" dirty="0">
              <a:latin typeface="+mn-lt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9698"/>
                </a:solidFill>
                <a:latin typeface="Montserrat Bold" pitchFamily="2" charset="-52"/>
              </a:rPr>
              <a:t> </a:t>
            </a: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 Black" panose="02000000000000000000" pitchFamily="2" charset="0"/>
              </a:rPr>
              <a:t>АВАРИЙНОЕ ВОССТАНОВЛЕНИЕ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у вас есть сервер </a:t>
            </a:r>
            <a:r>
              <a:rPr lang="en-US" sz="1000" dirty="0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Veeam Cloud </a:t>
            </a:r>
            <a:r>
              <a:rPr lang="en-US" sz="1000" dirty="0" err="1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Backup&amp;Replication</a:t>
            </a: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 Black" panose="02000000000000000000" pitchFamily="2" charset="0"/>
              </a:rPr>
              <a:t> </a:t>
            </a:r>
            <a:endParaRPr lang="en-US" sz="1000" dirty="0">
              <a:solidFill>
                <a:srgbClr val="009698"/>
              </a:solidFill>
              <a:latin typeface="Montserrat Bold" pitchFamily="2" charset="-52"/>
              <a:ea typeface="MTS Sans Black" panose="02000000000000000000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ea typeface="MTS Sans" panose="02000000000000000000" pitchFamily="50" charset="0"/>
              </a:rPr>
              <a:t>Если вам нужно обеспечить максимальную отказоустойчивость вашей инфраструктуры и возможность быстрого запуска в облаке </a:t>
            </a:r>
            <a:r>
              <a:rPr lang="en-US" sz="1000" dirty="0">
                <a:ea typeface="MTS Sans" panose="02000000000000000000" pitchFamily="50" charset="0"/>
              </a:rPr>
              <a:t>DataFort</a:t>
            </a:r>
            <a:endParaRPr lang="ru-RU" sz="1000" dirty="0">
              <a:ea typeface="MTS Sans" panose="02000000000000000000" pitchFamily="50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35E12260-8A78-D140-B9D8-A8874CC589DD}"/>
              </a:ext>
            </a:extLst>
          </p:cNvPr>
          <p:cNvSpPr/>
          <p:nvPr/>
        </p:nvSpPr>
        <p:spPr>
          <a:xfrm>
            <a:off x="1239918" y="1744425"/>
            <a:ext cx="964575" cy="964575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FC0CD517-4D9B-674F-B0BC-015511F3E0AD}"/>
              </a:ext>
            </a:extLst>
          </p:cNvPr>
          <p:cNvSpPr/>
          <p:nvPr/>
        </p:nvSpPr>
        <p:spPr>
          <a:xfrm>
            <a:off x="1247375" y="4005000"/>
            <a:ext cx="964575" cy="964575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C2B9418F-F47E-D14D-B58E-D62C36F23A40}"/>
              </a:ext>
            </a:extLst>
          </p:cNvPr>
          <p:cNvSpPr/>
          <p:nvPr/>
        </p:nvSpPr>
        <p:spPr>
          <a:xfrm>
            <a:off x="1274846" y="5344425"/>
            <a:ext cx="964575" cy="964575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9DEE4EF-0F97-4D4C-8D8A-68BCBEEA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971" y="5749383"/>
            <a:ext cx="708324" cy="1851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63FA1F9-A60F-4016-99E7-84E4513FF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0686" y="2009706"/>
            <a:ext cx="468411" cy="46841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E76ED72-01EE-4FBF-BC8C-ACF9461CAE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5456" y="4221000"/>
            <a:ext cx="468411" cy="46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5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B518AD-E688-4D54-80A8-C16C83E8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13800" cy="975875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Особенности резервного копирования</a:t>
            </a:r>
            <a:r>
              <a:rPr lang="en-US" sz="3000" dirty="0">
                <a:ea typeface="MTS Sans" panose="02000000000000000000" pitchFamily="50" charset="0"/>
              </a:rPr>
              <a:t> </a:t>
            </a:r>
            <a:r>
              <a:rPr lang="ru-RU" sz="3000" dirty="0">
                <a:ea typeface="MTS Sans" panose="02000000000000000000" pitchFamily="50" charset="0"/>
              </a:rPr>
              <a:t>на базе </a:t>
            </a:r>
            <a:r>
              <a:rPr lang="en-US" sz="3000" dirty="0">
                <a:ea typeface="MTS Sans" panose="02000000000000000000" pitchFamily="50" charset="0"/>
              </a:rPr>
              <a:t>Veeam</a:t>
            </a:r>
            <a:endParaRPr lang="ru-RU" sz="3000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F7CCB7BA-7F48-4336-9462-07C969C8CE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0000" y="1701000"/>
            <a:ext cx="8424000" cy="4752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 Black" panose="02000000000000000000" pitchFamily="2" charset="0"/>
              </a:rPr>
              <a:t>РЕЗЕРВНОЕ КОПИРОВАНИЕ С ВАШЕЙ ПЛОЩАДКИ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ea typeface="MTS Sans" panose="02000000000000000000" pitchFamily="50" charset="0"/>
              </a:rPr>
              <a:t>Транзакционно консистентный </a:t>
            </a:r>
            <a:r>
              <a:rPr lang="ru-RU" sz="1000" dirty="0" err="1">
                <a:ea typeface="MTS Sans" panose="02000000000000000000" pitchFamily="50" charset="0"/>
              </a:rPr>
              <a:t>бекап</a:t>
            </a:r>
            <a:r>
              <a:rPr lang="ru-RU" sz="1000" dirty="0">
                <a:ea typeface="MTS Sans" panose="02000000000000000000" pitchFamily="50" charset="0"/>
              </a:rPr>
              <a:t> </a:t>
            </a:r>
            <a:r>
              <a:rPr lang="en-US" sz="1000" dirty="0">
                <a:ea typeface="MTS Sans" panose="02000000000000000000" pitchFamily="50" charset="0"/>
              </a:rPr>
              <a:t>Microsoft SQL Server, Microsoft SharePoint, Microsoft Exchange, Oracle</a:t>
            </a:r>
            <a:r>
              <a:rPr lang="ru-RU" sz="1000" dirty="0">
                <a:ea typeface="MTS Sans" panose="02000000000000000000" pitchFamily="50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ea typeface="MTS Sans" panose="02000000000000000000" pitchFamily="50" charset="0"/>
              </a:rPr>
              <a:t> Гранулярное восстановление на серверы или загрузка из </a:t>
            </a:r>
            <a:r>
              <a:rPr lang="ru-RU" sz="1000" dirty="0" err="1">
                <a:ea typeface="MTS Sans" panose="02000000000000000000" pitchFamily="50" charset="0"/>
              </a:rPr>
              <a:t>бекапов</a:t>
            </a:r>
            <a:r>
              <a:rPr lang="ru-RU" sz="1000" dirty="0">
                <a:ea typeface="MTS Sans" panose="02000000000000000000" pitchFamily="50" charset="0"/>
              </a:rPr>
              <a:t> файлов</a:t>
            </a:r>
            <a:r>
              <a:rPr lang="en-US" sz="1000" dirty="0">
                <a:ea typeface="MTS Sans" panose="02000000000000000000" pitchFamily="50" charset="0"/>
              </a:rPr>
              <a:t>/</a:t>
            </a:r>
            <a:r>
              <a:rPr lang="ru-RU" sz="1000" dirty="0">
                <a:ea typeface="MTS Sans" panose="02000000000000000000" pitchFamily="50" charset="0"/>
              </a:rPr>
              <a:t>папок серверов на базе ОС </a:t>
            </a:r>
            <a:r>
              <a:rPr lang="en-US" sz="1000" dirty="0">
                <a:ea typeface="MTS Sans" panose="02000000000000000000" pitchFamily="50" charset="0"/>
              </a:rPr>
              <a:t>Microsoft Windows;</a:t>
            </a:r>
            <a:endParaRPr lang="ru-RU" sz="1000" dirty="0"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ea typeface="MTS Sans" panose="02000000000000000000" pitchFamily="50" charset="0"/>
              </a:rPr>
              <a:t> Резервное копирование приложений </a:t>
            </a:r>
            <a:r>
              <a:rPr lang="en-US" sz="1000" dirty="0">
                <a:ea typeface="MTS Sans" panose="02000000000000000000" pitchFamily="50" charset="0"/>
              </a:rPr>
              <a:t>Office 365 : Exchange Online, SharePoint Online, OneDrive for Business;</a:t>
            </a:r>
            <a:endParaRPr lang="ru-RU" sz="1000" dirty="0"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ea typeface="MTS Sans" panose="02000000000000000000" pitchFamily="50" charset="0"/>
              </a:rPr>
              <a:t> Резервное копирование серверов </a:t>
            </a:r>
            <a:r>
              <a:rPr lang="en-US" sz="1000" dirty="0">
                <a:ea typeface="MTS Sans" panose="02000000000000000000" pitchFamily="50" charset="0"/>
              </a:rPr>
              <a:t>Exchange </a:t>
            </a:r>
            <a:r>
              <a:rPr lang="ru-RU" sz="1000" dirty="0">
                <a:ea typeface="MTS Sans" panose="02000000000000000000" pitchFamily="50" charset="0"/>
              </a:rPr>
              <a:t>и </a:t>
            </a:r>
            <a:r>
              <a:rPr lang="en-US" sz="1000" dirty="0">
                <a:ea typeface="MTS Sans" panose="02000000000000000000" pitchFamily="50" charset="0"/>
              </a:rPr>
              <a:t>SharePoint, </a:t>
            </a:r>
            <a:r>
              <a:rPr lang="ru-RU" sz="1000" dirty="0">
                <a:ea typeface="MTS Sans" panose="02000000000000000000" pitchFamily="50" charset="0"/>
              </a:rPr>
              <a:t>находящихся на вашей площадке</a:t>
            </a:r>
            <a:r>
              <a:rPr lang="en-US" sz="1000" dirty="0">
                <a:ea typeface="MTS Sans" panose="02000000000000000000" pitchFamily="50" charset="0"/>
              </a:rPr>
              <a:t>.</a:t>
            </a:r>
            <a:endParaRPr lang="ru-RU" sz="1000" dirty="0">
              <a:ea typeface="MTS Sans" panose="02000000000000000000" pitchFamily="50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000" dirty="0">
              <a:latin typeface="+mn-lt"/>
            </a:endParaRPr>
          </a:p>
          <a:p>
            <a:pPr marL="0" indent="0">
              <a:buNone/>
            </a:pP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 Black" panose="02000000000000000000" pitchFamily="2" charset="0"/>
              </a:rPr>
              <a:t>РЕЗЕРНВОЕ КОПИРОВАНИЕ ВИРТУАЛЬНЫХ МАШИН </a:t>
            </a:r>
            <a:r>
              <a:rPr lang="en-US" sz="1000" dirty="0">
                <a:solidFill>
                  <a:srgbClr val="009698"/>
                </a:solidFill>
                <a:latin typeface="Montserrat Bold" pitchFamily="2" charset="-52"/>
                <a:ea typeface="MTS Sans Black" panose="02000000000000000000" pitchFamily="2" charset="0"/>
              </a:rPr>
              <a:t>ELASTIC CLOUD</a:t>
            </a:r>
            <a:endParaRPr lang="ru-RU" sz="1000" dirty="0">
              <a:solidFill>
                <a:srgbClr val="009698"/>
              </a:solidFill>
              <a:latin typeface="Montserrat Bold" pitchFamily="2" charset="-52"/>
              <a:ea typeface="MTS Sans Black" panose="02000000000000000000" pitchFamily="2" charset="0"/>
            </a:endParaRPr>
          </a:p>
          <a:p>
            <a:pPr marL="0" indent="0">
              <a:buNone/>
            </a:pP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При использовании опции с самостоятельным управлением через веб-портал (</a:t>
            </a:r>
            <a:r>
              <a:rPr lang="en-US" sz="1000" dirty="0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Veeam Self Service):</a:t>
            </a:r>
            <a:r>
              <a:rPr lang="ru-RU" sz="1000" dirty="0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ea typeface="MTS Sans" panose="02000000000000000000" pitchFamily="50" charset="0"/>
              </a:rPr>
              <a:t>Транзакционно консистентный </a:t>
            </a:r>
            <a:r>
              <a:rPr lang="ru-RU" sz="1000" dirty="0" err="1">
                <a:ea typeface="MTS Sans" panose="02000000000000000000" pitchFamily="50" charset="0"/>
              </a:rPr>
              <a:t>бекап</a:t>
            </a:r>
            <a:r>
              <a:rPr lang="ru-RU" sz="1000" dirty="0">
                <a:ea typeface="MTS Sans" panose="02000000000000000000" pitchFamily="50" charset="0"/>
              </a:rPr>
              <a:t> </a:t>
            </a:r>
            <a:r>
              <a:rPr lang="en-US" sz="1000" dirty="0">
                <a:ea typeface="MTS Sans" panose="02000000000000000000" pitchFamily="50" charset="0"/>
              </a:rPr>
              <a:t>Microsoft Active Directory, Microsoft SQL Server, Microsoft SharePoint, Microsoft Exchange, Oracle. </a:t>
            </a:r>
            <a:r>
              <a:rPr lang="ru-RU" sz="1000" dirty="0">
                <a:ea typeface="MTS Sans" panose="02000000000000000000" pitchFamily="50" charset="0"/>
              </a:rPr>
              <a:t>При этом для восстановления БД необходимо восстановить всю ВМ целиком</a:t>
            </a:r>
            <a:r>
              <a:rPr lang="en-US" sz="1000" dirty="0">
                <a:ea typeface="MTS Sans" panose="02000000000000000000" pitchFamily="50" charset="0"/>
              </a:rPr>
              <a:t>;</a:t>
            </a:r>
            <a:r>
              <a:rPr lang="ru-RU" sz="1000" dirty="0">
                <a:ea typeface="MTS Sans" panose="02000000000000000000" pitchFamily="50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ea typeface="MTS Sans" panose="02000000000000000000" pitchFamily="50" charset="0"/>
              </a:rPr>
              <a:t> Гранулярное восстановление на серверы или загрузка из </a:t>
            </a:r>
            <a:r>
              <a:rPr lang="ru-RU" sz="1000" dirty="0" err="1">
                <a:ea typeface="MTS Sans" panose="02000000000000000000" pitchFamily="50" charset="0"/>
              </a:rPr>
              <a:t>бекапов</a:t>
            </a:r>
            <a:r>
              <a:rPr lang="ru-RU" sz="1000" dirty="0">
                <a:ea typeface="MTS Sans" panose="02000000000000000000" pitchFamily="50" charset="0"/>
              </a:rPr>
              <a:t> файлов</a:t>
            </a:r>
            <a:r>
              <a:rPr lang="en-US" sz="1000" dirty="0">
                <a:ea typeface="MTS Sans" panose="02000000000000000000" pitchFamily="50" charset="0"/>
              </a:rPr>
              <a:t>/</a:t>
            </a:r>
            <a:r>
              <a:rPr lang="ru-RU" sz="1000" dirty="0">
                <a:ea typeface="MTS Sans" panose="02000000000000000000" pitchFamily="50" charset="0"/>
              </a:rPr>
              <a:t>папок серверов на базе ОС </a:t>
            </a:r>
            <a:r>
              <a:rPr lang="en-US" sz="1000" dirty="0">
                <a:ea typeface="MTS Sans" panose="02000000000000000000" pitchFamily="50" charset="0"/>
              </a:rPr>
              <a:t>Microsoft Windows;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000" dirty="0">
                <a:ea typeface="MTS Sans" panose="02000000000000000000" pitchFamily="50" charset="0"/>
              </a:rPr>
              <a:t> Загрузка из </a:t>
            </a:r>
            <a:r>
              <a:rPr lang="ru-RU" sz="1000" dirty="0" err="1">
                <a:ea typeface="MTS Sans" panose="02000000000000000000" pitchFamily="50" charset="0"/>
              </a:rPr>
              <a:t>бекапов</a:t>
            </a:r>
            <a:r>
              <a:rPr lang="ru-RU" sz="1000" dirty="0">
                <a:ea typeface="MTS Sans" panose="02000000000000000000" pitchFamily="50" charset="0"/>
              </a:rPr>
              <a:t> файлов</a:t>
            </a:r>
            <a:r>
              <a:rPr lang="en-US" sz="1000" dirty="0">
                <a:ea typeface="MTS Sans" panose="02000000000000000000" pitchFamily="50" charset="0"/>
              </a:rPr>
              <a:t>/</a:t>
            </a:r>
            <a:r>
              <a:rPr lang="ru-RU" sz="1000" dirty="0">
                <a:ea typeface="MTS Sans" panose="02000000000000000000" pitchFamily="50" charset="0"/>
              </a:rPr>
              <a:t>папок серверов на базе ОС </a:t>
            </a:r>
            <a:r>
              <a:rPr lang="en-US" sz="1000" dirty="0">
                <a:ea typeface="MTS Sans" panose="02000000000000000000" pitchFamily="50" charset="0"/>
              </a:rPr>
              <a:t>Linux.</a:t>
            </a:r>
            <a:endParaRPr lang="ru-RU" sz="1000" dirty="0"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endParaRPr lang="en-US" sz="1000" dirty="0">
              <a:latin typeface="MTS Sans" panose="02000000000000000000" pitchFamily="50" charset="0"/>
              <a:ea typeface="MTS Sans" panose="02000000000000000000" pitchFamily="50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000" dirty="0">
              <a:latin typeface="+mn-lt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35E12260-8A78-D140-B9D8-A8874CC589DD}"/>
              </a:ext>
            </a:extLst>
          </p:cNvPr>
          <p:cNvSpPr/>
          <p:nvPr/>
        </p:nvSpPr>
        <p:spPr>
          <a:xfrm>
            <a:off x="1239918" y="1744425"/>
            <a:ext cx="964575" cy="964575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FC0CD517-4D9B-674F-B0BC-015511F3E0AD}"/>
              </a:ext>
            </a:extLst>
          </p:cNvPr>
          <p:cNvSpPr/>
          <p:nvPr/>
        </p:nvSpPr>
        <p:spPr>
          <a:xfrm>
            <a:off x="1247375" y="3357000"/>
            <a:ext cx="964575" cy="964575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C2B9418F-F47E-D14D-B58E-D62C36F23A40}"/>
              </a:ext>
            </a:extLst>
          </p:cNvPr>
          <p:cNvSpPr/>
          <p:nvPr/>
        </p:nvSpPr>
        <p:spPr>
          <a:xfrm>
            <a:off x="1274846" y="5013000"/>
            <a:ext cx="964575" cy="964575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9DEE4EF-0F97-4D4C-8D8A-68BCBEEA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971" y="5417958"/>
            <a:ext cx="708324" cy="1851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7F2F9E4-11BD-4604-8084-A67C57B4C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0686" y="2009706"/>
            <a:ext cx="468411" cy="46841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AC3E036-495B-4D10-943F-B2BCD64804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5456" y="3605081"/>
            <a:ext cx="468411" cy="46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41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7B518AD-E688-4D54-80A8-C16C83E8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13800" cy="615875"/>
          </a:xfrm>
        </p:spPr>
        <p:txBody>
          <a:bodyPr>
            <a:normAutofit/>
          </a:bodyPr>
          <a:lstStyle/>
          <a:p>
            <a:r>
              <a:rPr lang="en-US" sz="3000" dirty="0">
                <a:ea typeface="MTS Sans" panose="02000000000000000000" pitchFamily="50" charset="0"/>
              </a:rPr>
              <a:t>Veeam Basic Backup</a:t>
            </a:r>
            <a:endParaRPr lang="ru-RU" sz="3000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F7CCB7BA-7F48-4336-9462-07C969C8CE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25000"/>
            <a:ext cx="5113800" cy="5400000"/>
          </a:xfrm>
        </p:spPr>
        <p:txBody>
          <a:bodyPr>
            <a:noAutofit/>
          </a:bodyPr>
          <a:lstStyle/>
          <a:p>
            <a:pPr marL="0" lvl="1" indent="-57150">
              <a:lnSpc>
                <a:spcPct val="130000"/>
              </a:lnSpc>
              <a:spcBef>
                <a:spcPts val="1200"/>
              </a:spcBef>
              <a:buNone/>
              <a:defRPr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При подключении данной опции, происходит автоматическое подключение </a:t>
            </a: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ea typeface="MTS Sans" panose="02000000000000000000" pitchFamily="50" charset="0"/>
              </a:rPr>
              <a:t>преднастроенной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 политики резервного копирования</a:t>
            </a: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:</a:t>
            </a:r>
            <a:endParaRPr lang="ru-RU" sz="1400" dirty="0">
              <a:solidFill>
                <a:srgbClr val="002060"/>
              </a:solidFill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Полная резервная копия делается еженедельно</a:t>
            </a:r>
            <a:r>
              <a:rPr lang="ru-RU" sz="1400" dirty="0">
                <a:ea typeface="MTS Sans" panose="02000000000000000000" pitchFamily="50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400" dirty="0">
                <a:ea typeface="MTS Sans" panose="02000000000000000000" pitchFamily="50" charset="0"/>
              </a:rPr>
              <a:t> Инкрементальные резервные копии (копируются только измененные данные) делаются ежедневно</a:t>
            </a:r>
            <a:r>
              <a:rPr lang="en-US" sz="1400" dirty="0">
                <a:ea typeface="MTS Sans" panose="02000000000000000000" pitchFamily="50" charset="0"/>
              </a:rPr>
              <a:t>;</a:t>
            </a:r>
            <a:endParaRPr lang="ru-RU" sz="1400" dirty="0"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400" dirty="0">
                <a:ea typeface="MTS Sans" panose="02000000000000000000" pitchFamily="50" charset="0"/>
              </a:rPr>
              <a:t> Срок хранения резервных копий 14 дней</a:t>
            </a:r>
            <a:r>
              <a:rPr lang="en-US" sz="1400" dirty="0">
                <a:ea typeface="MTS Sans" panose="02000000000000000000" pitchFamily="50" charset="0"/>
              </a:rPr>
              <a:t>;</a:t>
            </a:r>
            <a:endParaRPr lang="ru-RU" sz="1400" dirty="0">
              <a:ea typeface="MTS Sans" panose="02000000000000000000" pitchFamily="50" charset="0"/>
            </a:endParaRPr>
          </a:p>
          <a:p>
            <a:pPr marL="0" lvl="1" indent="0">
              <a:lnSpc>
                <a:spcPct val="130000"/>
              </a:lnSpc>
              <a:spcBef>
                <a:spcPts val="1200"/>
              </a:spcBef>
              <a:buNone/>
              <a:defRPr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Данные настройки не изменяются в виду отсутствия доступа к порталу управления.</a:t>
            </a:r>
          </a:p>
          <a:p>
            <a:pPr marL="0" lvl="1" indent="0">
              <a:lnSpc>
                <a:spcPct val="130000"/>
              </a:lnSpc>
              <a:spcBef>
                <a:spcPts val="1200"/>
              </a:spcBef>
              <a:buNone/>
              <a:defRPr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В рамках заданной политики резервного копирования осуществляется полное резервное копирование ВМ </a:t>
            </a: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(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файловых систем и операционных систем </a:t>
            </a: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Windows/Linux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) без возможности транзакционно консистентного </a:t>
            </a:r>
            <a:r>
              <a:rPr lang="ru-RU" sz="1400" dirty="0" err="1">
                <a:solidFill>
                  <a:srgbClr val="002060"/>
                </a:solidFill>
                <a:ea typeface="MTS Sans" panose="02000000000000000000" pitchFamily="50" charset="0"/>
              </a:rPr>
              <a:t>бэкапа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 приложений</a:t>
            </a: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/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баз данных</a:t>
            </a: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и гранулярного восстановления</a:t>
            </a:r>
          </a:p>
          <a:p>
            <a:pPr marL="0" lvl="1" indent="0">
              <a:lnSpc>
                <a:spcPct val="130000"/>
              </a:lnSpc>
              <a:spcBef>
                <a:spcPts val="1200"/>
              </a:spcBef>
              <a:buNone/>
              <a:defRPr/>
            </a:pPr>
            <a:endParaRPr lang="ru-RU" sz="1400" dirty="0">
              <a:solidFill>
                <a:srgbClr val="002060"/>
              </a:solidFill>
              <a:ea typeface="MTS Sans" panose="02000000000000000000" pitchFamily="50" charset="0"/>
            </a:endParaRPr>
          </a:p>
          <a:p>
            <a:pPr marL="0" lvl="1" indent="0">
              <a:lnSpc>
                <a:spcPct val="130000"/>
              </a:lnSpc>
              <a:spcBef>
                <a:spcPts val="1200"/>
              </a:spcBef>
              <a:buNone/>
              <a:defRPr/>
            </a:pPr>
            <a:endParaRPr lang="ru-RU" sz="1400" dirty="0">
              <a:solidFill>
                <a:srgbClr val="002060"/>
              </a:solidFill>
              <a:ea typeface="MTS Sans" panose="02000000000000000000" pitchFamily="50" charset="0"/>
            </a:endParaRPr>
          </a:p>
          <a:p>
            <a:pPr marL="0" indent="0">
              <a:lnSpc>
                <a:spcPct val="13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000" dirty="0">
              <a:solidFill>
                <a:srgbClr val="002060"/>
              </a:solidFill>
              <a:latin typeface="+mn-lt"/>
            </a:endParaRPr>
          </a:p>
          <a:p>
            <a:pPr marL="0" indent="0">
              <a:lnSpc>
                <a:spcPct val="13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000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endParaRPr lang="en-US" sz="1000" dirty="0">
              <a:latin typeface="MTS Sans" panose="02000000000000000000" pitchFamily="50" charset="0"/>
              <a:ea typeface="MTS Sans" panose="02000000000000000000" pitchFamily="50" charset="0"/>
            </a:endParaRPr>
          </a:p>
          <a:p>
            <a:pPr marL="0" indent="0">
              <a:lnSpc>
                <a:spcPct val="13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0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F728A-9080-4A3B-893F-4B07B5F2ED38}"/>
              </a:ext>
            </a:extLst>
          </p:cNvPr>
          <p:cNvSpPr txBox="1"/>
          <p:nvPr/>
        </p:nvSpPr>
        <p:spPr>
          <a:xfrm>
            <a:off x="6384000" y="1125000"/>
            <a:ext cx="4969800" cy="424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>
              <a:lnSpc>
                <a:spcPct val="130000"/>
              </a:lnSpc>
              <a:spcBef>
                <a:spcPts val="1200"/>
              </a:spcBef>
              <a:buNone/>
              <a:defRPr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Восстановление данных из резервных копий происходит через обращение в поддержку </a:t>
            </a: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#</a:t>
            </a:r>
            <a:r>
              <a:rPr lang="en-US" sz="1400" dirty="0" err="1">
                <a:solidFill>
                  <a:srgbClr val="002060"/>
                </a:solidFill>
                <a:ea typeface="MTS Sans" panose="02000000000000000000" pitchFamily="50" charset="0"/>
              </a:rPr>
              <a:t>CloudMTS</a:t>
            </a: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в течении рабочего дня со дня регистрации запроса.</a:t>
            </a:r>
            <a:endParaRPr lang="en-US" sz="1400" dirty="0">
              <a:solidFill>
                <a:srgbClr val="002060"/>
              </a:solidFill>
              <a:ea typeface="MTS Sans" panose="02000000000000000000" pitchFamily="50" charset="0"/>
            </a:endParaRPr>
          </a:p>
          <a:p>
            <a:pPr marL="0" lvl="1" indent="0">
              <a:lnSpc>
                <a:spcPct val="130000"/>
              </a:lnSpc>
              <a:spcBef>
                <a:spcPts val="1200"/>
              </a:spcBef>
              <a:buNone/>
              <a:defRPr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Для получения возможности самостоятельной настройки политик резервного копирования, а также для возможности создания консистентных резервных копий баз данных и приложений в рамках </a:t>
            </a: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Elastic Cloud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 – необходимо перейти на услугу </a:t>
            </a:r>
            <a:r>
              <a:rPr lang="ru-RU" sz="1400" dirty="0" err="1">
                <a:solidFill>
                  <a:srgbClr val="002060"/>
                </a:solidFill>
                <a:ea typeface="MTS Sans" panose="02000000000000000000" pitchFamily="50" charset="0"/>
              </a:rPr>
              <a:t>Veeam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ea typeface="MTS Sans" panose="02000000000000000000" pitchFamily="50" charset="0"/>
              </a:rPr>
              <a:t>Self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400" dirty="0" err="1">
                <a:solidFill>
                  <a:srgbClr val="002060"/>
                </a:solidFill>
                <a:ea typeface="MTS Sans" panose="02000000000000000000" pitchFamily="50" charset="0"/>
              </a:rPr>
              <a:t>Service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.</a:t>
            </a:r>
          </a:p>
          <a:p>
            <a:pPr marL="0" lvl="1" indent="0">
              <a:lnSpc>
                <a:spcPct val="130000"/>
              </a:lnSpc>
              <a:spcBef>
                <a:spcPts val="1200"/>
              </a:spcBef>
              <a:buNone/>
              <a:defRPr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Тарификация осуществляется по объему занимаемому резервными копиями.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001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713800" cy="1325563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Взаимодействие с </a:t>
            </a:r>
            <a:r>
              <a:rPr lang="en-US" sz="3000" dirty="0">
                <a:ea typeface="MTS Sans" panose="02000000000000000000" pitchFamily="50" charset="0"/>
              </a:rPr>
              <a:t>Veeam Basic Backup</a:t>
            </a:r>
            <a:endParaRPr lang="ru-RU" sz="30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0E2190-04C9-4439-B308-1321D85D62B3}"/>
              </a:ext>
            </a:extLst>
          </p:cNvPr>
          <p:cNvSpPr/>
          <p:nvPr/>
        </p:nvSpPr>
        <p:spPr>
          <a:xfrm>
            <a:off x="838200" y="1700999"/>
            <a:ext cx="4753800" cy="2147087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E5CD038D-1B34-423E-8AF7-C4D22082843A}"/>
              </a:ext>
            </a:extLst>
          </p:cNvPr>
          <p:cNvSpPr txBox="1">
            <a:spLocks/>
          </p:cNvSpPr>
          <p:nvPr/>
        </p:nvSpPr>
        <p:spPr>
          <a:xfrm>
            <a:off x="990600" y="1869105"/>
            <a:ext cx="4601400" cy="1703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ru-RU" sz="1200" dirty="0">
                <a:solidFill>
                  <a:srgbClr val="002060"/>
                </a:solidFill>
                <a:ea typeface="MTS Sans" panose="02000000000000000000" pitchFamily="50" charset="0"/>
              </a:rPr>
              <a:t>Клиент определяет количество виртуальных машин в облаке</a:t>
            </a:r>
            <a:r>
              <a:rPr lang="en-US" sz="1200" dirty="0">
                <a:solidFill>
                  <a:srgbClr val="002060"/>
                </a:solidFill>
                <a:ea typeface="MTS Sans" panose="02000000000000000000" pitchFamily="50" charset="0"/>
              </a:rPr>
              <a:t> DataFort</a:t>
            </a:r>
            <a:r>
              <a:rPr lang="ru-RU" sz="1200" dirty="0">
                <a:solidFill>
                  <a:srgbClr val="002060"/>
                </a:solidFill>
                <a:ea typeface="MTS Sans" panose="02000000000000000000" pitchFamily="50" charset="0"/>
              </a:rPr>
              <a:t>, для которых необходимо осуществить резервное  копирование, а также и объём, которые могут занимать резервные копии.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ru-RU" sz="1200" dirty="0">
                <a:solidFill>
                  <a:srgbClr val="002060"/>
                </a:solidFill>
                <a:ea typeface="MTS Sans" panose="02000000000000000000" pitchFamily="50" charset="0"/>
              </a:rPr>
              <a:t>Также клиент может определить площадку, где будут храниться резервные копии.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20E2190-04C9-4439-B308-1321D85D62B3}"/>
              </a:ext>
            </a:extLst>
          </p:cNvPr>
          <p:cNvSpPr/>
          <p:nvPr/>
        </p:nvSpPr>
        <p:spPr>
          <a:xfrm>
            <a:off x="6312000" y="1690686"/>
            <a:ext cx="5113800" cy="2147087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5CD038D-1B34-423E-8AF7-C4D22082843A}"/>
              </a:ext>
            </a:extLst>
          </p:cNvPr>
          <p:cNvSpPr txBox="1">
            <a:spLocks/>
          </p:cNvSpPr>
          <p:nvPr/>
        </p:nvSpPr>
        <p:spPr>
          <a:xfrm>
            <a:off x="6453979" y="1869105"/>
            <a:ext cx="4829842" cy="1703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ru-RU" sz="1200" dirty="0">
                <a:ea typeface="MTS Sans" panose="02000000000000000000" pitchFamily="50" charset="0"/>
              </a:rPr>
              <a:t>На все виртуальные машины клиента в облаке</a:t>
            </a:r>
            <a:r>
              <a:rPr lang="en-US" sz="1200" dirty="0">
                <a:ea typeface="MTS Sans" panose="02000000000000000000" pitchFamily="50" charset="0"/>
              </a:rPr>
              <a:t> DataFort </a:t>
            </a:r>
            <a:r>
              <a:rPr lang="ru-RU" sz="1200" dirty="0">
                <a:ea typeface="MTS Sans" panose="02000000000000000000" pitchFamily="50" charset="0"/>
              </a:rPr>
              <a:t>назначается </a:t>
            </a:r>
            <a:r>
              <a:rPr lang="ru-RU" sz="1200" dirty="0" err="1">
                <a:ea typeface="MTS Sans" panose="02000000000000000000" pitchFamily="50" charset="0"/>
              </a:rPr>
              <a:t>преднастроенная</a:t>
            </a:r>
            <a:r>
              <a:rPr lang="ru-RU" sz="1200" dirty="0">
                <a:ea typeface="MTS Sans" panose="02000000000000000000" pitchFamily="50" charset="0"/>
              </a:rPr>
              <a:t> политика резервного копирования. В случае добавления новых виртуальных машина на них также автоматически будет назначаться данная политика</a:t>
            </a:r>
            <a:r>
              <a:rPr lang="ru-RU" sz="1200" dirty="0">
                <a:solidFill>
                  <a:srgbClr val="002060"/>
                </a:solidFill>
                <a:ea typeface="MTS Sans" panose="02000000000000000000" pitchFamily="50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0E2190-04C9-4439-B308-1321D85D62B3}"/>
              </a:ext>
            </a:extLst>
          </p:cNvPr>
          <p:cNvSpPr/>
          <p:nvPr/>
        </p:nvSpPr>
        <p:spPr>
          <a:xfrm>
            <a:off x="838200" y="4149000"/>
            <a:ext cx="4753800" cy="1872000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5CD038D-1B34-423E-8AF7-C4D22082843A}"/>
              </a:ext>
            </a:extLst>
          </p:cNvPr>
          <p:cNvSpPr txBox="1">
            <a:spLocks/>
          </p:cNvSpPr>
          <p:nvPr/>
        </p:nvSpPr>
        <p:spPr>
          <a:xfrm>
            <a:off x="990600" y="4437000"/>
            <a:ext cx="4859784" cy="1025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ru-RU" sz="1200" dirty="0">
                <a:ea typeface="MTS Sans" panose="02000000000000000000" pitchFamily="50" charset="0"/>
              </a:rPr>
              <a:t>Резервные копии будут храниться в </a:t>
            </a:r>
            <a:r>
              <a:rPr lang="ru-RU" sz="1200" dirty="0" err="1">
                <a:ea typeface="MTS Sans" panose="02000000000000000000" pitchFamily="50" charset="0"/>
              </a:rPr>
              <a:t>репозитории</a:t>
            </a:r>
            <a:r>
              <a:rPr lang="ru-RU" sz="1200" dirty="0">
                <a:ea typeface="MTS Sans" panose="02000000000000000000" pitchFamily="50" charset="0"/>
              </a:rPr>
              <a:t> </a:t>
            </a:r>
            <a:r>
              <a:rPr lang="en-US" sz="1200" dirty="0">
                <a:ea typeface="MTS Sans" panose="02000000000000000000" pitchFamily="50" charset="0"/>
              </a:rPr>
              <a:t>DataFort</a:t>
            </a:r>
            <a:r>
              <a:rPr lang="ru-RU" sz="1200" dirty="0">
                <a:ea typeface="MTS Sans" panose="02000000000000000000" pitchFamily="50" charset="0"/>
              </a:rPr>
              <a:t> на выбранной площадке</a:t>
            </a:r>
            <a:r>
              <a:rPr lang="ru-RU" sz="1200" dirty="0">
                <a:solidFill>
                  <a:srgbClr val="002060"/>
                </a:solidFill>
                <a:ea typeface="MTS Sans" panose="02000000000000000000" pitchFamily="50" charset="0"/>
              </a:rPr>
              <a:t>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20E2190-04C9-4439-B308-1321D85D62B3}"/>
              </a:ext>
            </a:extLst>
          </p:cNvPr>
          <p:cNvSpPr/>
          <p:nvPr/>
        </p:nvSpPr>
        <p:spPr>
          <a:xfrm>
            <a:off x="6309979" y="4149000"/>
            <a:ext cx="5145087" cy="1872000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5CD038D-1B34-423E-8AF7-C4D22082843A}"/>
              </a:ext>
            </a:extLst>
          </p:cNvPr>
          <p:cNvSpPr txBox="1">
            <a:spLocks/>
          </p:cNvSpPr>
          <p:nvPr/>
        </p:nvSpPr>
        <p:spPr>
          <a:xfrm>
            <a:off x="6528000" y="4437000"/>
            <a:ext cx="4829842" cy="1703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ru-RU" sz="1200" dirty="0">
                <a:ea typeface="MTS Sans" panose="02000000000000000000" pitchFamily="50" charset="0"/>
              </a:rPr>
              <a:t>В случае необходимости восстановления, клиент оставляет заявку в </a:t>
            </a:r>
            <a:r>
              <a:rPr lang="en-US" sz="1200" dirty="0">
                <a:ea typeface="MTS Sans" panose="02000000000000000000" pitchFamily="50" charset="0"/>
              </a:rPr>
              <a:t>DataFort</a:t>
            </a:r>
            <a:r>
              <a:rPr lang="ru-RU" sz="1200" dirty="0">
                <a:ea typeface="MTS Sans" panose="02000000000000000000" pitchFamily="50" charset="0"/>
              </a:rPr>
              <a:t> и данные будут восстановлены в течении рабочего дня с момента регистрации заявки</a:t>
            </a:r>
            <a:r>
              <a:rPr lang="ru-RU" sz="1200" dirty="0">
                <a:solidFill>
                  <a:srgbClr val="002060"/>
                </a:solidFill>
                <a:ea typeface="MTS Sans" panose="02000000000000000000" pitchFamily="50" charset="0"/>
              </a:rPr>
              <a:t>.</a:t>
            </a:r>
          </a:p>
        </p:txBody>
      </p:sp>
      <p:sp>
        <p:nvSpPr>
          <p:cNvPr id="11" name="Прямоугольный треугольник 10">
            <a:extLst>
              <a:ext uri="{FF2B5EF4-FFF2-40B4-BE49-F238E27FC236}">
                <a16:creationId xmlns:a16="http://schemas.microsoft.com/office/drawing/2014/main" id="{EA5BD377-4363-4503-898C-8F8792DF58EB}"/>
              </a:ext>
            </a:extLst>
          </p:cNvPr>
          <p:cNvSpPr/>
          <p:nvPr/>
        </p:nvSpPr>
        <p:spPr>
          <a:xfrm flipH="1">
            <a:off x="406200" y="1693734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6004941C-6944-4248-9886-4C9753B920B3}"/>
              </a:ext>
            </a:extLst>
          </p:cNvPr>
          <p:cNvSpPr/>
          <p:nvPr/>
        </p:nvSpPr>
        <p:spPr>
          <a:xfrm flipH="1">
            <a:off x="406200" y="4149000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ый треугольник 12">
            <a:extLst>
              <a:ext uri="{FF2B5EF4-FFF2-40B4-BE49-F238E27FC236}">
                <a16:creationId xmlns:a16="http://schemas.microsoft.com/office/drawing/2014/main" id="{EE95C596-A06D-4460-B3A6-DC91CDFB6FDF}"/>
              </a:ext>
            </a:extLst>
          </p:cNvPr>
          <p:cNvSpPr/>
          <p:nvPr/>
        </p:nvSpPr>
        <p:spPr>
          <a:xfrm flipH="1">
            <a:off x="5877979" y="1693734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ый треугольник 13">
            <a:extLst>
              <a:ext uri="{FF2B5EF4-FFF2-40B4-BE49-F238E27FC236}">
                <a16:creationId xmlns:a16="http://schemas.microsoft.com/office/drawing/2014/main" id="{BBC04A8E-7FBF-480A-99AB-554BFE5D324B}"/>
              </a:ext>
            </a:extLst>
          </p:cNvPr>
          <p:cNvSpPr/>
          <p:nvPr/>
        </p:nvSpPr>
        <p:spPr>
          <a:xfrm flipH="1">
            <a:off x="5877979" y="4149000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636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7875"/>
          </a:xfrm>
        </p:spPr>
        <p:txBody>
          <a:bodyPr>
            <a:normAutofit/>
          </a:bodyPr>
          <a:lstStyle/>
          <a:p>
            <a:r>
              <a:rPr lang="en-US" sz="3000" dirty="0">
                <a:ea typeface="MTS Sans" panose="02000000000000000000" pitchFamily="50" charset="0"/>
              </a:rPr>
              <a:t>Veeam Self-Service</a:t>
            </a:r>
            <a:endParaRPr lang="ru-RU" sz="3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F405F4-1B9B-4902-9836-28D1B7811AE4}"/>
              </a:ext>
            </a:extLst>
          </p:cNvPr>
          <p:cNvSpPr txBox="1">
            <a:spLocks/>
          </p:cNvSpPr>
          <p:nvPr/>
        </p:nvSpPr>
        <p:spPr>
          <a:xfrm>
            <a:off x="4872000" y="1269000"/>
            <a:ext cx="6481800" cy="5112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ru-RU" sz="1500" dirty="0">
                <a:solidFill>
                  <a:srgbClr val="009698"/>
                </a:solidFill>
                <a:ea typeface="MTS Sans" panose="02000000000000000000" pitchFamily="50" charset="0"/>
              </a:rPr>
              <a:t>Также клиент может настраивать: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Перечень VM/</a:t>
            </a:r>
            <a:r>
              <a:rPr lang="ru-RU" sz="1500" dirty="0" err="1">
                <a:solidFill>
                  <a:srgbClr val="002060"/>
                </a:solidFill>
                <a:ea typeface="MTS Sans" panose="02000000000000000000" pitchFamily="50" charset="0"/>
              </a:rPr>
              <a:t>vApp</a:t>
            </a: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 или весь VDC для которых необходимо осуществлять резервное копирование в рамках данного задания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 Наименование задания и количество точек восстановления или глубину хранения в днях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 Перечень папок или индексов файлов, для которых нужно осуществить резервное копирование (либо наоборот исключить из заданий резервного копирования)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500" dirty="0" err="1">
                <a:solidFill>
                  <a:srgbClr val="002060"/>
                </a:solidFill>
                <a:ea typeface="MTS Sans" panose="02000000000000000000" pitchFamily="50" charset="0"/>
              </a:rPr>
              <a:t>Application-aware</a:t>
            </a: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500" dirty="0" err="1">
                <a:solidFill>
                  <a:srgbClr val="002060"/>
                </a:solidFill>
                <a:ea typeface="MTS Sans" panose="02000000000000000000" pitchFamily="50" charset="0"/>
              </a:rPr>
              <a:t>image-processing</a:t>
            </a: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 с указанием Учетных Записей гостевых Операционных Систем серверов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График запуска задания, количество попыток выполнения заданий и время между попытками, окно для резервного копирования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Уведомление на почтовый ящик (с настройкой какие уведомления отправлять)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500" dirty="0" err="1">
                <a:solidFill>
                  <a:srgbClr val="002060"/>
                </a:solidFill>
                <a:ea typeface="MTS Sans" panose="02000000000000000000" pitchFamily="50" charset="0"/>
              </a:rPr>
              <a:t>И.т.д</a:t>
            </a: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None/>
            </a:pPr>
            <a:endParaRPr lang="ru-RU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AC1FA-B19F-42D7-99ED-10AE70E07A83}"/>
              </a:ext>
            </a:extLst>
          </p:cNvPr>
          <p:cNvSpPr txBox="1"/>
          <p:nvPr/>
        </p:nvSpPr>
        <p:spPr>
          <a:xfrm>
            <a:off x="912000" y="1197000"/>
            <a:ext cx="3600000" cy="4620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57150">
              <a:lnSpc>
                <a:spcPct val="130000"/>
              </a:lnSpc>
              <a:buNone/>
              <a:defRPr/>
            </a:pP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При подключении опции </a:t>
            </a:r>
            <a:r>
              <a:rPr lang="ru-RU" sz="1500" dirty="0" err="1">
                <a:solidFill>
                  <a:srgbClr val="002060"/>
                </a:solidFill>
                <a:ea typeface="MTS Sans" panose="02000000000000000000" pitchFamily="50" charset="0"/>
              </a:rPr>
              <a:t>Veeam</a:t>
            </a: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500" dirty="0" err="1">
                <a:solidFill>
                  <a:srgbClr val="002060"/>
                </a:solidFill>
                <a:ea typeface="MTS Sans" panose="02000000000000000000" pitchFamily="50" charset="0"/>
              </a:rPr>
              <a:t>Self-Service</a:t>
            </a: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 клиент получает доступ к личному кабинету управления </a:t>
            </a:r>
            <a:r>
              <a:rPr lang="ru-RU" sz="1500" dirty="0" err="1">
                <a:solidFill>
                  <a:srgbClr val="002060"/>
                </a:solidFill>
                <a:ea typeface="MTS Sans" panose="02000000000000000000" pitchFamily="50" charset="0"/>
              </a:rPr>
              <a:t>Veeam</a:t>
            </a: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, полностью интегрированного с </a:t>
            </a:r>
            <a:r>
              <a:rPr lang="ru-RU" sz="1500" dirty="0" err="1">
                <a:solidFill>
                  <a:srgbClr val="002060"/>
                </a:solidFill>
                <a:ea typeface="MTS Sans" panose="02000000000000000000" pitchFamily="50" charset="0"/>
              </a:rPr>
              <a:t>vCloud</a:t>
            </a: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500" dirty="0" err="1">
                <a:solidFill>
                  <a:srgbClr val="002060"/>
                </a:solidFill>
                <a:ea typeface="MTS Sans" panose="02000000000000000000" pitchFamily="50" charset="0"/>
              </a:rPr>
              <a:t>Director</a:t>
            </a: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.</a:t>
            </a:r>
          </a:p>
          <a:p>
            <a:pPr marL="0" lvl="1" indent="-57150">
              <a:lnSpc>
                <a:spcPct val="130000"/>
              </a:lnSpc>
              <a:buNone/>
              <a:defRPr/>
            </a:pPr>
            <a:endParaRPr lang="en-US" sz="1500" dirty="0">
              <a:solidFill>
                <a:srgbClr val="002060"/>
              </a:solidFill>
              <a:ea typeface="MTS Sans" panose="02000000000000000000" pitchFamily="50" charset="0"/>
            </a:endParaRPr>
          </a:p>
          <a:p>
            <a:pPr marL="0" lvl="1" indent="-57150">
              <a:lnSpc>
                <a:spcPct val="130000"/>
              </a:lnSpc>
              <a:buNone/>
              <a:defRPr/>
            </a:pP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В личном кабинете клиент может самостоятельно настраивать и изменять политики резервного копирования, создавать резервные копии и восстанавливать данные из </a:t>
            </a:r>
            <a:r>
              <a:rPr lang="ru-RU" sz="1500" dirty="0" err="1">
                <a:solidFill>
                  <a:srgbClr val="002060"/>
                </a:solidFill>
                <a:ea typeface="MTS Sans" panose="02000000000000000000" pitchFamily="50" charset="0"/>
              </a:rPr>
              <a:t>бэкапов</a:t>
            </a:r>
            <a:r>
              <a:rPr lang="ru-RU" sz="1500" dirty="0">
                <a:solidFill>
                  <a:srgbClr val="002060"/>
                </a:solidFill>
                <a:ea typeface="MTS Sans" panose="02000000000000000000" pitchFamily="50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9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713800" cy="687875"/>
          </a:xfrm>
        </p:spPr>
        <p:txBody>
          <a:bodyPr/>
          <a:lstStyle/>
          <a:p>
            <a:r>
              <a:rPr lang="ru-RU" dirty="0">
                <a:ea typeface="MTS Sans" panose="02000000000000000000" pitchFamily="50" charset="0"/>
              </a:rPr>
              <a:t>Взаимодействие с </a:t>
            </a:r>
            <a:r>
              <a:rPr lang="en-US" dirty="0">
                <a:ea typeface="MTS Sans" panose="02000000000000000000" pitchFamily="50" charset="0"/>
              </a:rPr>
              <a:t>Veeam Self-Service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0E2190-04C9-4439-B308-1321D85D62B3}"/>
              </a:ext>
            </a:extLst>
          </p:cNvPr>
          <p:cNvSpPr/>
          <p:nvPr/>
        </p:nvSpPr>
        <p:spPr>
          <a:xfrm>
            <a:off x="838200" y="1701000"/>
            <a:ext cx="5113800" cy="1872000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E5CD038D-1B34-423E-8AF7-C4D22082843A}"/>
              </a:ext>
            </a:extLst>
          </p:cNvPr>
          <p:cNvSpPr txBox="1">
            <a:spLocks/>
          </p:cNvSpPr>
          <p:nvPr/>
        </p:nvSpPr>
        <p:spPr>
          <a:xfrm>
            <a:off x="990600" y="1869105"/>
            <a:ext cx="4829842" cy="1703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Клиент определяет количество и тип объектов,  </a:t>
            </a:r>
            <a:b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</a:b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для которых необходимо осуществить резервное  копирование, а также и объём, которые могут занимать резервные копии.</a:t>
            </a:r>
          </a:p>
          <a:p>
            <a:pPr marL="0" indent="0" algn="just">
              <a:buNone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Также клиент может определить площадку, где будут храниться резервные копии.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20E2190-04C9-4439-B308-1321D85D62B3}"/>
              </a:ext>
            </a:extLst>
          </p:cNvPr>
          <p:cNvSpPr/>
          <p:nvPr/>
        </p:nvSpPr>
        <p:spPr>
          <a:xfrm>
            <a:off x="6484018" y="1690687"/>
            <a:ext cx="4941781" cy="1872000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5CD038D-1B34-423E-8AF7-C4D22082843A}"/>
              </a:ext>
            </a:extLst>
          </p:cNvPr>
          <p:cNvSpPr txBox="1">
            <a:spLocks/>
          </p:cNvSpPr>
          <p:nvPr/>
        </p:nvSpPr>
        <p:spPr>
          <a:xfrm>
            <a:off x="6844019" y="1869105"/>
            <a:ext cx="4439802" cy="1703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>
                <a:ea typeface="MTS Sans" panose="02000000000000000000" pitchFamily="50" charset="0"/>
              </a:rPr>
              <a:t>Клиент получает доступ к веб-порталу самообслуживания – название будет зависеть о выбранной вами площадки </a:t>
            </a:r>
            <a:r>
              <a:rPr lang="en-US" sz="1400" dirty="0">
                <a:ea typeface="MTS Sans" panose="02000000000000000000" pitchFamily="50" charset="0"/>
              </a:rPr>
              <a:t>DataFort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0E2190-04C9-4439-B308-1321D85D62B3}"/>
              </a:ext>
            </a:extLst>
          </p:cNvPr>
          <p:cNvSpPr/>
          <p:nvPr/>
        </p:nvSpPr>
        <p:spPr>
          <a:xfrm>
            <a:off x="838200" y="4149000"/>
            <a:ext cx="5113800" cy="1872000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5CD038D-1B34-423E-8AF7-C4D22082843A}"/>
              </a:ext>
            </a:extLst>
          </p:cNvPr>
          <p:cNvSpPr txBox="1">
            <a:spLocks/>
          </p:cNvSpPr>
          <p:nvPr/>
        </p:nvSpPr>
        <p:spPr>
          <a:xfrm>
            <a:off x="960658" y="4365000"/>
            <a:ext cx="4859784" cy="10257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sz="1400" dirty="0">
                <a:ea typeface="MTS Sans" panose="02000000000000000000" pitchFamily="50" charset="0"/>
              </a:rPr>
              <a:t>Через веб-портал клиент настраивает политику или политики резервного копирования. Назначает созданные правила на требуемые объекты. В случае необходимости изменяет или удаляет их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20E2190-04C9-4439-B308-1321D85D62B3}"/>
              </a:ext>
            </a:extLst>
          </p:cNvPr>
          <p:cNvSpPr/>
          <p:nvPr/>
        </p:nvSpPr>
        <p:spPr>
          <a:xfrm>
            <a:off x="6484018" y="4148999"/>
            <a:ext cx="4971048" cy="860697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5CD038D-1B34-423E-8AF7-C4D22082843A}"/>
              </a:ext>
            </a:extLst>
          </p:cNvPr>
          <p:cNvSpPr txBox="1">
            <a:spLocks/>
          </p:cNvSpPr>
          <p:nvPr/>
        </p:nvSpPr>
        <p:spPr>
          <a:xfrm>
            <a:off x="6773266" y="4289697"/>
            <a:ext cx="4584576" cy="7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>
                <a:ea typeface="MTS Sans" panose="02000000000000000000" pitchFamily="50" charset="0"/>
              </a:rPr>
              <a:t>Резервные копии будут храниться в </a:t>
            </a:r>
            <a:r>
              <a:rPr lang="ru-RU" sz="1400" dirty="0" err="1">
                <a:ea typeface="MTS Sans" panose="02000000000000000000" pitchFamily="50" charset="0"/>
              </a:rPr>
              <a:t>репозитории</a:t>
            </a:r>
            <a:r>
              <a:rPr lang="ru-RU" sz="1400" dirty="0">
                <a:ea typeface="MTS Sans" panose="02000000000000000000" pitchFamily="50" charset="0"/>
              </a:rPr>
              <a:t> </a:t>
            </a:r>
            <a:r>
              <a:rPr lang="en-US" sz="1400" dirty="0">
                <a:ea typeface="MTS Sans" panose="02000000000000000000" pitchFamily="50" charset="0"/>
              </a:rPr>
              <a:t>DataFort</a:t>
            </a:r>
            <a:r>
              <a:rPr lang="ru-RU" sz="1400" dirty="0">
                <a:ea typeface="MTS Sans" panose="02000000000000000000" pitchFamily="50" charset="0"/>
              </a:rPr>
              <a:t> на выбранной площадке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20E2190-04C9-4439-B308-1321D85D62B3}"/>
              </a:ext>
            </a:extLst>
          </p:cNvPr>
          <p:cNvSpPr/>
          <p:nvPr/>
        </p:nvSpPr>
        <p:spPr>
          <a:xfrm>
            <a:off x="6484018" y="5150394"/>
            <a:ext cx="4971048" cy="870606"/>
          </a:xfrm>
          <a:prstGeom prst="rect">
            <a:avLst/>
          </a:prstGeom>
          <a:solidFill>
            <a:srgbClr val="003053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5CD038D-1B34-423E-8AF7-C4D22082843A}"/>
              </a:ext>
            </a:extLst>
          </p:cNvPr>
          <p:cNvSpPr txBox="1">
            <a:spLocks/>
          </p:cNvSpPr>
          <p:nvPr/>
        </p:nvSpPr>
        <p:spPr>
          <a:xfrm>
            <a:off x="6773266" y="5301000"/>
            <a:ext cx="5071066" cy="7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В случае необходимости через веб-портал восстановите данные из резервной копии.</a:t>
            </a:r>
          </a:p>
        </p:txBody>
      </p:sp>
      <p:sp>
        <p:nvSpPr>
          <p:cNvPr id="13" name="Прямоугольный треугольник 12">
            <a:extLst>
              <a:ext uri="{FF2B5EF4-FFF2-40B4-BE49-F238E27FC236}">
                <a16:creationId xmlns:a16="http://schemas.microsoft.com/office/drawing/2014/main" id="{A198E038-EF00-4023-8B04-A008DD15C4D3}"/>
              </a:ext>
            </a:extLst>
          </p:cNvPr>
          <p:cNvSpPr/>
          <p:nvPr/>
        </p:nvSpPr>
        <p:spPr>
          <a:xfrm flipH="1">
            <a:off x="406200" y="1693734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ый треугольник 13">
            <a:extLst>
              <a:ext uri="{FF2B5EF4-FFF2-40B4-BE49-F238E27FC236}">
                <a16:creationId xmlns:a16="http://schemas.microsoft.com/office/drawing/2014/main" id="{051F9742-0B87-4E8E-9DD7-4EF578368E9F}"/>
              </a:ext>
            </a:extLst>
          </p:cNvPr>
          <p:cNvSpPr/>
          <p:nvPr/>
        </p:nvSpPr>
        <p:spPr>
          <a:xfrm flipH="1">
            <a:off x="406200" y="4149000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>
            <a:extLst>
              <a:ext uri="{FF2B5EF4-FFF2-40B4-BE49-F238E27FC236}">
                <a16:creationId xmlns:a16="http://schemas.microsoft.com/office/drawing/2014/main" id="{E73B37C7-B73D-484C-85DB-36B2233F9F5C}"/>
              </a:ext>
            </a:extLst>
          </p:cNvPr>
          <p:cNvSpPr/>
          <p:nvPr/>
        </p:nvSpPr>
        <p:spPr>
          <a:xfrm flipH="1">
            <a:off x="6052019" y="1693732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ый треугольник 15">
            <a:extLst>
              <a:ext uri="{FF2B5EF4-FFF2-40B4-BE49-F238E27FC236}">
                <a16:creationId xmlns:a16="http://schemas.microsoft.com/office/drawing/2014/main" id="{AE67880C-BBEF-4274-88EF-219C0709F2DD}"/>
              </a:ext>
            </a:extLst>
          </p:cNvPr>
          <p:cNvSpPr/>
          <p:nvPr/>
        </p:nvSpPr>
        <p:spPr>
          <a:xfrm flipH="1">
            <a:off x="6052019" y="4148998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ый треугольник 16">
            <a:extLst>
              <a:ext uri="{FF2B5EF4-FFF2-40B4-BE49-F238E27FC236}">
                <a16:creationId xmlns:a16="http://schemas.microsoft.com/office/drawing/2014/main" id="{1FF595EC-AB22-48DA-AF31-1C0D4BC02A9B}"/>
              </a:ext>
            </a:extLst>
          </p:cNvPr>
          <p:cNvSpPr/>
          <p:nvPr/>
        </p:nvSpPr>
        <p:spPr>
          <a:xfrm flipH="1">
            <a:off x="6052018" y="5150393"/>
            <a:ext cx="432000" cy="322863"/>
          </a:xfrm>
          <a:prstGeom prst="rtTriangle">
            <a:avLst/>
          </a:prstGeom>
          <a:solidFill>
            <a:srgbClr val="00305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17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267CB3E6-C5ED-6E4D-9866-BAABBBFA2BC9}"/>
              </a:ext>
            </a:extLst>
          </p:cNvPr>
          <p:cNvSpPr/>
          <p:nvPr/>
        </p:nvSpPr>
        <p:spPr>
          <a:xfrm>
            <a:off x="1310080" y="3483004"/>
            <a:ext cx="9744006" cy="2221524"/>
          </a:xfrm>
          <a:prstGeom prst="roundRect">
            <a:avLst>
              <a:gd name="adj" fmla="val 6984"/>
            </a:avLst>
          </a:prstGeom>
          <a:solidFill>
            <a:srgbClr val="00305D">
              <a:alpha val="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875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Резервное копирование в </a:t>
            </a:r>
            <a:r>
              <a:rPr lang="en-US" sz="3000" dirty="0">
                <a:ea typeface="MTS Sans" panose="02000000000000000000" pitchFamily="50" charset="0"/>
              </a:rPr>
              <a:t>Elastic Cloud</a:t>
            </a:r>
            <a:endParaRPr lang="ru-RU" sz="3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84000" y="1629000"/>
            <a:ext cx="1058400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Резервное </a:t>
            </a:r>
            <a:r>
              <a:rPr lang="ru-RU" sz="1400" dirty="0">
                <a:ea typeface="MTS Sans" panose="02000000000000000000" pitchFamily="50" charset="0"/>
              </a:rPr>
              <a:t>копирование ВМ, работающих в облаке </a:t>
            </a:r>
            <a:r>
              <a:rPr lang="en-US" sz="1400" dirty="0">
                <a:ea typeface="MTS Sans" panose="02000000000000000000" pitchFamily="50" charset="0"/>
              </a:rPr>
              <a:t>DataFort</a:t>
            </a:r>
            <a:endParaRPr lang="ru-RU" sz="1400" dirty="0">
              <a:solidFill>
                <a:srgbClr val="002060"/>
              </a:solidFill>
              <a:ea typeface="MTS Sans" panose="02000000000000000000" pitchFamily="50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 Управление</a:t>
            </a: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400" dirty="0">
                <a:ea typeface="MTS Sans" panose="02000000000000000000" pitchFamily="50" charset="0"/>
              </a:rPr>
              <a:t>сервисом через </a:t>
            </a:r>
            <a:r>
              <a:rPr lang="ru-RU" sz="1400" dirty="0" err="1">
                <a:ea typeface="MTS Sans" panose="02000000000000000000" pitchFamily="50" charset="0"/>
              </a:rPr>
              <a:t>web</a:t>
            </a:r>
            <a:r>
              <a:rPr lang="ru-RU" sz="1400" dirty="0">
                <a:ea typeface="MTS Sans" panose="02000000000000000000" pitchFamily="50" charset="0"/>
              </a:rPr>
              <a:t>-панель интегрированную с </a:t>
            </a:r>
            <a:r>
              <a:rPr lang="ru-RU" sz="1400" dirty="0" err="1">
                <a:ea typeface="MTS Sans" panose="02000000000000000000" pitchFamily="50" charset="0"/>
              </a:rPr>
              <a:t>vCloud</a:t>
            </a:r>
            <a:r>
              <a:rPr lang="ru-RU" sz="1400" dirty="0">
                <a:ea typeface="MTS Sans" panose="02000000000000000000" pitchFamily="50" charset="0"/>
              </a:rPr>
              <a:t> </a:t>
            </a:r>
            <a:r>
              <a:rPr lang="ru-RU" sz="1400" dirty="0" err="1">
                <a:ea typeface="MTS Sans" panose="02000000000000000000" pitchFamily="50" charset="0"/>
              </a:rPr>
              <a:t>Director</a:t>
            </a:r>
            <a:endParaRPr lang="ru-RU" sz="1400" dirty="0">
              <a:solidFill>
                <a:srgbClr val="002060"/>
              </a:solidFill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Возможность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хранения копий в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репозитории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территориально удаленного Дата-центра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400" dirty="0">
              <a:solidFill>
                <a:srgbClr val="002060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5D50EE-5A8B-B349-8515-176B3D2277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4005000"/>
            <a:ext cx="892166" cy="89216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F524A0-A055-494A-9D2A-201DE96621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2" y="4022907"/>
            <a:ext cx="892166" cy="892166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53ED248-FD11-5642-B0D1-CD0FC1C002CF}"/>
              </a:ext>
            </a:extLst>
          </p:cNvPr>
          <p:cNvSpPr txBox="1">
            <a:spLocks/>
          </p:cNvSpPr>
          <p:nvPr/>
        </p:nvSpPr>
        <p:spPr>
          <a:xfrm>
            <a:off x="1880733" y="5177444"/>
            <a:ext cx="164568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Elastic </a:t>
            </a: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loud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AD71A7-52F9-4043-B123-CE1CD51302CC}"/>
              </a:ext>
            </a:extLst>
          </p:cNvPr>
          <p:cNvSpPr txBox="1">
            <a:spLocks/>
          </p:cNvSpPr>
          <p:nvPr/>
        </p:nvSpPr>
        <p:spPr>
          <a:xfrm>
            <a:off x="5293778" y="4960578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Система резервного копирования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DFB9B43-A26F-CB46-9810-20C7B83A304A}"/>
              </a:ext>
            </a:extLst>
          </p:cNvPr>
          <p:cNvSpPr txBox="1">
            <a:spLocks/>
          </p:cNvSpPr>
          <p:nvPr/>
        </p:nvSpPr>
        <p:spPr>
          <a:xfrm>
            <a:off x="8392187" y="4999476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 err="1">
                <a:latin typeface="Montserrat" pitchFamily="2" charset="-52"/>
                <a:ea typeface="MTS Sans" panose="02000000000000000000" pitchFamily="50" charset="0"/>
              </a:rPr>
              <a:t>Репозиторий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E9A5CF73-0630-094D-9232-5B2B91EF5B68}"/>
              </a:ext>
            </a:extLst>
          </p:cNvPr>
          <p:cNvCxnSpPr/>
          <p:nvPr/>
        </p:nvCxnSpPr>
        <p:spPr>
          <a:xfrm>
            <a:off x="3691221" y="4451083"/>
            <a:ext cx="156961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AEB67917-2832-204B-89CE-CE6AE3CBDB23}"/>
              </a:ext>
            </a:extLst>
          </p:cNvPr>
          <p:cNvCxnSpPr/>
          <p:nvPr/>
        </p:nvCxnSpPr>
        <p:spPr>
          <a:xfrm>
            <a:off x="6958518" y="4451083"/>
            <a:ext cx="156961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E49D3947-8B3A-DD43-B6B7-2E430775E6F1}"/>
              </a:ext>
            </a:extLst>
          </p:cNvPr>
          <p:cNvCxnSpPr>
            <a:cxnSpLocks/>
          </p:cNvCxnSpPr>
          <p:nvPr/>
        </p:nvCxnSpPr>
        <p:spPr>
          <a:xfrm>
            <a:off x="3691221" y="4660907"/>
            <a:ext cx="156961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5677F5F8-0628-3E41-9B32-E350E7EE226A}"/>
              </a:ext>
            </a:extLst>
          </p:cNvPr>
          <p:cNvCxnSpPr>
            <a:cxnSpLocks/>
          </p:cNvCxnSpPr>
          <p:nvPr/>
        </p:nvCxnSpPr>
        <p:spPr>
          <a:xfrm>
            <a:off x="6958518" y="4624026"/>
            <a:ext cx="156961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290915F0-BCEB-2949-AB3A-94128030C924}"/>
              </a:ext>
            </a:extLst>
          </p:cNvPr>
          <p:cNvSpPr/>
          <p:nvPr/>
        </p:nvSpPr>
        <p:spPr>
          <a:xfrm>
            <a:off x="1886570" y="4834859"/>
            <a:ext cx="1227877" cy="213567"/>
          </a:xfrm>
          <a:prstGeom prst="round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390C7A7-6CA9-234A-9BAF-670C2436173E}"/>
              </a:ext>
            </a:extLst>
          </p:cNvPr>
          <p:cNvSpPr/>
          <p:nvPr/>
        </p:nvSpPr>
        <p:spPr>
          <a:xfrm>
            <a:off x="1966365" y="4906313"/>
            <a:ext cx="70658" cy="70658"/>
          </a:xfrm>
          <a:prstGeom prst="ellipse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CA48FD6-9B1C-2F4B-8D10-3B47A5F57237}"/>
              </a:ext>
            </a:extLst>
          </p:cNvPr>
          <p:cNvSpPr/>
          <p:nvPr/>
        </p:nvSpPr>
        <p:spPr>
          <a:xfrm>
            <a:off x="2680860" y="4912053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0E31CE5-B82D-A240-98B1-91453797FE49}"/>
              </a:ext>
            </a:extLst>
          </p:cNvPr>
          <p:cNvSpPr/>
          <p:nvPr/>
        </p:nvSpPr>
        <p:spPr>
          <a:xfrm>
            <a:off x="2825086" y="4912053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91366A4-0365-9E4F-B9A5-0733F8EF5B73}"/>
              </a:ext>
            </a:extLst>
          </p:cNvPr>
          <p:cNvSpPr/>
          <p:nvPr/>
        </p:nvSpPr>
        <p:spPr>
          <a:xfrm>
            <a:off x="2953706" y="4912053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45E5D9D-4A8A-A644-B285-77C714EE9CA3}"/>
              </a:ext>
            </a:extLst>
          </p:cNvPr>
          <p:cNvGrpSpPr/>
          <p:nvPr/>
        </p:nvGrpSpPr>
        <p:grpSpPr>
          <a:xfrm>
            <a:off x="2054859" y="4033151"/>
            <a:ext cx="227993" cy="698431"/>
            <a:chOff x="6755371" y="3244107"/>
            <a:chExt cx="860827" cy="2635885"/>
          </a:xfrm>
        </p:grpSpPr>
        <p:sp>
          <p:nvSpPr>
            <p:cNvPr id="19" name="Скругленный прямоугольник 18">
              <a:extLst>
                <a:ext uri="{FF2B5EF4-FFF2-40B4-BE49-F238E27FC236}">
                  <a16:creationId xmlns:a16="http://schemas.microsoft.com/office/drawing/2014/main" id="{520E7CCC-2592-FD4A-A4E8-8E0AEC1EF409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D805FB71-3745-604F-9BBC-DC8EA6ABF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F2CC302D-DAD6-BB43-8EA9-CE17105CA43F}"/>
              </a:ext>
            </a:extLst>
          </p:cNvPr>
          <p:cNvGrpSpPr/>
          <p:nvPr/>
        </p:nvGrpSpPr>
        <p:grpSpPr>
          <a:xfrm>
            <a:off x="2391998" y="4033150"/>
            <a:ext cx="227993" cy="698431"/>
            <a:chOff x="6755371" y="3244107"/>
            <a:chExt cx="860827" cy="2635885"/>
          </a:xfrm>
        </p:grpSpPr>
        <p:sp>
          <p:nvSpPr>
            <p:cNvPr id="22" name="Скругленный прямоугольник 21">
              <a:extLst>
                <a:ext uri="{FF2B5EF4-FFF2-40B4-BE49-F238E27FC236}">
                  <a16:creationId xmlns:a16="http://schemas.microsoft.com/office/drawing/2014/main" id="{8BBB5481-1F0C-FE4B-9914-C61EDFABBB66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A85D9C1E-5979-B44D-AFF4-EFFFDDE89D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A3EFFF26-CD8D-E941-92BB-5C0A0A1BA030}"/>
              </a:ext>
            </a:extLst>
          </p:cNvPr>
          <p:cNvGrpSpPr/>
          <p:nvPr/>
        </p:nvGrpSpPr>
        <p:grpSpPr>
          <a:xfrm>
            <a:off x="2711271" y="4031175"/>
            <a:ext cx="227993" cy="698431"/>
            <a:chOff x="6755371" y="3244107"/>
            <a:chExt cx="860827" cy="2635885"/>
          </a:xfrm>
        </p:grpSpPr>
        <p:sp>
          <p:nvSpPr>
            <p:cNvPr id="25" name="Скругленный прямоугольник 24">
              <a:extLst>
                <a:ext uri="{FF2B5EF4-FFF2-40B4-BE49-F238E27FC236}">
                  <a16:creationId xmlns:a16="http://schemas.microsoft.com/office/drawing/2014/main" id="{350F564E-8893-C04B-A06D-0D8F81E443AF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FBD2FE73-900F-1A4A-A314-EF30EB9F8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CC8AF4EA-4644-564C-BF0F-9DBEEB8AE4EE}"/>
              </a:ext>
            </a:extLst>
          </p:cNvPr>
          <p:cNvSpPr txBox="1">
            <a:spLocks/>
          </p:cNvSpPr>
          <p:nvPr/>
        </p:nvSpPr>
        <p:spPr>
          <a:xfrm>
            <a:off x="4106138" y="4115356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FB10E9F6-0662-7444-964E-1D82867B4191}"/>
              </a:ext>
            </a:extLst>
          </p:cNvPr>
          <p:cNvSpPr txBox="1">
            <a:spLocks/>
          </p:cNvSpPr>
          <p:nvPr/>
        </p:nvSpPr>
        <p:spPr>
          <a:xfrm>
            <a:off x="4073619" y="4660907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C8AF4EA-4644-564C-BF0F-9DBEEB8AE4EE}"/>
              </a:ext>
            </a:extLst>
          </p:cNvPr>
          <p:cNvSpPr txBox="1">
            <a:spLocks/>
          </p:cNvSpPr>
          <p:nvPr/>
        </p:nvSpPr>
        <p:spPr>
          <a:xfrm>
            <a:off x="7320230" y="4115356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B10E9F6-0662-7444-964E-1D82867B4191}"/>
              </a:ext>
            </a:extLst>
          </p:cNvPr>
          <p:cNvSpPr txBox="1">
            <a:spLocks/>
          </p:cNvSpPr>
          <p:nvPr/>
        </p:nvSpPr>
        <p:spPr>
          <a:xfrm>
            <a:off x="7287711" y="4660907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4CBA24D3-EAF6-7947-86AC-290276BD23A5}"/>
              </a:ext>
            </a:extLst>
          </p:cNvPr>
          <p:cNvSpPr txBox="1">
            <a:spLocks/>
          </p:cNvSpPr>
          <p:nvPr/>
        </p:nvSpPr>
        <p:spPr>
          <a:xfrm>
            <a:off x="1980224" y="3754960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0E6082A5-7168-2245-9DE0-8BD0AAC58C86}"/>
              </a:ext>
            </a:extLst>
          </p:cNvPr>
          <p:cNvSpPr txBox="1">
            <a:spLocks/>
          </p:cNvSpPr>
          <p:nvPr/>
        </p:nvSpPr>
        <p:spPr>
          <a:xfrm>
            <a:off x="2316155" y="3754960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CCA21EA2-C68E-184D-A089-A114BFC8479E}"/>
              </a:ext>
            </a:extLst>
          </p:cNvPr>
          <p:cNvSpPr txBox="1">
            <a:spLocks/>
          </p:cNvSpPr>
          <p:nvPr/>
        </p:nvSpPr>
        <p:spPr>
          <a:xfrm>
            <a:off x="2640011" y="3754960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ABD5D4DE-BEB3-2146-A5EE-CEF8767F13DF}"/>
              </a:ext>
            </a:extLst>
          </p:cNvPr>
          <p:cNvSpPr txBox="1">
            <a:spLocks/>
          </p:cNvSpPr>
          <p:nvPr/>
        </p:nvSpPr>
        <p:spPr>
          <a:xfrm>
            <a:off x="5748421" y="3563756"/>
            <a:ext cx="964166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523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267CB3E6-C5ED-6E4D-9866-BAABBBFA2BC9}"/>
              </a:ext>
            </a:extLst>
          </p:cNvPr>
          <p:cNvSpPr/>
          <p:nvPr/>
        </p:nvSpPr>
        <p:spPr>
          <a:xfrm>
            <a:off x="6672000" y="2744992"/>
            <a:ext cx="4531768" cy="3682956"/>
          </a:xfrm>
          <a:prstGeom prst="roundRect">
            <a:avLst>
              <a:gd name="adj" fmla="val 6984"/>
            </a:avLst>
          </a:prstGeom>
          <a:solidFill>
            <a:srgbClr val="C2FF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374F798F-E077-E742-A53C-E625FA794375}"/>
              </a:ext>
            </a:extLst>
          </p:cNvPr>
          <p:cNvSpPr/>
          <p:nvPr/>
        </p:nvSpPr>
        <p:spPr>
          <a:xfrm>
            <a:off x="1116707" y="2770042"/>
            <a:ext cx="4763293" cy="3682958"/>
          </a:xfrm>
          <a:prstGeom prst="roundRect">
            <a:avLst>
              <a:gd name="adj" fmla="val 6984"/>
            </a:avLst>
          </a:prstGeom>
          <a:solidFill>
            <a:srgbClr val="00305D">
              <a:alpha val="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001800" cy="975875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Резервное копирование с </a:t>
            </a:r>
            <a:r>
              <a:rPr lang="en-US" sz="3000" dirty="0">
                <a:ea typeface="MTS Sans" panose="02000000000000000000" pitchFamily="50" charset="0"/>
              </a:rPr>
              <a:t>Veeam Cloud Connect Backup </a:t>
            </a:r>
            <a:r>
              <a:rPr lang="ru-RU" sz="3000" dirty="0">
                <a:ea typeface="MTS Sans" panose="02000000000000000000" pitchFamily="50" charset="0"/>
              </a:rPr>
              <a:t> – Правило 3-2-1</a:t>
            </a:r>
            <a:endParaRPr lang="ru-RU" sz="3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84000" y="1485000"/>
            <a:ext cx="1058400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ea typeface="MTS Sans" panose="02000000000000000000" pitchFamily="50" charset="0"/>
              </a:rPr>
              <a:t>У</a:t>
            </a:r>
            <a:r>
              <a:rPr lang="en-US" sz="1400" dirty="0">
                <a:solidFill>
                  <a:srgbClr val="002060"/>
                </a:solidFill>
                <a:ea typeface="MTS Sans" panose="02000000000000000000" pitchFamily="50" charset="0"/>
              </a:rPr>
              <a:t>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клиента есть сервер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Veeam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en-US" sz="1400" u="sng" dirty="0">
                <a:latin typeface="Montserrat" pitchFamily="2" charset="-52"/>
                <a:ea typeface="MTS Sans" panose="02000000000000000000" pitchFamily="50" charset="0"/>
              </a:rPr>
              <a:t>(</a:t>
            </a:r>
            <a:r>
              <a:rPr lang="ru-RU" sz="1400" u="sng" dirty="0">
                <a:latin typeface="Montserrat" pitchFamily="2" charset="-52"/>
                <a:ea typeface="MTS Sans" panose="02000000000000000000" pitchFamily="50" charset="0"/>
              </a:rPr>
              <a:t>не ниже </a:t>
            </a:r>
            <a:r>
              <a:rPr lang="en-US" sz="1400" u="sng" dirty="0">
                <a:latin typeface="Montserrat" pitchFamily="2" charset="-52"/>
                <a:ea typeface="MTS Sans" panose="02000000000000000000" pitchFamily="50" charset="0"/>
                <a:sym typeface="Helvetica Neue Light"/>
              </a:rPr>
              <a:t>Enterprise edition</a:t>
            </a:r>
            <a:r>
              <a:rPr lang="ru-RU" sz="1400" u="sng" dirty="0">
                <a:latin typeface="Montserrat" pitchFamily="2" charset="-52"/>
                <a:ea typeface="MTS Sans" panose="02000000000000000000" pitchFamily="50" charset="0"/>
                <a:sym typeface="Helvetica Neue Light"/>
              </a:rPr>
              <a:t>)</a:t>
            </a:r>
            <a:endParaRPr lang="ru-RU" sz="1400" dirty="0">
              <a:solidFill>
                <a:srgbClr val="002060"/>
              </a:solidFill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Резервное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копирование серверов, ВМ и ПК с ОС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Windows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и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Linux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, гипервизоров </a:t>
            </a:r>
            <a:r>
              <a:rPr lang="en-US" sz="1400" dirty="0" err="1">
                <a:latin typeface="Montserrat" pitchFamily="2" charset="-52"/>
                <a:ea typeface="MTS Sans" panose="02000000000000000000" pitchFamily="50" charset="0"/>
              </a:rPr>
              <a:t>Vmware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/Hyper-V</a:t>
            </a:r>
            <a:endParaRPr lang="ru-RU" sz="1400" dirty="0">
              <a:solidFill>
                <a:srgbClr val="002060"/>
              </a:solidFill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Управление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сервисом через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web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-панель сервера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Veeam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на площадке клиента</a:t>
            </a:r>
            <a:endParaRPr lang="ru-RU" sz="1400" dirty="0">
              <a:solidFill>
                <a:srgbClr val="002060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27AC98-80EF-BB4D-A55C-C762F77227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642" y="4055893"/>
            <a:ext cx="550753" cy="5507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5C9EF2-55FA-F941-A4A4-45B3CE14FD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246" y="3878597"/>
            <a:ext cx="892166" cy="892166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64D3846-8506-5B4E-8E7C-218CAFD8893E}"/>
              </a:ext>
            </a:extLst>
          </p:cNvPr>
          <p:cNvSpPr txBox="1">
            <a:spLocks/>
          </p:cNvSpPr>
          <p:nvPr/>
        </p:nvSpPr>
        <p:spPr>
          <a:xfrm>
            <a:off x="4101048" y="4881252"/>
            <a:ext cx="1643078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+mn-lt"/>
                <a:ea typeface="MTS Sans" panose="02000000000000000000" pitchFamily="50" charset="0"/>
              </a:rPr>
              <a:t>Сервер </a:t>
            </a:r>
            <a:r>
              <a:rPr lang="en-US" sz="1000" dirty="0">
                <a:latin typeface="+mn-lt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 err="1">
                <a:latin typeface="+mn-lt"/>
                <a:ea typeface="MTS Sans" panose="02000000000000000000" pitchFamily="50" charset="0"/>
              </a:rPr>
              <a:t>Backup&amp;Replication</a:t>
            </a:r>
            <a:endParaRPr lang="en-US" sz="1000" dirty="0">
              <a:latin typeface="+mn-lt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+mn-lt"/>
                <a:ea typeface="MTS Sans" panose="02000000000000000000" pitchFamily="50" charset="0"/>
              </a:rPr>
              <a:t>Enterprise</a:t>
            </a:r>
            <a:endParaRPr lang="ru-RU" sz="1000" dirty="0">
              <a:latin typeface="+mn-lt"/>
              <a:ea typeface="MTS Sans" panose="02000000000000000000" pitchFamily="50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E28B89-C305-534E-915E-E4EECC5CC3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486" y="3866076"/>
            <a:ext cx="892166" cy="89216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0CD5B6B-759A-824F-B245-8404325715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919" y="3893997"/>
            <a:ext cx="892166" cy="892166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1064FC-6454-E84E-8101-C85F56DC7953}"/>
              </a:ext>
            </a:extLst>
          </p:cNvPr>
          <p:cNvSpPr txBox="1">
            <a:spLocks/>
          </p:cNvSpPr>
          <p:nvPr/>
        </p:nvSpPr>
        <p:spPr>
          <a:xfrm>
            <a:off x="8476620" y="3888094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+mn-lt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+mn-lt"/>
              <a:ea typeface="MTS Sans" panose="02000000000000000000" pitchFamily="50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7F906D9-2B1B-0640-BC6C-2AA3D6D3044B}"/>
              </a:ext>
            </a:extLst>
          </p:cNvPr>
          <p:cNvSpPr txBox="1">
            <a:spLocks/>
          </p:cNvSpPr>
          <p:nvPr/>
        </p:nvSpPr>
        <p:spPr>
          <a:xfrm>
            <a:off x="8504066" y="4497901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+mn-lt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+mn-lt"/>
              <a:ea typeface="MTS Sans" panose="02000000000000000000" pitchFamily="50" charset="0"/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0E3BD1F-5E0C-7240-9310-4645813799F8}"/>
              </a:ext>
            </a:extLst>
          </p:cNvPr>
          <p:cNvCxnSpPr/>
          <p:nvPr/>
        </p:nvCxnSpPr>
        <p:spPr>
          <a:xfrm>
            <a:off x="8408586" y="4265102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E193A8B-4B17-EB4E-B44D-F097045465C2}"/>
              </a:ext>
            </a:extLst>
          </p:cNvPr>
          <p:cNvCxnSpPr>
            <a:cxnSpLocks/>
          </p:cNvCxnSpPr>
          <p:nvPr/>
        </p:nvCxnSpPr>
        <p:spPr>
          <a:xfrm>
            <a:off x="8408586" y="4474926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DC2ACFE9-AF7F-0841-9FB7-6188BB8D409C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6557395" y="4331270"/>
            <a:ext cx="533423" cy="0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01C04FD-0B0B-1246-87B7-CA537D38B0A0}"/>
              </a:ext>
            </a:extLst>
          </p:cNvPr>
          <p:cNvCxnSpPr>
            <a:cxnSpLocks/>
          </p:cNvCxnSpPr>
          <p:nvPr/>
        </p:nvCxnSpPr>
        <p:spPr>
          <a:xfrm flipH="1">
            <a:off x="5470413" y="4331269"/>
            <a:ext cx="542708" cy="1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C98D33-8A8E-2E4A-BB61-4E4458D8472F}"/>
              </a:ext>
            </a:extLst>
          </p:cNvPr>
          <p:cNvSpPr txBox="1">
            <a:spLocks/>
          </p:cNvSpPr>
          <p:nvPr/>
        </p:nvSpPr>
        <p:spPr>
          <a:xfrm>
            <a:off x="6630678" y="4802440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+mn-lt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>
                <a:latin typeface="+mn-lt"/>
                <a:ea typeface="MTS Sans" panose="02000000000000000000" pitchFamily="50" charset="0"/>
              </a:rPr>
              <a:t>Cloud </a:t>
            </a:r>
            <a:r>
              <a:rPr lang="ru-RU" sz="1000" dirty="0">
                <a:latin typeface="+mn-lt"/>
                <a:ea typeface="MTS Sans" panose="02000000000000000000" pitchFamily="50" charset="0"/>
              </a:rPr>
              <a:t>С</a:t>
            </a:r>
            <a:r>
              <a:rPr lang="en-US" sz="1000" dirty="0" err="1">
                <a:latin typeface="+mn-lt"/>
                <a:ea typeface="MTS Sans" panose="02000000000000000000" pitchFamily="50" charset="0"/>
              </a:rPr>
              <a:t>onnect</a:t>
            </a:r>
            <a:endParaRPr lang="ru-RU" sz="1000" dirty="0">
              <a:latin typeface="+mn-lt"/>
              <a:ea typeface="MTS Sans" panose="02000000000000000000" pitchFamily="50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A00FB16-776C-9145-9743-FB4643D345B8}"/>
              </a:ext>
            </a:extLst>
          </p:cNvPr>
          <p:cNvSpPr txBox="1">
            <a:spLocks/>
          </p:cNvSpPr>
          <p:nvPr/>
        </p:nvSpPr>
        <p:spPr>
          <a:xfrm>
            <a:off x="9365425" y="4816844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 err="1">
                <a:latin typeface="+mn-lt"/>
                <a:ea typeface="MTS Sans" panose="02000000000000000000" pitchFamily="50" charset="0"/>
              </a:rPr>
              <a:t>Репозиторий</a:t>
            </a:r>
            <a:endParaRPr lang="ru-RU" sz="1000" dirty="0">
              <a:latin typeface="+mn-lt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+mn-lt"/>
                <a:ea typeface="MTS Sans" panose="02000000000000000000" pitchFamily="50" charset="0"/>
              </a:rPr>
              <a:t>DataFort</a:t>
            </a:r>
            <a:endParaRPr lang="ru-RU" sz="1000" dirty="0">
              <a:latin typeface="+mn-lt"/>
              <a:ea typeface="MTS Sans" panose="02000000000000000000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92666CC-7167-3847-B5CC-A112A7D419E0}"/>
              </a:ext>
            </a:extLst>
          </p:cNvPr>
          <p:cNvSpPr txBox="1">
            <a:spLocks/>
          </p:cNvSpPr>
          <p:nvPr/>
        </p:nvSpPr>
        <p:spPr>
          <a:xfrm>
            <a:off x="1338671" y="5856995"/>
            <a:ext cx="1876957" cy="5960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+mn-lt"/>
                <a:ea typeface="MTS Sans" panose="02000000000000000000" pitchFamily="50" charset="0"/>
              </a:rPr>
              <a:t>Гипервизоры </a:t>
            </a:r>
          </a:p>
          <a:p>
            <a:pPr marL="0" indent="0" algn="ctr" hangingPunct="1">
              <a:buNone/>
            </a:pPr>
            <a:r>
              <a:rPr lang="en-US" sz="1000" dirty="0" err="1">
                <a:latin typeface="+mn-lt"/>
                <a:ea typeface="MTS Sans" panose="02000000000000000000" pitchFamily="50" charset="0"/>
              </a:rPr>
              <a:t>Vmware</a:t>
            </a:r>
            <a:r>
              <a:rPr lang="en-US" sz="1000" dirty="0">
                <a:latin typeface="+mn-lt"/>
                <a:ea typeface="MTS Sans" panose="02000000000000000000" pitchFamily="50" charset="0"/>
              </a:rPr>
              <a:t>/ Hyper-V</a:t>
            </a:r>
            <a:endParaRPr lang="ru-RU" sz="1000" dirty="0">
              <a:latin typeface="+mn-lt"/>
              <a:ea typeface="MTS Sans" panose="02000000000000000000" pitchFamily="50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A3D7748-C0FD-B14F-A3BD-E3265989C402}"/>
              </a:ext>
            </a:extLst>
          </p:cNvPr>
          <p:cNvSpPr txBox="1">
            <a:spLocks/>
          </p:cNvSpPr>
          <p:nvPr/>
        </p:nvSpPr>
        <p:spPr>
          <a:xfrm>
            <a:off x="5808000" y="3675249"/>
            <a:ext cx="921773" cy="293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dirty="0">
                <a:latin typeface="Montserrat" pitchFamily="2" charset="-52"/>
                <a:ea typeface="MTS Sans" panose="02000000000000000000" pitchFamily="50" charset="0"/>
              </a:rPr>
              <a:t>Internet</a:t>
            </a:r>
            <a:endParaRPr lang="ru-RU" dirty="0"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5E1E16F-E7EE-E844-BC16-F1E428A3B5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828" y="3242355"/>
            <a:ext cx="834645" cy="834645"/>
          </a:xfrm>
          <a:prstGeom prst="rect">
            <a:avLst/>
          </a:prstGeom>
        </p:spPr>
      </p:pic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290915F0-BCEB-2949-AB3A-94128030C924}"/>
              </a:ext>
            </a:extLst>
          </p:cNvPr>
          <p:cNvSpPr/>
          <p:nvPr/>
        </p:nvSpPr>
        <p:spPr>
          <a:xfrm>
            <a:off x="1734016" y="5519433"/>
            <a:ext cx="1227877" cy="213567"/>
          </a:xfrm>
          <a:prstGeom prst="round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+mn-ea"/>
              <a:cs typeface="+mn-cs"/>
              <a:sym typeface="Helvetica Neue Medium"/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9390C7A7-6CA9-234A-9BAF-670C2436173E}"/>
              </a:ext>
            </a:extLst>
          </p:cNvPr>
          <p:cNvSpPr/>
          <p:nvPr/>
        </p:nvSpPr>
        <p:spPr>
          <a:xfrm>
            <a:off x="1813811" y="5590887"/>
            <a:ext cx="70658" cy="70658"/>
          </a:xfrm>
          <a:prstGeom prst="ellipse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+mn-ea"/>
              <a:cs typeface="+mn-cs"/>
              <a:sym typeface="Helvetica Neue Medium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CA48FD6-9B1C-2F4B-8D10-3B47A5F57237}"/>
              </a:ext>
            </a:extLst>
          </p:cNvPr>
          <p:cNvSpPr/>
          <p:nvPr/>
        </p:nvSpPr>
        <p:spPr>
          <a:xfrm>
            <a:off x="2528306" y="5596627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+mn-ea"/>
              <a:cs typeface="+mn-cs"/>
              <a:sym typeface="Helvetica Neue Medium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0E31CE5-B82D-A240-98B1-91453797FE49}"/>
              </a:ext>
            </a:extLst>
          </p:cNvPr>
          <p:cNvSpPr/>
          <p:nvPr/>
        </p:nvSpPr>
        <p:spPr>
          <a:xfrm>
            <a:off x="2672532" y="5596627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+mn-ea"/>
              <a:cs typeface="+mn-cs"/>
              <a:sym typeface="Helvetica Neue Medium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91366A4-0365-9E4F-B9A5-0733F8EF5B73}"/>
              </a:ext>
            </a:extLst>
          </p:cNvPr>
          <p:cNvSpPr/>
          <p:nvPr/>
        </p:nvSpPr>
        <p:spPr>
          <a:xfrm>
            <a:off x="2801152" y="5596627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+mn-ea"/>
              <a:cs typeface="+mn-cs"/>
              <a:sym typeface="Helvetica Neue Medium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445E5D9D-4A8A-A644-B285-77C714EE9CA3}"/>
              </a:ext>
            </a:extLst>
          </p:cNvPr>
          <p:cNvGrpSpPr/>
          <p:nvPr/>
        </p:nvGrpSpPr>
        <p:grpSpPr>
          <a:xfrm>
            <a:off x="1902305" y="4717725"/>
            <a:ext cx="227993" cy="698431"/>
            <a:chOff x="6755371" y="3244107"/>
            <a:chExt cx="860827" cy="2635885"/>
          </a:xfrm>
        </p:grpSpPr>
        <p:sp>
          <p:nvSpPr>
            <p:cNvPr id="26" name="Скругленный прямоугольник 25">
              <a:extLst>
                <a:ext uri="{FF2B5EF4-FFF2-40B4-BE49-F238E27FC236}">
                  <a16:creationId xmlns:a16="http://schemas.microsoft.com/office/drawing/2014/main" id="{520E7CCC-2592-FD4A-A4E8-8E0AEC1EF409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D805FB71-3745-604F-9BBC-DC8EA6ABF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F2CC302D-DAD6-BB43-8EA9-CE17105CA43F}"/>
              </a:ext>
            </a:extLst>
          </p:cNvPr>
          <p:cNvGrpSpPr/>
          <p:nvPr/>
        </p:nvGrpSpPr>
        <p:grpSpPr>
          <a:xfrm>
            <a:off x="2239444" y="4717724"/>
            <a:ext cx="227993" cy="698431"/>
            <a:chOff x="6755371" y="3244107"/>
            <a:chExt cx="860827" cy="2635885"/>
          </a:xfrm>
        </p:grpSpPr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8BBB5481-1F0C-FE4B-9914-C61EDFABBB66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30" name="Рисунок 29">
              <a:extLst>
                <a:ext uri="{FF2B5EF4-FFF2-40B4-BE49-F238E27FC236}">
                  <a16:creationId xmlns:a16="http://schemas.microsoft.com/office/drawing/2014/main" id="{A85D9C1E-5979-B44D-AFF4-EFFFDDE89D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A3EFFF26-CD8D-E941-92BB-5C0A0A1BA030}"/>
              </a:ext>
            </a:extLst>
          </p:cNvPr>
          <p:cNvGrpSpPr/>
          <p:nvPr/>
        </p:nvGrpSpPr>
        <p:grpSpPr>
          <a:xfrm>
            <a:off x="2558717" y="4715749"/>
            <a:ext cx="227993" cy="698431"/>
            <a:chOff x="6755371" y="3244107"/>
            <a:chExt cx="860827" cy="2635885"/>
          </a:xfrm>
        </p:grpSpPr>
        <p:sp>
          <p:nvSpPr>
            <p:cNvPr id="32" name="Скругленный прямоугольник 31">
              <a:extLst>
                <a:ext uri="{FF2B5EF4-FFF2-40B4-BE49-F238E27FC236}">
                  <a16:creationId xmlns:a16="http://schemas.microsoft.com/office/drawing/2014/main" id="{350F564E-8893-C04B-A06D-0D8F81E443AF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FBD2FE73-900F-1A4A-A314-EF30EB9F8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CBA24D3-EAF6-7947-86AC-290276BD23A5}"/>
              </a:ext>
            </a:extLst>
          </p:cNvPr>
          <p:cNvSpPr txBox="1">
            <a:spLocks/>
          </p:cNvSpPr>
          <p:nvPr/>
        </p:nvSpPr>
        <p:spPr>
          <a:xfrm>
            <a:off x="1803068" y="4417182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+mn-lt"/>
                <a:ea typeface="MTS Sans" panose="02000000000000000000" pitchFamily="50" charset="0"/>
              </a:rPr>
              <a:t>VM</a:t>
            </a:r>
            <a:endParaRPr lang="ru-RU" sz="1000" dirty="0">
              <a:latin typeface="+mn-lt"/>
              <a:ea typeface="MTS Sans" panose="02000000000000000000" pitchFamily="50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0E6082A5-7168-2245-9DE0-8BD0AAC58C86}"/>
              </a:ext>
            </a:extLst>
          </p:cNvPr>
          <p:cNvSpPr txBox="1">
            <a:spLocks/>
          </p:cNvSpPr>
          <p:nvPr/>
        </p:nvSpPr>
        <p:spPr>
          <a:xfrm>
            <a:off x="2138999" y="4417182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+mn-lt"/>
                <a:ea typeface="MTS Sans" panose="02000000000000000000" pitchFamily="50" charset="0"/>
              </a:rPr>
              <a:t>VM</a:t>
            </a:r>
            <a:endParaRPr lang="ru-RU" sz="1000" dirty="0">
              <a:latin typeface="+mn-lt"/>
              <a:ea typeface="MTS Sans" panose="02000000000000000000" pitchFamily="50" charset="0"/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CCA21EA2-C68E-184D-A089-A114BFC8479E}"/>
              </a:ext>
            </a:extLst>
          </p:cNvPr>
          <p:cNvSpPr txBox="1">
            <a:spLocks/>
          </p:cNvSpPr>
          <p:nvPr/>
        </p:nvSpPr>
        <p:spPr>
          <a:xfrm>
            <a:off x="2462855" y="4417182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+mn-lt"/>
                <a:ea typeface="MTS Sans" panose="02000000000000000000" pitchFamily="50" charset="0"/>
              </a:rPr>
              <a:t>VM</a:t>
            </a:r>
            <a:endParaRPr lang="ru-RU" sz="1000" dirty="0">
              <a:latin typeface="+mn-lt"/>
              <a:ea typeface="MTS Sans" panose="02000000000000000000" pitchFamily="50" charset="0"/>
            </a:endParaRP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711064FC-6454-E84E-8101-C85F56DC7953}"/>
              </a:ext>
            </a:extLst>
          </p:cNvPr>
          <p:cNvSpPr txBox="1">
            <a:spLocks/>
          </p:cNvSpPr>
          <p:nvPr/>
        </p:nvSpPr>
        <p:spPr>
          <a:xfrm>
            <a:off x="3449901" y="3957715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>
                <a:solidFill>
                  <a:schemeClr val="accent1"/>
                </a:solidFill>
                <a:latin typeface="+mn-lt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+mn-lt"/>
              <a:ea typeface="MTS Sans" panose="02000000000000000000" pitchFamily="50" charset="0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27F906D9-2B1B-0640-BC6C-2AA3D6D3044B}"/>
              </a:ext>
            </a:extLst>
          </p:cNvPr>
          <p:cNvSpPr txBox="1">
            <a:spLocks/>
          </p:cNvSpPr>
          <p:nvPr/>
        </p:nvSpPr>
        <p:spPr>
          <a:xfrm>
            <a:off x="3444635" y="4580718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+mn-lt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+mn-lt"/>
              <a:ea typeface="MTS Sans" panose="02000000000000000000" pitchFamily="50" charset="0"/>
            </a:endParaRP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60E3BD1F-5E0C-7240-9310-4645813799F8}"/>
              </a:ext>
            </a:extLst>
          </p:cNvPr>
          <p:cNvCxnSpPr/>
          <p:nvPr/>
        </p:nvCxnSpPr>
        <p:spPr>
          <a:xfrm>
            <a:off x="3344781" y="4310629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EE193A8B-4B17-EB4E-B44D-F097045465C2}"/>
              </a:ext>
            </a:extLst>
          </p:cNvPr>
          <p:cNvCxnSpPr>
            <a:cxnSpLocks/>
          </p:cNvCxnSpPr>
          <p:nvPr/>
        </p:nvCxnSpPr>
        <p:spPr>
          <a:xfrm>
            <a:off x="3344781" y="4520453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ABD5D4DE-BEB3-2146-A5EE-CEF8767F13DF}"/>
              </a:ext>
            </a:extLst>
          </p:cNvPr>
          <p:cNvSpPr txBox="1">
            <a:spLocks/>
          </p:cNvSpPr>
          <p:nvPr/>
        </p:nvSpPr>
        <p:spPr>
          <a:xfrm>
            <a:off x="8458850" y="2847325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>
                <a:solidFill>
                  <a:schemeClr val="accent1"/>
                </a:solidFill>
                <a:latin typeface="Montserrat Bold" pitchFamily="2" charset="-52"/>
                <a:ea typeface="MTS Sans" panose="02000000000000000000" pitchFamily="50" charset="0"/>
              </a:rPr>
              <a:t>DataFort</a:t>
            </a:r>
            <a:endParaRPr lang="ru-RU" dirty="0">
              <a:solidFill>
                <a:schemeClr val="accent1"/>
              </a:solidFill>
              <a:latin typeface="Montserrat Bold" pitchFamily="2" charset="-52"/>
              <a:ea typeface="MTS Sans" panose="02000000000000000000" pitchFamily="50" charset="0"/>
            </a:endParaRP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56AF32EB-0038-8D4C-827E-7F6A46C47234}"/>
              </a:ext>
            </a:extLst>
          </p:cNvPr>
          <p:cNvSpPr txBox="1">
            <a:spLocks/>
          </p:cNvSpPr>
          <p:nvPr/>
        </p:nvSpPr>
        <p:spPr>
          <a:xfrm>
            <a:off x="2784000" y="2828462"/>
            <a:ext cx="1813150" cy="2683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dirty="0">
                <a:solidFill>
                  <a:schemeClr val="accent1"/>
                </a:solidFill>
                <a:latin typeface="Montserrat Bold" pitchFamily="2" charset="-52"/>
                <a:ea typeface="MTS Sans" panose="02000000000000000000" pitchFamily="50" charset="0"/>
              </a:rPr>
              <a:t>Площадка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919751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Скругленный прямоугольник 63">
            <a:extLst>
              <a:ext uri="{FF2B5EF4-FFF2-40B4-BE49-F238E27FC236}">
                <a16:creationId xmlns:a16="http://schemas.microsoft.com/office/drawing/2014/main" id="{267CB3E6-C5ED-6E4D-9866-BAABBBFA2BC9}"/>
              </a:ext>
            </a:extLst>
          </p:cNvPr>
          <p:cNvSpPr/>
          <p:nvPr/>
        </p:nvSpPr>
        <p:spPr>
          <a:xfrm>
            <a:off x="6608788" y="2702403"/>
            <a:ext cx="4780517" cy="3869545"/>
          </a:xfrm>
          <a:prstGeom prst="roundRect">
            <a:avLst>
              <a:gd name="adj" fmla="val 6984"/>
            </a:avLst>
          </a:prstGeom>
          <a:solidFill>
            <a:srgbClr val="C2FF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374F798F-E077-E742-A53C-E625FA794375}"/>
              </a:ext>
            </a:extLst>
          </p:cNvPr>
          <p:cNvSpPr/>
          <p:nvPr/>
        </p:nvSpPr>
        <p:spPr>
          <a:xfrm>
            <a:off x="984001" y="2727453"/>
            <a:ext cx="4831194" cy="3869547"/>
          </a:xfrm>
          <a:prstGeom prst="roundRect">
            <a:avLst>
              <a:gd name="adj" fmla="val 6984"/>
            </a:avLst>
          </a:prstGeom>
          <a:solidFill>
            <a:srgbClr val="00305D">
              <a:alpha val="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217800" cy="1325563"/>
          </a:xfrm>
        </p:spPr>
        <p:txBody>
          <a:bodyPr>
            <a:noAutofit/>
          </a:bodyPr>
          <a:lstStyle/>
          <a:p>
            <a:r>
              <a:rPr lang="ru-RU" sz="2800" dirty="0">
                <a:ea typeface="MTS Sans" panose="02000000000000000000" pitchFamily="50" charset="0"/>
              </a:rPr>
              <a:t>Резервное копирование с </a:t>
            </a:r>
            <a:r>
              <a:rPr lang="en-US" sz="2800" dirty="0">
                <a:ea typeface="MTS Sans" panose="02000000000000000000" pitchFamily="50" charset="0"/>
              </a:rPr>
              <a:t>Veeam Cloud Connect Backup </a:t>
            </a:r>
            <a:r>
              <a:rPr lang="ru-RU" sz="2800" dirty="0">
                <a:ea typeface="MTS Sans" panose="02000000000000000000" pitchFamily="50" charset="0"/>
              </a:rPr>
              <a:t> – возможность восстановления в </a:t>
            </a:r>
            <a:r>
              <a:rPr lang="en-US" sz="2800" dirty="0">
                <a:ea typeface="MTS Sans" panose="02000000000000000000" pitchFamily="50" charset="0"/>
              </a:rPr>
              <a:t>Elastic Cloud</a:t>
            </a:r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690688"/>
            <a:ext cx="1051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Если клиент использует собственную площадку и при этом дополнительно хранит резервные копии в облаке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DataFort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, то в случае выхода из строя серверов он может восстановить данные в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Elastic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Cloud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и продолжить работать там до тех пор, пока работоспособность вашей площадке не будет восстановлена.</a:t>
            </a:r>
          </a:p>
          <a:p>
            <a:pPr algn="just"/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Восстановление в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Elastic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Cloud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осуществляется через запрос в службу эксплуатации.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27AC98-80EF-BB4D-A55C-C762F77227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409" y="3402817"/>
            <a:ext cx="550753" cy="5507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5C9EF2-55FA-F941-A4A4-45B3CE14FD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013" y="3225521"/>
            <a:ext cx="892166" cy="892166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64D3846-8506-5B4E-8E7C-218CAFD8893E}"/>
              </a:ext>
            </a:extLst>
          </p:cNvPr>
          <p:cNvSpPr txBox="1">
            <a:spLocks/>
          </p:cNvSpPr>
          <p:nvPr/>
        </p:nvSpPr>
        <p:spPr>
          <a:xfrm>
            <a:off x="4024632" y="4247271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Сервер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endParaRPr lang="en-US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Enterprise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E28B89-C305-534E-915E-E4EECC5CC3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53" y="3213000"/>
            <a:ext cx="892166" cy="89216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0CD5B6B-759A-824F-B245-8404325715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686" y="3240921"/>
            <a:ext cx="892166" cy="892166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1064FC-6454-E84E-8101-C85F56DC7953}"/>
              </a:ext>
            </a:extLst>
          </p:cNvPr>
          <p:cNvSpPr txBox="1">
            <a:spLocks/>
          </p:cNvSpPr>
          <p:nvPr/>
        </p:nvSpPr>
        <p:spPr>
          <a:xfrm>
            <a:off x="8394387" y="3235018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7F906D9-2B1B-0640-BC6C-2AA3D6D3044B}"/>
              </a:ext>
            </a:extLst>
          </p:cNvPr>
          <p:cNvSpPr txBox="1">
            <a:spLocks/>
          </p:cNvSpPr>
          <p:nvPr/>
        </p:nvSpPr>
        <p:spPr>
          <a:xfrm>
            <a:off x="8421833" y="3844825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0E3BD1F-5E0C-7240-9310-4645813799F8}"/>
              </a:ext>
            </a:extLst>
          </p:cNvPr>
          <p:cNvCxnSpPr/>
          <p:nvPr/>
        </p:nvCxnSpPr>
        <p:spPr>
          <a:xfrm>
            <a:off x="8326353" y="3612026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E193A8B-4B17-EB4E-B44D-F097045465C2}"/>
              </a:ext>
            </a:extLst>
          </p:cNvPr>
          <p:cNvCxnSpPr>
            <a:cxnSpLocks/>
          </p:cNvCxnSpPr>
          <p:nvPr/>
        </p:nvCxnSpPr>
        <p:spPr>
          <a:xfrm>
            <a:off x="8326353" y="3821850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DC2ACFE9-AF7F-0841-9FB7-6188BB8D409C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6475162" y="3678194"/>
            <a:ext cx="533423" cy="0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01C04FD-0B0B-1246-87B7-CA537D38B0A0}"/>
              </a:ext>
            </a:extLst>
          </p:cNvPr>
          <p:cNvCxnSpPr>
            <a:cxnSpLocks/>
          </p:cNvCxnSpPr>
          <p:nvPr/>
        </p:nvCxnSpPr>
        <p:spPr>
          <a:xfrm flipH="1">
            <a:off x="5388180" y="3678193"/>
            <a:ext cx="542708" cy="1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C98D33-8A8E-2E4A-BB61-4E4458D8472F}"/>
              </a:ext>
            </a:extLst>
          </p:cNvPr>
          <p:cNvSpPr txBox="1">
            <a:spLocks/>
          </p:cNvSpPr>
          <p:nvPr/>
        </p:nvSpPr>
        <p:spPr>
          <a:xfrm>
            <a:off x="6548445" y="4149364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Cloud </a:t>
            </a: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</a:t>
            </a: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onnect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A00FB16-776C-9145-9743-FB4643D345B8}"/>
              </a:ext>
            </a:extLst>
          </p:cNvPr>
          <p:cNvSpPr txBox="1">
            <a:spLocks/>
          </p:cNvSpPr>
          <p:nvPr/>
        </p:nvSpPr>
        <p:spPr>
          <a:xfrm>
            <a:off x="9245462" y="4094251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 err="1">
                <a:latin typeface="Montserrat" pitchFamily="2" charset="-52"/>
                <a:ea typeface="MTS Sans" panose="02000000000000000000" pitchFamily="50" charset="0"/>
              </a:rPr>
              <a:t>Репозиторий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92666CC-7167-3847-B5CC-A112A7D419E0}"/>
              </a:ext>
            </a:extLst>
          </p:cNvPr>
          <p:cNvSpPr txBox="1">
            <a:spLocks/>
          </p:cNvSpPr>
          <p:nvPr/>
        </p:nvSpPr>
        <p:spPr>
          <a:xfrm>
            <a:off x="1327242" y="6115064"/>
            <a:ext cx="1876957" cy="5960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Гипервизоры </a:t>
            </a:r>
          </a:p>
          <a:p>
            <a:pPr marL="0" indent="0" algn="ctr" hangingPunct="1">
              <a:buNone/>
            </a:pP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Vmware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/ Hyper-V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A3D7748-C0FD-B14F-A3BD-E3265989C402}"/>
              </a:ext>
            </a:extLst>
          </p:cNvPr>
          <p:cNvSpPr txBox="1">
            <a:spLocks/>
          </p:cNvSpPr>
          <p:nvPr/>
        </p:nvSpPr>
        <p:spPr>
          <a:xfrm>
            <a:off x="5725767" y="2904356"/>
            <a:ext cx="921773" cy="293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Internet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5E1E16F-E7EE-E844-BC16-F1E428A3B5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595" y="3355016"/>
            <a:ext cx="834645" cy="834645"/>
          </a:xfrm>
          <a:prstGeom prst="rect">
            <a:avLst/>
          </a:prstGeom>
        </p:spPr>
      </p:pic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92666CC-7167-3847-B5CC-A112A7D419E0}"/>
              </a:ext>
            </a:extLst>
          </p:cNvPr>
          <p:cNvSpPr txBox="1">
            <a:spLocks/>
          </p:cNvSpPr>
          <p:nvPr/>
        </p:nvSpPr>
        <p:spPr>
          <a:xfrm>
            <a:off x="816437" y="4230428"/>
            <a:ext cx="2922876" cy="4945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Сервера, ВМ и ПК</a:t>
            </a:r>
          </a:p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 ОС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Windows </a:t>
            </a: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и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Linux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290915F0-BCEB-2949-AB3A-94128030C924}"/>
              </a:ext>
            </a:extLst>
          </p:cNvPr>
          <p:cNvSpPr/>
          <p:nvPr/>
        </p:nvSpPr>
        <p:spPr>
          <a:xfrm>
            <a:off x="1651783" y="5780756"/>
            <a:ext cx="1227877" cy="213567"/>
          </a:xfrm>
          <a:prstGeom prst="round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9390C7A7-6CA9-234A-9BAF-670C2436173E}"/>
              </a:ext>
            </a:extLst>
          </p:cNvPr>
          <p:cNvSpPr/>
          <p:nvPr/>
        </p:nvSpPr>
        <p:spPr>
          <a:xfrm>
            <a:off x="1731578" y="5852210"/>
            <a:ext cx="70658" cy="70658"/>
          </a:xfrm>
          <a:prstGeom prst="ellipse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CA48FD6-9B1C-2F4B-8D10-3B47A5F57237}"/>
              </a:ext>
            </a:extLst>
          </p:cNvPr>
          <p:cNvSpPr/>
          <p:nvPr/>
        </p:nvSpPr>
        <p:spPr>
          <a:xfrm>
            <a:off x="2446073" y="5857950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0E31CE5-B82D-A240-98B1-91453797FE49}"/>
              </a:ext>
            </a:extLst>
          </p:cNvPr>
          <p:cNvSpPr/>
          <p:nvPr/>
        </p:nvSpPr>
        <p:spPr>
          <a:xfrm>
            <a:off x="2590299" y="5857950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91366A4-0365-9E4F-B9A5-0733F8EF5B73}"/>
              </a:ext>
            </a:extLst>
          </p:cNvPr>
          <p:cNvSpPr/>
          <p:nvPr/>
        </p:nvSpPr>
        <p:spPr>
          <a:xfrm>
            <a:off x="2718919" y="5857950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445E5D9D-4A8A-A644-B285-77C714EE9CA3}"/>
              </a:ext>
            </a:extLst>
          </p:cNvPr>
          <p:cNvGrpSpPr/>
          <p:nvPr/>
        </p:nvGrpSpPr>
        <p:grpSpPr>
          <a:xfrm>
            <a:off x="1820072" y="4979048"/>
            <a:ext cx="227993" cy="698431"/>
            <a:chOff x="6755371" y="3244107"/>
            <a:chExt cx="860827" cy="2635885"/>
          </a:xfrm>
        </p:grpSpPr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520E7CCC-2592-FD4A-A4E8-8E0AEC1EF409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D805FB71-3745-604F-9BBC-DC8EA6ABF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F2CC302D-DAD6-BB43-8EA9-CE17105CA43F}"/>
              </a:ext>
            </a:extLst>
          </p:cNvPr>
          <p:cNvGrpSpPr/>
          <p:nvPr/>
        </p:nvGrpSpPr>
        <p:grpSpPr>
          <a:xfrm>
            <a:off x="2157211" y="4979047"/>
            <a:ext cx="227993" cy="698431"/>
            <a:chOff x="6755371" y="3244107"/>
            <a:chExt cx="860827" cy="2635885"/>
          </a:xfrm>
        </p:grpSpPr>
        <p:sp>
          <p:nvSpPr>
            <p:cNvPr id="30" name="Скругленный прямоугольник 29">
              <a:extLst>
                <a:ext uri="{FF2B5EF4-FFF2-40B4-BE49-F238E27FC236}">
                  <a16:creationId xmlns:a16="http://schemas.microsoft.com/office/drawing/2014/main" id="{8BBB5481-1F0C-FE4B-9914-C61EDFABBB66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A85D9C1E-5979-B44D-AFF4-EFFFDDE89D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A3EFFF26-CD8D-E941-92BB-5C0A0A1BA030}"/>
              </a:ext>
            </a:extLst>
          </p:cNvPr>
          <p:cNvGrpSpPr/>
          <p:nvPr/>
        </p:nvGrpSpPr>
        <p:grpSpPr>
          <a:xfrm>
            <a:off x="2476484" y="4977072"/>
            <a:ext cx="227993" cy="698431"/>
            <a:chOff x="6755371" y="3244107"/>
            <a:chExt cx="860827" cy="2635885"/>
          </a:xfrm>
        </p:grpSpPr>
        <p:sp>
          <p:nvSpPr>
            <p:cNvPr id="33" name="Скругленный прямоугольник 32">
              <a:extLst>
                <a:ext uri="{FF2B5EF4-FFF2-40B4-BE49-F238E27FC236}">
                  <a16:creationId xmlns:a16="http://schemas.microsoft.com/office/drawing/2014/main" id="{350F564E-8893-C04B-A06D-0D8F81E443AF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FBD2FE73-900F-1A4A-A314-EF30EB9F8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4CBA24D3-EAF6-7947-86AC-290276BD23A5}"/>
              </a:ext>
            </a:extLst>
          </p:cNvPr>
          <p:cNvSpPr txBox="1">
            <a:spLocks/>
          </p:cNvSpPr>
          <p:nvPr/>
        </p:nvSpPr>
        <p:spPr>
          <a:xfrm>
            <a:off x="1720835" y="4678505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0E6082A5-7168-2245-9DE0-8BD0AAC58C86}"/>
              </a:ext>
            </a:extLst>
          </p:cNvPr>
          <p:cNvSpPr txBox="1">
            <a:spLocks/>
          </p:cNvSpPr>
          <p:nvPr/>
        </p:nvSpPr>
        <p:spPr>
          <a:xfrm>
            <a:off x="2056766" y="4678505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CCA21EA2-C68E-184D-A089-A114BFC8479E}"/>
              </a:ext>
            </a:extLst>
          </p:cNvPr>
          <p:cNvSpPr txBox="1">
            <a:spLocks/>
          </p:cNvSpPr>
          <p:nvPr/>
        </p:nvSpPr>
        <p:spPr>
          <a:xfrm>
            <a:off x="2380622" y="4678505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11064FC-6454-E84E-8101-C85F56DC7953}"/>
              </a:ext>
            </a:extLst>
          </p:cNvPr>
          <p:cNvSpPr txBox="1">
            <a:spLocks/>
          </p:cNvSpPr>
          <p:nvPr/>
        </p:nvSpPr>
        <p:spPr>
          <a:xfrm>
            <a:off x="3367668" y="3304639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27F906D9-2B1B-0640-BC6C-2AA3D6D3044B}"/>
              </a:ext>
            </a:extLst>
          </p:cNvPr>
          <p:cNvSpPr txBox="1">
            <a:spLocks/>
          </p:cNvSpPr>
          <p:nvPr/>
        </p:nvSpPr>
        <p:spPr>
          <a:xfrm>
            <a:off x="3362402" y="3927642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60E3BD1F-5E0C-7240-9310-4645813799F8}"/>
              </a:ext>
            </a:extLst>
          </p:cNvPr>
          <p:cNvCxnSpPr/>
          <p:nvPr/>
        </p:nvCxnSpPr>
        <p:spPr>
          <a:xfrm>
            <a:off x="3262548" y="3657553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EE193A8B-4B17-EB4E-B44D-F097045465C2}"/>
              </a:ext>
            </a:extLst>
          </p:cNvPr>
          <p:cNvCxnSpPr>
            <a:cxnSpLocks/>
          </p:cNvCxnSpPr>
          <p:nvPr/>
        </p:nvCxnSpPr>
        <p:spPr>
          <a:xfrm>
            <a:off x="3262548" y="3867377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2" name="Скругленный прямоугольник 41">
            <a:extLst>
              <a:ext uri="{FF2B5EF4-FFF2-40B4-BE49-F238E27FC236}">
                <a16:creationId xmlns:a16="http://schemas.microsoft.com/office/drawing/2014/main" id="{290915F0-BCEB-2949-AB3A-94128030C924}"/>
              </a:ext>
            </a:extLst>
          </p:cNvPr>
          <p:cNvSpPr/>
          <p:nvPr/>
        </p:nvSpPr>
        <p:spPr>
          <a:xfrm>
            <a:off x="9569080" y="6068318"/>
            <a:ext cx="1227877" cy="213567"/>
          </a:xfrm>
          <a:prstGeom prst="round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9390C7A7-6CA9-234A-9BAF-670C2436173E}"/>
              </a:ext>
            </a:extLst>
          </p:cNvPr>
          <p:cNvSpPr/>
          <p:nvPr/>
        </p:nvSpPr>
        <p:spPr>
          <a:xfrm>
            <a:off x="9648875" y="6139772"/>
            <a:ext cx="70658" cy="70658"/>
          </a:xfrm>
          <a:prstGeom prst="ellipse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FCA48FD6-9B1C-2F4B-8D10-3B47A5F57237}"/>
              </a:ext>
            </a:extLst>
          </p:cNvPr>
          <p:cNvSpPr/>
          <p:nvPr/>
        </p:nvSpPr>
        <p:spPr>
          <a:xfrm>
            <a:off x="10363370" y="6145512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D0E31CE5-B82D-A240-98B1-91453797FE49}"/>
              </a:ext>
            </a:extLst>
          </p:cNvPr>
          <p:cNvSpPr/>
          <p:nvPr/>
        </p:nvSpPr>
        <p:spPr>
          <a:xfrm>
            <a:off x="10507596" y="6145512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91366A4-0365-9E4F-B9A5-0733F8EF5B73}"/>
              </a:ext>
            </a:extLst>
          </p:cNvPr>
          <p:cNvSpPr/>
          <p:nvPr/>
        </p:nvSpPr>
        <p:spPr>
          <a:xfrm>
            <a:off x="10636216" y="6145512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445E5D9D-4A8A-A644-B285-77C714EE9CA3}"/>
              </a:ext>
            </a:extLst>
          </p:cNvPr>
          <p:cNvGrpSpPr/>
          <p:nvPr/>
        </p:nvGrpSpPr>
        <p:grpSpPr>
          <a:xfrm>
            <a:off x="9737369" y="5266610"/>
            <a:ext cx="227993" cy="698431"/>
            <a:chOff x="6755371" y="3244107"/>
            <a:chExt cx="860827" cy="2635885"/>
          </a:xfrm>
        </p:grpSpPr>
        <p:sp>
          <p:nvSpPr>
            <p:cNvPr id="48" name="Скругленный прямоугольник 47">
              <a:extLst>
                <a:ext uri="{FF2B5EF4-FFF2-40B4-BE49-F238E27FC236}">
                  <a16:creationId xmlns:a16="http://schemas.microsoft.com/office/drawing/2014/main" id="{520E7CCC-2592-FD4A-A4E8-8E0AEC1EF409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49" name="Рисунок 48">
              <a:extLst>
                <a:ext uri="{FF2B5EF4-FFF2-40B4-BE49-F238E27FC236}">
                  <a16:creationId xmlns:a16="http://schemas.microsoft.com/office/drawing/2014/main" id="{D805FB71-3745-604F-9BBC-DC8EA6ABF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F2CC302D-DAD6-BB43-8EA9-CE17105CA43F}"/>
              </a:ext>
            </a:extLst>
          </p:cNvPr>
          <p:cNvGrpSpPr/>
          <p:nvPr/>
        </p:nvGrpSpPr>
        <p:grpSpPr>
          <a:xfrm>
            <a:off x="10074508" y="5266609"/>
            <a:ext cx="227993" cy="698431"/>
            <a:chOff x="6755371" y="3244107"/>
            <a:chExt cx="860827" cy="2635885"/>
          </a:xfrm>
        </p:grpSpPr>
        <p:sp>
          <p:nvSpPr>
            <p:cNvPr id="51" name="Скругленный прямоугольник 50">
              <a:extLst>
                <a:ext uri="{FF2B5EF4-FFF2-40B4-BE49-F238E27FC236}">
                  <a16:creationId xmlns:a16="http://schemas.microsoft.com/office/drawing/2014/main" id="{8BBB5481-1F0C-FE4B-9914-C61EDFABBB66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52" name="Рисунок 51">
              <a:extLst>
                <a:ext uri="{FF2B5EF4-FFF2-40B4-BE49-F238E27FC236}">
                  <a16:creationId xmlns:a16="http://schemas.microsoft.com/office/drawing/2014/main" id="{A85D9C1E-5979-B44D-AFF4-EFFFDDE89D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A3EFFF26-CD8D-E941-92BB-5C0A0A1BA030}"/>
              </a:ext>
            </a:extLst>
          </p:cNvPr>
          <p:cNvGrpSpPr/>
          <p:nvPr/>
        </p:nvGrpSpPr>
        <p:grpSpPr>
          <a:xfrm>
            <a:off x="10393781" y="5264634"/>
            <a:ext cx="227993" cy="698431"/>
            <a:chOff x="6755371" y="3244107"/>
            <a:chExt cx="860827" cy="2635885"/>
          </a:xfrm>
        </p:grpSpPr>
        <p:sp>
          <p:nvSpPr>
            <p:cNvPr id="54" name="Скругленный прямоугольник 53">
              <a:extLst>
                <a:ext uri="{FF2B5EF4-FFF2-40B4-BE49-F238E27FC236}">
                  <a16:creationId xmlns:a16="http://schemas.microsoft.com/office/drawing/2014/main" id="{350F564E-8893-C04B-A06D-0D8F81E443AF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55" name="Рисунок 54">
              <a:extLst>
                <a:ext uri="{FF2B5EF4-FFF2-40B4-BE49-F238E27FC236}">
                  <a16:creationId xmlns:a16="http://schemas.microsoft.com/office/drawing/2014/main" id="{FBD2FE73-900F-1A4A-A314-EF30EB9F8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4CBA24D3-EAF6-7947-86AC-290276BD23A5}"/>
              </a:ext>
            </a:extLst>
          </p:cNvPr>
          <p:cNvSpPr txBox="1">
            <a:spLocks/>
          </p:cNvSpPr>
          <p:nvPr/>
        </p:nvSpPr>
        <p:spPr>
          <a:xfrm>
            <a:off x="9638132" y="4887689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0E6082A5-7168-2245-9DE0-8BD0AAC58C86}"/>
              </a:ext>
            </a:extLst>
          </p:cNvPr>
          <p:cNvSpPr txBox="1">
            <a:spLocks/>
          </p:cNvSpPr>
          <p:nvPr/>
        </p:nvSpPr>
        <p:spPr>
          <a:xfrm>
            <a:off x="9974063" y="4887689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CCA21EA2-C68E-184D-A089-A114BFC8479E}"/>
              </a:ext>
            </a:extLst>
          </p:cNvPr>
          <p:cNvSpPr txBox="1">
            <a:spLocks/>
          </p:cNvSpPr>
          <p:nvPr/>
        </p:nvSpPr>
        <p:spPr>
          <a:xfrm>
            <a:off x="10297919" y="4887689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C039C3BC-9E57-1643-BB25-44B9652DA235}"/>
              </a:ext>
            </a:extLst>
          </p:cNvPr>
          <p:cNvCxnSpPr/>
          <p:nvPr/>
        </p:nvCxnSpPr>
        <p:spPr>
          <a:xfrm flipV="1">
            <a:off x="10288821" y="4573364"/>
            <a:ext cx="0" cy="314325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FBAB33A4-736A-CF45-9790-5767837920EB}"/>
              </a:ext>
            </a:extLst>
          </p:cNvPr>
          <p:cNvCxnSpPr>
            <a:cxnSpLocks/>
          </p:cNvCxnSpPr>
          <p:nvPr/>
        </p:nvCxnSpPr>
        <p:spPr>
          <a:xfrm flipV="1">
            <a:off x="10074508" y="4573364"/>
            <a:ext cx="0" cy="314325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97A2D4CC-97F7-9849-9203-40CA89BEDDB5}"/>
              </a:ext>
            </a:extLst>
          </p:cNvPr>
          <p:cNvSpPr txBox="1">
            <a:spLocks/>
          </p:cNvSpPr>
          <p:nvPr/>
        </p:nvSpPr>
        <p:spPr>
          <a:xfrm>
            <a:off x="9569080" y="6242355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dirty="0">
                <a:latin typeface="MTS Sans" panose="02000000000000000000" pitchFamily="50" charset="0"/>
                <a:ea typeface="MTS Sans" panose="02000000000000000000" pitchFamily="50" charset="0"/>
              </a:rPr>
              <a:t> </a:t>
            </a:r>
            <a:r>
              <a:rPr lang="en-US" dirty="0">
                <a:latin typeface="MTS Sans" panose="02000000000000000000" pitchFamily="50" charset="0"/>
                <a:ea typeface="MTS Sans" panose="02000000000000000000" pitchFamily="50" charset="0"/>
              </a:rPr>
              <a:t>Elastic </a:t>
            </a:r>
            <a:r>
              <a:rPr lang="ru-RU" dirty="0">
                <a:latin typeface="MTS Sans" panose="02000000000000000000" pitchFamily="50" charset="0"/>
                <a:ea typeface="MTS Sans" panose="02000000000000000000" pitchFamily="50" charset="0"/>
              </a:rPr>
              <a:t>С</a:t>
            </a:r>
            <a:r>
              <a:rPr lang="en-US" dirty="0">
                <a:latin typeface="MTS Sans" panose="02000000000000000000" pitchFamily="50" charset="0"/>
                <a:ea typeface="MTS Sans" panose="02000000000000000000" pitchFamily="50" charset="0"/>
              </a:rPr>
              <a:t>loud</a:t>
            </a:r>
            <a:endParaRPr lang="ru-RU" dirty="0">
              <a:latin typeface="MTS Sans" panose="02000000000000000000" pitchFamily="50" charset="0"/>
              <a:ea typeface="MTS Sans" panose="02000000000000000000" pitchFamily="50" charset="0"/>
            </a:endParaRPr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ABD5D4DE-BEB3-2146-A5EE-CEF8767F13DF}"/>
              </a:ext>
            </a:extLst>
          </p:cNvPr>
          <p:cNvSpPr txBox="1">
            <a:spLocks/>
          </p:cNvSpPr>
          <p:nvPr/>
        </p:nvSpPr>
        <p:spPr>
          <a:xfrm>
            <a:off x="8472721" y="2799863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1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56AF32EB-0038-8D4C-827E-7F6A46C47234}"/>
              </a:ext>
            </a:extLst>
          </p:cNvPr>
          <p:cNvSpPr txBox="1">
            <a:spLocks/>
          </p:cNvSpPr>
          <p:nvPr/>
        </p:nvSpPr>
        <p:spPr>
          <a:xfrm>
            <a:off x="2712000" y="2781000"/>
            <a:ext cx="1813150" cy="2683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Площадка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613015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Скругленный прямоугольник 57">
            <a:extLst>
              <a:ext uri="{FF2B5EF4-FFF2-40B4-BE49-F238E27FC236}">
                <a16:creationId xmlns:a16="http://schemas.microsoft.com/office/drawing/2014/main" id="{267CB3E6-C5ED-6E4D-9866-BAABBBFA2BC9}"/>
              </a:ext>
            </a:extLst>
          </p:cNvPr>
          <p:cNvSpPr/>
          <p:nvPr/>
        </p:nvSpPr>
        <p:spPr>
          <a:xfrm>
            <a:off x="6208145" y="3331950"/>
            <a:ext cx="5215855" cy="3167998"/>
          </a:xfrm>
          <a:prstGeom prst="roundRect">
            <a:avLst>
              <a:gd name="adj" fmla="val 6984"/>
            </a:avLst>
          </a:prstGeom>
          <a:solidFill>
            <a:srgbClr val="C2FF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374F798F-E077-E742-A53C-E625FA794375}"/>
              </a:ext>
            </a:extLst>
          </p:cNvPr>
          <p:cNvSpPr/>
          <p:nvPr/>
        </p:nvSpPr>
        <p:spPr>
          <a:xfrm>
            <a:off x="838200" y="3357000"/>
            <a:ext cx="4493812" cy="3168000"/>
          </a:xfrm>
          <a:prstGeom prst="roundRect">
            <a:avLst>
              <a:gd name="adj" fmla="val 6984"/>
            </a:avLst>
          </a:prstGeom>
          <a:solidFill>
            <a:srgbClr val="00305D">
              <a:alpha val="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073800" cy="975875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Аварийное восстановление с </a:t>
            </a:r>
            <a:r>
              <a:rPr lang="en-US" sz="3000" dirty="0">
                <a:ea typeface="MTS Sans" panose="02000000000000000000" pitchFamily="50" charset="0"/>
              </a:rPr>
              <a:t>Veeam </a:t>
            </a:r>
            <a:r>
              <a:rPr lang="ru-RU" sz="3000" dirty="0">
                <a:ea typeface="MTS Sans" panose="02000000000000000000" pitchFamily="50" charset="0"/>
              </a:rPr>
              <a:t>С</a:t>
            </a:r>
            <a:r>
              <a:rPr lang="en-US" sz="3000" dirty="0">
                <a:ea typeface="MTS Sans" panose="02000000000000000000" pitchFamily="50" charset="0"/>
              </a:rPr>
              <a:t>loud Connect Replication</a:t>
            </a:r>
            <a:endParaRPr lang="ru-RU" sz="3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2000" y="1485000"/>
            <a:ext cx="1058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У</a:t>
            </a: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клиента есть сервер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Veeam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en-US" sz="1400" u="sng" dirty="0">
                <a:latin typeface="Montserrat" pitchFamily="2" charset="-52"/>
                <a:ea typeface="MTS Sans" panose="02000000000000000000" pitchFamily="50" charset="0"/>
              </a:rPr>
              <a:t>(</a:t>
            </a:r>
            <a:r>
              <a:rPr lang="ru-RU" sz="1400" u="sng" dirty="0">
                <a:latin typeface="Montserrat" pitchFamily="2" charset="-52"/>
                <a:ea typeface="MTS Sans" panose="02000000000000000000" pitchFamily="50" charset="0"/>
              </a:rPr>
              <a:t>не ниже </a:t>
            </a:r>
            <a:r>
              <a:rPr lang="en-US" sz="1400" u="sng" dirty="0">
                <a:latin typeface="Montserrat" pitchFamily="2" charset="-52"/>
                <a:ea typeface="MTS Sans" panose="02000000000000000000" pitchFamily="50" charset="0"/>
                <a:sym typeface="Helvetica Neue Light"/>
              </a:rPr>
              <a:t>Enterprise edition</a:t>
            </a:r>
            <a:r>
              <a:rPr lang="ru-RU" sz="1400" u="sng" dirty="0">
                <a:latin typeface="Montserrat" pitchFamily="2" charset="-52"/>
                <a:ea typeface="MTS Sans" panose="02000000000000000000" pitchFamily="50" charset="0"/>
                <a:sym typeface="Helvetica Neue Light"/>
              </a:rPr>
              <a:t>)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,  также используются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VM-ware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или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Hyper-V</a:t>
            </a:r>
            <a:endParaRPr lang="ru-RU" sz="1400" dirty="0"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Реплика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(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клон) ВМ хранится в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Elastic Cloud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и запускается в случае необходимости</a:t>
            </a:r>
            <a:endParaRPr lang="ru-RU" sz="1400" dirty="0">
              <a:solidFill>
                <a:srgbClr val="002060"/>
              </a:solidFill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Возможность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создания обратной репликации с резервной площадки на основную</a:t>
            </a:r>
            <a:endParaRPr lang="en-US" sz="1400" dirty="0"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Операции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failover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выполняется с сервера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Veeam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или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VAC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портала</a:t>
            </a:r>
            <a:endParaRPr lang="en-US" sz="14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D1BB81-1A8D-AA4C-A012-8ADFEED4EF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778" y="4780841"/>
            <a:ext cx="550753" cy="5507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6FE6DE-7EAA-DA45-BA1C-15D7CAC595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869" y="4610135"/>
            <a:ext cx="892166" cy="892166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D258408-3780-2E4E-A84F-15C91F7C755E}"/>
              </a:ext>
            </a:extLst>
          </p:cNvPr>
          <p:cNvSpPr txBox="1">
            <a:spLocks/>
          </p:cNvSpPr>
          <p:nvPr/>
        </p:nvSpPr>
        <p:spPr>
          <a:xfrm>
            <a:off x="2833759" y="4690585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Failover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B8E29B5-6057-584B-87D5-3F2503CF9BF9}"/>
              </a:ext>
            </a:extLst>
          </p:cNvPr>
          <p:cNvSpPr txBox="1">
            <a:spLocks/>
          </p:cNvSpPr>
          <p:nvPr/>
        </p:nvSpPr>
        <p:spPr>
          <a:xfrm>
            <a:off x="2667593" y="5296108"/>
            <a:ext cx="1135318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Failback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A006A28-9AED-1941-8734-B5C08B8866EA}"/>
              </a:ext>
            </a:extLst>
          </p:cNvPr>
          <p:cNvSpPr txBox="1">
            <a:spLocks/>
          </p:cNvSpPr>
          <p:nvPr/>
        </p:nvSpPr>
        <p:spPr>
          <a:xfrm>
            <a:off x="3576000" y="5631885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Сервер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Enterprise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DB8E0D05-CBD3-ED44-A663-44AEA48A599C}"/>
              </a:ext>
            </a:extLst>
          </p:cNvPr>
          <p:cNvCxnSpPr/>
          <p:nvPr/>
        </p:nvCxnSpPr>
        <p:spPr>
          <a:xfrm>
            <a:off x="2698170" y="5039775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D5875D5-CC24-404C-A147-5ADD0584650B}"/>
              </a:ext>
            </a:extLst>
          </p:cNvPr>
          <p:cNvCxnSpPr>
            <a:cxnSpLocks/>
          </p:cNvCxnSpPr>
          <p:nvPr/>
        </p:nvCxnSpPr>
        <p:spPr>
          <a:xfrm>
            <a:off x="2698170" y="5249599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D4D26D-4AB9-BD4B-8ADB-32AFEB8E2E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190" y="4578458"/>
            <a:ext cx="892166" cy="892166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89ECFD1-2055-7F41-A28A-05DF673C4DCA}"/>
              </a:ext>
            </a:extLst>
          </p:cNvPr>
          <p:cNvSpPr txBox="1">
            <a:spLocks/>
          </p:cNvSpPr>
          <p:nvPr/>
        </p:nvSpPr>
        <p:spPr>
          <a:xfrm>
            <a:off x="7900889" y="4631700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Failover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5B0A7C-6E51-3341-ABB4-4D3263E0C405}"/>
              </a:ext>
            </a:extLst>
          </p:cNvPr>
          <p:cNvSpPr txBox="1">
            <a:spLocks/>
          </p:cNvSpPr>
          <p:nvPr/>
        </p:nvSpPr>
        <p:spPr>
          <a:xfrm>
            <a:off x="7769870" y="5255154"/>
            <a:ext cx="1123522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Failback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AF5A10A8-5671-D845-948D-777263C5EC64}"/>
              </a:ext>
            </a:extLst>
          </p:cNvPr>
          <p:cNvCxnSpPr/>
          <p:nvPr/>
        </p:nvCxnSpPr>
        <p:spPr>
          <a:xfrm>
            <a:off x="7886806" y="4980890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0330BE8-C14E-1946-821C-21EC94DC67A3}"/>
              </a:ext>
            </a:extLst>
          </p:cNvPr>
          <p:cNvCxnSpPr>
            <a:cxnSpLocks/>
          </p:cNvCxnSpPr>
          <p:nvPr/>
        </p:nvCxnSpPr>
        <p:spPr>
          <a:xfrm flipH="1">
            <a:off x="6040091" y="5048057"/>
            <a:ext cx="368626" cy="0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46DC5D6-C284-8E4B-B6AE-7926B5949BEA}"/>
              </a:ext>
            </a:extLst>
          </p:cNvPr>
          <p:cNvCxnSpPr>
            <a:cxnSpLocks/>
          </p:cNvCxnSpPr>
          <p:nvPr/>
        </p:nvCxnSpPr>
        <p:spPr>
          <a:xfrm flipH="1">
            <a:off x="5103347" y="5062807"/>
            <a:ext cx="368626" cy="0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66EBF744-C3CE-244A-A847-7772DE0ED291}"/>
              </a:ext>
            </a:extLst>
          </p:cNvPr>
          <p:cNvSpPr txBox="1">
            <a:spLocks/>
          </p:cNvSpPr>
          <p:nvPr/>
        </p:nvSpPr>
        <p:spPr>
          <a:xfrm>
            <a:off x="6045622" y="5564257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Cloud Connect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7A2D4CC-97F7-9849-9203-40CA89BEDDB5}"/>
              </a:ext>
            </a:extLst>
          </p:cNvPr>
          <p:cNvSpPr txBox="1">
            <a:spLocks/>
          </p:cNvSpPr>
          <p:nvPr/>
        </p:nvSpPr>
        <p:spPr>
          <a:xfrm>
            <a:off x="9021830" y="5813903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Elastic </a:t>
            </a: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loud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EBF5C5B-7FDD-C245-B0CD-6B1E0F8CFB08}"/>
              </a:ext>
            </a:extLst>
          </p:cNvPr>
          <p:cNvSpPr txBox="1">
            <a:spLocks/>
          </p:cNvSpPr>
          <p:nvPr/>
        </p:nvSpPr>
        <p:spPr>
          <a:xfrm>
            <a:off x="853206" y="5645311"/>
            <a:ext cx="1876957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Гипервизоры </a:t>
            </a:r>
          </a:p>
          <a:p>
            <a:pPr marL="0" indent="0" algn="ctr" hangingPunct="1">
              <a:buNone/>
            </a:pP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Vmware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/ Hyper-V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A77AB0E-1A86-8048-9C64-EA4B6EA461EA}"/>
              </a:ext>
            </a:extLst>
          </p:cNvPr>
          <p:cNvSpPr txBox="1">
            <a:spLocks/>
          </p:cNvSpPr>
          <p:nvPr/>
        </p:nvSpPr>
        <p:spPr>
          <a:xfrm>
            <a:off x="2286841" y="3501000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Площадка клиента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EEB0DFE9-CF11-2B4C-9CFD-18BE94832DB0}"/>
              </a:ext>
            </a:extLst>
          </p:cNvPr>
          <p:cNvSpPr txBox="1">
            <a:spLocks/>
          </p:cNvSpPr>
          <p:nvPr/>
        </p:nvSpPr>
        <p:spPr>
          <a:xfrm>
            <a:off x="5317325" y="4419308"/>
            <a:ext cx="921773" cy="293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Internet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4D5875D5-CC24-404C-A147-5ADD0584650B}"/>
              </a:ext>
            </a:extLst>
          </p:cNvPr>
          <p:cNvCxnSpPr>
            <a:cxnSpLocks/>
          </p:cNvCxnSpPr>
          <p:nvPr/>
        </p:nvCxnSpPr>
        <p:spPr>
          <a:xfrm>
            <a:off x="7844327" y="5240694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290915F0-BCEB-2949-AB3A-94128030C924}"/>
              </a:ext>
            </a:extLst>
          </p:cNvPr>
          <p:cNvSpPr/>
          <p:nvPr/>
        </p:nvSpPr>
        <p:spPr>
          <a:xfrm>
            <a:off x="1184877" y="5350690"/>
            <a:ext cx="1227877" cy="213567"/>
          </a:xfrm>
          <a:prstGeom prst="round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9390C7A7-6CA9-234A-9BAF-670C2436173E}"/>
              </a:ext>
            </a:extLst>
          </p:cNvPr>
          <p:cNvSpPr/>
          <p:nvPr/>
        </p:nvSpPr>
        <p:spPr>
          <a:xfrm>
            <a:off x="1264672" y="5422144"/>
            <a:ext cx="70658" cy="70658"/>
          </a:xfrm>
          <a:prstGeom prst="ellipse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CA48FD6-9B1C-2F4B-8D10-3B47A5F57237}"/>
              </a:ext>
            </a:extLst>
          </p:cNvPr>
          <p:cNvSpPr/>
          <p:nvPr/>
        </p:nvSpPr>
        <p:spPr>
          <a:xfrm>
            <a:off x="1979167" y="5427884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0E31CE5-B82D-A240-98B1-91453797FE49}"/>
              </a:ext>
            </a:extLst>
          </p:cNvPr>
          <p:cNvSpPr/>
          <p:nvPr/>
        </p:nvSpPr>
        <p:spPr>
          <a:xfrm>
            <a:off x="2123393" y="5427884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91366A4-0365-9E4F-B9A5-0733F8EF5B73}"/>
              </a:ext>
            </a:extLst>
          </p:cNvPr>
          <p:cNvSpPr/>
          <p:nvPr/>
        </p:nvSpPr>
        <p:spPr>
          <a:xfrm>
            <a:off x="2252013" y="5427884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445E5D9D-4A8A-A644-B285-77C714EE9CA3}"/>
              </a:ext>
            </a:extLst>
          </p:cNvPr>
          <p:cNvGrpSpPr/>
          <p:nvPr/>
        </p:nvGrpSpPr>
        <p:grpSpPr>
          <a:xfrm>
            <a:off x="1353166" y="4548982"/>
            <a:ext cx="227993" cy="698431"/>
            <a:chOff x="6755371" y="3244107"/>
            <a:chExt cx="860827" cy="2635885"/>
          </a:xfrm>
        </p:grpSpPr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520E7CCC-2592-FD4A-A4E8-8E0AEC1EF409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30" name="Рисунок 29">
              <a:extLst>
                <a:ext uri="{FF2B5EF4-FFF2-40B4-BE49-F238E27FC236}">
                  <a16:creationId xmlns:a16="http://schemas.microsoft.com/office/drawing/2014/main" id="{D805FB71-3745-604F-9BBC-DC8EA6ABF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F2CC302D-DAD6-BB43-8EA9-CE17105CA43F}"/>
              </a:ext>
            </a:extLst>
          </p:cNvPr>
          <p:cNvGrpSpPr/>
          <p:nvPr/>
        </p:nvGrpSpPr>
        <p:grpSpPr>
          <a:xfrm>
            <a:off x="1690305" y="4548981"/>
            <a:ext cx="227993" cy="698431"/>
            <a:chOff x="6755371" y="3244107"/>
            <a:chExt cx="860827" cy="2635885"/>
          </a:xfrm>
        </p:grpSpPr>
        <p:sp>
          <p:nvSpPr>
            <p:cNvPr id="32" name="Скругленный прямоугольник 31">
              <a:extLst>
                <a:ext uri="{FF2B5EF4-FFF2-40B4-BE49-F238E27FC236}">
                  <a16:creationId xmlns:a16="http://schemas.microsoft.com/office/drawing/2014/main" id="{8BBB5481-1F0C-FE4B-9914-C61EDFABBB66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A85D9C1E-5979-B44D-AFF4-EFFFDDE89D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A3EFFF26-CD8D-E941-92BB-5C0A0A1BA030}"/>
              </a:ext>
            </a:extLst>
          </p:cNvPr>
          <p:cNvGrpSpPr/>
          <p:nvPr/>
        </p:nvGrpSpPr>
        <p:grpSpPr>
          <a:xfrm>
            <a:off x="2009578" y="4547006"/>
            <a:ext cx="227993" cy="698431"/>
            <a:chOff x="6755371" y="3244107"/>
            <a:chExt cx="860827" cy="2635885"/>
          </a:xfrm>
        </p:grpSpPr>
        <p:sp>
          <p:nvSpPr>
            <p:cNvPr id="35" name="Скругленный прямоугольник 34">
              <a:extLst>
                <a:ext uri="{FF2B5EF4-FFF2-40B4-BE49-F238E27FC236}">
                  <a16:creationId xmlns:a16="http://schemas.microsoft.com/office/drawing/2014/main" id="{350F564E-8893-C04B-A06D-0D8F81E443AF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FBD2FE73-900F-1A4A-A314-EF30EB9F8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4CBA24D3-EAF6-7947-86AC-290276BD23A5}"/>
              </a:ext>
            </a:extLst>
          </p:cNvPr>
          <p:cNvSpPr txBox="1">
            <a:spLocks/>
          </p:cNvSpPr>
          <p:nvPr/>
        </p:nvSpPr>
        <p:spPr>
          <a:xfrm>
            <a:off x="1253929" y="4248439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0E6082A5-7168-2245-9DE0-8BD0AAC58C86}"/>
              </a:ext>
            </a:extLst>
          </p:cNvPr>
          <p:cNvSpPr txBox="1">
            <a:spLocks/>
          </p:cNvSpPr>
          <p:nvPr/>
        </p:nvSpPr>
        <p:spPr>
          <a:xfrm>
            <a:off x="1589860" y="4248439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CA21EA2-C68E-184D-A089-A114BFC8479E}"/>
              </a:ext>
            </a:extLst>
          </p:cNvPr>
          <p:cNvSpPr txBox="1">
            <a:spLocks/>
          </p:cNvSpPr>
          <p:nvPr/>
        </p:nvSpPr>
        <p:spPr>
          <a:xfrm>
            <a:off x="1913716" y="4248439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40" name="Скругленный прямоугольник 39">
            <a:extLst>
              <a:ext uri="{FF2B5EF4-FFF2-40B4-BE49-F238E27FC236}">
                <a16:creationId xmlns:a16="http://schemas.microsoft.com/office/drawing/2014/main" id="{290915F0-BCEB-2949-AB3A-94128030C924}"/>
              </a:ext>
            </a:extLst>
          </p:cNvPr>
          <p:cNvSpPr/>
          <p:nvPr/>
        </p:nvSpPr>
        <p:spPr>
          <a:xfrm>
            <a:off x="9029257" y="5492802"/>
            <a:ext cx="1227877" cy="213567"/>
          </a:xfrm>
          <a:prstGeom prst="round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9390C7A7-6CA9-234A-9BAF-670C2436173E}"/>
              </a:ext>
            </a:extLst>
          </p:cNvPr>
          <p:cNvSpPr/>
          <p:nvPr/>
        </p:nvSpPr>
        <p:spPr>
          <a:xfrm>
            <a:off x="9109052" y="5564256"/>
            <a:ext cx="70658" cy="70658"/>
          </a:xfrm>
          <a:prstGeom prst="ellipse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CA48FD6-9B1C-2F4B-8D10-3B47A5F57237}"/>
              </a:ext>
            </a:extLst>
          </p:cNvPr>
          <p:cNvSpPr/>
          <p:nvPr/>
        </p:nvSpPr>
        <p:spPr>
          <a:xfrm>
            <a:off x="9823547" y="5569996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D0E31CE5-B82D-A240-98B1-91453797FE49}"/>
              </a:ext>
            </a:extLst>
          </p:cNvPr>
          <p:cNvSpPr/>
          <p:nvPr/>
        </p:nvSpPr>
        <p:spPr>
          <a:xfrm>
            <a:off x="9967773" y="5569996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791366A4-0365-9E4F-B9A5-0733F8EF5B73}"/>
              </a:ext>
            </a:extLst>
          </p:cNvPr>
          <p:cNvSpPr/>
          <p:nvPr/>
        </p:nvSpPr>
        <p:spPr>
          <a:xfrm>
            <a:off x="10096393" y="5569996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445E5D9D-4A8A-A644-B285-77C714EE9CA3}"/>
              </a:ext>
            </a:extLst>
          </p:cNvPr>
          <p:cNvGrpSpPr/>
          <p:nvPr/>
        </p:nvGrpSpPr>
        <p:grpSpPr>
          <a:xfrm>
            <a:off x="9197546" y="4691094"/>
            <a:ext cx="227993" cy="698431"/>
            <a:chOff x="6755371" y="3244107"/>
            <a:chExt cx="860827" cy="2635885"/>
          </a:xfrm>
        </p:grpSpPr>
        <p:sp>
          <p:nvSpPr>
            <p:cNvPr id="46" name="Скругленный прямоугольник 45">
              <a:extLst>
                <a:ext uri="{FF2B5EF4-FFF2-40B4-BE49-F238E27FC236}">
                  <a16:creationId xmlns:a16="http://schemas.microsoft.com/office/drawing/2014/main" id="{520E7CCC-2592-FD4A-A4E8-8E0AEC1EF409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47" name="Рисунок 46">
              <a:extLst>
                <a:ext uri="{FF2B5EF4-FFF2-40B4-BE49-F238E27FC236}">
                  <a16:creationId xmlns:a16="http://schemas.microsoft.com/office/drawing/2014/main" id="{D805FB71-3745-604F-9BBC-DC8EA6ABF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F2CC302D-DAD6-BB43-8EA9-CE17105CA43F}"/>
              </a:ext>
            </a:extLst>
          </p:cNvPr>
          <p:cNvGrpSpPr/>
          <p:nvPr/>
        </p:nvGrpSpPr>
        <p:grpSpPr>
          <a:xfrm>
            <a:off x="9534685" y="4691093"/>
            <a:ext cx="227993" cy="698431"/>
            <a:chOff x="6755371" y="3244107"/>
            <a:chExt cx="860827" cy="2635885"/>
          </a:xfrm>
        </p:grpSpPr>
        <p:sp>
          <p:nvSpPr>
            <p:cNvPr id="49" name="Скругленный прямоугольник 48">
              <a:extLst>
                <a:ext uri="{FF2B5EF4-FFF2-40B4-BE49-F238E27FC236}">
                  <a16:creationId xmlns:a16="http://schemas.microsoft.com/office/drawing/2014/main" id="{8BBB5481-1F0C-FE4B-9914-C61EDFABBB66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50" name="Рисунок 49">
              <a:extLst>
                <a:ext uri="{FF2B5EF4-FFF2-40B4-BE49-F238E27FC236}">
                  <a16:creationId xmlns:a16="http://schemas.microsoft.com/office/drawing/2014/main" id="{A85D9C1E-5979-B44D-AFF4-EFFFDDE89D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A3EFFF26-CD8D-E941-92BB-5C0A0A1BA030}"/>
              </a:ext>
            </a:extLst>
          </p:cNvPr>
          <p:cNvGrpSpPr/>
          <p:nvPr/>
        </p:nvGrpSpPr>
        <p:grpSpPr>
          <a:xfrm>
            <a:off x="9853958" y="4689118"/>
            <a:ext cx="227993" cy="698431"/>
            <a:chOff x="6755371" y="3244107"/>
            <a:chExt cx="860827" cy="2635885"/>
          </a:xfrm>
        </p:grpSpPr>
        <p:sp>
          <p:nvSpPr>
            <p:cNvPr id="52" name="Скругленный прямоугольник 51">
              <a:extLst>
                <a:ext uri="{FF2B5EF4-FFF2-40B4-BE49-F238E27FC236}">
                  <a16:creationId xmlns:a16="http://schemas.microsoft.com/office/drawing/2014/main" id="{350F564E-8893-C04B-A06D-0D8F81E443AF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53" name="Рисунок 52">
              <a:extLst>
                <a:ext uri="{FF2B5EF4-FFF2-40B4-BE49-F238E27FC236}">
                  <a16:creationId xmlns:a16="http://schemas.microsoft.com/office/drawing/2014/main" id="{FBD2FE73-900F-1A4A-A314-EF30EB9F8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4CBA24D3-EAF6-7947-86AC-290276BD23A5}"/>
              </a:ext>
            </a:extLst>
          </p:cNvPr>
          <p:cNvSpPr txBox="1">
            <a:spLocks/>
          </p:cNvSpPr>
          <p:nvPr/>
        </p:nvSpPr>
        <p:spPr>
          <a:xfrm>
            <a:off x="9098309" y="4390551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0E6082A5-7168-2245-9DE0-8BD0AAC58C86}"/>
              </a:ext>
            </a:extLst>
          </p:cNvPr>
          <p:cNvSpPr txBox="1">
            <a:spLocks/>
          </p:cNvSpPr>
          <p:nvPr/>
        </p:nvSpPr>
        <p:spPr>
          <a:xfrm>
            <a:off x="9434240" y="4390551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CCA21EA2-C68E-184D-A089-A114BFC8479E}"/>
              </a:ext>
            </a:extLst>
          </p:cNvPr>
          <p:cNvSpPr txBox="1">
            <a:spLocks/>
          </p:cNvSpPr>
          <p:nvPr/>
        </p:nvSpPr>
        <p:spPr>
          <a:xfrm>
            <a:off x="9758096" y="4390551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ACC44036-4B15-034A-A851-76DAEACCCD2D}"/>
              </a:ext>
            </a:extLst>
          </p:cNvPr>
          <p:cNvSpPr txBox="1">
            <a:spLocks/>
          </p:cNvSpPr>
          <p:nvPr/>
        </p:nvSpPr>
        <p:spPr>
          <a:xfrm>
            <a:off x="8527665" y="3500789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1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851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267CB3E6-C5ED-6E4D-9866-BAABBBFA2BC9}"/>
              </a:ext>
            </a:extLst>
          </p:cNvPr>
          <p:cNvSpPr/>
          <p:nvPr/>
        </p:nvSpPr>
        <p:spPr>
          <a:xfrm>
            <a:off x="6705146" y="2724495"/>
            <a:ext cx="4697095" cy="3875973"/>
          </a:xfrm>
          <a:prstGeom prst="roundRect">
            <a:avLst>
              <a:gd name="adj" fmla="val 6984"/>
            </a:avLst>
          </a:prstGeom>
          <a:solidFill>
            <a:srgbClr val="C2FF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7" name="Скругленный прямоугольник 36">
            <a:extLst>
              <a:ext uri="{FF2B5EF4-FFF2-40B4-BE49-F238E27FC236}">
                <a16:creationId xmlns:a16="http://schemas.microsoft.com/office/drawing/2014/main" id="{374F798F-E077-E742-A53C-E625FA794375}"/>
              </a:ext>
            </a:extLst>
          </p:cNvPr>
          <p:cNvSpPr/>
          <p:nvPr/>
        </p:nvSpPr>
        <p:spPr>
          <a:xfrm>
            <a:off x="816441" y="2749545"/>
            <a:ext cx="3795032" cy="3875975"/>
          </a:xfrm>
          <a:prstGeom prst="roundRect">
            <a:avLst>
              <a:gd name="adj" fmla="val 6984"/>
            </a:avLst>
          </a:prstGeom>
          <a:solidFill>
            <a:srgbClr val="00305D">
              <a:alpha val="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713800" cy="975875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Резервное копировании с </a:t>
            </a:r>
            <a:r>
              <a:rPr lang="en-US" sz="3000" dirty="0">
                <a:ea typeface="MTS Sans" panose="02000000000000000000" pitchFamily="50" charset="0"/>
              </a:rPr>
              <a:t>Veeam Backup Agent</a:t>
            </a:r>
            <a:endParaRPr lang="ru-RU" sz="3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306110"/>
            <a:ext cx="1058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2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У</a:t>
            </a:r>
            <a:r>
              <a:rPr lang="en-US" sz="12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200" dirty="0">
                <a:latin typeface="Montserrat" pitchFamily="2" charset="-52"/>
                <a:ea typeface="MTS Sans" panose="02000000000000000000" pitchFamily="50" charset="0"/>
              </a:rPr>
              <a:t>клиента нет сервера </a:t>
            </a:r>
            <a:r>
              <a:rPr lang="ru-RU" sz="1200" dirty="0" err="1">
                <a:latin typeface="Montserrat" pitchFamily="2" charset="-52"/>
                <a:ea typeface="MTS Sans" panose="02000000000000000000" pitchFamily="50" charset="0"/>
              </a:rPr>
              <a:t>Veeam</a:t>
            </a:r>
            <a:r>
              <a:rPr lang="ru-RU" sz="12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2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endParaRPr lang="ru-RU" sz="1200" dirty="0"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2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2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Резервное </a:t>
            </a:r>
            <a:r>
              <a:rPr lang="ru-RU" sz="1200" dirty="0">
                <a:latin typeface="Montserrat" pitchFamily="2" charset="-52"/>
                <a:ea typeface="MTS Sans" panose="02000000000000000000" pitchFamily="50" charset="0"/>
              </a:rPr>
              <a:t>копирование с использованием агентов для серверов, ВМ и ПК с ОС </a:t>
            </a:r>
            <a:r>
              <a:rPr lang="ru-RU" sz="1200" dirty="0" err="1">
                <a:latin typeface="Montserrat" pitchFamily="2" charset="-52"/>
                <a:ea typeface="MTS Sans" panose="02000000000000000000" pitchFamily="50" charset="0"/>
              </a:rPr>
              <a:t>Windows</a:t>
            </a:r>
            <a:endParaRPr lang="en-US" sz="1200" dirty="0"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2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Возможность </a:t>
            </a:r>
            <a:r>
              <a:rPr lang="ru-RU" sz="1200" dirty="0">
                <a:latin typeface="Montserrat" pitchFamily="2" charset="-52"/>
                <a:ea typeface="MTS Sans" panose="02000000000000000000" pitchFamily="50" charset="0"/>
              </a:rPr>
              <a:t>создания обратной репликации с резервной площадки на основную</a:t>
            </a:r>
            <a:endParaRPr lang="en-US" sz="1200" dirty="0"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200" dirty="0">
                <a:latin typeface="Montserrat" pitchFamily="2" charset="-52"/>
                <a:ea typeface="MTS Sans" panose="02000000000000000000" pitchFamily="50" charset="0"/>
              </a:rPr>
              <a:t> Управление сервисом через </a:t>
            </a:r>
            <a:r>
              <a:rPr lang="ru-RU" sz="1200" dirty="0" err="1">
                <a:latin typeface="Montserrat" pitchFamily="2" charset="-52"/>
                <a:ea typeface="MTS Sans" panose="02000000000000000000" pitchFamily="50" charset="0"/>
              </a:rPr>
              <a:t>web</a:t>
            </a:r>
            <a:r>
              <a:rPr lang="ru-RU" sz="1200" dirty="0">
                <a:latin typeface="Montserrat" pitchFamily="2" charset="-52"/>
                <a:ea typeface="MTS Sans" panose="02000000000000000000" pitchFamily="50" charset="0"/>
              </a:rPr>
              <a:t>-панель </a:t>
            </a:r>
            <a:r>
              <a:rPr lang="en-US" sz="1200" dirty="0">
                <a:latin typeface="Montserrat" pitchFamily="2" charset="-52"/>
                <a:ea typeface="MTS Sans" panose="02000000000000000000" pitchFamily="50" charset="0"/>
              </a:rPr>
              <a:t>Veeam Availability Console </a:t>
            </a:r>
            <a:r>
              <a:rPr lang="ru-RU" sz="1200" dirty="0">
                <a:latin typeface="Montserrat" pitchFamily="2" charset="-52"/>
                <a:ea typeface="MTS Sans" panose="02000000000000000000" pitchFamily="50" charset="0"/>
              </a:rPr>
              <a:t>от </a:t>
            </a:r>
            <a:r>
              <a:rPr lang="en-US" sz="1200" dirty="0">
                <a:latin typeface="Montserrat" pitchFamily="2" charset="-52"/>
                <a:ea typeface="MTS Sans" panose="02000000000000000000" pitchFamily="50" charset="0"/>
              </a:rPr>
              <a:t>DataFort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BD4C1A-639D-1948-BBCB-83C9106CFD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000" y="4055025"/>
            <a:ext cx="892166" cy="89216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DF7219-692D-804F-B812-743C8C4EAB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86" y="4055025"/>
            <a:ext cx="892166" cy="89216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C238A2-B9F6-C04F-9D45-23C91BC72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8775" y="4031727"/>
            <a:ext cx="892166" cy="892166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039C3BC-9E57-1643-BB25-44B9652DA235}"/>
              </a:ext>
            </a:extLst>
          </p:cNvPr>
          <p:cNvCxnSpPr/>
          <p:nvPr/>
        </p:nvCxnSpPr>
        <p:spPr>
          <a:xfrm>
            <a:off x="6349814" y="4501108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FBAB33A4-736A-CF45-9790-5767837920EB}"/>
              </a:ext>
            </a:extLst>
          </p:cNvPr>
          <p:cNvCxnSpPr>
            <a:cxnSpLocks/>
          </p:cNvCxnSpPr>
          <p:nvPr/>
        </p:nvCxnSpPr>
        <p:spPr>
          <a:xfrm>
            <a:off x="6349814" y="4674051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51A2B88C-8B5F-C541-A20C-F556C3E21C44}"/>
              </a:ext>
            </a:extLst>
          </p:cNvPr>
          <p:cNvCxnSpPr/>
          <p:nvPr/>
        </p:nvCxnSpPr>
        <p:spPr>
          <a:xfrm>
            <a:off x="8508311" y="4501108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6DCBAB2-4782-D141-A527-FE8BBE30E463}"/>
              </a:ext>
            </a:extLst>
          </p:cNvPr>
          <p:cNvCxnSpPr>
            <a:cxnSpLocks/>
          </p:cNvCxnSpPr>
          <p:nvPr/>
        </p:nvCxnSpPr>
        <p:spPr>
          <a:xfrm>
            <a:off x="8508311" y="4674051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5E1E16F-E7EE-E844-BC16-F1E428A3B5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702" y="5013000"/>
            <a:ext cx="834645" cy="834645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CC38B15-73E8-4048-8799-A453C877E20A}"/>
              </a:ext>
            </a:extLst>
          </p:cNvPr>
          <p:cNvSpPr txBox="1">
            <a:spLocks/>
          </p:cNvSpPr>
          <p:nvPr/>
        </p:nvSpPr>
        <p:spPr>
          <a:xfrm>
            <a:off x="6383313" y="4130883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0232685-8E41-3A42-953B-A6BB0BD6923F}"/>
              </a:ext>
            </a:extLst>
          </p:cNvPr>
          <p:cNvSpPr txBox="1">
            <a:spLocks/>
          </p:cNvSpPr>
          <p:nvPr/>
        </p:nvSpPr>
        <p:spPr>
          <a:xfrm>
            <a:off x="6390598" y="4765489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BECBD14-45CD-0245-AD1E-157A87F3A7EC}"/>
              </a:ext>
            </a:extLst>
          </p:cNvPr>
          <p:cNvSpPr txBox="1">
            <a:spLocks/>
          </p:cNvSpPr>
          <p:nvPr/>
        </p:nvSpPr>
        <p:spPr>
          <a:xfrm>
            <a:off x="8553345" y="4139092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3DD6381-E89E-FE4F-852D-4F7BBE956942}"/>
              </a:ext>
            </a:extLst>
          </p:cNvPr>
          <p:cNvSpPr txBox="1">
            <a:spLocks/>
          </p:cNvSpPr>
          <p:nvPr/>
        </p:nvSpPr>
        <p:spPr>
          <a:xfrm>
            <a:off x="8552056" y="4755780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4D98D77-CDB7-CC47-8FD5-D8B90AF653F3}"/>
              </a:ext>
            </a:extLst>
          </p:cNvPr>
          <p:cNvSpPr txBox="1">
            <a:spLocks/>
          </p:cNvSpPr>
          <p:nvPr/>
        </p:nvSpPr>
        <p:spPr>
          <a:xfrm>
            <a:off x="1162988" y="4235317"/>
            <a:ext cx="3165451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 </a:t>
            </a: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агенты </a:t>
            </a:r>
          </a:p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для серверов и ВМ </a:t>
            </a:r>
          </a:p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 ОС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Windows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A5F6D95-E809-5243-AFE2-F646D431C14E}"/>
              </a:ext>
            </a:extLst>
          </p:cNvPr>
          <p:cNvSpPr txBox="1">
            <a:spLocks/>
          </p:cNvSpPr>
          <p:nvPr/>
        </p:nvSpPr>
        <p:spPr>
          <a:xfrm>
            <a:off x="1766186" y="5900687"/>
            <a:ext cx="1759678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 </a:t>
            </a: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агенты </a:t>
            </a:r>
          </a:p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для ПК</a:t>
            </a:r>
          </a:p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 ОС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Windows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B889B56-A4C7-984C-B41C-719A3DBDDFBA}"/>
              </a:ext>
            </a:extLst>
          </p:cNvPr>
          <p:cNvSpPr txBox="1">
            <a:spLocks/>
          </p:cNvSpPr>
          <p:nvPr/>
        </p:nvSpPr>
        <p:spPr>
          <a:xfrm>
            <a:off x="5145717" y="3738198"/>
            <a:ext cx="921773" cy="293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Internet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81658CA-E7F2-4440-986F-DD1DAB6DC05F}"/>
              </a:ext>
            </a:extLst>
          </p:cNvPr>
          <p:cNvSpPr txBox="1">
            <a:spLocks/>
          </p:cNvSpPr>
          <p:nvPr/>
        </p:nvSpPr>
        <p:spPr>
          <a:xfrm>
            <a:off x="6975664" y="5029182"/>
            <a:ext cx="1776610" cy="13040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Сервер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+</a:t>
            </a: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 Cloud Connect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CA3786F-233C-B94C-8C0F-1F556046887C}"/>
              </a:ext>
            </a:extLst>
          </p:cNvPr>
          <p:cNvSpPr txBox="1">
            <a:spLocks/>
          </p:cNvSpPr>
          <p:nvPr/>
        </p:nvSpPr>
        <p:spPr>
          <a:xfrm>
            <a:off x="9263252" y="4975503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 err="1">
                <a:latin typeface="Montserrat" pitchFamily="2" charset="-52"/>
                <a:ea typeface="MTS Sans" panose="02000000000000000000" pitchFamily="50" charset="0"/>
              </a:rPr>
              <a:t>Репозиторий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CC44036-4B15-034A-A851-76DAEACCCD2D}"/>
              </a:ext>
            </a:extLst>
          </p:cNvPr>
          <p:cNvSpPr txBox="1">
            <a:spLocks/>
          </p:cNvSpPr>
          <p:nvPr/>
        </p:nvSpPr>
        <p:spPr>
          <a:xfrm>
            <a:off x="8404950" y="2840694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1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A77AB0E-1A86-8048-9C64-EA4B6EA461EA}"/>
              </a:ext>
            </a:extLst>
          </p:cNvPr>
          <p:cNvSpPr txBox="1">
            <a:spLocks/>
          </p:cNvSpPr>
          <p:nvPr/>
        </p:nvSpPr>
        <p:spPr>
          <a:xfrm>
            <a:off x="1930547" y="2870251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Площадка клиента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C039C3BC-9E57-1643-BB25-44B9652DA235}"/>
              </a:ext>
            </a:extLst>
          </p:cNvPr>
          <p:cNvCxnSpPr/>
          <p:nvPr/>
        </p:nvCxnSpPr>
        <p:spPr>
          <a:xfrm>
            <a:off x="4124437" y="4496039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BAB33A4-736A-CF45-9790-5767837920EB}"/>
              </a:ext>
            </a:extLst>
          </p:cNvPr>
          <p:cNvCxnSpPr>
            <a:cxnSpLocks/>
          </p:cNvCxnSpPr>
          <p:nvPr/>
        </p:nvCxnSpPr>
        <p:spPr>
          <a:xfrm>
            <a:off x="4124437" y="4668982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CC38B15-73E8-4048-8799-A453C877E20A}"/>
              </a:ext>
            </a:extLst>
          </p:cNvPr>
          <p:cNvSpPr txBox="1">
            <a:spLocks/>
          </p:cNvSpPr>
          <p:nvPr/>
        </p:nvSpPr>
        <p:spPr>
          <a:xfrm>
            <a:off x="4170707" y="4158685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0232685-8E41-3A42-953B-A6BB0BD6923F}"/>
              </a:ext>
            </a:extLst>
          </p:cNvPr>
          <p:cNvSpPr txBox="1">
            <a:spLocks/>
          </p:cNvSpPr>
          <p:nvPr/>
        </p:nvSpPr>
        <p:spPr>
          <a:xfrm>
            <a:off x="4178648" y="4760420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70BD30BD-3EFF-DA4A-8B44-86401902B006}"/>
              </a:ext>
            </a:extLst>
          </p:cNvPr>
          <p:cNvGrpSpPr/>
          <p:nvPr/>
        </p:nvGrpSpPr>
        <p:grpSpPr>
          <a:xfrm>
            <a:off x="2062989" y="3331310"/>
            <a:ext cx="1352421" cy="804300"/>
            <a:chOff x="1943269" y="2251596"/>
            <a:chExt cx="1788947" cy="970147"/>
          </a:xfrm>
        </p:grpSpPr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23E828F4-C3E9-CC4A-9184-C0ABA399A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3269" y="2252024"/>
              <a:ext cx="530225" cy="530225"/>
            </a:xfrm>
            <a:prstGeom prst="rect">
              <a:avLst/>
            </a:prstGeom>
          </p:spPr>
        </p:pic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3D1A326C-BAA7-3B4B-8456-B5F4D3FAC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2630" y="2252024"/>
              <a:ext cx="530225" cy="530225"/>
            </a:xfrm>
            <a:prstGeom prst="rect">
              <a:avLst/>
            </a:prstGeom>
          </p:spPr>
        </p:pic>
        <p:pic>
          <p:nvPicPr>
            <p:cNvPr id="30" name="Рисунок 29">
              <a:extLst>
                <a:ext uri="{FF2B5EF4-FFF2-40B4-BE49-F238E27FC236}">
                  <a16:creationId xmlns:a16="http://schemas.microsoft.com/office/drawing/2014/main" id="{698D6F66-F49D-EC4D-A691-0F6E8358C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1991" y="2251596"/>
              <a:ext cx="530225" cy="530225"/>
            </a:xfrm>
            <a:prstGeom prst="rect">
              <a:avLst/>
            </a:prstGeom>
          </p:spPr>
        </p:pic>
        <p:sp>
          <p:nvSpPr>
            <p:cNvPr id="31" name="Скругленный прямоугольник 30">
              <a:extLst>
                <a:ext uri="{FF2B5EF4-FFF2-40B4-BE49-F238E27FC236}">
                  <a16:creationId xmlns:a16="http://schemas.microsoft.com/office/drawing/2014/main" id="{0EB2080C-3E9C-104A-B4C1-F4FEC7BB54F6}"/>
                </a:ext>
              </a:extLst>
            </p:cNvPr>
            <p:cNvSpPr/>
            <p:nvPr/>
          </p:nvSpPr>
          <p:spPr>
            <a:xfrm>
              <a:off x="1943269" y="2910588"/>
              <a:ext cx="1788947" cy="311155"/>
            </a:xfrm>
            <a:prstGeom prst="roundRect">
              <a:avLst/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C4FAAE15-FEF1-EF41-988B-5EDA949EAE09}"/>
                </a:ext>
              </a:extLst>
            </p:cNvPr>
            <p:cNvSpPr/>
            <p:nvPr/>
          </p:nvSpPr>
          <p:spPr>
            <a:xfrm>
              <a:off x="2059526" y="3014692"/>
              <a:ext cx="102945" cy="102945"/>
            </a:xfrm>
            <a:prstGeom prst="ellipse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577FD81E-FEB3-0143-94C7-757550FA74D2}"/>
                </a:ext>
              </a:extLst>
            </p:cNvPr>
            <p:cNvSpPr/>
            <p:nvPr/>
          </p:nvSpPr>
          <p:spPr>
            <a:xfrm>
              <a:off x="3100505" y="3023055"/>
              <a:ext cx="101486" cy="101486"/>
            </a:xfrm>
            <a:prstGeom prst="rect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728C5F01-704C-DD44-B329-5CCD1D0D2AB6}"/>
                </a:ext>
              </a:extLst>
            </p:cNvPr>
            <p:cNvSpPr/>
            <p:nvPr/>
          </p:nvSpPr>
          <p:spPr>
            <a:xfrm>
              <a:off x="3310633" y="3023055"/>
              <a:ext cx="101486" cy="101486"/>
            </a:xfrm>
            <a:prstGeom prst="rect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E8D4F9D6-997F-E64F-9D0A-2D07927682DE}"/>
                </a:ext>
              </a:extLst>
            </p:cNvPr>
            <p:cNvSpPr/>
            <p:nvPr/>
          </p:nvSpPr>
          <p:spPr>
            <a:xfrm>
              <a:off x="3498026" y="3023055"/>
              <a:ext cx="101486" cy="101486"/>
            </a:xfrm>
            <a:prstGeom prst="rect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806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267CB3E6-C5ED-6E4D-9866-BAABBBFA2BC9}"/>
              </a:ext>
            </a:extLst>
          </p:cNvPr>
          <p:cNvSpPr/>
          <p:nvPr/>
        </p:nvSpPr>
        <p:spPr>
          <a:xfrm>
            <a:off x="6940752" y="2218062"/>
            <a:ext cx="4051411" cy="4114801"/>
          </a:xfrm>
          <a:prstGeom prst="roundRect">
            <a:avLst>
              <a:gd name="adj" fmla="val 6984"/>
            </a:avLst>
          </a:prstGeom>
          <a:solidFill>
            <a:srgbClr val="C2FF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324C7A71-0E6B-644F-9888-985420A48CDF}"/>
              </a:ext>
            </a:extLst>
          </p:cNvPr>
          <p:cNvSpPr/>
          <p:nvPr/>
        </p:nvSpPr>
        <p:spPr>
          <a:xfrm>
            <a:off x="1056000" y="2205000"/>
            <a:ext cx="3506067" cy="4114800"/>
          </a:xfrm>
          <a:prstGeom prst="roundRect">
            <a:avLst>
              <a:gd name="adj" fmla="val 6984"/>
            </a:avLst>
          </a:prstGeom>
          <a:solidFill>
            <a:srgbClr val="00305D">
              <a:alpha val="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9875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Резервное копирование </a:t>
            </a:r>
            <a:r>
              <a:rPr lang="en-US" sz="3000" dirty="0">
                <a:ea typeface="MTS Sans" panose="02000000000000000000" pitchFamily="50" charset="0"/>
              </a:rPr>
              <a:t>Office 365</a:t>
            </a:r>
            <a:endParaRPr lang="ru-RU" sz="3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61874" y="1125000"/>
            <a:ext cx="1070612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У</a:t>
            </a: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клиента есть сервер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Veeam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(</a:t>
            </a:r>
            <a:r>
              <a:rPr lang="ru-RU" sz="1400" u="sng" dirty="0">
                <a:latin typeface="Montserrat" pitchFamily="2" charset="-52"/>
                <a:ea typeface="MTS Sans" panose="02000000000000000000" pitchFamily="50" charset="0"/>
              </a:rPr>
              <a:t>возможно использование бесплатной </a:t>
            </a:r>
            <a:r>
              <a:rPr lang="en-US" sz="1400" u="sng" dirty="0">
                <a:latin typeface="Montserrat" pitchFamily="2" charset="-52"/>
                <a:ea typeface="MTS Sans" panose="02000000000000000000" pitchFamily="50" charset="0"/>
              </a:rPr>
              <a:t>Community Edition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)</a:t>
            </a:r>
            <a:endParaRPr lang="ru-RU" sz="1400" dirty="0"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Резервное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копирование и восстановление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 Veeam Explorers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BD4C1A-639D-1948-BBCB-83C9106CFD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311" y="4578604"/>
            <a:ext cx="892166" cy="89216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DF7219-692D-804F-B812-743C8C4EAB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997" y="4578604"/>
            <a:ext cx="892166" cy="89216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C238A2-B9F6-C04F-9D45-23C91BC72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886" y="4555306"/>
            <a:ext cx="892166" cy="892166"/>
          </a:xfrm>
          <a:prstGeom prst="rect">
            <a:avLst/>
          </a:prstGeo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C039C3BC-9E57-1643-BB25-44B9652DA235}"/>
              </a:ext>
            </a:extLst>
          </p:cNvPr>
          <p:cNvCxnSpPr/>
          <p:nvPr/>
        </p:nvCxnSpPr>
        <p:spPr>
          <a:xfrm>
            <a:off x="6397925" y="5024687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FBAB33A4-736A-CF45-9790-5767837920EB}"/>
              </a:ext>
            </a:extLst>
          </p:cNvPr>
          <p:cNvCxnSpPr>
            <a:cxnSpLocks/>
          </p:cNvCxnSpPr>
          <p:nvPr/>
        </p:nvCxnSpPr>
        <p:spPr>
          <a:xfrm>
            <a:off x="6397925" y="5197630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51A2B88C-8B5F-C541-A20C-F556C3E21C44}"/>
              </a:ext>
            </a:extLst>
          </p:cNvPr>
          <p:cNvCxnSpPr/>
          <p:nvPr/>
        </p:nvCxnSpPr>
        <p:spPr>
          <a:xfrm>
            <a:off x="8556422" y="5024687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D6DCBAB2-4782-D141-A527-FE8BBE30E463}"/>
              </a:ext>
            </a:extLst>
          </p:cNvPr>
          <p:cNvCxnSpPr>
            <a:cxnSpLocks/>
          </p:cNvCxnSpPr>
          <p:nvPr/>
        </p:nvCxnSpPr>
        <p:spPr>
          <a:xfrm>
            <a:off x="8556422" y="5197630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5E1E16F-E7EE-E844-BC16-F1E428A3B5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305" y="2813904"/>
            <a:ext cx="834645" cy="834645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CC38B15-73E8-4048-8799-A453C877E20A}"/>
              </a:ext>
            </a:extLst>
          </p:cNvPr>
          <p:cNvSpPr txBox="1">
            <a:spLocks/>
          </p:cNvSpPr>
          <p:nvPr/>
        </p:nvSpPr>
        <p:spPr>
          <a:xfrm>
            <a:off x="6440843" y="4663765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0232685-8E41-3A42-953B-A6BB0BD6923F}"/>
              </a:ext>
            </a:extLst>
          </p:cNvPr>
          <p:cNvSpPr txBox="1">
            <a:spLocks/>
          </p:cNvSpPr>
          <p:nvPr/>
        </p:nvSpPr>
        <p:spPr>
          <a:xfrm>
            <a:off x="6389579" y="5250270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BECBD14-45CD-0245-AD1E-157A87F3A7EC}"/>
              </a:ext>
            </a:extLst>
          </p:cNvPr>
          <p:cNvSpPr txBox="1">
            <a:spLocks/>
          </p:cNvSpPr>
          <p:nvPr/>
        </p:nvSpPr>
        <p:spPr>
          <a:xfrm>
            <a:off x="8613662" y="4673143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3DD6381-E89E-FE4F-852D-4F7BBE956942}"/>
              </a:ext>
            </a:extLst>
          </p:cNvPr>
          <p:cNvSpPr txBox="1">
            <a:spLocks/>
          </p:cNvSpPr>
          <p:nvPr/>
        </p:nvSpPr>
        <p:spPr>
          <a:xfrm>
            <a:off x="8613663" y="5289068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A5F6D95-E809-5243-AFE2-F646D431C14E}"/>
              </a:ext>
            </a:extLst>
          </p:cNvPr>
          <p:cNvSpPr txBox="1">
            <a:spLocks/>
          </p:cNvSpPr>
          <p:nvPr/>
        </p:nvSpPr>
        <p:spPr>
          <a:xfrm>
            <a:off x="1064789" y="3701591"/>
            <a:ext cx="1759678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On-premises</a:t>
            </a: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Exchange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B889B56-A4C7-984C-B41C-719A3DBDDFBA}"/>
              </a:ext>
            </a:extLst>
          </p:cNvPr>
          <p:cNvSpPr txBox="1">
            <a:spLocks/>
          </p:cNvSpPr>
          <p:nvPr/>
        </p:nvSpPr>
        <p:spPr>
          <a:xfrm>
            <a:off x="5289472" y="5554288"/>
            <a:ext cx="921773" cy="293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Internet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CA3786F-233C-B94C-8C0F-1F556046887C}"/>
              </a:ext>
            </a:extLst>
          </p:cNvPr>
          <p:cNvSpPr txBox="1">
            <a:spLocks/>
          </p:cNvSpPr>
          <p:nvPr/>
        </p:nvSpPr>
        <p:spPr>
          <a:xfrm>
            <a:off x="9311363" y="5499082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 err="1">
                <a:latin typeface="Montserrat" pitchFamily="2" charset="-52"/>
                <a:ea typeface="MTS Sans" panose="02000000000000000000" pitchFamily="50" charset="0"/>
              </a:rPr>
              <a:t>Репозиторий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CC44036-4B15-034A-A851-76DAEACCCD2D}"/>
              </a:ext>
            </a:extLst>
          </p:cNvPr>
          <p:cNvSpPr txBox="1">
            <a:spLocks/>
          </p:cNvSpPr>
          <p:nvPr/>
        </p:nvSpPr>
        <p:spPr>
          <a:xfrm>
            <a:off x="8453061" y="2259547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1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A77AB0E-1A86-8048-9C64-EA4B6EA461EA}"/>
              </a:ext>
            </a:extLst>
          </p:cNvPr>
          <p:cNvSpPr txBox="1">
            <a:spLocks/>
          </p:cNvSpPr>
          <p:nvPr/>
        </p:nvSpPr>
        <p:spPr>
          <a:xfrm>
            <a:off x="1978658" y="2289104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Площадка клиента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C039C3BC-9E57-1643-BB25-44B9652DA235}"/>
              </a:ext>
            </a:extLst>
          </p:cNvPr>
          <p:cNvCxnSpPr/>
          <p:nvPr/>
        </p:nvCxnSpPr>
        <p:spPr>
          <a:xfrm>
            <a:off x="4172548" y="5019618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BAB33A4-736A-CF45-9790-5767837920EB}"/>
              </a:ext>
            </a:extLst>
          </p:cNvPr>
          <p:cNvCxnSpPr>
            <a:cxnSpLocks/>
          </p:cNvCxnSpPr>
          <p:nvPr/>
        </p:nvCxnSpPr>
        <p:spPr>
          <a:xfrm>
            <a:off x="4172548" y="5192561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CC38B15-73E8-4048-8799-A453C877E20A}"/>
              </a:ext>
            </a:extLst>
          </p:cNvPr>
          <p:cNvSpPr txBox="1">
            <a:spLocks/>
          </p:cNvSpPr>
          <p:nvPr/>
        </p:nvSpPr>
        <p:spPr>
          <a:xfrm>
            <a:off x="4197474" y="4668074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0232685-8E41-3A42-953B-A6BB0BD6923F}"/>
              </a:ext>
            </a:extLst>
          </p:cNvPr>
          <p:cNvSpPr txBox="1">
            <a:spLocks/>
          </p:cNvSpPr>
          <p:nvPr/>
        </p:nvSpPr>
        <p:spPr>
          <a:xfrm>
            <a:off x="4202500" y="5274913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C6FE6DE-7EAA-DA45-BA1C-15D7CAC595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824" y="4477332"/>
            <a:ext cx="892166" cy="892166"/>
          </a:xfrm>
          <a:prstGeom prst="rect">
            <a:avLst/>
          </a:prstGeom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A006A28-9AED-1941-8734-B5C08B8866EA}"/>
              </a:ext>
            </a:extLst>
          </p:cNvPr>
          <p:cNvSpPr txBox="1">
            <a:spLocks/>
          </p:cNvSpPr>
          <p:nvPr/>
        </p:nvSpPr>
        <p:spPr>
          <a:xfrm>
            <a:off x="2533643" y="5499082"/>
            <a:ext cx="1776610" cy="6582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Сервер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endParaRPr lang="en-US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Community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5E1E16F-E7EE-E844-BC16-F1E428A3B5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276" y="4695000"/>
            <a:ext cx="834645" cy="834645"/>
          </a:xfrm>
          <a:prstGeom prst="rect">
            <a:avLst/>
          </a:prstGeom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8A5F6D95-E809-5243-AFE2-F646D431C14E}"/>
              </a:ext>
            </a:extLst>
          </p:cNvPr>
          <p:cNvSpPr txBox="1">
            <a:spLocks/>
          </p:cNvSpPr>
          <p:nvPr/>
        </p:nvSpPr>
        <p:spPr>
          <a:xfrm>
            <a:off x="1007760" y="5582687"/>
            <a:ext cx="1759678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On-premises</a:t>
            </a: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SharePoint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C6FE6DE-7EAA-DA45-BA1C-15D7CAC595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269" y="2739549"/>
            <a:ext cx="892166" cy="892166"/>
          </a:xfrm>
          <a:prstGeom prst="rect">
            <a:avLst/>
          </a:prstGeom>
        </p:spPr>
      </p:pic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C039C3BC-9E57-1643-BB25-44B9652DA235}"/>
              </a:ext>
            </a:extLst>
          </p:cNvPr>
          <p:cNvCxnSpPr/>
          <p:nvPr/>
        </p:nvCxnSpPr>
        <p:spPr>
          <a:xfrm flipV="1">
            <a:off x="5836109" y="3799698"/>
            <a:ext cx="0" cy="677634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FBAB33A4-736A-CF45-9790-5767837920EB}"/>
              </a:ext>
            </a:extLst>
          </p:cNvPr>
          <p:cNvCxnSpPr>
            <a:cxnSpLocks/>
          </p:cNvCxnSpPr>
          <p:nvPr/>
        </p:nvCxnSpPr>
        <p:spPr>
          <a:xfrm flipV="1">
            <a:off x="5621796" y="3799698"/>
            <a:ext cx="0" cy="677634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7CC38B15-73E8-4048-8799-A453C877E20A}"/>
              </a:ext>
            </a:extLst>
          </p:cNvPr>
          <p:cNvSpPr txBox="1">
            <a:spLocks/>
          </p:cNvSpPr>
          <p:nvPr/>
        </p:nvSpPr>
        <p:spPr>
          <a:xfrm>
            <a:off x="5826935" y="3985594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A0232685-8E41-3A42-953B-A6BB0BD6923F}"/>
              </a:ext>
            </a:extLst>
          </p:cNvPr>
          <p:cNvSpPr txBox="1">
            <a:spLocks/>
          </p:cNvSpPr>
          <p:nvPr/>
        </p:nvSpPr>
        <p:spPr>
          <a:xfrm>
            <a:off x="4812777" y="4008053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2A006A28-9AED-1941-8734-B5C08B8866EA}"/>
              </a:ext>
            </a:extLst>
          </p:cNvPr>
          <p:cNvSpPr txBox="1">
            <a:spLocks/>
          </p:cNvSpPr>
          <p:nvPr/>
        </p:nvSpPr>
        <p:spPr>
          <a:xfrm>
            <a:off x="4924462" y="2298940"/>
            <a:ext cx="1776610" cy="6582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Microsoft Office </a:t>
            </a: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365</a:t>
            </a:r>
          </a:p>
        </p:txBody>
      </p:sp>
    </p:spTree>
    <p:extLst>
      <p:ext uri="{BB962C8B-B14F-4D97-AF65-F5344CB8AC3E}">
        <p14:creationId xmlns:p14="http://schemas.microsoft.com/office/powerpoint/2010/main" val="1520521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соседними углами 2">
            <a:extLst>
              <a:ext uri="{FF2B5EF4-FFF2-40B4-BE49-F238E27FC236}">
                <a16:creationId xmlns:a16="http://schemas.microsoft.com/office/drawing/2014/main" id="{E32151F2-F60E-BC40-AC85-A9BC84461F4E}"/>
              </a:ext>
            </a:extLst>
          </p:cNvPr>
          <p:cNvSpPr/>
          <p:nvPr/>
        </p:nvSpPr>
        <p:spPr>
          <a:xfrm>
            <a:off x="8270046" y="1842829"/>
            <a:ext cx="2131100" cy="4375191"/>
          </a:xfrm>
          <a:prstGeom prst="round2SameRect">
            <a:avLst>
              <a:gd name="adj1" fmla="val 12974"/>
              <a:gd name="adj2" fmla="val 0"/>
            </a:avLst>
          </a:prstGeom>
          <a:solidFill>
            <a:srgbClr val="C2FF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F2AED99D-F2FC-5F47-BBA8-19358217B95B}"/>
              </a:ext>
            </a:extLst>
          </p:cNvPr>
          <p:cNvSpPr/>
          <p:nvPr/>
        </p:nvSpPr>
        <p:spPr>
          <a:xfrm>
            <a:off x="1416000" y="1773000"/>
            <a:ext cx="4708873" cy="4445000"/>
          </a:xfrm>
          <a:prstGeom prst="roundRect">
            <a:avLst>
              <a:gd name="adj" fmla="val 6984"/>
            </a:avLst>
          </a:prstGeom>
          <a:solidFill>
            <a:srgbClr val="00305D">
              <a:alpha val="470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9" name="Прямоугольник с двумя скругленными соседними углами 28">
            <a:extLst>
              <a:ext uri="{FF2B5EF4-FFF2-40B4-BE49-F238E27FC236}">
                <a16:creationId xmlns:a16="http://schemas.microsoft.com/office/drawing/2014/main" id="{E32151F2-F60E-BC40-AC85-A9BC84461F4E}"/>
              </a:ext>
            </a:extLst>
          </p:cNvPr>
          <p:cNvSpPr/>
          <p:nvPr/>
        </p:nvSpPr>
        <p:spPr>
          <a:xfrm rot="16200000">
            <a:off x="4223859" y="2171814"/>
            <a:ext cx="3369427" cy="4722944"/>
          </a:xfrm>
          <a:prstGeom prst="round2SameRect">
            <a:avLst>
              <a:gd name="adj1" fmla="val 12974"/>
              <a:gd name="adj2" fmla="val 0"/>
            </a:avLst>
          </a:prstGeom>
          <a:solidFill>
            <a:srgbClr val="C2FF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7875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Поддержка сервера </a:t>
            </a:r>
            <a:r>
              <a:rPr lang="en-US" sz="3000" dirty="0">
                <a:ea typeface="MTS Sans" panose="02000000000000000000" pitchFamily="50" charset="0"/>
              </a:rPr>
              <a:t>Veeam Backup and Replication </a:t>
            </a:r>
            <a:r>
              <a:rPr lang="ru-RU" sz="3000" dirty="0">
                <a:ea typeface="MTS Sans" panose="02000000000000000000" pitchFamily="50" charset="0"/>
              </a:rPr>
              <a:t>на площадке клиента</a:t>
            </a:r>
            <a:endParaRPr lang="ru-RU" sz="3000" dirty="0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290915F0-BCEB-2949-AB3A-94128030C924}"/>
              </a:ext>
            </a:extLst>
          </p:cNvPr>
          <p:cNvSpPr/>
          <p:nvPr/>
        </p:nvSpPr>
        <p:spPr>
          <a:xfrm>
            <a:off x="1690367" y="4194639"/>
            <a:ext cx="1227877" cy="213567"/>
          </a:xfrm>
          <a:prstGeom prst="round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9390C7A7-6CA9-234A-9BAF-670C2436173E}"/>
              </a:ext>
            </a:extLst>
          </p:cNvPr>
          <p:cNvSpPr/>
          <p:nvPr/>
        </p:nvSpPr>
        <p:spPr>
          <a:xfrm>
            <a:off x="1770162" y="4266093"/>
            <a:ext cx="70658" cy="70658"/>
          </a:xfrm>
          <a:prstGeom prst="ellipse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CA48FD6-9B1C-2F4B-8D10-3B47A5F57237}"/>
              </a:ext>
            </a:extLst>
          </p:cNvPr>
          <p:cNvSpPr/>
          <p:nvPr/>
        </p:nvSpPr>
        <p:spPr>
          <a:xfrm>
            <a:off x="2484657" y="4271833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0E31CE5-B82D-A240-98B1-91453797FE49}"/>
              </a:ext>
            </a:extLst>
          </p:cNvPr>
          <p:cNvSpPr/>
          <p:nvPr/>
        </p:nvSpPr>
        <p:spPr>
          <a:xfrm>
            <a:off x="2628883" y="4271833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91366A4-0365-9E4F-B9A5-0733F8EF5B73}"/>
              </a:ext>
            </a:extLst>
          </p:cNvPr>
          <p:cNvSpPr/>
          <p:nvPr/>
        </p:nvSpPr>
        <p:spPr>
          <a:xfrm>
            <a:off x="2757503" y="4271833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A74B3927-01C3-E741-89EC-A682D065320F}"/>
              </a:ext>
            </a:extLst>
          </p:cNvPr>
          <p:cNvCxnSpPr/>
          <p:nvPr/>
        </p:nvCxnSpPr>
        <p:spPr>
          <a:xfrm>
            <a:off x="3042201" y="4022889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BAC28F80-3880-B24D-A194-A995B1AA84C1}"/>
              </a:ext>
            </a:extLst>
          </p:cNvPr>
          <p:cNvCxnSpPr>
            <a:cxnSpLocks/>
          </p:cNvCxnSpPr>
          <p:nvPr/>
        </p:nvCxnSpPr>
        <p:spPr>
          <a:xfrm>
            <a:off x="3042201" y="4232713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754CF0B-1488-F24C-9E36-0D8CA9E60ABF}"/>
              </a:ext>
            </a:extLst>
          </p:cNvPr>
          <p:cNvSpPr txBox="1">
            <a:spLocks/>
          </p:cNvSpPr>
          <p:nvPr/>
        </p:nvSpPr>
        <p:spPr>
          <a:xfrm>
            <a:off x="3119396" y="3676963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E7FAAA-C34C-CE47-908A-63E2ED23A57F}"/>
              </a:ext>
            </a:extLst>
          </p:cNvPr>
          <p:cNvSpPr txBox="1">
            <a:spLocks/>
          </p:cNvSpPr>
          <p:nvPr/>
        </p:nvSpPr>
        <p:spPr>
          <a:xfrm>
            <a:off x="3130961" y="4298240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445E5D9D-4A8A-A644-B285-77C714EE9CA3}"/>
              </a:ext>
            </a:extLst>
          </p:cNvPr>
          <p:cNvGrpSpPr/>
          <p:nvPr/>
        </p:nvGrpSpPr>
        <p:grpSpPr>
          <a:xfrm>
            <a:off x="1858656" y="3392931"/>
            <a:ext cx="227993" cy="698431"/>
            <a:chOff x="6755371" y="3244107"/>
            <a:chExt cx="860827" cy="2635885"/>
          </a:xfrm>
        </p:grpSpPr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20E7CCC-2592-FD4A-A4E8-8E0AEC1EF409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D805FB71-3745-604F-9BBC-DC8EA6ABF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F2CC302D-DAD6-BB43-8EA9-CE17105CA43F}"/>
              </a:ext>
            </a:extLst>
          </p:cNvPr>
          <p:cNvGrpSpPr/>
          <p:nvPr/>
        </p:nvGrpSpPr>
        <p:grpSpPr>
          <a:xfrm>
            <a:off x="2195795" y="3392930"/>
            <a:ext cx="227993" cy="698431"/>
            <a:chOff x="6755371" y="3244107"/>
            <a:chExt cx="860827" cy="2635885"/>
          </a:xfrm>
        </p:grpSpPr>
        <p:sp>
          <p:nvSpPr>
            <p:cNvPr id="18" name="Скругленный прямоугольник 17">
              <a:extLst>
                <a:ext uri="{FF2B5EF4-FFF2-40B4-BE49-F238E27FC236}">
                  <a16:creationId xmlns:a16="http://schemas.microsoft.com/office/drawing/2014/main" id="{8BBB5481-1F0C-FE4B-9914-C61EDFABBB66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A85D9C1E-5979-B44D-AFF4-EFFFDDE89D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A3EFFF26-CD8D-E941-92BB-5C0A0A1BA030}"/>
              </a:ext>
            </a:extLst>
          </p:cNvPr>
          <p:cNvGrpSpPr/>
          <p:nvPr/>
        </p:nvGrpSpPr>
        <p:grpSpPr>
          <a:xfrm>
            <a:off x="2515068" y="3390955"/>
            <a:ext cx="227993" cy="698431"/>
            <a:chOff x="6755371" y="3244107"/>
            <a:chExt cx="860827" cy="2635885"/>
          </a:xfrm>
        </p:grpSpPr>
        <p:sp>
          <p:nvSpPr>
            <p:cNvPr id="21" name="Скругленный прямоугольник 20">
              <a:extLst>
                <a:ext uri="{FF2B5EF4-FFF2-40B4-BE49-F238E27FC236}">
                  <a16:creationId xmlns:a16="http://schemas.microsoft.com/office/drawing/2014/main" id="{350F564E-8893-C04B-A06D-0D8F81E443AF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FBD2FE73-900F-1A4A-A314-EF30EB9F8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CBA24D3-EAF6-7947-86AC-290276BD23A5}"/>
              </a:ext>
            </a:extLst>
          </p:cNvPr>
          <p:cNvSpPr txBox="1">
            <a:spLocks/>
          </p:cNvSpPr>
          <p:nvPr/>
        </p:nvSpPr>
        <p:spPr>
          <a:xfrm>
            <a:off x="1759419" y="3092388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0E6082A5-7168-2245-9DE0-8BD0AAC58C86}"/>
              </a:ext>
            </a:extLst>
          </p:cNvPr>
          <p:cNvSpPr txBox="1">
            <a:spLocks/>
          </p:cNvSpPr>
          <p:nvPr/>
        </p:nvSpPr>
        <p:spPr>
          <a:xfrm>
            <a:off x="2095350" y="3092388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CCA21EA2-C68E-184D-A089-A114BFC8479E}"/>
              </a:ext>
            </a:extLst>
          </p:cNvPr>
          <p:cNvSpPr txBox="1">
            <a:spLocks/>
          </p:cNvSpPr>
          <p:nvPr/>
        </p:nvSpPr>
        <p:spPr>
          <a:xfrm>
            <a:off x="2419206" y="3092388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F8DCE38C-9A7C-124E-9516-1DAA990B6994}"/>
              </a:ext>
            </a:extLst>
          </p:cNvPr>
          <p:cNvSpPr txBox="1">
            <a:spLocks/>
          </p:cNvSpPr>
          <p:nvPr/>
        </p:nvSpPr>
        <p:spPr>
          <a:xfrm>
            <a:off x="1416000" y="4526905"/>
            <a:ext cx="1776609" cy="386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Vmware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/MS Hyper-V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5A2BF12-F404-2A47-A7C5-5161A51B2A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758" y="3152721"/>
            <a:ext cx="892166" cy="892166"/>
          </a:xfrm>
          <a:prstGeom prst="rect">
            <a:avLst/>
          </a:prstGeom>
        </p:spPr>
      </p:pic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74D98D77-CDB7-CC47-8FD5-D8B90AF653F3}"/>
              </a:ext>
            </a:extLst>
          </p:cNvPr>
          <p:cNvSpPr txBox="1">
            <a:spLocks/>
          </p:cNvSpPr>
          <p:nvPr/>
        </p:nvSpPr>
        <p:spPr>
          <a:xfrm>
            <a:off x="3383107" y="5676853"/>
            <a:ext cx="3165451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 Agent for </a:t>
            </a: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MS Windows (server)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6CA3786F-233C-B94C-8C0F-1F556046887C}"/>
              </a:ext>
            </a:extLst>
          </p:cNvPr>
          <p:cNvSpPr txBox="1">
            <a:spLocks/>
          </p:cNvSpPr>
          <p:nvPr/>
        </p:nvSpPr>
        <p:spPr>
          <a:xfrm>
            <a:off x="8349063" y="4104223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 err="1">
                <a:latin typeface="Montserrat" pitchFamily="2" charset="-52"/>
                <a:ea typeface="MTS Sans" panose="02000000000000000000" pitchFamily="50" charset="0"/>
              </a:rPr>
              <a:t>Репозиторий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B9F2C20-7AE0-4F43-9E40-0FE68F97AC4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3541"/>
          <a:stretch/>
        </p:blipFill>
        <p:spPr>
          <a:xfrm>
            <a:off x="4559464" y="3073638"/>
            <a:ext cx="698126" cy="913080"/>
          </a:xfrm>
          <a:prstGeom prst="rect">
            <a:avLst/>
          </a:prstGeom>
        </p:spPr>
      </p:pic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0C2D019E-A7F8-AD4D-B149-D106FCB39117}"/>
              </a:ext>
            </a:extLst>
          </p:cNvPr>
          <p:cNvSpPr txBox="1">
            <a:spLocks/>
          </p:cNvSpPr>
          <p:nvPr/>
        </p:nvSpPr>
        <p:spPr>
          <a:xfrm>
            <a:off x="4062510" y="3986718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Сервер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Enterprise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70BD30BD-3EFF-DA4A-8B44-86401902B006}"/>
              </a:ext>
            </a:extLst>
          </p:cNvPr>
          <p:cNvGrpSpPr/>
          <p:nvPr/>
        </p:nvGrpSpPr>
        <p:grpSpPr>
          <a:xfrm>
            <a:off x="4449565" y="4985470"/>
            <a:ext cx="1074024" cy="658428"/>
            <a:chOff x="1943269" y="2251596"/>
            <a:chExt cx="1788947" cy="970147"/>
          </a:xfrm>
        </p:grpSpPr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23E828F4-C3E9-CC4A-9184-C0ABA399A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3269" y="2252024"/>
              <a:ext cx="530225" cy="530225"/>
            </a:xfrm>
            <a:prstGeom prst="rect">
              <a:avLst/>
            </a:prstGeom>
          </p:spPr>
        </p:pic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3D1A326C-BAA7-3B4B-8456-B5F4D3FAC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2630" y="2252024"/>
              <a:ext cx="530225" cy="530225"/>
            </a:xfrm>
            <a:prstGeom prst="rect">
              <a:avLst/>
            </a:prstGeom>
          </p:spPr>
        </p:pic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698D6F66-F49D-EC4D-A691-0F6E8358C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1991" y="2251596"/>
              <a:ext cx="530225" cy="530225"/>
            </a:xfrm>
            <a:prstGeom prst="rect">
              <a:avLst/>
            </a:prstGeom>
          </p:spPr>
        </p:pic>
        <p:sp>
          <p:nvSpPr>
            <p:cNvPr id="37" name="Скругленный прямоугольник 36">
              <a:extLst>
                <a:ext uri="{FF2B5EF4-FFF2-40B4-BE49-F238E27FC236}">
                  <a16:creationId xmlns:a16="http://schemas.microsoft.com/office/drawing/2014/main" id="{0EB2080C-3E9C-104A-B4C1-F4FEC7BB54F6}"/>
                </a:ext>
              </a:extLst>
            </p:cNvPr>
            <p:cNvSpPr/>
            <p:nvPr/>
          </p:nvSpPr>
          <p:spPr>
            <a:xfrm>
              <a:off x="1943269" y="2910588"/>
              <a:ext cx="1788947" cy="311155"/>
            </a:xfrm>
            <a:prstGeom prst="roundRect">
              <a:avLst/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C4FAAE15-FEF1-EF41-988B-5EDA949EAE09}"/>
                </a:ext>
              </a:extLst>
            </p:cNvPr>
            <p:cNvSpPr/>
            <p:nvPr/>
          </p:nvSpPr>
          <p:spPr>
            <a:xfrm>
              <a:off x="2059526" y="3014692"/>
              <a:ext cx="102945" cy="102945"/>
            </a:xfrm>
            <a:prstGeom prst="ellipse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577FD81E-FEB3-0143-94C7-757550FA74D2}"/>
                </a:ext>
              </a:extLst>
            </p:cNvPr>
            <p:cNvSpPr/>
            <p:nvPr/>
          </p:nvSpPr>
          <p:spPr>
            <a:xfrm>
              <a:off x="3100505" y="3023055"/>
              <a:ext cx="101486" cy="101486"/>
            </a:xfrm>
            <a:prstGeom prst="rect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728C5F01-704C-DD44-B329-5CCD1D0D2AB6}"/>
                </a:ext>
              </a:extLst>
            </p:cNvPr>
            <p:cNvSpPr/>
            <p:nvPr/>
          </p:nvSpPr>
          <p:spPr>
            <a:xfrm>
              <a:off x="3310633" y="3023055"/>
              <a:ext cx="101486" cy="101486"/>
            </a:xfrm>
            <a:prstGeom prst="rect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E8D4F9D6-997F-E64F-9D0A-2D07927682DE}"/>
                </a:ext>
              </a:extLst>
            </p:cNvPr>
            <p:cNvSpPr/>
            <p:nvPr/>
          </p:nvSpPr>
          <p:spPr>
            <a:xfrm>
              <a:off x="3498026" y="3023055"/>
              <a:ext cx="101486" cy="101486"/>
            </a:xfrm>
            <a:prstGeom prst="rect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14E7FAAA-C34C-CE47-908A-63E2ED23A57F}"/>
              </a:ext>
            </a:extLst>
          </p:cNvPr>
          <p:cNvSpPr txBox="1">
            <a:spLocks/>
          </p:cNvSpPr>
          <p:nvPr/>
        </p:nvSpPr>
        <p:spPr>
          <a:xfrm>
            <a:off x="3996316" y="4600854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C7BC55E7-2393-0142-AD72-8CC90684459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741" y="2046951"/>
            <a:ext cx="892166" cy="892166"/>
          </a:xfrm>
          <a:prstGeom prst="rect">
            <a:avLst/>
          </a:prstGeom>
        </p:spPr>
      </p:pic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8C8C0FDF-72B7-9E45-97FF-52335F1AF65B}"/>
              </a:ext>
            </a:extLst>
          </p:cNvPr>
          <p:cNvSpPr txBox="1">
            <a:spLocks/>
          </p:cNvSpPr>
          <p:nvPr/>
        </p:nvSpPr>
        <p:spPr>
          <a:xfrm>
            <a:off x="6029348" y="1711833"/>
            <a:ext cx="1759678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Интернет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20BAA176-73BC-C945-AECA-65428A2D2516}"/>
              </a:ext>
            </a:extLst>
          </p:cNvPr>
          <p:cNvSpPr txBox="1">
            <a:spLocks/>
          </p:cNvSpPr>
          <p:nvPr/>
        </p:nvSpPr>
        <p:spPr>
          <a:xfrm rot="19478889">
            <a:off x="5364599" y="2259216"/>
            <a:ext cx="1813150" cy="5778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4BC03031-79D9-474B-9129-B856137077AA}"/>
              </a:ext>
            </a:extLst>
          </p:cNvPr>
          <p:cNvSpPr txBox="1">
            <a:spLocks/>
          </p:cNvSpPr>
          <p:nvPr/>
        </p:nvSpPr>
        <p:spPr>
          <a:xfrm rot="19478889">
            <a:off x="5681240" y="2763419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C2C131EB-431D-E94A-BB8F-57BAF17C6826}"/>
              </a:ext>
            </a:extLst>
          </p:cNvPr>
          <p:cNvCxnSpPr/>
          <p:nvPr/>
        </p:nvCxnSpPr>
        <p:spPr>
          <a:xfrm rot="2404715">
            <a:off x="7564004" y="2945834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2ECE8989-97CA-3443-97E3-69114201AC79}"/>
              </a:ext>
            </a:extLst>
          </p:cNvPr>
          <p:cNvCxnSpPr>
            <a:cxnSpLocks/>
          </p:cNvCxnSpPr>
          <p:nvPr/>
        </p:nvCxnSpPr>
        <p:spPr>
          <a:xfrm rot="2404715">
            <a:off x="7376893" y="3084072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EF4FE88-3487-1F41-A1E1-BF5D4F919C34}"/>
              </a:ext>
            </a:extLst>
          </p:cNvPr>
          <p:cNvSpPr txBox="1">
            <a:spLocks/>
          </p:cNvSpPr>
          <p:nvPr/>
        </p:nvSpPr>
        <p:spPr>
          <a:xfrm rot="2404715">
            <a:off x="7555264" y="2955648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E1DF73A3-2BB9-6243-BA3C-4AD359ABA508}"/>
              </a:ext>
            </a:extLst>
          </p:cNvPr>
          <p:cNvSpPr txBox="1">
            <a:spLocks/>
          </p:cNvSpPr>
          <p:nvPr/>
        </p:nvSpPr>
        <p:spPr>
          <a:xfrm rot="2404715">
            <a:off x="7177713" y="3366654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994F020E-05AF-B648-B98F-C970723CBCF4}"/>
              </a:ext>
            </a:extLst>
          </p:cNvPr>
          <p:cNvGrpSpPr/>
          <p:nvPr/>
        </p:nvGrpSpPr>
        <p:grpSpPr>
          <a:xfrm rot="19526607">
            <a:off x="5424822" y="2884763"/>
            <a:ext cx="974609" cy="209824"/>
            <a:chOff x="6443939" y="4008669"/>
            <a:chExt cx="974609" cy="209824"/>
          </a:xfrm>
        </p:grpSpPr>
        <p:cxnSp>
          <p:nvCxnSpPr>
            <p:cNvPr id="52" name="Прямая со стрелкой 51">
              <a:extLst>
                <a:ext uri="{FF2B5EF4-FFF2-40B4-BE49-F238E27FC236}">
                  <a16:creationId xmlns:a16="http://schemas.microsoft.com/office/drawing/2014/main" id="{A6B4F9C6-C4B9-FB4D-BB06-B7FE2B0E3321}"/>
                </a:ext>
              </a:extLst>
            </p:cNvPr>
            <p:cNvCxnSpPr/>
            <p:nvPr/>
          </p:nvCxnSpPr>
          <p:spPr>
            <a:xfrm>
              <a:off x="6443939" y="4008669"/>
              <a:ext cx="974609" cy="0"/>
            </a:xfrm>
            <a:prstGeom prst="straightConnector1">
              <a:avLst/>
            </a:prstGeom>
            <a:noFill/>
            <a:ln w="38100" cap="flat">
              <a:solidFill>
                <a:srgbClr val="21191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3" name="Прямая со стрелкой 52">
              <a:extLst>
                <a:ext uri="{FF2B5EF4-FFF2-40B4-BE49-F238E27FC236}">
                  <a16:creationId xmlns:a16="http://schemas.microsoft.com/office/drawing/2014/main" id="{2D243AFB-B742-5E47-B5FB-C7C1539FDFBC}"/>
                </a:ext>
              </a:extLst>
            </p:cNvPr>
            <p:cNvCxnSpPr>
              <a:cxnSpLocks/>
            </p:cNvCxnSpPr>
            <p:nvPr/>
          </p:nvCxnSpPr>
          <p:spPr>
            <a:xfrm>
              <a:off x="6443939" y="4218493"/>
              <a:ext cx="974609" cy="0"/>
            </a:xfrm>
            <a:prstGeom prst="straightConnector1">
              <a:avLst/>
            </a:prstGeom>
            <a:noFill/>
            <a:ln w="38100" cap="flat">
              <a:solidFill>
                <a:srgbClr val="211910"/>
              </a:solidFill>
              <a:prstDash val="solid"/>
              <a:miter lim="400000"/>
              <a:headEnd type="triangle" w="med" len="med"/>
              <a:tailEnd type="none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A74B3927-01C3-E741-89EC-A682D065320F}"/>
              </a:ext>
            </a:extLst>
          </p:cNvPr>
          <p:cNvCxnSpPr/>
          <p:nvPr/>
        </p:nvCxnSpPr>
        <p:spPr>
          <a:xfrm>
            <a:off x="4881258" y="4610874"/>
            <a:ext cx="0" cy="28663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BAC28F80-3880-B24D-A194-A995B1AA84C1}"/>
              </a:ext>
            </a:extLst>
          </p:cNvPr>
          <p:cNvCxnSpPr>
            <a:cxnSpLocks/>
          </p:cNvCxnSpPr>
          <p:nvPr/>
        </p:nvCxnSpPr>
        <p:spPr>
          <a:xfrm>
            <a:off x="5140528" y="4596407"/>
            <a:ext cx="0" cy="289618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0754CF0B-1488-F24C-9E36-0D8CA9E60ABF}"/>
              </a:ext>
            </a:extLst>
          </p:cNvPr>
          <p:cNvSpPr txBox="1">
            <a:spLocks/>
          </p:cNvSpPr>
          <p:nvPr/>
        </p:nvSpPr>
        <p:spPr>
          <a:xfrm>
            <a:off x="5198693" y="4610874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ACC44036-4B15-034A-A851-76DAEACCCD2D}"/>
              </a:ext>
            </a:extLst>
          </p:cNvPr>
          <p:cNvSpPr txBox="1">
            <a:spLocks/>
          </p:cNvSpPr>
          <p:nvPr/>
        </p:nvSpPr>
        <p:spPr>
          <a:xfrm>
            <a:off x="8793076" y="1894439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1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4A77AB0E-1A86-8048-9C64-EA4B6EA461EA}"/>
              </a:ext>
            </a:extLst>
          </p:cNvPr>
          <p:cNvSpPr txBox="1">
            <a:spLocks/>
          </p:cNvSpPr>
          <p:nvPr/>
        </p:nvSpPr>
        <p:spPr>
          <a:xfrm>
            <a:off x="2857990" y="1817437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Площадка клиента</a:t>
            </a: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ACC44036-4B15-034A-A851-76DAEACCCD2D}"/>
              </a:ext>
            </a:extLst>
          </p:cNvPr>
          <p:cNvSpPr txBox="1">
            <a:spLocks/>
          </p:cNvSpPr>
          <p:nvPr/>
        </p:nvSpPr>
        <p:spPr>
          <a:xfrm>
            <a:off x="5772174" y="5828915"/>
            <a:ext cx="34300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Зона ответственности </a:t>
            </a: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21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209800" cy="1325563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Резервное копирование в сегменте 152-ФЗ – </a:t>
            </a:r>
            <a:r>
              <a:rPr lang="en-US" sz="3000" dirty="0">
                <a:ea typeface="MTS Sans" panose="02000000000000000000" pitchFamily="50" charset="0"/>
              </a:rPr>
              <a:t>Veeam </a:t>
            </a:r>
            <a:r>
              <a:rPr lang="ru-RU" sz="3000" dirty="0">
                <a:ea typeface="MTS Sans" panose="02000000000000000000" pitchFamily="50" charset="0"/>
              </a:rPr>
              <a:t>С</a:t>
            </a:r>
            <a:r>
              <a:rPr lang="en-US" sz="3000" dirty="0">
                <a:ea typeface="MTS Sans" panose="02000000000000000000" pitchFamily="50" charset="0"/>
              </a:rPr>
              <a:t>loud Connect Backup</a:t>
            </a:r>
            <a:endParaRPr lang="ru-RU" sz="3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413000"/>
            <a:ext cx="1058400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У</a:t>
            </a: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клиента есть сервер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Veeam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en-US" sz="1400" u="sng" dirty="0">
                <a:latin typeface="Montserrat" pitchFamily="2" charset="-52"/>
                <a:ea typeface="MTS Sans" panose="02000000000000000000" pitchFamily="50" charset="0"/>
              </a:rPr>
              <a:t>(</a:t>
            </a:r>
            <a:r>
              <a:rPr lang="ru-RU" sz="1400" u="sng" dirty="0">
                <a:latin typeface="Montserrat" pitchFamily="2" charset="-52"/>
                <a:ea typeface="MTS Sans" panose="02000000000000000000" pitchFamily="50" charset="0"/>
              </a:rPr>
              <a:t>не ниже </a:t>
            </a:r>
            <a:r>
              <a:rPr lang="en-US" sz="1400" u="sng" dirty="0">
                <a:latin typeface="Montserrat" pitchFamily="2" charset="-52"/>
                <a:ea typeface="MTS Sans" panose="02000000000000000000" pitchFamily="50" charset="0"/>
                <a:sym typeface="Helvetica Neue Light"/>
              </a:rPr>
              <a:t>Enterprise edition</a:t>
            </a:r>
            <a:r>
              <a:rPr lang="ru-RU" sz="1400" u="sng" dirty="0">
                <a:latin typeface="Montserrat" pitchFamily="2" charset="-52"/>
                <a:ea typeface="MTS Sans" panose="02000000000000000000" pitchFamily="50" charset="0"/>
                <a:sym typeface="Helvetica Neue Light"/>
              </a:rPr>
              <a:t>)</a:t>
            </a:r>
            <a:endParaRPr lang="ru-RU" sz="1400" dirty="0"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Клиент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подключается к сегменту 152-ФЗ через шлюз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S-terra</a:t>
            </a: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Резервное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копирование объектов, работающих на площадке клиента</a:t>
            </a:r>
            <a:endParaRPr lang="en-US" sz="14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267CB3E6-C5ED-6E4D-9866-BAABBBFA2BC9}"/>
              </a:ext>
            </a:extLst>
          </p:cNvPr>
          <p:cNvSpPr/>
          <p:nvPr/>
        </p:nvSpPr>
        <p:spPr>
          <a:xfrm>
            <a:off x="6593614" y="2713513"/>
            <a:ext cx="4828585" cy="3653015"/>
          </a:xfrm>
          <a:prstGeom prst="roundRect">
            <a:avLst>
              <a:gd name="adj" fmla="val 6984"/>
            </a:avLst>
          </a:prstGeom>
          <a:solidFill>
            <a:srgbClr val="C2FF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374F798F-E077-E742-A53C-E625FA794375}"/>
              </a:ext>
            </a:extLst>
          </p:cNvPr>
          <p:cNvSpPr/>
          <p:nvPr/>
        </p:nvSpPr>
        <p:spPr>
          <a:xfrm>
            <a:off x="938966" y="2738563"/>
            <a:ext cx="4763293" cy="3627965"/>
          </a:xfrm>
          <a:prstGeom prst="roundRect">
            <a:avLst>
              <a:gd name="adj" fmla="val 6984"/>
            </a:avLst>
          </a:prstGeom>
          <a:solidFill>
            <a:srgbClr val="00305D">
              <a:alpha val="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27AC98-80EF-BB4D-A55C-C762F77227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528" y="4201630"/>
            <a:ext cx="550753" cy="55075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5C9EF2-55FA-F941-A4A4-45B3CE14FD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248" y="4056432"/>
            <a:ext cx="892166" cy="892166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64D3846-8506-5B4E-8E7C-218CAFD8893E}"/>
              </a:ext>
            </a:extLst>
          </p:cNvPr>
          <p:cNvSpPr txBox="1">
            <a:spLocks/>
          </p:cNvSpPr>
          <p:nvPr/>
        </p:nvSpPr>
        <p:spPr>
          <a:xfrm>
            <a:off x="3407963" y="5050900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Сервер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endParaRPr lang="en-US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Enterprise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FE28B89-C305-534E-915E-E4EECC5CC3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743" y="4056432"/>
            <a:ext cx="892166" cy="89216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0CD5B6B-759A-824F-B245-8404325715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905" y="4039734"/>
            <a:ext cx="892166" cy="892166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11064FC-6454-E84E-8101-C85F56DC7953}"/>
              </a:ext>
            </a:extLst>
          </p:cNvPr>
          <p:cNvSpPr txBox="1">
            <a:spLocks/>
          </p:cNvSpPr>
          <p:nvPr/>
        </p:nvSpPr>
        <p:spPr>
          <a:xfrm>
            <a:off x="8836218" y="4089829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7F906D9-2B1B-0640-BC6C-2AA3D6D3044B}"/>
              </a:ext>
            </a:extLst>
          </p:cNvPr>
          <p:cNvSpPr txBox="1">
            <a:spLocks/>
          </p:cNvSpPr>
          <p:nvPr/>
        </p:nvSpPr>
        <p:spPr>
          <a:xfrm>
            <a:off x="8859297" y="4725518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0E3BD1F-5E0C-7240-9310-4645813799F8}"/>
              </a:ext>
            </a:extLst>
          </p:cNvPr>
          <p:cNvCxnSpPr/>
          <p:nvPr/>
        </p:nvCxnSpPr>
        <p:spPr>
          <a:xfrm>
            <a:off x="8747629" y="4446686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E193A8B-4B17-EB4E-B44D-F097045465C2}"/>
              </a:ext>
            </a:extLst>
          </p:cNvPr>
          <p:cNvCxnSpPr>
            <a:cxnSpLocks/>
          </p:cNvCxnSpPr>
          <p:nvPr/>
        </p:nvCxnSpPr>
        <p:spPr>
          <a:xfrm>
            <a:off x="8747629" y="4656510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001C04FD-0B0B-1246-87B7-CA537D38B0A0}"/>
              </a:ext>
            </a:extLst>
          </p:cNvPr>
          <p:cNvCxnSpPr>
            <a:cxnSpLocks/>
          </p:cNvCxnSpPr>
          <p:nvPr/>
        </p:nvCxnSpPr>
        <p:spPr>
          <a:xfrm flipH="1">
            <a:off x="5358299" y="4477006"/>
            <a:ext cx="542708" cy="1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4C98D33-8A8E-2E4A-BB61-4E4458D8472F}"/>
              </a:ext>
            </a:extLst>
          </p:cNvPr>
          <p:cNvSpPr txBox="1">
            <a:spLocks/>
          </p:cNvSpPr>
          <p:nvPr/>
        </p:nvSpPr>
        <p:spPr>
          <a:xfrm>
            <a:off x="7121935" y="4992796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Cloud </a:t>
            </a: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</a:t>
            </a: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onnect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A00FB16-776C-9145-9743-FB4643D345B8}"/>
              </a:ext>
            </a:extLst>
          </p:cNvPr>
          <p:cNvSpPr txBox="1">
            <a:spLocks/>
          </p:cNvSpPr>
          <p:nvPr/>
        </p:nvSpPr>
        <p:spPr>
          <a:xfrm>
            <a:off x="9507681" y="4904924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 err="1">
                <a:latin typeface="Montserrat" pitchFamily="2" charset="-52"/>
                <a:ea typeface="MTS Sans" panose="02000000000000000000" pitchFamily="50" charset="0"/>
              </a:rPr>
              <a:t>Репозиторий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92666CC-7167-3847-B5CC-A112A7D419E0}"/>
              </a:ext>
            </a:extLst>
          </p:cNvPr>
          <p:cNvSpPr txBox="1">
            <a:spLocks/>
          </p:cNvSpPr>
          <p:nvPr/>
        </p:nvSpPr>
        <p:spPr>
          <a:xfrm>
            <a:off x="808678" y="5878736"/>
            <a:ext cx="1876957" cy="5960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dirty="0">
                <a:latin typeface="MTS Sans" panose="02000000000000000000" pitchFamily="50" charset="0"/>
                <a:ea typeface="MTS Sans" panose="02000000000000000000" pitchFamily="50" charset="0"/>
              </a:rPr>
              <a:t>Гипервизоры </a:t>
            </a:r>
          </a:p>
          <a:p>
            <a:pPr marL="0" indent="0" algn="ctr" hangingPunct="1">
              <a:buNone/>
            </a:pPr>
            <a:r>
              <a:rPr lang="en-US" dirty="0" err="1">
                <a:latin typeface="MTS Sans" panose="02000000000000000000" pitchFamily="50" charset="0"/>
                <a:ea typeface="MTS Sans" panose="02000000000000000000" pitchFamily="50" charset="0"/>
              </a:rPr>
              <a:t>Vmware</a:t>
            </a:r>
            <a:r>
              <a:rPr lang="en-US" dirty="0">
                <a:latin typeface="MTS Sans" panose="02000000000000000000" pitchFamily="50" charset="0"/>
                <a:ea typeface="MTS Sans" panose="02000000000000000000" pitchFamily="50" charset="0"/>
              </a:rPr>
              <a:t>/ Hyper-V</a:t>
            </a:r>
            <a:endParaRPr lang="ru-RU" dirty="0">
              <a:latin typeface="MTS Sans" panose="02000000000000000000" pitchFamily="50" charset="0"/>
              <a:ea typeface="MTS Sans" panose="02000000000000000000" pitchFamily="50" charset="0"/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BD5D4DE-BEB3-2146-A5EE-CEF8767F13DF}"/>
              </a:ext>
            </a:extLst>
          </p:cNvPr>
          <p:cNvSpPr txBox="1">
            <a:spLocks/>
          </p:cNvSpPr>
          <p:nvPr/>
        </p:nvSpPr>
        <p:spPr>
          <a:xfrm>
            <a:off x="8610838" y="2759882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1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6AF32EB-0038-8D4C-827E-7F6A46C47234}"/>
              </a:ext>
            </a:extLst>
          </p:cNvPr>
          <p:cNvSpPr txBox="1">
            <a:spLocks/>
          </p:cNvSpPr>
          <p:nvPr/>
        </p:nvSpPr>
        <p:spPr>
          <a:xfrm>
            <a:off x="2789641" y="2765458"/>
            <a:ext cx="1813150" cy="2683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Площадка клиента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A3D7748-C0FD-B14F-A3BD-E3265989C402}"/>
              </a:ext>
            </a:extLst>
          </p:cNvPr>
          <p:cNvSpPr txBox="1">
            <a:spLocks/>
          </p:cNvSpPr>
          <p:nvPr/>
        </p:nvSpPr>
        <p:spPr>
          <a:xfrm>
            <a:off x="5695886" y="3820986"/>
            <a:ext cx="921773" cy="293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Internet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5E1E16F-E7EE-E844-BC16-F1E428A3B5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835" y="3049955"/>
            <a:ext cx="834645" cy="834645"/>
          </a:xfrm>
          <a:prstGeom prst="rect">
            <a:avLst/>
          </a:prstGeom>
        </p:spPr>
      </p:pic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290915F0-BCEB-2949-AB3A-94128030C924}"/>
              </a:ext>
            </a:extLst>
          </p:cNvPr>
          <p:cNvSpPr/>
          <p:nvPr/>
        </p:nvSpPr>
        <p:spPr>
          <a:xfrm>
            <a:off x="1177402" y="5665170"/>
            <a:ext cx="1227877" cy="213567"/>
          </a:xfrm>
          <a:prstGeom prst="round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9390C7A7-6CA9-234A-9BAF-670C2436173E}"/>
              </a:ext>
            </a:extLst>
          </p:cNvPr>
          <p:cNvSpPr/>
          <p:nvPr/>
        </p:nvSpPr>
        <p:spPr>
          <a:xfrm>
            <a:off x="1257197" y="5736624"/>
            <a:ext cx="70658" cy="70658"/>
          </a:xfrm>
          <a:prstGeom prst="ellipse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CA48FD6-9B1C-2F4B-8D10-3B47A5F57237}"/>
              </a:ext>
            </a:extLst>
          </p:cNvPr>
          <p:cNvSpPr/>
          <p:nvPr/>
        </p:nvSpPr>
        <p:spPr>
          <a:xfrm>
            <a:off x="1971692" y="5742364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0E31CE5-B82D-A240-98B1-91453797FE49}"/>
              </a:ext>
            </a:extLst>
          </p:cNvPr>
          <p:cNvSpPr/>
          <p:nvPr/>
        </p:nvSpPr>
        <p:spPr>
          <a:xfrm>
            <a:off x="2115918" y="5742364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91366A4-0365-9E4F-B9A5-0733F8EF5B73}"/>
              </a:ext>
            </a:extLst>
          </p:cNvPr>
          <p:cNvSpPr/>
          <p:nvPr/>
        </p:nvSpPr>
        <p:spPr>
          <a:xfrm>
            <a:off x="2244538" y="5742364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445E5D9D-4A8A-A644-B285-77C714EE9CA3}"/>
              </a:ext>
            </a:extLst>
          </p:cNvPr>
          <p:cNvGrpSpPr/>
          <p:nvPr/>
        </p:nvGrpSpPr>
        <p:grpSpPr>
          <a:xfrm>
            <a:off x="1345691" y="4863462"/>
            <a:ext cx="227993" cy="698431"/>
            <a:chOff x="6755371" y="3244107"/>
            <a:chExt cx="860827" cy="2635885"/>
          </a:xfrm>
        </p:grpSpPr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520E7CCC-2592-FD4A-A4E8-8E0AEC1EF409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30" name="Рисунок 29">
              <a:extLst>
                <a:ext uri="{FF2B5EF4-FFF2-40B4-BE49-F238E27FC236}">
                  <a16:creationId xmlns:a16="http://schemas.microsoft.com/office/drawing/2014/main" id="{D805FB71-3745-604F-9BBC-DC8EA6ABF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F2CC302D-DAD6-BB43-8EA9-CE17105CA43F}"/>
              </a:ext>
            </a:extLst>
          </p:cNvPr>
          <p:cNvGrpSpPr/>
          <p:nvPr/>
        </p:nvGrpSpPr>
        <p:grpSpPr>
          <a:xfrm>
            <a:off x="1682830" y="4863461"/>
            <a:ext cx="227993" cy="698431"/>
            <a:chOff x="6755371" y="3244107"/>
            <a:chExt cx="860827" cy="2635885"/>
          </a:xfrm>
        </p:grpSpPr>
        <p:sp>
          <p:nvSpPr>
            <p:cNvPr id="32" name="Скругленный прямоугольник 31">
              <a:extLst>
                <a:ext uri="{FF2B5EF4-FFF2-40B4-BE49-F238E27FC236}">
                  <a16:creationId xmlns:a16="http://schemas.microsoft.com/office/drawing/2014/main" id="{8BBB5481-1F0C-FE4B-9914-C61EDFABBB66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A85D9C1E-5979-B44D-AFF4-EFFFDDE89D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A3EFFF26-CD8D-E941-92BB-5C0A0A1BA030}"/>
              </a:ext>
            </a:extLst>
          </p:cNvPr>
          <p:cNvGrpSpPr/>
          <p:nvPr/>
        </p:nvGrpSpPr>
        <p:grpSpPr>
          <a:xfrm>
            <a:off x="2002103" y="4861486"/>
            <a:ext cx="227993" cy="698431"/>
            <a:chOff x="6755371" y="3244107"/>
            <a:chExt cx="860827" cy="2635885"/>
          </a:xfrm>
        </p:grpSpPr>
        <p:sp>
          <p:nvSpPr>
            <p:cNvPr id="35" name="Скругленный прямоугольник 34">
              <a:extLst>
                <a:ext uri="{FF2B5EF4-FFF2-40B4-BE49-F238E27FC236}">
                  <a16:creationId xmlns:a16="http://schemas.microsoft.com/office/drawing/2014/main" id="{350F564E-8893-C04B-A06D-0D8F81E443AF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FBD2FE73-900F-1A4A-A314-EF30EB9F8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4CBA24D3-EAF6-7947-86AC-290276BD23A5}"/>
              </a:ext>
            </a:extLst>
          </p:cNvPr>
          <p:cNvSpPr txBox="1">
            <a:spLocks/>
          </p:cNvSpPr>
          <p:nvPr/>
        </p:nvSpPr>
        <p:spPr>
          <a:xfrm>
            <a:off x="1246454" y="4562919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>
                <a:latin typeface="MTS Sans" panose="02000000000000000000" pitchFamily="50" charset="0"/>
                <a:ea typeface="MTS Sans" panose="02000000000000000000" pitchFamily="50" charset="0"/>
              </a:rPr>
              <a:t>VM</a:t>
            </a:r>
            <a:endParaRPr lang="ru-RU" dirty="0">
              <a:latin typeface="MTS Sans" panose="02000000000000000000" pitchFamily="50" charset="0"/>
              <a:ea typeface="MTS Sans" panose="02000000000000000000" pitchFamily="50" charset="0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0E6082A5-7168-2245-9DE0-8BD0AAC58C86}"/>
              </a:ext>
            </a:extLst>
          </p:cNvPr>
          <p:cNvSpPr txBox="1">
            <a:spLocks/>
          </p:cNvSpPr>
          <p:nvPr/>
        </p:nvSpPr>
        <p:spPr>
          <a:xfrm>
            <a:off x="1582385" y="4562919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CCA21EA2-C68E-184D-A089-A114BFC8479E}"/>
              </a:ext>
            </a:extLst>
          </p:cNvPr>
          <p:cNvSpPr txBox="1">
            <a:spLocks/>
          </p:cNvSpPr>
          <p:nvPr/>
        </p:nvSpPr>
        <p:spPr>
          <a:xfrm>
            <a:off x="1906241" y="4562919"/>
            <a:ext cx="458964" cy="294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VM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711064FC-6454-E84E-8101-C85F56DC7953}"/>
              </a:ext>
            </a:extLst>
          </p:cNvPr>
          <p:cNvSpPr txBox="1">
            <a:spLocks/>
          </p:cNvSpPr>
          <p:nvPr/>
        </p:nvSpPr>
        <p:spPr>
          <a:xfrm>
            <a:off x="2838539" y="4118162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27F906D9-2B1B-0640-BC6C-2AA3D6D3044B}"/>
              </a:ext>
            </a:extLst>
          </p:cNvPr>
          <p:cNvSpPr txBox="1">
            <a:spLocks/>
          </p:cNvSpPr>
          <p:nvPr/>
        </p:nvSpPr>
        <p:spPr>
          <a:xfrm>
            <a:off x="2850517" y="4713421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60E3BD1F-5E0C-7240-9310-4645813799F8}"/>
              </a:ext>
            </a:extLst>
          </p:cNvPr>
          <p:cNvCxnSpPr/>
          <p:nvPr/>
        </p:nvCxnSpPr>
        <p:spPr>
          <a:xfrm>
            <a:off x="2788167" y="4456366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EE193A8B-4B17-EB4E-B44D-F097045465C2}"/>
              </a:ext>
            </a:extLst>
          </p:cNvPr>
          <p:cNvCxnSpPr>
            <a:cxnSpLocks/>
          </p:cNvCxnSpPr>
          <p:nvPr/>
        </p:nvCxnSpPr>
        <p:spPr>
          <a:xfrm>
            <a:off x="2788167" y="4666190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DC2ACFE9-AF7F-0841-9FB7-6188BB8D409C}"/>
              </a:ext>
            </a:extLst>
          </p:cNvPr>
          <p:cNvCxnSpPr>
            <a:cxnSpLocks/>
          </p:cNvCxnSpPr>
          <p:nvPr/>
        </p:nvCxnSpPr>
        <p:spPr>
          <a:xfrm flipH="1" flipV="1">
            <a:off x="6434596" y="4476050"/>
            <a:ext cx="462929" cy="1912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378B028C-1529-3E40-A62F-614B90ADD547}"/>
              </a:ext>
            </a:extLst>
          </p:cNvPr>
          <p:cNvGrpSpPr/>
          <p:nvPr/>
        </p:nvGrpSpPr>
        <p:grpSpPr>
          <a:xfrm>
            <a:off x="5140708" y="4099232"/>
            <a:ext cx="227993" cy="698431"/>
            <a:chOff x="6755371" y="3244107"/>
            <a:chExt cx="860827" cy="2635885"/>
          </a:xfrm>
        </p:grpSpPr>
        <p:sp>
          <p:nvSpPr>
            <p:cNvPr id="46" name="Скругленный прямоугольник 45">
              <a:extLst>
                <a:ext uri="{FF2B5EF4-FFF2-40B4-BE49-F238E27FC236}">
                  <a16:creationId xmlns:a16="http://schemas.microsoft.com/office/drawing/2014/main" id="{74D9795E-6B44-144B-B165-64D2858DB793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47" name="Рисунок 46">
              <a:extLst>
                <a:ext uri="{FF2B5EF4-FFF2-40B4-BE49-F238E27FC236}">
                  <a16:creationId xmlns:a16="http://schemas.microsoft.com/office/drawing/2014/main" id="{B67A572C-E6CB-1041-93B3-06E588E2E8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F4B3110D-C160-954B-8833-86CF390951C0}"/>
              </a:ext>
            </a:extLst>
          </p:cNvPr>
          <p:cNvGrpSpPr/>
          <p:nvPr/>
        </p:nvGrpSpPr>
        <p:grpSpPr>
          <a:xfrm>
            <a:off x="6911367" y="4107150"/>
            <a:ext cx="227993" cy="698431"/>
            <a:chOff x="6755371" y="3244107"/>
            <a:chExt cx="860827" cy="2635885"/>
          </a:xfrm>
        </p:grpSpPr>
        <p:sp>
          <p:nvSpPr>
            <p:cNvPr id="49" name="Скругленный прямоугольник 48">
              <a:extLst>
                <a:ext uri="{FF2B5EF4-FFF2-40B4-BE49-F238E27FC236}">
                  <a16:creationId xmlns:a16="http://schemas.microsoft.com/office/drawing/2014/main" id="{E098DD72-7151-B543-A4BB-306C8240142A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50" name="Рисунок 49">
              <a:extLst>
                <a:ext uri="{FF2B5EF4-FFF2-40B4-BE49-F238E27FC236}">
                  <a16:creationId xmlns:a16="http://schemas.microsoft.com/office/drawing/2014/main" id="{45A931F2-EE20-7245-AEF0-53CC3AB1D0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85B16EFF-3366-E84B-97AC-F6288B9C2FAB}"/>
              </a:ext>
            </a:extLst>
          </p:cNvPr>
          <p:cNvSpPr txBox="1">
            <a:spLocks/>
          </p:cNvSpPr>
          <p:nvPr/>
        </p:nvSpPr>
        <p:spPr>
          <a:xfrm>
            <a:off x="4378980" y="4825403"/>
            <a:ext cx="1759678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Шлюз </a:t>
            </a:r>
            <a:endParaRPr lang="en-US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S-terra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94DAB9EE-4762-F540-8D63-4159A226FA3F}"/>
              </a:ext>
            </a:extLst>
          </p:cNvPr>
          <p:cNvSpPr txBox="1">
            <a:spLocks/>
          </p:cNvSpPr>
          <p:nvPr/>
        </p:nvSpPr>
        <p:spPr>
          <a:xfrm>
            <a:off x="6547041" y="4833627"/>
            <a:ext cx="987525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Шлюз </a:t>
            </a:r>
            <a:endParaRPr lang="en-US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S-terra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077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267CB3E6-C5ED-6E4D-9866-BAABBBFA2BC9}"/>
              </a:ext>
            </a:extLst>
          </p:cNvPr>
          <p:cNvSpPr/>
          <p:nvPr/>
        </p:nvSpPr>
        <p:spPr>
          <a:xfrm>
            <a:off x="6056504" y="2637000"/>
            <a:ext cx="5365696" cy="3908333"/>
          </a:xfrm>
          <a:prstGeom prst="roundRect">
            <a:avLst>
              <a:gd name="adj" fmla="val 6984"/>
            </a:avLst>
          </a:prstGeom>
          <a:solidFill>
            <a:srgbClr val="C2FFFF">
              <a:alpha val="50196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324C7A71-0E6B-644F-9888-985420A48CDF}"/>
              </a:ext>
            </a:extLst>
          </p:cNvPr>
          <p:cNvSpPr/>
          <p:nvPr/>
        </p:nvSpPr>
        <p:spPr>
          <a:xfrm>
            <a:off x="838200" y="2636999"/>
            <a:ext cx="4212225" cy="3908333"/>
          </a:xfrm>
          <a:prstGeom prst="roundRect">
            <a:avLst>
              <a:gd name="adj" fmla="val 6984"/>
            </a:avLst>
          </a:prstGeom>
          <a:solidFill>
            <a:srgbClr val="00305D">
              <a:alpha val="5098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497800" cy="1047875"/>
          </a:xfrm>
        </p:spPr>
        <p:txBody>
          <a:bodyPr>
            <a:normAutofit/>
          </a:bodyPr>
          <a:lstStyle/>
          <a:p>
            <a:r>
              <a:rPr lang="ru-RU" sz="3000" dirty="0">
                <a:ea typeface="MTS Sans" panose="02000000000000000000" pitchFamily="50" charset="0"/>
              </a:rPr>
              <a:t>Резервное копирование в сегменте 152-ФЗ </a:t>
            </a:r>
            <a:r>
              <a:rPr lang="en-US" sz="3000" dirty="0">
                <a:ea typeface="MTS Sans" panose="02000000000000000000" pitchFamily="50" charset="0"/>
              </a:rPr>
              <a:t> – Veeam Agent</a:t>
            </a:r>
            <a:endParaRPr lang="ru-RU" sz="3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413000"/>
            <a:ext cx="1058400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К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лиент подключается к сегменту 152-ФЗ через шлюз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S-terra</a:t>
            </a:r>
            <a:endParaRPr lang="ru-RU" sz="1400" dirty="0"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en-US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Резервное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копирование с использованием агентов для серверов, ВМ и ПК с ОС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Windows</a:t>
            </a:r>
            <a:endParaRPr lang="en-US" sz="1400" dirty="0">
              <a:latin typeface="Montserrat" pitchFamily="2" charset="-52"/>
              <a:ea typeface="MTS Sans" panose="02000000000000000000" pitchFamily="50" charset="0"/>
            </a:endParaRPr>
          </a:p>
          <a:p>
            <a:pPr>
              <a:spcBef>
                <a:spcPts val="1200"/>
              </a:spcBef>
              <a:buClr>
                <a:srgbClr val="006699"/>
              </a:buClr>
              <a:buFont typeface="Montserrat" panose="00000500000000000000" pitchFamily="2" charset="-52"/>
              <a:buChar char="―"/>
            </a:pPr>
            <a:r>
              <a:rPr lang="ru-RU" sz="1400" dirty="0">
                <a:solidFill>
                  <a:srgbClr val="002060"/>
                </a:solidFill>
                <a:latin typeface="Montserrat" pitchFamily="2" charset="-52"/>
                <a:ea typeface="MTS Sans" panose="02000000000000000000" pitchFamily="50" charset="0"/>
              </a:rPr>
              <a:t> Управление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сервисом через </a:t>
            </a:r>
            <a:r>
              <a:rPr lang="ru-RU" sz="1400" dirty="0" err="1">
                <a:latin typeface="Montserrat" pitchFamily="2" charset="-52"/>
                <a:ea typeface="MTS Sans" panose="02000000000000000000" pitchFamily="50" charset="0"/>
              </a:rPr>
              <a:t>web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-панель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Veeam Availability Console </a:t>
            </a:r>
            <a:r>
              <a:rPr lang="ru-RU" sz="1400" dirty="0">
                <a:latin typeface="Montserrat" pitchFamily="2" charset="-52"/>
                <a:ea typeface="MTS Sans" panose="02000000000000000000" pitchFamily="50" charset="0"/>
              </a:rPr>
              <a:t>от </a:t>
            </a:r>
            <a:r>
              <a:rPr lang="en-US" sz="1400" dirty="0">
                <a:latin typeface="Montserrat" pitchFamily="2" charset="-52"/>
                <a:ea typeface="MTS Sans" panose="02000000000000000000" pitchFamily="50" charset="0"/>
              </a:rPr>
              <a:t>DataFort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DF7219-692D-804F-B812-743C8C4EAB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206" y="3943860"/>
            <a:ext cx="892166" cy="89216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C238A2-B9F6-C04F-9D45-23C91BC72A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137" y="3949584"/>
            <a:ext cx="892166" cy="892166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51A2B88C-8B5F-C541-A20C-F556C3E21C44}"/>
              </a:ext>
            </a:extLst>
          </p:cNvPr>
          <p:cNvCxnSpPr/>
          <p:nvPr/>
        </p:nvCxnSpPr>
        <p:spPr>
          <a:xfrm>
            <a:off x="8354205" y="4416830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D6DCBAB2-4782-D141-A527-FE8BBE30E463}"/>
              </a:ext>
            </a:extLst>
          </p:cNvPr>
          <p:cNvCxnSpPr>
            <a:cxnSpLocks/>
          </p:cNvCxnSpPr>
          <p:nvPr/>
        </p:nvCxnSpPr>
        <p:spPr>
          <a:xfrm>
            <a:off x="8354205" y="4589773"/>
            <a:ext cx="886008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5E1E16F-E7EE-E844-BC16-F1E428A3B5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856" y="4899106"/>
            <a:ext cx="834645" cy="83464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BECBD14-45CD-0245-AD1E-157A87F3A7EC}"/>
              </a:ext>
            </a:extLst>
          </p:cNvPr>
          <p:cNvSpPr txBox="1">
            <a:spLocks/>
          </p:cNvSpPr>
          <p:nvPr/>
        </p:nvSpPr>
        <p:spPr>
          <a:xfrm>
            <a:off x="8355732" y="4084018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3DD6381-E89E-FE4F-852D-4F7BBE956942}"/>
              </a:ext>
            </a:extLst>
          </p:cNvPr>
          <p:cNvSpPr txBox="1">
            <a:spLocks/>
          </p:cNvSpPr>
          <p:nvPr/>
        </p:nvSpPr>
        <p:spPr>
          <a:xfrm>
            <a:off x="8355732" y="4681211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4D98D77-CDB7-CC47-8FD5-D8B90AF653F3}"/>
              </a:ext>
            </a:extLst>
          </p:cNvPr>
          <p:cNvSpPr txBox="1">
            <a:spLocks/>
          </p:cNvSpPr>
          <p:nvPr/>
        </p:nvSpPr>
        <p:spPr>
          <a:xfrm>
            <a:off x="905216" y="4129876"/>
            <a:ext cx="3165451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 </a:t>
            </a: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агенты </a:t>
            </a:r>
          </a:p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для серверов и ВМ </a:t>
            </a:r>
          </a:p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 ОС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Windows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5F6D95-E809-5243-AFE2-F646D431C14E}"/>
              </a:ext>
            </a:extLst>
          </p:cNvPr>
          <p:cNvSpPr txBox="1">
            <a:spLocks/>
          </p:cNvSpPr>
          <p:nvPr/>
        </p:nvSpPr>
        <p:spPr>
          <a:xfrm>
            <a:off x="1495252" y="5809456"/>
            <a:ext cx="1759678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 </a:t>
            </a: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агенты </a:t>
            </a:r>
          </a:p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для ПК</a:t>
            </a:r>
          </a:p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 ОС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Windows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81658CA-E7F2-4440-986F-DD1DAB6DC05F}"/>
              </a:ext>
            </a:extLst>
          </p:cNvPr>
          <p:cNvSpPr txBox="1">
            <a:spLocks/>
          </p:cNvSpPr>
          <p:nvPr/>
        </p:nvSpPr>
        <p:spPr>
          <a:xfrm>
            <a:off x="6726984" y="4918017"/>
            <a:ext cx="1776610" cy="13040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Сервер </a:t>
            </a: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</a:t>
            </a:r>
          </a:p>
          <a:p>
            <a:pPr marL="0" indent="0" algn="ctr" hangingPunct="1">
              <a:buNone/>
            </a:pPr>
            <a:r>
              <a:rPr lang="en-US" sz="1000" dirty="0" err="1">
                <a:latin typeface="Montserrat" pitchFamily="2" charset="-52"/>
                <a:ea typeface="MTS Sans" panose="02000000000000000000" pitchFamily="50" charset="0"/>
              </a:rPr>
              <a:t>Backup&amp;Replication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+</a:t>
            </a: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Veeam Cloud Connect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CA3786F-233C-B94C-8C0F-1F556046887C}"/>
              </a:ext>
            </a:extLst>
          </p:cNvPr>
          <p:cNvSpPr txBox="1">
            <a:spLocks/>
          </p:cNvSpPr>
          <p:nvPr/>
        </p:nvSpPr>
        <p:spPr>
          <a:xfrm>
            <a:off x="9098614" y="4893360"/>
            <a:ext cx="177661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 err="1">
                <a:latin typeface="Montserrat" pitchFamily="2" charset="-52"/>
                <a:ea typeface="MTS Sans" panose="02000000000000000000" pitchFamily="50" charset="0"/>
              </a:rPr>
              <a:t>Репозиторий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CC44036-4B15-034A-A851-76DAEACCCD2D}"/>
              </a:ext>
            </a:extLst>
          </p:cNvPr>
          <p:cNvSpPr txBox="1">
            <a:spLocks/>
          </p:cNvSpPr>
          <p:nvPr/>
        </p:nvSpPr>
        <p:spPr>
          <a:xfrm>
            <a:off x="8256000" y="2739152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DataFort</a:t>
            </a:r>
            <a:endParaRPr lang="ru-RU" sz="11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A77AB0E-1A86-8048-9C64-EA4B6EA461EA}"/>
              </a:ext>
            </a:extLst>
          </p:cNvPr>
          <p:cNvSpPr txBox="1">
            <a:spLocks/>
          </p:cNvSpPr>
          <p:nvPr/>
        </p:nvSpPr>
        <p:spPr>
          <a:xfrm>
            <a:off x="2206060" y="2739152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ru-RU" sz="11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Площадка клиента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70BD30BD-3EFF-DA4A-8B44-86401902B006}"/>
              </a:ext>
            </a:extLst>
          </p:cNvPr>
          <p:cNvGrpSpPr/>
          <p:nvPr/>
        </p:nvGrpSpPr>
        <p:grpSpPr>
          <a:xfrm>
            <a:off x="1805217" y="3225869"/>
            <a:ext cx="1352421" cy="804300"/>
            <a:chOff x="1943269" y="2251596"/>
            <a:chExt cx="1788947" cy="970147"/>
          </a:xfrm>
        </p:grpSpPr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23E828F4-C3E9-CC4A-9184-C0ABA399A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3269" y="2252024"/>
              <a:ext cx="530225" cy="530225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3D1A326C-BAA7-3B4B-8456-B5F4D3FAC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2630" y="2252024"/>
              <a:ext cx="530225" cy="530225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698D6F66-F49D-EC4D-A691-0F6E8358C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1991" y="2251596"/>
              <a:ext cx="530225" cy="530225"/>
            </a:xfrm>
            <a:prstGeom prst="rect">
              <a:avLst/>
            </a:prstGeom>
          </p:spPr>
        </p:pic>
        <p:sp>
          <p:nvSpPr>
            <p:cNvPr id="23" name="Скругленный прямоугольник 22">
              <a:extLst>
                <a:ext uri="{FF2B5EF4-FFF2-40B4-BE49-F238E27FC236}">
                  <a16:creationId xmlns:a16="http://schemas.microsoft.com/office/drawing/2014/main" id="{0EB2080C-3E9C-104A-B4C1-F4FEC7BB54F6}"/>
                </a:ext>
              </a:extLst>
            </p:cNvPr>
            <p:cNvSpPr/>
            <p:nvPr/>
          </p:nvSpPr>
          <p:spPr>
            <a:xfrm>
              <a:off x="1943269" y="2910588"/>
              <a:ext cx="1788947" cy="311155"/>
            </a:xfrm>
            <a:prstGeom prst="roundRect">
              <a:avLst/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C4FAAE15-FEF1-EF41-988B-5EDA949EAE09}"/>
                </a:ext>
              </a:extLst>
            </p:cNvPr>
            <p:cNvSpPr/>
            <p:nvPr/>
          </p:nvSpPr>
          <p:spPr>
            <a:xfrm>
              <a:off x="2059526" y="3014692"/>
              <a:ext cx="102945" cy="102945"/>
            </a:xfrm>
            <a:prstGeom prst="ellipse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577FD81E-FEB3-0143-94C7-757550FA74D2}"/>
                </a:ext>
              </a:extLst>
            </p:cNvPr>
            <p:cNvSpPr/>
            <p:nvPr/>
          </p:nvSpPr>
          <p:spPr>
            <a:xfrm>
              <a:off x="3100505" y="3023055"/>
              <a:ext cx="101486" cy="101486"/>
            </a:xfrm>
            <a:prstGeom prst="rect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728C5F01-704C-DD44-B329-5CCD1D0D2AB6}"/>
                </a:ext>
              </a:extLst>
            </p:cNvPr>
            <p:cNvSpPr/>
            <p:nvPr/>
          </p:nvSpPr>
          <p:spPr>
            <a:xfrm>
              <a:off x="3310633" y="3023055"/>
              <a:ext cx="101486" cy="101486"/>
            </a:xfrm>
            <a:prstGeom prst="rect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E8D4F9D6-997F-E64F-9D0A-2D07927682DE}"/>
                </a:ext>
              </a:extLst>
            </p:cNvPr>
            <p:cNvSpPr/>
            <p:nvPr/>
          </p:nvSpPr>
          <p:spPr>
            <a:xfrm>
              <a:off x="3498026" y="3023055"/>
              <a:ext cx="101486" cy="101486"/>
            </a:xfrm>
            <a:prstGeom prst="rect">
              <a:avLst/>
            </a:prstGeom>
            <a:noFill/>
            <a:ln w="28575" cap="flat">
              <a:solidFill>
                <a:srgbClr val="21191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</p:grp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527AC98-80EF-BB4D-A55C-C762F772271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068" y="4160620"/>
            <a:ext cx="550753" cy="550753"/>
          </a:xfrm>
          <a:prstGeom prst="rect">
            <a:avLst/>
          </a:prstGeom>
        </p:spPr>
      </p:pic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001C04FD-0B0B-1246-87B7-CA537D38B0A0}"/>
              </a:ext>
            </a:extLst>
          </p:cNvPr>
          <p:cNvCxnSpPr>
            <a:cxnSpLocks/>
          </p:cNvCxnSpPr>
          <p:nvPr/>
        </p:nvCxnSpPr>
        <p:spPr>
          <a:xfrm flipH="1">
            <a:off x="4712839" y="4435996"/>
            <a:ext cx="542708" cy="1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8A3D7748-C0FD-B14F-A3BD-E3265989C402}"/>
              </a:ext>
            </a:extLst>
          </p:cNvPr>
          <p:cNvSpPr txBox="1">
            <a:spLocks/>
          </p:cNvSpPr>
          <p:nvPr/>
        </p:nvSpPr>
        <p:spPr>
          <a:xfrm>
            <a:off x="5050426" y="3779976"/>
            <a:ext cx="921773" cy="2935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Internet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DC2ACFE9-AF7F-0841-9FB7-6188BB8D409C}"/>
              </a:ext>
            </a:extLst>
          </p:cNvPr>
          <p:cNvCxnSpPr>
            <a:cxnSpLocks/>
          </p:cNvCxnSpPr>
          <p:nvPr/>
        </p:nvCxnSpPr>
        <p:spPr>
          <a:xfrm flipH="1" flipV="1">
            <a:off x="5789136" y="4435040"/>
            <a:ext cx="462929" cy="1912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378B028C-1529-3E40-A62F-614B90ADD547}"/>
              </a:ext>
            </a:extLst>
          </p:cNvPr>
          <p:cNvGrpSpPr/>
          <p:nvPr/>
        </p:nvGrpSpPr>
        <p:grpSpPr>
          <a:xfrm>
            <a:off x="4495248" y="4058222"/>
            <a:ext cx="227993" cy="698431"/>
            <a:chOff x="6755371" y="3244107"/>
            <a:chExt cx="860827" cy="2635885"/>
          </a:xfrm>
        </p:grpSpPr>
        <p:sp>
          <p:nvSpPr>
            <p:cNvPr id="33" name="Скругленный прямоугольник 32">
              <a:extLst>
                <a:ext uri="{FF2B5EF4-FFF2-40B4-BE49-F238E27FC236}">
                  <a16:creationId xmlns:a16="http://schemas.microsoft.com/office/drawing/2014/main" id="{74D9795E-6B44-144B-B165-64D2858DB793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B67A572C-E6CB-1041-93B3-06E588E2E8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F4B3110D-C160-954B-8833-86CF390951C0}"/>
              </a:ext>
            </a:extLst>
          </p:cNvPr>
          <p:cNvGrpSpPr/>
          <p:nvPr/>
        </p:nvGrpSpPr>
        <p:grpSpPr>
          <a:xfrm>
            <a:off x="6265907" y="4066140"/>
            <a:ext cx="227993" cy="698431"/>
            <a:chOff x="6755371" y="3244107"/>
            <a:chExt cx="860827" cy="2635885"/>
          </a:xfrm>
        </p:grpSpPr>
        <p:sp>
          <p:nvSpPr>
            <p:cNvPr id="36" name="Скругленный прямоугольник 35">
              <a:extLst>
                <a:ext uri="{FF2B5EF4-FFF2-40B4-BE49-F238E27FC236}">
                  <a16:creationId xmlns:a16="http://schemas.microsoft.com/office/drawing/2014/main" id="{E098DD72-7151-B543-A4BB-306C8240142A}"/>
                </a:ext>
              </a:extLst>
            </p:cNvPr>
            <p:cNvSpPr/>
            <p:nvPr/>
          </p:nvSpPr>
          <p:spPr>
            <a:xfrm>
              <a:off x="6755371" y="3244107"/>
              <a:ext cx="860827" cy="2635885"/>
            </a:xfrm>
            <a:prstGeom prst="roundRect">
              <a:avLst>
                <a:gd name="adj" fmla="val 24906"/>
              </a:avLst>
            </a:prstGeom>
            <a:noFill/>
            <a:ln w="2857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ontserrat" pitchFamily="2" charset="-52"/>
                <a:sym typeface="Helvetica Neue Medium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45A931F2-EE20-7245-AEF0-53CC3AB1D0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8" t="39499" r="7269" b="37621"/>
            <a:stretch/>
          </p:blipFill>
          <p:spPr>
            <a:xfrm rot="5400000">
              <a:off x="6033493" y="4256720"/>
              <a:ext cx="2285078" cy="610667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5B16EFF-3366-E84B-97AC-F6288B9C2FAB}"/>
              </a:ext>
            </a:extLst>
          </p:cNvPr>
          <p:cNvSpPr txBox="1">
            <a:spLocks/>
          </p:cNvSpPr>
          <p:nvPr/>
        </p:nvSpPr>
        <p:spPr>
          <a:xfrm>
            <a:off x="3733520" y="4784393"/>
            <a:ext cx="1759678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Шлюз </a:t>
            </a:r>
            <a:endParaRPr lang="en-US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S-terra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94DAB9EE-4762-F540-8D63-4159A226FA3F}"/>
              </a:ext>
            </a:extLst>
          </p:cNvPr>
          <p:cNvSpPr txBox="1">
            <a:spLocks/>
          </p:cNvSpPr>
          <p:nvPr/>
        </p:nvSpPr>
        <p:spPr>
          <a:xfrm>
            <a:off x="5901581" y="4792617"/>
            <a:ext cx="987525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algn="ctr" hangingPunct="1">
              <a:buNone/>
            </a:pPr>
            <a:r>
              <a:rPr lang="ru-RU" sz="1000" dirty="0">
                <a:latin typeface="Montserrat" pitchFamily="2" charset="-52"/>
                <a:ea typeface="MTS Sans" panose="02000000000000000000" pitchFamily="50" charset="0"/>
              </a:rPr>
              <a:t>Шлюз </a:t>
            </a:r>
            <a:endParaRPr lang="en-US" sz="1000" dirty="0">
              <a:latin typeface="Montserrat" pitchFamily="2" charset="-52"/>
              <a:ea typeface="MTS Sans" panose="02000000000000000000" pitchFamily="50" charset="0"/>
            </a:endParaRPr>
          </a:p>
          <a:p>
            <a:pPr marL="0" indent="0" algn="ctr" hangingPunct="1">
              <a:buNone/>
            </a:pPr>
            <a:r>
              <a:rPr lang="en-US" sz="1000" dirty="0">
                <a:latin typeface="Montserrat" pitchFamily="2" charset="-52"/>
                <a:ea typeface="MTS Sans" panose="02000000000000000000" pitchFamily="50" charset="0"/>
              </a:rPr>
              <a:t>S-terra</a:t>
            </a:r>
            <a:endParaRPr lang="ru-RU" sz="1000" dirty="0"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91366A4-0365-9E4F-B9A5-0733F8EF5B73}"/>
              </a:ext>
            </a:extLst>
          </p:cNvPr>
          <p:cNvSpPr/>
          <p:nvPr/>
        </p:nvSpPr>
        <p:spPr>
          <a:xfrm>
            <a:off x="2834137" y="5628185"/>
            <a:ext cx="69657" cy="69657"/>
          </a:xfrm>
          <a:prstGeom prst="rect">
            <a:avLst/>
          </a:prstGeom>
          <a:noFill/>
          <a:ln w="28575" cap="flat">
            <a:solidFill>
              <a:srgbClr val="21191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Montserrat" pitchFamily="2" charset="-52"/>
              <a:sym typeface="Helvetica Neue Medium"/>
            </a:endParaRP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711064FC-6454-E84E-8101-C85F56DC7953}"/>
              </a:ext>
            </a:extLst>
          </p:cNvPr>
          <p:cNvSpPr txBox="1">
            <a:spLocks/>
          </p:cNvSpPr>
          <p:nvPr/>
        </p:nvSpPr>
        <p:spPr>
          <a:xfrm>
            <a:off x="3485738" y="4056856"/>
            <a:ext cx="1813150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Backup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27F906D9-2B1B-0640-BC6C-2AA3D6D3044B}"/>
              </a:ext>
            </a:extLst>
          </p:cNvPr>
          <p:cNvSpPr txBox="1">
            <a:spLocks/>
          </p:cNvSpPr>
          <p:nvPr/>
        </p:nvSpPr>
        <p:spPr>
          <a:xfrm>
            <a:off x="3477228" y="4552011"/>
            <a:ext cx="1813149" cy="5587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marR="0" indent="-3429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1pPr>
            <a:lvl2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22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2pPr>
            <a:lvl3pPr marL="285750" marR="0" indent="-2857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3pPr>
            <a:lvl4pPr marL="228600" marR="0" indent="-22860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4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4pPr>
            <a:lvl5pPr marL="171450" marR="0" indent="-17145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023"/>
              </a:buClr>
              <a:buSzTx/>
              <a:buFont typeface="Arial" panose="020B0604020202020204" pitchFamily="34" charset="0"/>
              <a:buChar char="•"/>
              <a:tabLst/>
              <a:defRPr sz="10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defRPr>
            </a:lvl5pPr>
            <a:lvl6pPr marL="0" marR="0" indent="1778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3556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5334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711200" algn="ctr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sz="1000" dirty="0">
                <a:solidFill>
                  <a:schemeClr val="accent1"/>
                </a:solidFill>
                <a:latin typeface="Montserrat" pitchFamily="2" charset="-52"/>
                <a:ea typeface="MTS Sans" panose="02000000000000000000" pitchFamily="50" charset="0"/>
              </a:rPr>
              <a:t>Restore</a:t>
            </a:r>
            <a:endParaRPr lang="ru-RU" sz="1000" dirty="0">
              <a:solidFill>
                <a:schemeClr val="accent1"/>
              </a:solidFill>
              <a:latin typeface="Montserrat" pitchFamily="2" charset="-52"/>
              <a:ea typeface="MTS Sans" panose="02000000000000000000" pitchFamily="50" charset="0"/>
            </a:endParaRPr>
          </a:p>
        </p:txBody>
      </p: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60E3BD1F-5E0C-7240-9310-4645813799F8}"/>
              </a:ext>
            </a:extLst>
          </p:cNvPr>
          <p:cNvCxnSpPr/>
          <p:nvPr/>
        </p:nvCxnSpPr>
        <p:spPr>
          <a:xfrm>
            <a:off x="3377766" y="4342187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EE193A8B-4B17-EB4E-B44D-F097045465C2}"/>
              </a:ext>
            </a:extLst>
          </p:cNvPr>
          <p:cNvCxnSpPr>
            <a:cxnSpLocks/>
          </p:cNvCxnSpPr>
          <p:nvPr/>
        </p:nvCxnSpPr>
        <p:spPr>
          <a:xfrm>
            <a:off x="3377766" y="4552011"/>
            <a:ext cx="974609" cy="0"/>
          </a:xfrm>
          <a:prstGeom prst="straightConnector1">
            <a:avLst/>
          </a:prstGeom>
          <a:noFill/>
          <a:ln w="38100" cap="flat">
            <a:solidFill>
              <a:srgbClr val="211910"/>
            </a:solidFill>
            <a:prstDash val="solid"/>
            <a:miter lim="400000"/>
            <a:headEnd type="triangl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45602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51E26080-239C-2441-9136-8B98E0D4291B}"/>
              </a:ext>
            </a:extLst>
          </p:cNvPr>
          <p:cNvSpPr txBox="1">
            <a:spLocks/>
          </p:cNvSpPr>
          <p:nvPr/>
        </p:nvSpPr>
        <p:spPr>
          <a:xfrm>
            <a:off x="871435" y="764382"/>
            <a:ext cx="2723992" cy="532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0" dirty="0">
                <a:solidFill>
                  <a:srgbClr val="009698"/>
                </a:solidFill>
                <a:latin typeface="Montserrat Bold" pitchFamily="2" charset="-52"/>
                <a:ea typeface="MTS Sans" panose="02000000000000000000" pitchFamily="50" charset="0"/>
              </a:rPr>
              <a:t>11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25550D2E-9A6B-C34B-97B5-815C12D23E36}"/>
              </a:ext>
            </a:extLst>
          </p:cNvPr>
          <p:cNvSpPr txBox="1">
            <a:spLocks/>
          </p:cNvSpPr>
          <p:nvPr/>
        </p:nvSpPr>
        <p:spPr>
          <a:xfrm>
            <a:off x="3249923" y="2706914"/>
            <a:ext cx="8174077" cy="180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Autofit/>
          </a:bodyPr>
          <a:lstStyle>
            <a:lvl1pPr marL="0" marR="0" indent="0" algn="l" defTabSz="412750" rtl="0" latinLnBrk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Helvetica Neue"/>
              </a:defRPr>
            </a:lvl1pPr>
            <a:lvl2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2pPr>
            <a:lvl3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3pPr>
            <a:lvl4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4pPr>
            <a:lvl5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5pPr>
            <a:lvl6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6pPr>
            <a:lvl7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7pPr>
            <a:lvl8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8pPr>
            <a:lvl9pPr marL="0" marR="0" indent="0" algn="l" defTabSz="4127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0" b="1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Helvetica Neue"/>
              </a:defRPr>
            </a:lvl9pPr>
          </a:lstStyle>
          <a:p>
            <a:pPr hangingPunct="1"/>
            <a:r>
              <a:rPr lang="ru-RU" sz="8000" dirty="0">
                <a:latin typeface="Montserrat Bold" pitchFamily="2" charset="-52"/>
                <a:ea typeface="MTS Sans" panose="02000000000000000000" pitchFamily="50" charset="0"/>
              </a:rPr>
              <a:t>Тестирование услуги</a:t>
            </a:r>
          </a:p>
        </p:txBody>
      </p:sp>
    </p:spTree>
    <p:extLst>
      <p:ext uri="{BB962C8B-B14F-4D97-AF65-F5344CB8AC3E}">
        <p14:creationId xmlns:p14="http://schemas.microsoft.com/office/powerpoint/2010/main" val="4214753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9875"/>
          </a:xfrm>
        </p:spPr>
        <p:txBody>
          <a:bodyPr>
            <a:normAutofit/>
          </a:bodyPr>
          <a:lstStyle/>
          <a:p>
            <a:r>
              <a:rPr lang="ru-RU" sz="3000">
                <a:ea typeface="MTS Sans" panose="02000000000000000000" pitchFamily="50" charset="0"/>
              </a:rPr>
              <a:t>Условия тестирования </a:t>
            </a:r>
            <a:r>
              <a:rPr lang="ru-RU" sz="3000" dirty="0">
                <a:ea typeface="MTS Sans" panose="02000000000000000000" pitchFamily="50" charset="0"/>
              </a:rPr>
              <a:t>услуги</a:t>
            </a:r>
            <a:endParaRPr lang="ru-RU" sz="3000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5550DE33-917E-6648-BA7D-9A417FF42ABA}"/>
              </a:ext>
            </a:extLst>
          </p:cNvPr>
          <p:cNvSpPr/>
          <p:nvPr/>
        </p:nvSpPr>
        <p:spPr>
          <a:xfrm>
            <a:off x="1326914" y="1867933"/>
            <a:ext cx="1412234" cy="1412234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3257E9-ECD0-374B-A4F5-7E5F8E9B999A}"/>
              </a:ext>
            </a:extLst>
          </p:cNvPr>
          <p:cNvSpPr/>
          <p:nvPr/>
        </p:nvSpPr>
        <p:spPr>
          <a:xfrm>
            <a:off x="1629468" y="3836814"/>
            <a:ext cx="227628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виртуальная машина </a:t>
            </a:r>
            <a:endParaRPr lang="en-US" sz="1400" b="0" dirty="0">
              <a:latin typeface="MTS Sans" panose="02000000000000000000" pitchFamily="50" charset="0"/>
              <a:ea typeface="MTS Sans" panose="02000000000000000000" pitchFamily="50" charset="0"/>
            </a:endParaRPr>
          </a:p>
          <a:p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сервер </a:t>
            </a:r>
            <a:endParaRPr lang="en-US" sz="1400" b="0" dirty="0">
              <a:latin typeface="MTS Sans" panose="02000000000000000000" pitchFamily="50" charset="0"/>
              <a:ea typeface="MTS Sans" panose="02000000000000000000" pitchFamily="50" charset="0"/>
            </a:endParaRPr>
          </a:p>
          <a:p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рабочая станция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423E25-34EC-AB4E-BD34-D9D3C8278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6310" y="2227902"/>
            <a:ext cx="671220" cy="671220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5819FEDF-2DEE-624E-BC67-B798B304B45B}"/>
              </a:ext>
            </a:extLst>
          </p:cNvPr>
          <p:cNvSpPr/>
          <p:nvPr/>
        </p:nvSpPr>
        <p:spPr>
          <a:xfrm>
            <a:off x="2942255" y="1633810"/>
            <a:ext cx="963500" cy="963500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B408B1B-D60C-B640-A9EB-B86BE7AB4C2D}"/>
              </a:ext>
            </a:extLst>
          </p:cNvPr>
          <p:cNvSpPr/>
          <p:nvPr/>
        </p:nvSpPr>
        <p:spPr>
          <a:xfrm>
            <a:off x="2697725" y="2762993"/>
            <a:ext cx="963500" cy="963500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7279B7B-2C2F-B741-82CB-D833E040D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5569" y="2981884"/>
            <a:ext cx="547812" cy="54781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9CB574-E995-904A-956D-C727C214D5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52241" y="1845000"/>
            <a:ext cx="550378" cy="5503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B10821-A06E-AF40-A8F7-163A4131D90F}"/>
              </a:ext>
            </a:extLst>
          </p:cNvPr>
          <p:cNvSpPr txBox="1"/>
          <p:nvPr/>
        </p:nvSpPr>
        <p:spPr>
          <a:xfrm>
            <a:off x="1212829" y="3693185"/>
            <a:ext cx="419171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6000" dirty="0">
                <a:latin typeface="MTS Sans" panose="02000000000000000000" pitchFamily="50" charset="0"/>
                <a:ea typeface="MTS Sans" panose="02000000000000000000" pitchFamily="50" charset="0"/>
              </a:rPr>
              <a:t>1</a:t>
            </a:r>
            <a:endParaRPr lang="ru-RU" sz="6000" dirty="0">
              <a:latin typeface="MTS Sans" panose="02000000000000000000" pitchFamily="50" charset="0"/>
              <a:ea typeface="MTS Sans" panose="02000000000000000000" pitchFamily="50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C8C6912-E377-7E44-9A84-670A821D79EB}"/>
              </a:ext>
            </a:extLst>
          </p:cNvPr>
          <p:cNvSpPr/>
          <p:nvPr/>
        </p:nvSpPr>
        <p:spPr>
          <a:xfrm>
            <a:off x="5235658" y="5476713"/>
            <a:ext cx="188384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длительность </a:t>
            </a:r>
            <a:endParaRPr lang="en-US" sz="1400" b="0" dirty="0">
              <a:latin typeface="MTS Sans" panose="02000000000000000000" pitchFamily="50" charset="0"/>
              <a:ea typeface="MTS Sans" panose="02000000000000000000" pitchFamily="50" charset="0"/>
            </a:endParaRPr>
          </a:p>
          <a:p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бесплатного теста –</a:t>
            </a:r>
            <a:endParaRPr lang="en-US" sz="1400" b="0" dirty="0">
              <a:latin typeface="MTS Sans" panose="02000000000000000000" pitchFamily="50" charset="0"/>
              <a:ea typeface="MTS Sans" panose="02000000000000000000" pitchFamily="50" charset="0"/>
            </a:endParaRPr>
          </a:p>
          <a:p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 </a:t>
            </a:r>
            <a:r>
              <a:rPr lang="ru-RU" sz="2000" dirty="0">
                <a:latin typeface="MTS Sans" panose="02000000000000000000" pitchFamily="50" charset="0"/>
                <a:ea typeface="MTS Sans" panose="02000000000000000000" pitchFamily="50" charset="0"/>
              </a:rPr>
              <a:t>до 14 дней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D8502718-AC1F-F142-96B4-17043976915E}"/>
              </a:ext>
            </a:extLst>
          </p:cNvPr>
          <p:cNvSpPr/>
          <p:nvPr/>
        </p:nvSpPr>
        <p:spPr>
          <a:xfrm>
            <a:off x="5687014" y="4513213"/>
            <a:ext cx="963500" cy="963500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2911BBE-CD1F-5843-BF35-0C5CCCDD8A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02393" y="4719107"/>
            <a:ext cx="550377" cy="550377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6E77A03-6474-BC48-83F3-93CEC339B6A0}"/>
              </a:ext>
            </a:extLst>
          </p:cNvPr>
          <p:cNvSpPr/>
          <p:nvPr/>
        </p:nvSpPr>
        <p:spPr>
          <a:xfrm>
            <a:off x="4939527" y="3172080"/>
            <a:ext cx="219803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0" dirty="0" err="1">
                <a:latin typeface="MTS Sans" panose="02000000000000000000" pitchFamily="50" charset="0"/>
                <a:ea typeface="MTS Sans" panose="02000000000000000000" pitchFamily="50" charset="0"/>
              </a:rPr>
              <a:t>репозиторий</a:t>
            </a:r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 </a:t>
            </a:r>
            <a:endParaRPr lang="en-US" sz="1400" b="0" dirty="0">
              <a:latin typeface="MTS Sans" panose="02000000000000000000" pitchFamily="50" charset="0"/>
              <a:ea typeface="MTS Sans" panose="02000000000000000000" pitchFamily="50" charset="0"/>
            </a:endParaRPr>
          </a:p>
          <a:p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для хранения </a:t>
            </a:r>
            <a:r>
              <a:rPr lang="ru-RU" sz="1400" b="0" dirty="0" err="1">
                <a:latin typeface="MTS Sans" panose="02000000000000000000" pitchFamily="50" charset="0"/>
                <a:ea typeface="MTS Sans" panose="02000000000000000000" pitchFamily="50" charset="0"/>
              </a:rPr>
              <a:t>бэкапов</a:t>
            </a:r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 –</a:t>
            </a:r>
            <a:endParaRPr lang="en-US" sz="1400" b="0" dirty="0">
              <a:latin typeface="MTS Sans" panose="02000000000000000000" pitchFamily="50" charset="0"/>
              <a:ea typeface="MTS Sans" panose="02000000000000000000" pitchFamily="50" charset="0"/>
            </a:endParaRPr>
          </a:p>
          <a:p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 </a:t>
            </a:r>
            <a:r>
              <a:rPr lang="ru-RU" sz="2000" dirty="0">
                <a:latin typeface="MTS Sans" panose="02000000000000000000" pitchFamily="50" charset="0"/>
                <a:ea typeface="MTS Sans" panose="02000000000000000000" pitchFamily="50" charset="0"/>
              </a:rPr>
              <a:t>до 500 Гб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C9BBDED-E0C4-7C4D-8D04-BA859177F2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64428" y="2060140"/>
            <a:ext cx="661216" cy="661216"/>
          </a:xfrm>
          <a:prstGeom prst="rect">
            <a:avLst/>
          </a:prstGeom>
        </p:spPr>
      </p:pic>
      <p:sp>
        <p:nvSpPr>
          <p:cNvPr id="16" name="Овал 15">
            <a:extLst>
              <a:ext uri="{FF2B5EF4-FFF2-40B4-BE49-F238E27FC236}">
                <a16:creationId xmlns:a16="http://schemas.microsoft.com/office/drawing/2014/main" id="{927153A5-5683-1D4F-8DAF-78AAB61AA5F2}"/>
              </a:ext>
            </a:extLst>
          </p:cNvPr>
          <p:cNvSpPr/>
          <p:nvPr/>
        </p:nvSpPr>
        <p:spPr>
          <a:xfrm>
            <a:off x="5288919" y="1684631"/>
            <a:ext cx="1412234" cy="1412234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BBE45FC-BEB6-D349-A37F-344267D87EC4}"/>
              </a:ext>
            </a:extLst>
          </p:cNvPr>
          <p:cNvSpPr/>
          <p:nvPr/>
        </p:nvSpPr>
        <p:spPr>
          <a:xfrm>
            <a:off x="8094666" y="3203766"/>
            <a:ext cx="22493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техническая поддержка </a:t>
            </a:r>
            <a:endParaRPr lang="en-US" sz="1400" b="0" dirty="0">
              <a:latin typeface="MTS Sans" panose="02000000000000000000" pitchFamily="50" charset="0"/>
              <a:ea typeface="MTS Sans" panose="02000000000000000000" pitchFamily="50" charset="0"/>
            </a:endParaRPr>
          </a:p>
          <a:p>
            <a:r>
              <a:rPr lang="ru-RU" sz="1400" b="0" dirty="0">
                <a:latin typeface="MTS Sans" panose="02000000000000000000" pitchFamily="50" charset="0"/>
                <a:ea typeface="MTS Sans" panose="02000000000000000000" pitchFamily="50" charset="0"/>
              </a:rPr>
              <a:t>во время тестирования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17BEB12F-8F0C-1C43-8A1B-1801262B1E9A}"/>
              </a:ext>
            </a:extLst>
          </p:cNvPr>
          <p:cNvSpPr/>
          <p:nvPr/>
        </p:nvSpPr>
        <p:spPr>
          <a:xfrm>
            <a:off x="8544807" y="1689647"/>
            <a:ext cx="1412234" cy="1412234"/>
          </a:xfrm>
          <a:prstGeom prst="ellipse">
            <a:avLst/>
          </a:prstGeom>
          <a:noFill/>
          <a:ln w="381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60156A1-AE03-EC41-A639-0C773933E9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23888" y="2045733"/>
            <a:ext cx="654072" cy="65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AE65A7-0563-4C69-9A10-D142AD5F77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000" y="3912463"/>
            <a:ext cx="1728000" cy="1152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7E608-9319-4D50-B862-AEDBAE33A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4809"/>
            <a:ext cx="9145800" cy="1418919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Спасибо за внимание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BEE76C-B4C2-4A7D-9399-8A4B783AD0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19979" y="3912463"/>
            <a:ext cx="6697800" cy="495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Имя Фамилия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ADB7C-DCA3-4518-8B08-A84135B04784}"/>
              </a:ext>
            </a:extLst>
          </p:cNvPr>
          <p:cNvSpPr txBox="1"/>
          <p:nvPr/>
        </p:nvSpPr>
        <p:spPr>
          <a:xfrm>
            <a:off x="3219979" y="4365000"/>
            <a:ext cx="417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</a:rPr>
              <a:t>Должность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D71AD8-26E5-42C6-A08A-0C36CB3C0EF5}"/>
              </a:ext>
            </a:extLst>
          </p:cNvPr>
          <p:cNvSpPr txBox="1"/>
          <p:nvPr/>
        </p:nvSpPr>
        <p:spPr>
          <a:xfrm>
            <a:off x="3220801" y="5157000"/>
            <a:ext cx="2258952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cs typeface="Arial"/>
                <a:sym typeface="Arial"/>
              </a:rPr>
              <a:t>+7 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cs typeface="Arial"/>
                <a:sym typeface="Arial"/>
              </a:rPr>
              <a:t>XXX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-52"/>
                <a:cs typeface="Arial"/>
                <a:sym typeface="Arial"/>
              </a:rPr>
              <a:t>XXX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cs typeface="Arial"/>
                <a:sym typeface="Arial"/>
              </a:rPr>
              <a:t>-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cs typeface="Arial"/>
                <a:sym typeface="Arial"/>
              </a:rPr>
              <a:t>XX</a:t>
            </a:r>
            <a:r>
              <a:rPr lang="ru-RU" dirty="0">
                <a:solidFill>
                  <a:schemeClr val="bg1"/>
                </a:solidFill>
                <a:latin typeface="Montserrat" panose="00000500000000000000" pitchFamily="2" charset="-52"/>
                <a:cs typeface="Arial"/>
                <a:sym typeface="Arial"/>
              </a:rPr>
              <a:t>-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cs typeface="Arial"/>
                <a:sym typeface="Arial"/>
              </a:rPr>
              <a:t>XX</a:t>
            </a:r>
            <a:endParaRPr lang="ru-RU" dirty="0">
              <a:solidFill>
                <a:schemeClr val="bg1"/>
              </a:solidFill>
              <a:latin typeface="Montserrat" panose="00000500000000000000" pitchFamily="2" charset="-52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47858A-710B-4E7A-8A83-B9D1E211ADAF}"/>
              </a:ext>
            </a:extLst>
          </p:cNvPr>
          <p:cNvSpPr txBox="1"/>
          <p:nvPr/>
        </p:nvSpPr>
        <p:spPr>
          <a:xfrm>
            <a:off x="3220800" y="5441108"/>
            <a:ext cx="2146742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  <a:cs typeface="Arial"/>
                <a:sym typeface="Arial"/>
              </a:rPr>
              <a:t>xxxx@datafort.ru</a:t>
            </a:r>
            <a:endParaRPr lang="ru-RU" dirty="0">
              <a:solidFill>
                <a:schemeClr val="bg1"/>
              </a:solidFill>
              <a:latin typeface="Montserrat" panose="00000500000000000000" pitchFamily="2" charset="-52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6890738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DF">
      <a:dk1>
        <a:srgbClr val="003053"/>
      </a:dk1>
      <a:lt1>
        <a:sysClr val="window" lastClr="FFFFFF"/>
      </a:lt1>
      <a:dk2>
        <a:srgbClr val="006699"/>
      </a:dk2>
      <a:lt2>
        <a:srgbClr val="E7E6E6"/>
      </a:lt2>
      <a:accent1>
        <a:srgbClr val="00CCCC"/>
      </a:accent1>
      <a:accent2>
        <a:srgbClr val="0088CC"/>
      </a:accent2>
      <a:accent3>
        <a:srgbClr val="66EEEE"/>
      </a:accent3>
      <a:accent4>
        <a:srgbClr val="00497A"/>
      </a:accent4>
      <a:accent5>
        <a:srgbClr val="FAC748"/>
      </a:accent5>
      <a:accent6>
        <a:srgbClr val="D8522A"/>
      </a:accent6>
      <a:hlink>
        <a:srgbClr val="0563C1"/>
      </a:hlink>
      <a:folHlink>
        <a:srgbClr val="954F72"/>
      </a:folHlink>
    </a:clrScheme>
    <a:fontScheme name="DF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2565</TotalTime>
  <Words>1701</Words>
  <Application>Microsoft Office PowerPoint</Application>
  <PresentationFormat>Широкоэкранный</PresentationFormat>
  <Paragraphs>324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20</vt:i4>
      </vt:variant>
    </vt:vector>
  </HeadingPairs>
  <TitlesOfParts>
    <vt:vector size="31" baseType="lpstr">
      <vt:lpstr>Arial</vt:lpstr>
      <vt:lpstr>Helvetica Neue</vt:lpstr>
      <vt:lpstr>Helvetica Neue Light</vt:lpstr>
      <vt:lpstr>Helvetica Neue Medium</vt:lpstr>
      <vt:lpstr>Montserrat</vt:lpstr>
      <vt:lpstr>Montserrat Black</vt:lpstr>
      <vt:lpstr>Montserrat Bold</vt:lpstr>
      <vt:lpstr>MTS Sans</vt:lpstr>
      <vt:lpstr>MTS Sans Black</vt:lpstr>
      <vt:lpstr>Специальное оформление</vt:lpstr>
      <vt:lpstr>1_Специальное оформление</vt:lpstr>
      <vt:lpstr>Veeam</vt:lpstr>
      <vt:lpstr>Варианты резервного копирования на базе Veeam</vt:lpstr>
      <vt:lpstr>Варианты резервного копирования на базе Veeam</vt:lpstr>
      <vt:lpstr>Особенности резервного копирования на базе Veeam</vt:lpstr>
      <vt:lpstr>Veeam Basic Backup</vt:lpstr>
      <vt:lpstr>Взаимодействие с Veeam Basic Backup</vt:lpstr>
      <vt:lpstr>Veeam Self-Service</vt:lpstr>
      <vt:lpstr>Взаимодействие с Veeam Self-Service</vt:lpstr>
      <vt:lpstr>Резервное копирование в Elastic Cloud</vt:lpstr>
      <vt:lpstr>Резервное копирование с Veeam Cloud Connect Backup  – Правило 3-2-1</vt:lpstr>
      <vt:lpstr>Резервное копирование с Veeam Cloud Connect Backup  – возможность восстановления в Elastic Cloud</vt:lpstr>
      <vt:lpstr>Аварийное восстановление с Veeam Сloud Connect Replication</vt:lpstr>
      <vt:lpstr>Резервное копировании с Veeam Backup Agent</vt:lpstr>
      <vt:lpstr>Резервное копирование Office 365</vt:lpstr>
      <vt:lpstr>Поддержка сервера Veeam Backup and Replication на площадке клиента</vt:lpstr>
      <vt:lpstr>Резервное копирование в сегменте 152-ФЗ – Veeam Сloud Connect Backup</vt:lpstr>
      <vt:lpstr>Резервное копирование в сегменте 152-ФЗ  – Veeam Agent</vt:lpstr>
      <vt:lpstr>Презентация PowerPoint</vt:lpstr>
      <vt:lpstr>Условия тестирования услуги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Юрий Соколов</dc:creator>
  <cp:lastModifiedBy>Соколов Юрий Николаевич</cp:lastModifiedBy>
  <cp:revision>48</cp:revision>
  <dcterms:created xsi:type="dcterms:W3CDTF">2022-03-28T09:30:23Z</dcterms:created>
  <dcterms:modified xsi:type="dcterms:W3CDTF">2022-08-31T08:29:01Z</dcterms:modified>
</cp:coreProperties>
</file>