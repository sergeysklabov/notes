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98" r:id="rId4"/>
    <p:sldId id="300" r:id="rId5"/>
    <p:sldId id="281" r:id="rId6"/>
    <p:sldId id="283" r:id="rId7"/>
    <p:sldId id="288" r:id="rId8"/>
    <p:sldId id="284" r:id="rId9"/>
    <p:sldId id="289" r:id="rId10"/>
    <p:sldId id="290" r:id="rId11"/>
    <p:sldId id="287" r:id="rId12"/>
    <p:sldId id="295" r:id="rId13"/>
    <p:sldId id="286" r:id="rId14"/>
    <p:sldId id="291" r:id="rId15"/>
    <p:sldId id="296" r:id="rId16"/>
    <p:sldId id="297" r:id="rId17"/>
    <p:sldId id="293" r:id="rId18"/>
    <p:sldId id="299" r:id="rId19"/>
    <p:sldId id="292" r:id="rId20"/>
    <p:sldId id="279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5859"/>
  </p:normalViewPr>
  <p:slideViewPr>
    <p:cSldViewPr>
      <p:cViewPr varScale="1">
        <p:scale>
          <a:sx n="86" d="100"/>
          <a:sy n="86" d="100"/>
        </p:scale>
        <p:origin x="1496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4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4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4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Рынок</a:t>
            </a:r>
            <a:r>
              <a:rPr lang="ru-RU" baseline="0" dirty="0"/>
              <a:t> </a:t>
            </a:r>
            <a:r>
              <a:rPr lang="en-US" baseline="0" dirty="0"/>
              <a:t>IaaS/PaaS</a:t>
            </a:r>
            <a:r>
              <a:rPr lang="ru-RU" baseline="0" dirty="0"/>
              <a:t> в РФ в млрд.</a:t>
            </a:r>
            <a:r>
              <a:rPr lang="en-US" baseline="0" dirty="0"/>
              <a:t> 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Лист1!$I$14</c:f>
              <c:strCache>
                <c:ptCount val="1"/>
                <c:pt idx="0">
                  <c:v>IaaS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Лист1!$J$16:$O$16</c:f>
              <c:numCache>
                <c:formatCode>General</c:formatCode>
                <c:ptCount val="6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  <c:pt idx="4">
                  <c:v>2027</c:v>
                </c:pt>
                <c:pt idx="5">
                  <c:v>2028</c:v>
                </c:pt>
              </c:numCache>
            </c:numRef>
          </c:cat>
          <c:val>
            <c:numRef>
              <c:f>Лист1!$J$14:$O$14</c:f>
              <c:numCache>
                <c:formatCode>General</c:formatCode>
                <c:ptCount val="6"/>
                <c:pt idx="0">
                  <c:v>100</c:v>
                </c:pt>
                <c:pt idx="1">
                  <c:v>134</c:v>
                </c:pt>
                <c:pt idx="2">
                  <c:v>163</c:v>
                </c:pt>
                <c:pt idx="3">
                  <c:v>200</c:v>
                </c:pt>
                <c:pt idx="4">
                  <c:v>270</c:v>
                </c:pt>
                <c:pt idx="5">
                  <c:v>359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32-AE49-A830-9A9833FB2853}"/>
            </c:ext>
          </c:extLst>
        </c:ser>
        <c:ser>
          <c:idx val="1"/>
          <c:order val="1"/>
          <c:tx>
            <c:strRef>
              <c:f>Лист1!$I$15</c:f>
              <c:strCache>
                <c:ptCount val="1"/>
                <c:pt idx="0">
                  <c:v>PaaS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Лист1!$J$16:$O$16</c:f>
              <c:numCache>
                <c:formatCode>General</c:formatCode>
                <c:ptCount val="6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  <c:pt idx="4">
                  <c:v>2027</c:v>
                </c:pt>
                <c:pt idx="5">
                  <c:v>2028</c:v>
                </c:pt>
              </c:numCache>
            </c:numRef>
          </c:cat>
          <c:val>
            <c:numRef>
              <c:f>Лист1!$J$15:$O$15</c:f>
              <c:numCache>
                <c:formatCode>General</c:formatCode>
                <c:ptCount val="6"/>
                <c:pt idx="0">
                  <c:v>21</c:v>
                </c:pt>
                <c:pt idx="1">
                  <c:v>28</c:v>
                </c:pt>
                <c:pt idx="2">
                  <c:v>35</c:v>
                </c:pt>
                <c:pt idx="3">
                  <c:v>54</c:v>
                </c:pt>
                <c:pt idx="4">
                  <c:v>86</c:v>
                </c:pt>
                <c:pt idx="5">
                  <c:v>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32-AE49-A830-9A9833FB28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10644096"/>
        <c:axId val="1469259456"/>
      </c:barChart>
      <c:catAx>
        <c:axId val="710644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69259456"/>
        <c:crosses val="autoZero"/>
        <c:auto val="1"/>
        <c:lblAlgn val="ctr"/>
        <c:lblOffset val="100"/>
        <c:noMultiLvlLbl val="0"/>
      </c:catAx>
      <c:valAx>
        <c:axId val="1469259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10644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Рейтинг облачных провайдеров на рынке </a:t>
            </a:r>
            <a:r>
              <a:rPr lang="en"/>
              <a:t>IaaS</a:t>
            </a:r>
            <a:r>
              <a:rPr lang="ru-RU"/>
              <a:t>+</a:t>
            </a:r>
            <a:r>
              <a:rPr lang="en"/>
              <a:t>PaaS</a:t>
            </a:r>
            <a:r>
              <a:rPr lang="ru-RU"/>
              <a:t>, </a:t>
            </a:r>
            <a:r>
              <a:rPr lang="en-US"/>
              <a:t>2024 </a:t>
            </a:r>
            <a:r>
              <a:rPr lang="ru-RU"/>
              <a:t>год.</a:t>
            </a:r>
            <a:r>
              <a:rPr lang="ru-RU" baseline="0"/>
              <a:t> </a:t>
            </a:r>
            <a:r>
              <a:rPr lang="en-US" baseline="0"/>
              <a:t>% </a:t>
            </a:r>
            <a:r>
              <a:rPr lang="ru-RU" baseline="0"/>
              <a:t>выручки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Лист1!$B$31:$B$52</c:f>
              <c:strCache>
                <c:ptCount val="22"/>
                <c:pt idx="0">
                  <c:v>Cloud.ru</c:v>
                </c:pt>
                <c:pt idx="1">
                  <c:v>PTK-LIQД</c:v>
                </c:pt>
                <c:pt idx="2">
                  <c:v>Yandex.Cloud</c:v>
                </c:pt>
                <c:pt idx="3">
                  <c:v>Selected</c:v>
                </c:pt>
                <c:pt idx="4">
                  <c:v>MWS</c:v>
                </c:pt>
                <c:pt idx="5">
                  <c:v>ITG (ITGlobal)</c:v>
                </c:pt>
                <c:pt idx="6">
                  <c:v>K2 Cloud</c:v>
                </c:pt>
                <c:pt idx="7">
                  <c:v>Beeline cloud</c:v>
                </c:pt>
                <c:pt idx="8">
                  <c:v>VK Cloud</c:v>
                </c:pt>
                <c:pt idx="9">
                  <c:v>T1 Cloud</c:v>
                </c:pt>
                <c:pt idx="10">
                  <c:v>MeraФон</c:v>
                </c:pt>
                <c:pt idx="11">
                  <c:v>Softline</c:v>
                </c:pt>
                <c:pt idx="12">
                  <c:v>Timeweb Cloud</c:v>
                </c:pt>
                <c:pt idx="13">
                  <c:v>Oxygen</c:v>
                </c:pt>
                <c:pt idx="14">
                  <c:v>Cloud4Y</c:v>
                </c:pt>
                <c:pt idx="15">
                  <c:v>LanCloud</c:v>
                </c:pt>
                <c:pt idx="16">
                  <c:v>3data (RCloud)</c:v>
                </c:pt>
                <c:pt idx="17">
                  <c:v>Linx Cloud</c:v>
                </c:pt>
                <c:pt idx="18">
                  <c:v>Облакотека</c:v>
                </c:pt>
                <c:pt idx="19">
                  <c:v>Nubes</c:v>
                </c:pt>
                <c:pt idx="20">
                  <c:v>immers.cloud</c:v>
                </c:pt>
                <c:pt idx="21">
                  <c:v>Прочие</c:v>
                </c:pt>
              </c:strCache>
            </c:strRef>
          </c:cat>
          <c:val>
            <c:numRef>
              <c:f>Лист1!$C$31:$C$52</c:f>
              <c:numCache>
                <c:formatCode>0.0%</c:formatCode>
                <c:ptCount val="22"/>
                <c:pt idx="0">
                  <c:v>0.28899999999999998</c:v>
                </c:pt>
                <c:pt idx="1">
                  <c:v>0.16900000000000001</c:v>
                </c:pt>
                <c:pt idx="2">
                  <c:v>0.114</c:v>
                </c:pt>
                <c:pt idx="3">
                  <c:v>6.7000000000000004E-2</c:v>
                </c:pt>
                <c:pt idx="4">
                  <c:v>6.5000000000000002E-2</c:v>
                </c:pt>
                <c:pt idx="5">
                  <c:v>2.9000000000000001E-2</c:v>
                </c:pt>
                <c:pt idx="6">
                  <c:v>2.8000000000000001E-2</c:v>
                </c:pt>
                <c:pt idx="7">
                  <c:v>2.5000000000000001E-2</c:v>
                </c:pt>
                <c:pt idx="8">
                  <c:v>2.4E-2</c:v>
                </c:pt>
                <c:pt idx="9">
                  <c:v>2.1999999999999999E-2</c:v>
                </c:pt>
                <c:pt idx="10">
                  <c:v>1.9E-2</c:v>
                </c:pt>
                <c:pt idx="11">
                  <c:v>1.7000000000000001E-2</c:v>
                </c:pt>
                <c:pt idx="12">
                  <c:v>1.2E-2</c:v>
                </c:pt>
                <c:pt idx="13">
                  <c:v>7.0000000000000001E-3</c:v>
                </c:pt>
                <c:pt idx="14">
                  <c:v>6.0000000000000001E-3</c:v>
                </c:pt>
                <c:pt idx="15">
                  <c:v>4.0000000000000001E-3</c:v>
                </c:pt>
                <c:pt idx="16">
                  <c:v>3.0000000000000001E-3</c:v>
                </c:pt>
                <c:pt idx="17">
                  <c:v>3.0000000000000001E-3</c:v>
                </c:pt>
                <c:pt idx="18">
                  <c:v>2E-3</c:v>
                </c:pt>
                <c:pt idx="19">
                  <c:v>1E-3</c:v>
                </c:pt>
                <c:pt idx="20">
                  <c:v>1E-3</c:v>
                </c:pt>
                <c:pt idx="21">
                  <c:v>9.4E-2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7F-A84A-9D50-171F665C8D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288788208"/>
        <c:axId val="1289630400"/>
      </c:barChart>
      <c:catAx>
        <c:axId val="12887882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89630400"/>
        <c:crosses val="autoZero"/>
        <c:auto val="1"/>
        <c:lblAlgn val="ctr"/>
        <c:lblOffset val="100"/>
        <c:noMultiLvlLbl val="0"/>
      </c:catAx>
      <c:valAx>
        <c:axId val="12896304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88788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 роста</a:t>
            </a:r>
            <a:r>
              <a:rPr lang="ru-RU" baseline="0"/>
              <a:t> </a:t>
            </a:r>
            <a:r>
              <a:rPr lang="en-US" baseline="0"/>
              <a:t>IaaS 2023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Лист1!$B$62:$B$76</c:f>
              <c:strCache>
                <c:ptCount val="15"/>
                <c:pt idx="0">
                  <c:v>ITGlobal (ITG)</c:v>
                </c:pt>
                <c:pt idx="1">
                  <c:v>T1 Cloud</c:v>
                </c:pt>
                <c:pt idx="2">
                  <c:v>Beeline Cloud</c:v>
                </c:pt>
                <c:pt idx="3">
                  <c:v>Yandex.Cloud</c:v>
                </c:pt>
                <c:pt idx="4">
                  <c:v>MWS</c:v>
                </c:pt>
                <c:pt idx="5">
                  <c:v>VK Cloud</c:v>
                </c:pt>
                <c:pt idx="6">
                  <c:v>Cloud.ru</c:v>
                </c:pt>
                <c:pt idx="7">
                  <c:v>Timeweb Cloud</c:v>
                </c:pt>
                <c:pt idx="8">
                  <c:v>Общий рост рынка</c:v>
                </c:pt>
                <c:pt idx="9">
                  <c:v>PTK-LIOД</c:v>
                </c:pt>
                <c:pt idx="10">
                  <c:v>Selectel</c:v>
                </c:pt>
                <c:pt idx="11">
                  <c:v>OnCloud (Онланта)</c:v>
                </c:pt>
                <c:pt idx="12">
                  <c:v>Softline</c:v>
                </c:pt>
                <c:pt idx="13">
                  <c:v>K2 Cloud</c:v>
                </c:pt>
                <c:pt idx="14">
                  <c:v>МегаФон</c:v>
                </c:pt>
              </c:strCache>
            </c:strRef>
          </c:cat>
          <c:val>
            <c:numRef>
              <c:f>Лист1!$C$62:$C$76</c:f>
              <c:numCache>
                <c:formatCode>0%</c:formatCode>
                <c:ptCount val="15"/>
                <c:pt idx="0">
                  <c:v>1.1399999999999999</c:v>
                </c:pt>
                <c:pt idx="1">
                  <c:v>1.1200000000000001</c:v>
                </c:pt>
                <c:pt idx="2">
                  <c:v>0.9</c:v>
                </c:pt>
                <c:pt idx="3">
                  <c:v>0.7</c:v>
                </c:pt>
                <c:pt idx="4">
                  <c:v>0.68</c:v>
                </c:pt>
                <c:pt idx="5">
                  <c:v>0.63</c:v>
                </c:pt>
                <c:pt idx="6">
                  <c:v>0.51</c:v>
                </c:pt>
                <c:pt idx="7">
                  <c:v>0.42</c:v>
                </c:pt>
                <c:pt idx="8">
                  <c:v>0.31</c:v>
                </c:pt>
                <c:pt idx="9">
                  <c:v>0.27</c:v>
                </c:pt>
                <c:pt idx="10">
                  <c:v>0.26</c:v>
                </c:pt>
                <c:pt idx="11">
                  <c:v>0.23</c:v>
                </c:pt>
                <c:pt idx="12">
                  <c:v>-0.19</c:v>
                </c:pt>
                <c:pt idx="13">
                  <c:v>-0.28000000000000003</c:v>
                </c:pt>
                <c:pt idx="14">
                  <c:v>-0.35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AC-C34F-BF68-533E24B8A2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13794000"/>
        <c:axId val="713745824"/>
      </c:barChart>
      <c:catAx>
        <c:axId val="7137940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13745824"/>
        <c:crosses val="autoZero"/>
        <c:auto val="1"/>
        <c:lblAlgn val="ctr"/>
        <c:lblOffset val="100"/>
        <c:noMultiLvlLbl val="0"/>
      </c:catAx>
      <c:valAx>
        <c:axId val="7137458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13794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3E286-1E35-4A49-8630-2A83AC38A433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BE35D-63AF-5942-99BC-14591FB2CA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5605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b="0" dirty="0"/>
              <a:t>CAGR </a:t>
            </a:r>
            <a:r>
              <a:rPr lang="ru-RU" b="0" dirty="0"/>
              <a:t>выручки: +30%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0" dirty="0"/>
              <a:t>Это агрессивно, но достижимо для облачного бизнеса на растущем рынке РФ (+21% </a:t>
            </a:r>
            <a:r>
              <a:rPr lang="en" b="0" dirty="0"/>
              <a:t>CAGR </a:t>
            </a:r>
            <a:r>
              <a:rPr lang="ru-RU" b="0" dirty="0"/>
              <a:t>по отрасли, по данным </a:t>
            </a:r>
            <a:r>
              <a:rPr lang="en" b="0" dirty="0" err="1"/>
              <a:t>TAdviser</a:t>
            </a:r>
            <a:r>
              <a:rPr lang="en" b="0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0" dirty="0"/>
              <a:t>У </a:t>
            </a:r>
            <a:r>
              <a:rPr lang="en" b="0" dirty="0"/>
              <a:t>Softline Cloud </a:t>
            </a:r>
            <a:r>
              <a:rPr lang="ru-RU" b="0" dirty="0"/>
              <a:t>стартовая база относительно невысокая (в отличие от Яндекс/</a:t>
            </a:r>
            <a:r>
              <a:rPr lang="en" b="0" dirty="0" err="1"/>
              <a:t>Selectel</a:t>
            </a:r>
            <a:r>
              <a:rPr lang="en" b="0" dirty="0"/>
              <a:t>/VK), </a:t>
            </a:r>
            <a:r>
              <a:rPr lang="ru-RU" b="0" dirty="0"/>
              <a:t>поэтому рост в 1.5</a:t>
            </a:r>
            <a:r>
              <a:rPr lang="en" b="0" dirty="0"/>
              <a:t>x–2x </a:t>
            </a:r>
            <a:r>
              <a:rPr lang="ru-RU" b="0" dirty="0"/>
              <a:t>в год — реалистичный </a:t>
            </a:r>
            <a:r>
              <a:rPr lang="en" b="0" dirty="0"/>
              <a:t>catch-up </a:t>
            </a:r>
            <a:r>
              <a:rPr lang="ru-RU" b="0" dirty="0"/>
              <a:t>сценарий.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0" dirty="0"/>
              <a:t>30% </a:t>
            </a:r>
            <a:r>
              <a:rPr lang="en" b="0" dirty="0"/>
              <a:t>CAGR </a:t>
            </a:r>
            <a:r>
              <a:rPr lang="ru-RU" b="0" dirty="0"/>
              <a:t>на горизонте 3 лет означает примерно удвоение объёма бизнеса к 2028 году — это логично для стратегии «роста и выхода на прибыльность».</a:t>
            </a:r>
          </a:p>
          <a:p>
            <a:pPr>
              <a:buFont typeface="Arial" panose="020B0604020202020204" pitchFamily="34" charset="0"/>
              <a:buChar char="•"/>
            </a:pPr>
            <a:endParaRPr lang="ru-RU" b="0" dirty="0"/>
          </a:p>
          <a:p>
            <a:pPr>
              <a:buFont typeface="Arial" panose="020B0604020202020204" pitchFamily="34" charset="0"/>
              <a:buNone/>
            </a:pPr>
            <a:r>
              <a:rPr lang="en" b="0" dirty="0"/>
              <a:t>EBITDA: &gt;15%</a:t>
            </a:r>
            <a:endParaRPr lang="ru-RU" b="0" dirty="0"/>
          </a:p>
          <a:p>
            <a:pPr marL="171450" indent="-17145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EBITDA 15% —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нижняя граница зрелой облачной модели после выхода из фазы активных инвестиций.</a:t>
            </a:r>
          </a:p>
          <a:p>
            <a:pPr marL="171450" indent="-17145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 условии, что 2026–2027 — это годы усиленного </a:t>
            </a:r>
            <a:r>
              <a:rPr lang="e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R&amp;D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 </a:t>
            </a:r>
            <a:r>
              <a:rPr lang="e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CAPEX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инфраструктуру, к 2028 году 15% </a:t>
            </a:r>
            <a:r>
              <a:rPr lang="e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EBITDA —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сигнал устойчивости и зрелости модели (без завышенных ожиданий).</a:t>
            </a:r>
          </a:p>
          <a:p>
            <a:pPr marL="171450" indent="-17145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 значение также соотносится с показателями сопоставимых игроков:</a:t>
            </a:r>
          </a:p>
          <a:p>
            <a:pPr marL="628650" lvl="1" indent="-17145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Selectel</a:t>
            </a:r>
            <a:r>
              <a:rPr lang="e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EBITDA ~20%</a:t>
            </a:r>
          </a:p>
          <a:p>
            <a:pPr marL="628650" lvl="1" indent="-17145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VK Cloud ~12–15%</a:t>
            </a:r>
          </a:p>
          <a:p>
            <a:pPr marL="628650" lvl="1" indent="-17145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Cloud.ru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~10–12%</a:t>
            </a:r>
          </a:p>
          <a:p>
            <a:pPr>
              <a:buFont typeface="Arial" panose="020B0604020202020204" pitchFamily="34" charset="0"/>
              <a:buNone/>
            </a:pPr>
            <a:endParaRPr lang="e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" b="0" dirty="0"/>
              <a:t>NPS: 70+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NPS &gt;70 —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отличный ориентир для </a:t>
            </a:r>
            <a:r>
              <a:rPr lang="e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B2B-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сервисов с упором на сервисное качество, особенно если это элемент дифференциации </a:t>
            </a:r>
            <a:r>
              <a:rPr lang="e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Softline.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Сейчас у большинства облачных провайдеров </a:t>
            </a:r>
            <a:r>
              <a:rPr lang="e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NPS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колеблется в диапазоне 40–55.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 </a:t>
            </a:r>
            <a:r>
              <a:rPr lang="e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Softline Cloud,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где основная “сила” — клиентский сервис и региональная сеть, это ключевой индикатор лояльности и эффекта «</a:t>
            </a:r>
            <a:r>
              <a:rPr lang="e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trusted advisor».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Рост </a:t>
            </a:r>
            <a:r>
              <a:rPr lang="e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NPS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+15–20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п.п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за 3 года реален при активном развитии </a:t>
            </a:r>
            <a:r>
              <a:rPr lang="e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Customer Success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 партнёрской программы.</a:t>
            </a:r>
          </a:p>
          <a:p>
            <a:pPr>
              <a:buFont typeface="Arial" panose="020B0604020202020204" pitchFamily="34" charset="0"/>
              <a:buChar char="•"/>
            </a:pPr>
            <a:endParaRPr lang="ru-RU" b="0" dirty="0"/>
          </a:p>
          <a:p>
            <a:r>
              <a:rPr lang="en" b="0" dirty="0"/>
              <a:t>AI/ML-</a:t>
            </a:r>
            <a:r>
              <a:rPr lang="ru-RU" b="0" dirty="0"/>
              <a:t>сервисы: 5% рынка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0" dirty="0"/>
              <a:t>Доля в 5% сегмента </a:t>
            </a:r>
            <a:r>
              <a:rPr lang="en" b="0" dirty="0"/>
              <a:t>AI/ML — </a:t>
            </a:r>
            <a:r>
              <a:rPr lang="ru-RU" b="0" dirty="0"/>
              <a:t>амбициозная, но оправданная цель для компании с сильной инфраструктурой и готовыми интеграциями.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0" dirty="0"/>
              <a:t>Этот сегмент в России растёт быстрее всего (</a:t>
            </a:r>
            <a:r>
              <a:rPr lang="en" b="0" dirty="0"/>
              <a:t>CAGR 40%+), </a:t>
            </a:r>
            <a:r>
              <a:rPr lang="ru-RU" b="0" dirty="0"/>
              <a:t>и к 2028 году именно он станет ключевым драйвером роста облаков.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0" dirty="0"/>
              <a:t>У </a:t>
            </a:r>
            <a:r>
              <a:rPr lang="en" b="0" dirty="0"/>
              <a:t>Softline </a:t>
            </a:r>
            <a:r>
              <a:rPr lang="ru-RU" b="0" dirty="0"/>
              <a:t>уже есть технологическая база (</a:t>
            </a:r>
            <a:r>
              <a:rPr lang="en" b="0" dirty="0"/>
              <a:t>GPU, DevOps-</a:t>
            </a:r>
            <a:r>
              <a:rPr lang="ru-RU" b="0" dirty="0"/>
              <a:t>компетенции, экосистема), поэтому 5% — это фокусный, достижимый кусок быстрорастущего пирога, а не доля общего рынка.</a:t>
            </a:r>
          </a:p>
          <a:p>
            <a:pPr>
              <a:buFont typeface="Arial" panose="020B0604020202020204" pitchFamily="34" charset="0"/>
              <a:buChar char="•"/>
            </a:pPr>
            <a:endParaRPr lang="ru-RU" b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" b="0" dirty="0"/>
              <a:t>Multi-cloud </a:t>
            </a:r>
            <a:r>
              <a:rPr lang="ru-RU" b="0" dirty="0"/>
              <a:t>клиентов: 200+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0" dirty="0"/>
              <a:t>В среднем крупный </a:t>
            </a:r>
            <a:r>
              <a:rPr lang="en" b="0" dirty="0"/>
              <a:t>B2B-</a:t>
            </a:r>
            <a:r>
              <a:rPr lang="ru-RU" b="0" dirty="0"/>
              <a:t>провайдер в России обслуживает 300–500 корпоративных клиентов.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" b="0" dirty="0"/>
              <a:t>Multi-cloud-</a:t>
            </a:r>
            <a:r>
              <a:rPr lang="ru-RU" b="0" dirty="0"/>
              <a:t>клиенты (через </a:t>
            </a:r>
            <a:r>
              <a:rPr lang="en" b="0" dirty="0"/>
              <a:t>FinOps </a:t>
            </a:r>
            <a:r>
              <a:rPr lang="ru-RU" b="0" dirty="0"/>
              <a:t>или частичную миграцию) могут составлять 30–40% из них.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0" dirty="0"/>
              <a:t>200+ клиентов, использующих </a:t>
            </a:r>
            <a:r>
              <a:rPr lang="en" b="0" dirty="0" err="1"/>
              <a:t>CloudMaster</a:t>
            </a:r>
            <a:r>
              <a:rPr lang="en" b="0" dirty="0"/>
              <a:t> / multi-cloud-</a:t>
            </a:r>
            <a:r>
              <a:rPr lang="ru-RU" b="0" dirty="0"/>
              <a:t>сервисы, — реалистичный </a:t>
            </a:r>
            <a:r>
              <a:rPr lang="ru-RU" b="0" dirty="0" err="1"/>
              <a:t>таргет</a:t>
            </a:r>
            <a:r>
              <a:rPr lang="ru-RU" b="0" dirty="0"/>
              <a:t> на горизонте 3 лет.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0" dirty="0"/>
              <a:t>Это также качественная метрика проникновения в инфраструктуры крупных заказчиков, а не просто количественная.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BE35D-63AF-5942-99BC-14591FB2CA4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05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Для бизнеса дистрибуции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Клиенты, покупающие серверы и ПО, рано или поздно задумаются о миграции в облако (</a:t>
            </a:r>
            <a:r>
              <a:rPr lang="en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Yandex Cloud, </a:t>
            </a:r>
            <a:r>
              <a:rPr lang="en-US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VK Cloud, </a:t>
            </a:r>
            <a:r>
              <a:rPr lang="en-US" sz="1200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etc</a:t>
            </a:r>
            <a:r>
              <a:rPr lang="en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). 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Наше собственное облако дает им «мягкий» миграционный путь внутри экосистемы </a:t>
            </a:r>
            <a:r>
              <a:rPr lang="en-US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Softline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, сохраняя клиента и его </a:t>
            </a:r>
            <a:r>
              <a:rPr lang="en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LTV.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Можем предлагать гибридные решения: часть нагрузки — на нашем облаке, часть — на собственном железе, с единым биллингом и поддержкой. Это усложняет уход клиента к конкурентам.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Можем стать для вендоров ключевым каналом дистрибуции их </a:t>
            </a:r>
            <a:r>
              <a:rPr lang="en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SaaS-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решений через наш маркетплейс, создавая новые, повторяющиеся потоки выручки вместо разовых сделок.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ru-RU" sz="12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algn="l"/>
            <a:r>
              <a:rPr lang="ru-RU" sz="12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Для сервисного бизнеса (</a:t>
            </a:r>
            <a:r>
              <a:rPr lang="en" sz="12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Professional &amp; Managed Services)</a:t>
            </a:r>
            <a:endParaRPr lang="ru-RU" sz="12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Каждый проданный клиент облака — это потенциальный заказ на миграцию, доработку, техподдержку 24/7, управление инфраструктурой. Облако — это «крючок», на который нанизываются сервисы с гораздо более высокой </a:t>
            </a:r>
            <a:r>
              <a:rPr lang="ru-RU" sz="1200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маржой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. Стандартизация и масштабируемость сервисов. 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Вместо уникальных проектов «с нуля» под каждого клиента, мы развиваем управляемые сервисы (</a:t>
            </a:r>
            <a:r>
              <a:rPr lang="en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DBaaS, K8s as a Service) 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на своей платформе. Это позволяет оказывать услуги дешевле, быстрее и с предсказуемым качеством.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ru-RU" sz="12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algn="l"/>
            <a:r>
              <a:rPr lang="ru-RU" sz="12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Для бизнеса собственной разработки ПО (</a:t>
            </a:r>
            <a:r>
              <a:rPr lang="en" sz="1200" b="1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Develonika</a:t>
            </a:r>
            <a:r>
              <a:rPr lang="en" sz="12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, </a:t>
            </a:r>
            <a:r>
              <a:rPr lang="en-US" sz="1200" b="1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TestIt</a:t>
            </a:r>
            <a:r>
              <a:rPr lang="en-US" sz="12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, </a:t>
            </a:r>
            <a:r>
              <a:rPr lang="en-US" sz="1200" b="1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etc</a:t>
            </a:r>
            <a:r>
              <a:rPr lang="en" sz="12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)</a:t>
            </a:r>
            <a:endParaRPr lang="ru-RU" sz="12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Наши продукты (например, </a:t>
            </a:r>
            <a:r>
              <a:rPr lang="en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T</a:t>
            </a:r>
            <a:r>
              <a:rPr lang="en-US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MS</a:t>
            </a:r>
            <a:r>
              <a:rPr lang="en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) 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могут быть предустановлены и предлагаться как </a:t>
            </a:r>
            <a:r>
              <a:rPr lang="en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SaaS 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в нашем маркетплейсе. Это резко снижает </a:t>
            </a:r>
            <a:r>
              <a:rPr lang="en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cost-of-sale 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и дает им немедленный доступ к широкой клиентской базе Облака и ГК.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Команды разработки внутри ГК получают готовую, оптимизированную внутреннюю </a:t>
            </a:r>
            <a:r>
              <a:rPr lang="en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PaaS-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платформу (</a:t>
            </a:r>
            <a:r>
              <a:rPr lang="en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K8s, CI/CD, 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базы данных) для быстрого создания и хостинга своих приложений, экономя время и деньги на инфраструктуре.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ru-RU" sz="12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algn="l"/>
            <a:r>
              <a:rPr lang="ru-RU" sz="12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Для общего позиционирования и конкуренции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Единство «трех китов»: ПО (</a:t>
            </a:r>
            <a:r>
              <a:rPr lang="en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Software) + 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Инфраструктура (</a:t>
            </a:r>
            <a:r>
              <a:rPr lang="en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Hardware/Cloud) + 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Сервисы (</a:t>
            </a:r>
            <a:r>
              <a:rPr lang="en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Services). 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Ни один крупный игрок в России не обладает всеми тремя компонентами в таком масштабе. Мы можем предлагать клиенту полный цикл: помочь выбрать лицензии (дистрибуция), мигрировать в наше облако или на наше железо (облако/сервисы) и сопровождать всё это на протяжении всего жизненного цикла.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Образ «Технологического партнера №1». Это позволяет отстроиться от конкурентов, которые сильны только в чем-то одном (только облако, только дистрибуция, только интеграция). Мы позиционируем себя как компания, которая может решить любую задачу клиента в рамках одной экосистемы.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BE35D-63AF-5942-99BC-14591FB2CA41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688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Проценты взяты по нижней границе т.е. при 30-50</a:t>
            </a:r>
            <a:r>
              <a:rPr lang="en-US" dirty="0"/>
              <a:t>% </a:t>
            </a:r>
            <a:r>
              <a:rPr lang="ru-RU" dirty="0"/>
              <a:t>берем 30%. Верхняя граница – оптимистичный сценарий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BE35D-63AF-5942-99BC-14591FB2CA4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435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BE35D-63AF-5942-99BC-14591FB2CA41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386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284480" lvl="0">
              <a:spcBef>
                <a:spcPts val="95"/>
              </a:spcBef>
              <a:tabLst>
                <a:tab pos="457200" algn="l"/>
              </a:tabLst>
            </a:pPr>
            <a:r>
              <a:rPr lang="ru-RU" sz="1200" b="1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CloudMaster</a:t>
            </a:r>
            <a:r>
              <a:rPr lang="ru-RU" sz="12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</a:t>
            </a:r>
            <a:r>
              <a:rPr lang="en-US" sz="12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- </a:t>
            </a:r>
            <a:r>
              <a:rPr lang="ru-RU" sz="12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УТП к подобным заказчикам</a:t>
            </a:r>
          </a:p>
          <a:p>
            <a:pPr marR="284480" lvl="0">
              <a:spcBef>
                <a:spcPts val="95"/>
              </a:spcBef>
              <a:tabLst>
                <a:tab pos="457200" algn="l"/>
              </a:tabLst>
            </a:pPr>
            <a:r>
              <a:rPr lang="ru-RU" sz="1200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FinOps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— это «надстройка», которую можно продать поверх чужого облака, а потом «зайти внутрь» с инфраструктурой </a:t>
            </a:r>
            <a:r>
              <a:rPr lang="ru-RU" sz="1200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Softline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.</a:t>
            </a:r>
          </a:p>
          <a:p>
            <a:pPr marL="285750" marR="284480" lvl="0" indent="-285750"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Сегодня клиент управляет расходами в </a:t>
            </a:r>
            <a:r>
              <a:rPr lang="ru-RU" sz="1200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Yandex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/</a:t>
            </a:r>
            <a:r>
              <a:rPr lang="ru-RU" sz="1200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Selectel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→ завтра он видит экономию при переносе части нагрузки на </a:t>
            </a:r>
            <a:r>
              <a:rPr lang="ru-RU" sz="1200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Softline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</a:t>
            </a:r>
            <a:r>
              <a:rPr lang="ru-RU" sz="1200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Cloud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.</a:t>
            </a:r>
          </a:p>
          <a:p>
            <a:pPr marL="285750" marR="284480" lvl="0" indent="-285750"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Это даёт канал мягкого захвата без агрессивных миграций.</a:t>
            </a:r>
          </a:p>
          <a:p>
            <a:pPr marL="285750" marR="284480" lvl="0" indent="-285750"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ru-RU" sz="1200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lvl="0">
              <a:tabLst>
                <a:tab pos="457200" algn="l"/>
              </a:tabLst>
            </a:pPr>
            <a:r>
              <a:rPr lang="ru-RU" sz="12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Модель второго плеча снижает барьеры входа</a:t>
            </a:r>
            <a:r>
              <a:rPr lang="en-US" sz="12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:</a:t>
            </a:r>
            <a:endParaRPr lang="ru-RU" sz="12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lvl="0">
              <a:tabLst>
                <a:tab pos="457200" algn="l"/>
              </a:tabLst>
            </a:pP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Часто крупные клиенты не готовы полностью менять провайдера, но готовы подключить второго «для GPU/</a:t>
            </a:r>
            <a:r>
              <a:rPr lang="ru-RU" sz="1200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DevOps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/DRP».</a:t>
            </a:r>
          </a:p>
          <a:p>
            <a:pPr lvl="0">
              <a:tabLst>
                <a:tab pos="457200" algn="l"/>
              </a:tabLst>
            </a:pPr>
            <a:r>
              <a:rPr lang="ru-RU" sz="1200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FinOps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-решение может стать именно тем инструментом, через который:</a:t>
            </a:r>
          </a:p>
          <a:p>
            <a:pPr marL="285750" lvl="0" indent="-28575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200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Softline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получает данные об облачных расходах заказчика, предиктивно предлагает оптимизацию, показывает экономический эффект от миграции части нагрузок в </a:t>
            </a:r>
            <a:r>
              <a:rPr lang="ru-RU" sz="1200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Softline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</a:t>
            </a:r>
            <a:r>
              <a:rPr lang="ru-RU" sz="1200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Cloud</a:t>
            </a:r>
            <a:r>
              <a:rPr lang="ru-RU" sz="12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BE35D-63AF-5942-99BC-14591FB2CA41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447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BE35D-63AF-5942-99BC-14591FB2CA41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390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BE35D-63AF-5942-99BC-14591FB2CA41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260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43475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43475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43475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43475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43475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01039" y="1622297"/>
            <a:ext cx="4130675" cy="347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43475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43475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FF0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8183" y="362153"/>
            <a:ext cx="10429875" cy="374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43475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6148" y="1988896"/>
            <a:ext cx="5267325" cy="1489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43475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94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3736" y="5884322"/>
              <a:ext cx="1485900" cy="578485"/>
            </a:xfrm>
            <a:custGeom>
              <a:avLst/>
              <a:gdLst/>
              <a:ahLst/>
              <a:cxnLst/>
              <a:rect l="l" t="t" r="r" b="b"/>
              <a:pathLst>
                <a:path w="1485900" h="578485">
                  <a:moveTo>
                    <a:pt x="1384754" y="565723"/>
                  </a:moveTo>
                  <a:lnTo>
                    <a:pt x="100572" y="565723"/>
                  </a:lnTo>
                  <a:lnTo>
                    <a:pt x="131086" y="575029"/>
                  </a:lnTo>
                  <a:lnTo>
                    <a:pt x="164021" y="578264"/>
                  </a:lnTo>
                  <a:lnTo>
                    <a:pt x="1321294" y="578264"/>
                  </a:lnTo>
                  <a:lnTo>
                    <a:pt x="1354213" y="575029"/>
                  </a:lnTo>
                  <a:lnTo>
                    <a:pt x="1384754" y="565723"/>
                  </a:lnTo>
                  <a:close/>
                </a:path>
                <a:path w="1485900" h="578485">
                  <a:moveTo>
                    <a:pt x="1321294" y="0"/>
                  </a:moveTo>
                  <a:lnTo>
                    <a:pt x="164021" y="0"/>
                  </a:lnTo>
                  <a:lnTo>
                    <a:pt x="131086" y="3195"/>
                  </a:lnTo>
                  <a:lnTo>
                    <a:pt x="72279" y="27761"/>
                  </a:lnTo>
                  <a:lnTo>
                    <a:pt x="27925" y="71866"/>
                  </a:lnTo>
                  <a:lnTo>
                    <a:pt x="3252" y="130344"/>
                  </a:lnTo>
                  <a:lnTo>
                    <a:pt x="0" y="163098"/>
                  </a:lnTo>
                  <a:lnTo>
                    <a:pt x="0" y="415144"/>
                  </a:lnTo>
                  <a:lnTo>
                    <a:pt x="12710" y="478567"/>
                  </a:lnTo>
                  <a:lnTo>
                    <a:pt x="48051" y="530478"/>
                  </a:lnTo>
                  <a:lnTo>
                    <a:pt x="100430" y="565723"/>
                  </a:lnTo>
                  <a:lnTo>
                    <a:pt x="164953" y="565723"/>
                  </a:lnTo>
                  <a:lnTo>
                    <a:pt x="135462" y="562826"/>
                  </a:lnTo>
                  <a:lnTo>
                    <a:pt x="134188" y="562826"/>
                  </a:lnTo>
                  <a:lnTo>
                    <a:pt x="133286" y="562646"/>
                  </a:lnTo>
                  <a:lnTo>
                    <a:pt x="133598" y="562646"/>
                  </a:lnTo>
                  <a:lnTo>
                    <a:pt x="106162" y="554278"/>
                  </a:lnTo>
                  <a:lnTo>
                    <a:pt x="105730" y="554278"/>
                  </a:lnTo>
                  <a:lnTo>
                    <a:pt x="104561" y="553790"/>
                  </a:lnTo>
                  <a:lnTo>
                    <a:pt x="104828" y="553790"/>
                  </a:lnTo>
                  <a:lnTo>
                    <a:pt x="80136" y="540428"/>
                  </a:lnTo>
                  <a:lnTo>
                    <a:pt x="79885" y="540428"/>
                  </a:lnTo>
                  <a:lnTo>
                    <a:pt x="79478" y="540092"/>
                  </a:lnTo>
                  <a:lnTo>
                    <a:pt x="78868" y="539743"/>
                  </a:lnTo>
                  <a:lnTo>
                    <a:pt x="79055" y="539743"/>
                  </a:lnTo>
                  <a:lnTo>
                    <a:pt x="57568" y="521996"/>
                  </a:lnTo>
                  <a:lnTo>
                    <a:pt x="57400" y="521996"/>
                  </a:lnTo>
                  <a:lnTo>
                    <a:pt x="57072" y="521603"/>
                  </a:lnTo>
                  <a:lnTo>
                    <a:pt x="56578" y="521179"/>
                  </a:lnTo>
                  <a:lnTo>
                    <a:pt x="56718" y="521179"/>
                  </a:lnTo>
                  <a:lnTo>
                    <a:pt x="38888" y="499828"/>
                  </a:lnTo>
                  <a:lnTo>
                    <a:pt x="38734" y="499828"/>
                  </a:lnTo>
                  <a:lnTo>
                    <a:pt x="38441" y="499293"/>
                  </a:lnTo>
                  <a:lnTo>
                    <a:pt x="38044" y="498818"/>
                  </a:lnTo>
                  <a:lnTo>
                    <a:pt x="38181" y="498818"/>
                  </a:lnTo>
                  <a:lnTo>
                    <a:pt x="24754" y="474277"/>
                  </a:lnTo>
                  <a:lnTo>
                    <a:pt x="24609" y="474277"/>
                  </a:lnTo>
                  <a:lnTo>
                    <a:pt x="24421" y="473668"/>
                  </a:lnTo>
                  <a:lnTo>
                    <a:pt x="24118" y="473114"/>
                  </a:lnTo>
                  <a:lnTo>
                    <a:pt x="24250" y="473114"/>
                  </a:lnTo>
                  <a:lnTo>
                    <a:pt x="15901" y="446039"/>
                  </a:lnTo>
                  <a:lnTo>
                    <a:pt x="15770" y="446039"/>
                  </a:lnTo>
                  <a:lnTo>
                    <a:pt x="15708" y="445412"/>
                  </a:lnTo>
                  <a:lnTo>
                    <a:pt x="15609" y="445240"/>
                  </a:lnTo>
                  <a:lnTo>
                    <a:pt x="15523" y="444813"/>
                  </a:lnTo>
                  <a:lnTo>
                    <a:pt x="12702" y="415144"/>
                  </a:lnTo>
                  <a:lnTo>
                    <a:pt x="12702" y="163098"/>
                  </a:lnTo>
                  <a:lnTo>
                    <a:pt x="15648" y="133429"/>
                  </a:lnTo>
                  <a:lnTo>
                    <a:pt x="15770" y="132204"/>
                  </a:lnTo>
                  <a:lnTo>
                    <a:pt x="15901" y="132204"/>
                  </a:lnTo>
                  <a:lnTo>
                    <a:pt x="24250" y="105128"/>
                  </a:lnTo>
                  <a:lnTo>
                    <a:pt x="24118" y="105128"/>
                  </a:lnTo>
                  <a:lnTo>
                    <a:pt x="24385" y="104640"/>
                  </a:lnTo>
                  <a:lnTo>
                    <a:pt x="24609" y="103965"/>
                  </a:lnTo>
                  <a:lnTo>
                    <a:pt x="24754" y="103965"/>
                  </a:lnTo>
                  <a:lnTo>
                    <a:pt x="38181" y="79425"/>
                  </a:lnTo>
                  <a:lnTo>
                    <a:pt x="38044" y="79425"/>
                  </a:lnTo>
                  <a:lnTo>
                    <a:pt x="38425" y="78968"/>
                  </a:lnTo>
                  <a:lnTo>
                    <a:pt x="38734" y="78414"/>
                  </a:lnTo>
                  <a:lnTo>
                    <a:pt x="38889" y="78414"/>
                  </a:lnTo>
                  <a:lnTo>
                    <a:pt x="56726" y="57063"/>
                  </a:lnTo>
                  <a:lnTo>
                    <a:pt x="56578" y="57063"/>
                  </a:lnTo>
                  <a:lnTo>
                    <a:pt x="57055" y="56670"/>
                  </a:lnTo>
                  <a:lnTo>
                    <a:pt x="57400" y="56257"/>
                  </a:lnTo>
                  <a:lnTo>
                    <a:pt x="57555" y="56257"/>
                  </a:lnTo>
                  <a:lnTo>
                    <a:pt x="79060" y="38499"/>
                  </a:lnTo>
                  <a:lnTo>
                    <a:pt x="78868" y="38499"/>
                  </a:lnTo>
                  <a:lnTo>
                    <a:pt x="79423" y="38200"/>
                  </a:lnTo>
                  <a:lnTo>
                    <a:pt x="79885" y="37819"/>
                  </a:lnTo>
                  <a:lnTo>
                    <a:pt x="80129" y="37819"/>
                  </a:lnTo>
                  <a:lnTo>
                    <a:pt x="104858" y="24461"/>
                  </a:lnTo>
                  <a:lnTo>
                    <a:pt x="104561" y="24461"/>
                  </a:lnTo>
                  <a:lnTo>
                    <a:pt x="105730" y="23990"/>
                  </a:lnTo>
                  <a:lnTo>
                    <a:pt x="106102" y="23990"/>
                  </a:lnTo>
                  <a:lnTo>
                    <a:pt x="133332" y="15661"/>
                  </a:lnTo>
                  <a:lnTo>
                    <a:pt x="132956" y="15661"/>
                  </a:lnTo>
                  <a:lnTo>
                    <a:pt x="134188" y="15399"/>
                  </a:lnTo>
                  <a:lnTo>
                    <a:pt x="135622" y="15399"/>
                  </a:lnTo>
                  <a:lnTo>
                    <a:pt x="163887" y="12623"/>
                  </a:lnTo>
                  <a:lnTo>
                    <a:pt x="1385078" y="12623"/>
                  </a:lnTo>
                  <a:lnTo>
                    <a:pt x="1354213" y="3195"/>
                  </a:lnTo>
                  <a:lnTo>
                    <a:pt x="1321294" y="0"/>
                  </a:lnTo>
                  <a:close/>
                </a:path>
                <a:path w="1485900" h="578485">
                  <a:moveTo>
                    <a:pt x="1351697" y="562646"/>
                  </a:moveTo>
                  <a:lnTo>
                    <a:pt x="1320346" y="565723"/>
                  </a:lnTo>
                  <a:lnTo>
                    <a:pt x="1384895" y="565723"/>
                  </a:lnTo>
                  <a:lnTo>
                    <a:pt x="1390249" y="562826"/>
                  </a:lnTo>
                  <a:lnTo>
                    <a:pt x="1351106" y="562826"/>
                  </a:lnTo>
                  <a:lnTo>
                    <a:pt x="1351697" y="562646"/>
                  </a:lnTo>
                  <a:close/>
                </a:path>
                <a:path w="1485900" h="578485">
                  <a:moveTo>
                    <a:pt x="133598" y="562646"/>
                  </a:moveTo>
                  <a:lnTo>
                    <a:pt x="133286" y="562646"/>
                  </a:lnTo>
                  <a:lnTo>
                    <a:pt x="134188" y="562826"/>
                  </a:lnTo>
                  <a:lnTo>
                    <a:pt x="133598" y="562646"/>
                  </a:lnTo>
                  <a:close/>
                </a:path>
                <a:path w="1485900" h="578485">
                  <a:moveTo>
                    <a:pt x="133628" y="562646"/>
                  </a:moveTo>
                  <a:lnTo>
                    <a:pt x="134188" y="562826"/>
                  </a:lnTo>
                  <a:lnTo>
                    <a:pt x="135462" y="562826"/>
                  </a:lnTo>
                  <a:lnTo>
                    <a:pt x="133628" y="562646"/>
                  </a:lnTo>
                  <a:close/>
                </a:path>
                <a:path w="1485900" h="578485">
                  <a:moveTo>
                    <a:pt x="1380158" y="553977"/>
                  </a:moveTo>
                  <a:lnTo>
                    <a:pt x="1351106" y="562826"/>
                  </a:lnTo>
                  <a:lnTo>
                    <a:pt x="1352031" y="562646"/>
                  </a:lnTo>
                  <a:lnTo>
                    <a:pt x="1390582" y="562646"/>
                  </a:lnTo>
                  <a:lnTo>
                    <a:pt x="1406048" y="554278"/>
                  </a:lnTo>
                  <a:lnTo>
                    <a:pt x="1379601" y="554278"/>
                  </a:lnTo>
                  <a:lnTo>
                    <a:pt x="1380158" y="553977"/>
                  </a:lnTo>
                  <a:close/>
                </a:path>
                <a:path w="1485900" h="578485">
                  <a:moveTo>
                    <a:pt x="1390582" y="562646"/>
                  </a:moveTo>
                  <a:lnTo>
                    <a:pt x="1352031" y="562646"/>
                  </a:lnTo>
                  <a:lnTo>
                    <a:pt x="1351106" y="562826"/>
                  </a:lnTo>
                  <a:lnTo>
                    <a:pt x="1390249" y="562826"/>
                  </a:lnTo>
                  <a:lnTo>
                    <a:pt x="1390582" y="562646"/>
                  </a:lnTo>
                  <a:close/>
                </a:path>
                <a:path w="1485900" h="578485">
                  <a:moveTo>
                    <a:pt x="104561" y="553790"/>
                  </a:moveTo>
                  <a:lnTo>
                    <a:pt x="105730" y="554278"/>
                  </a:lnTo>
                  <a:lnTo>
                    <a:pt x="105173" y="553977"/>
                  </a:lnTo>
                  <a:lnTo>
                    <a:pt x="104561" y="553790"/>
                  </a:lnTo>
                  <a:close/>
                </a:path>
                <a:path w="1485900" h="578485">
                  <a:moveTo>
                    <a:pt x="105173" y="553977"/>
                  </a:moveTo>
                  <a:lnTo>
                    <a:pt x="105730" y="554278"/>
                  </a:lnTo>
                  <a:lnTo>
                    <a:pt x="106162" y="554278"/>
                  </a:lnTo>
                  <a:lnTo>
                    <a:pt x="105173" y="553977"/>
                  </a:lnTo>
                  <a:close/>
                </a:path>
                <a:path w="1485900" h="578485">
                  <a:moveTo>
                    <a:pt x="1380759" y="553790"/>
                  </a:moveTo>
                  <a:lnTo>
                    <a:pt x="1380158" y="553977"/>
                  </a:lnTo>
                  <a:lnTo>
                    <a:pt x="1379601" y="554278"/>
                  </a:lnTo>
                  <a:lnTo>
                    <a:pt x="1380759" y="553790"/>
                  </a:lnTo>
                  <a:close/>
                </a:path>
                <a:path w="1485900" h="578485">
                  <a:moveTo>
                    <a:pt x="1406950" y="553790"/>
                  </a:moveTo>
                  <a:lnTo>
                    <a:pt x="1380759" y="553790"/>
                  </a:lnTo>
                  <a:lnTo>
                    <a:pt x="1379601" y="554278"/>
                  </a:lnTo>
                  <a:lnTo>
                    <a:pt x="1406048" y="554278"/>
                  </a:lnTo>
                  <a:lnTo>
                    <a:pt x="1406950" y="553790"/>
                  </a:lnTo>
                  <a:close/>
                </a:path>
                <a:path w="1485900" h="578485">
                  <a:moveTo>
                    <a:pt x="104828" y="553790"/>
                  </a:moveTo>
                  <a:lnTo>
                    <a:pt x="104561" y="553790"/>
                  </a:lnTo>
                  <a:lnTo>
                    <a:pt x="105173" y="553977"/>
                  </a:lnTo>
                  <a:lnTo>
                    <a:pt x="104828" y="553790"/>
                  </a:lnTo>
                  <a:close/>
                </a:path>
                <a:path w="1485900" h="578485">
                  <a:moveTo>
                    <a:pt x="1426059" y="539743"/>
                  </a:moveTo>
                  <a:lnTo>
                    <a:pt x="1406463" y="539743"/>
                  </a:lnTo>
                  <a:lnTo>
                    <a:pt x="1405817" y="540092"/>
                  </a:lnTo>
                  <a:lnTo>
                    <a:pt x="1405409" y="540428"/>
                  </a:lnTo>
                  <a:lnTo>
                    <a:pt x="1405196" y="540428"/>
                  </a:lnTo>
                  <a:lnTo>
                    <a:pt x="1380158" y="553977"/>
                  </a:lnTo>
                  <a:lnTo>
                    <a:pt x="1380759" y="553790"/>
                  </a:lnTo>
                  <a:lnTo>
                    <a:pt x="1406950" y="553790"/>
                  </a:lnTo>
                  <a:lnTo>
                    <a:pt x="1413046" y="550492"/>
                  </a:lnTo>
                  <a:lnTo>
                    <a:pt x="1425229" y="540428"/>
                  </a:lnTo>
                  <a:lnTo>
                    <a:pt x="1405409" y="540428"/>
                  </a:lnTo>
                  <a:lnTo>
                    <a:pt x="1405926" y="540092"/>
                  </a:lnTo>
                  <a:lnTo>
                    <a:pt x="1425636" y="540092"/>
                  </a:lnTo>
                  <a:lnTo>
                    <a:pt x="1426059" y="539743"/>
                  </a:lnTo>
                  <a:close/>
                </a:path>
                <a:path w="1485900" h="578485">
                  <a:moveTo>
                    <a:pt x="78868" y="539743"/>
                  </a:moveTo>
                  <a:lnTo>
                    <a:pt x="79885" y="540428"/>
                  </a:lnTo>
                  <a:lnTo>
                    <a:pt x="80136" y="540428"/>
                  </a:lnTo>
                  <a:lnTo>
                    <a:pt x="78868" y="539743"/>
                  </a:lnTo>
                  <a:close/>
                </a:path>
                <a:path w="1485900" h="578485">
                  <a:moveTo>
                    <a:pt x="79055" y="539743"/>
                  </a:moveTo>
                  <a:lnTo>
                    <a:pt x="78868" y="539743"/>
                  </a:lnTo>
                  <a:lnTo>
                    <a:pt x="79514" y="540092"/>
                  </a:lnTo>
                  <a:lnTo>
                    <a:pt x="79055" y="539743"/>
                  </a:lnTo>
                  <a:close/>
                </a:path>
                <a:path w="1485900" h="578485">
                  <a:moveTo>
                    <a:pt x="1445039" y="521179"/>
                  </a:moveTo>
                  <a:lnTo>
                    <a:pt x="1428742" y="521179"/>
                  </a:lnTo>
                  <a:lnTo>
                    <a:pt x="1428228" y="521603"/>
                  </a:lnTo>
                  <a:lnTo>
                    <a:pt x="1427900" y="521996"/>
                  </a:lnTo>
                  <a:lnTo>
                    <a:pt x="1427752" y="521996"/>
                  </a:lnTo>
                  <a:lnTo>
                    <a:pt x="1405817" y="540092"/>
                  </a:lnTo>
                  <a:lnTo>
                    <a:pt x="1406463" y="539743"/>
                  </a:lnTo>
                  <a:lnTo>
                    <a:pt x="1426059" y="539743"/>
                  </a:lnTo>
                  <a:lnTo>
                    <a:pt x="1437275" y="530478"/>
                  </a:lnTo>
                  <a:lnTo>
                    <a:pt x="1444357" y="521996"/>
                  </a:lnTo>
                  <a:lnTo>
                    <a:pt x="1427900" y="521996"/>
                  </a:lnTo>
                  <a:lnTo>
                    <a:pt x="1428305" y="521603"/>
                  </a:lnTo>
                  <a:lnTo>
                    <a:pt x="1444685" y="521603"/>
                  </a:lnTo>
                  <a:lnTo>
                    <a:pt x="1445039" y="521179"/>
                  </a:lnTo>
                  <a:close/>
                </a:path>
                <a:path w="1485900" h="578485">
                  <a:moveTo>
                    <a:pt x="57092" y="521603"/>
                  </a:moveTo>
                  <a:lnTo>
                    <a:pt x="57400" y="521996"/>
                  </a:lnTo>
                  <a:lnTo>
                    <a:pt x="57568" y="521996"/>
                  </a:lnTo>
                  <a:lnTo>
                    <a:pt x="57092" y="521603"/>
                  </a:lnTo>
                  <a:close/>
                </a:path>
                <a:path w="1485900" h="578485">
                  <a:moveTo>
                    <a:pt x="56718" y="521179"/>
                  </a:moveTo>
                  <a:lnTo>
                    <a:pt x="56578" y="521179"/>
                  </a:lnTo>
                  <a:lnTo>
                    <a:pt x="57092" y="521603"/>
                  </a:lnTo>
                  <a:lnTo>
                    <a:pt x="56718" y="521179"/>
                  </a:lnTo>
                  <a:close/>
                </a:path>
                <a:path w="1485900" h="578485">
                  <a:moveTo>
                    <a:pt x="1461535" y="498818"/>
                  </a:moveTo>
                  <a:lnTo>
                    <a:pt x="1447282" y="498818"/>
                  </a:lnTo>
                  <a:lnTo>
                    <a:pt x="1446890" y="499293"/>
                  </a:lnTo>
                  <a:lnTo>
                    <a:pt x="1446598" y="499828"/>
                  </a:lnTo>
                  <a:lnTo>
                    <a:pt x="1446437" y="499828"/>
                  </a:lnTo>
                  <a:lnTo>
                    <a:pt x="1428228" y="521603"/>
                  </a:lnTo>
                  <a:lnTo>
                    <a:pt x="1428742" y="521179"/>
                  </a:lnTo>
                  <a:lnTo>
                    <a:pt x="1445039" y="521179"/>
                  </a:lnTo>
                  <a:lnTo>
                    <a:pt x="1457395" y="506381"/>
                  </a:lnTo>
                  <a:lnTo>
                    <a:pt x="1460981" y="499828"/>
                  </a:lnTo>
                  <a:lnTo>
                    <a:pt x="1446598" y="499828"/>
                  </a:lnTo>
                  <a:lnTo>
                    <a:pt x="1446960" y="499293"/>
                  </a:lnTo>
                  <a:lnTo>
                    <a:pt x="1461274" y="499293"/>
                  </a:lnTo>
                  <a:lnTo>
                    <a:pt x="1461535" y="498818"/>
                  </a:lnTo>
                  <a:close/>
                </a:path>
                <a:path w="1485900" h="578485">
                  <a:moveTo>
                    <a:pt x="38441" y="499293"/>
                  </a:moveTo>
                  <a:lnTo>
                    <a:pt x="38734" y="499828"/>
                  </a:lnTo>
                  <a:lnTo>
                    <a:pt x="38888" y="499828"/>
                  </a:lnTo>
                  <a:lnTo>
                    <a:pt x="38441" y="499293"/>
                  </a:lnTo>
                  <a:close/>
                </a:path>
                <a:path w="1485900" h="578485">
                  <a:moveTo>
                    <a:pt x="38181" y="498818"/>
                  </a:moveTo>
                  <a:lnTo>
                    <a:pt x="38044" y="498818"/>
                  </a:lnTo>
                  <a:lnTo>
                    <a:pt x="38441" y="499293"/>
                  </a:lnTo>
                  <a:lnTo>
                    <a:pt x="38181" y="498818"/>
                  </a:lnTo>
                  <a:close/>
                </a:path>
                <a:path w="1485900" h="578485">
                  <a:moveTo>
                    <a:pt x="1482230" y="132204"/>
                  </a:moveTo>
                  <a:lnTo>
                    <a:pt x="1469562" y="132204"/>
                  </a:lnTo>
                  <a:lnTo>
                    <a:pt x="1472630" y="163098"/>
                  </a:lnTo>
                  <a:lnTo>
                    <a:pt x="1472630" y="415144"/>
                  </a:lnTo>
                  <a:lnTo>
                    <a:pt x="1469773" y="444813"/>
                  </a:lnTo>
                  <a:lnTo>
                    <a:pt x="1469699" y="445240"/>
                  </a:lnTo>
                  <a:lnTo>
                    <a:pt x="1469624" y="445412"/>
                  </a:lnTo>
                  <a:lnTo>
                    <a:pt x="1469562" y="446039"/>
                  </a:lnTo>
                  <a:lnTo>
                    <a:pt x="1469396" y="446039"/>
                  </a:lnTo>
                  <a:lnTo>
                    <a:pt x="1461187" y="473114"/>
                  </a:lnTo>
                  <a:lnTo>
                    <a:pt x="1460901" y="473668"/>
                  </a:lnTo>
                  <a:lnTo>
                    <a:pt x="1460713" y="474277"/>
                  </a:lnTo>
                  <a:lnTo>
                    <a:pt x="1460552" y="474277"/>
                  </a:lnTo>
                  <a:lnTo>
                    <a:pt x="1446890" y="499293"/>
                  </a:lnTo>
                  <a:lnTo>
                    <a:pt x="1447282" y="498818"/>
                  </a:lnTo>
                  <a:lnTo>
                    <a:pt x="1461535" y="498818"/>
                  </a:lnTo>
                  <a:lnTo>
                    <a:pt x="1472617" y="478567"/>
                  </a:lnTo>
                  <a:lnTo>
                    <a:pt x="1473936" y="474277"/>
                  </a:lnTo>
                  <a:lnTo>
                    <a:pt x="1460713" y="474277"/>
                  </a:lnTo>
                  <a:lnTo>
                    <a:pt x="1460962" y="473668"/>
                  </a:lnTo>
                  <a:lnTo>
                    <a:pt x="1474123" y="473668"/>
                  </a:lnTo>
                  <a:lnTo>
                    <a:pt x="1482045" y="447898"/>
                  </a:lnTo>
                  <a:lnTo>
                    <a:pt x="1482230" y="446039"/>
                  </a:lnTo>
                  <a:lnTo>
                    <a:pt x="1469562" y="446039"/>
                  </a:lnTo>
                  <a:lnTo>
                    <a:pt x="1469670" y="445412"/>
                  </a:lnTo>
                  <a:lnTo>
                    <a:pt x="1482293" y="445412"/>
                  </a:lnTo>
                  <a:lnTo>
                    <a:pt x="1485311" y="415144"/>
                  </a:lnTo>
                  <a:lnTo>
                    <a:pt x="1485311" y="163098"/>
                  </a:lnTo>
                  <a:lnTo>
                    <a:pt x="1482353" y="133429"/>
                  </a:lnTo>
                  <a:lnTo>
                    <a:pt x="1482230" y="132204"/>
                  </a:lnTo>
                  <a:close/>
                </a:path>
                <a:path w="1485900" h="578485">
                  <a:moveTo>
                    <a:pt x="24421" y="473668"/>
                  </a:moveTo>
                  <a:lnTo>
                    <a:pt x="24609" y="474277"/>
                  </a:lnTo>
                  <a:lnTo>
                    <a:pt x="24754" y="474277"/>
                  </a:lnTo>
                  <a:lnTo>
                    <a:pt x="24421" y="473668"/>
                  </a:lnTo>
                  <a:close/>
                </a:path>
                <a:path w="1485900" h="578485">
                  <a:moveTo>
                    <a:pt x="24250" y="473114"/>
                  </a:moveTo>
                  <a:lnTo>
                    <a:pt x="24118" y="473114"/>
                  </a:lnTo>
                  <a:lnTo>
                    <a:pt x="24421" y="473668"/>
                  </a:lnTo>
                  <a:lnTo>
                    <a:pt x="24250" y="473114"/>
                  </a:lnTo>
                  <a:close/>
                </a:path>
                <a:path w="1485900" h="578485">
                  <a:moveTo>
                    <a:pt x="15708" y="445412"/>
                  </a:moveTo>
                  <a:lnTo>
                    <a:pt x="15770" y="446039"/>
                  </a:lnTo>
                  <a:lnTo>
                    <a:pt x="15901" y="446039"/>
                  </a:lnTo>
                  <a:lnTo>
                    <a:pt x="15708" y="445412"/>
                  </a:lnTo>
                  <a:close/>
                </a:path>
                <a:path w="1485900" h="578485">
                  <a:moveTo>
                    <a:pt x="15901" y="132204"/>
                  </a:moveTo>
                  <a:lnTo>
                    <a:pt x="15770" y="132204"/>
                  </a:lnTo>
                  <a:lnTo>
                    <a:pt x="15708" y="132830"/>
                  </a:lnTo>
                  <a:lnTo>
                    <a:pt x="15901" y="132204"/>
                  </a:lnTo>
                  <a:close/>
                </a:path>
                <a:path w="1485900" h="578485">
                  <a:moveTo>
                    <a:pt x="1473936" y="103965"/>
                  </a:moveTo>
                  <a:lnTo>
                    <a:pt x="1460713" y="103965"/>
                  </a:lnTo>
                  <a:lnTo>
                    <a:pt x="1469588" y="132830"/>
                  </a:lnTo>
                  <a:lnTo>
                    <a:pt x="1469562" y="132204"/>
                  </a:lnTo>
                  <a:lnTo>
                    <a:pt x="1482230" y="132204"/>
                  </a:lnTo>
                  <a:lnTo>
                    <a:pt x="1482045" y="130344"/>
                  </a:lnTo>
                  <a:lnTo>
                    <a:pt x="1473936" y="103965"/>
                  </a:lnTo>
                  <a:close/>
                </a:path>
                <a:path w="1485900" h="578485">
                  <a:moveTo>
                    <a:pt x="24401" y="104640"/>
                  </a:moveTo>
                  <a:lnTo>
                    <a:pt x="24118" y="105128"/>
                  </a:lnTo>
                  <a:lnTo>
                    <a:pt x="24250" y="105128"/>
                  </a:lnTo>
                  <a:lnTo>
                    <a:pt x="24401" y="104640"/>
                  </a:lnTo>
                  <a:close/>
                </a:path>
                <a:path w="1485900" h="578485">
                  <a:moveTo>
                    <a:pt x="24754" y="103965"/>
                  </a:moveTo>
                  <a:lnTo>
                    <a:pt x="24609" y="103965"/>
                  </a:lnTo>
                  <a:lnTo>
                    <a:pt x="24401" y="104640"/>
                  </a:lnTo>
                  <a:lnTo>
                    <a:pt x="24754" y="103965"/>
                  </a:lnTo>
                  <a:close/>
                </a:path>
                <a:path w="1485900" h="578485">
                  <a:moveTo>
                    <a:pt x="1460979" y="78414"/>
                  </a:moveTo>
                  <a:lnTo>
                    <a:pt x="1446598" y="78414"/>
                  </a:lnTo>
                  <a:lnTo>
                    <a:pt x="1446900" y="78968"/>
                  </a:lnTo>
                  <a:lnTo>
                    <a:pt x="1447282" y="79425"/>
                  </a:lnTo>
                  <a:lnTo>
                    <a:pt x="1447150" y="79425"/>
                  </a:lnTo>
                  <a:lnTo>
                    <a:pt x="1460921" y="104640"/>
                  </a:lnTo>
                  <a:lnTo>
                    <a:pt x="1460713" y="103965"/>
                  </a:lnTo>
                  <a:lnTo>
                    <a:pt x="1473936" y="103965"/>
                  </a:lnTo>
                  <a:lnTo>
                    <a:pt x="1472617" y="99675"/>
                  </a:lnTo>
                  <a:lnTo>
                    <a:pt x="1461532" y="79425"/>
                  </a:lnTo>
                  <a:lnTo>
                    <a:pt x="1447282" y="79425"/>
                  </a:lnTo>
                  <a:lnTo>
                    <a:pt x="1446973" y="78968"/>
                  </a:lnTo>
                  <a:lnTo>
                    <a:pt x="1461283" y="78968"/>
                  </a:lnTo>
                  <a:lnTo>
                    <a:pt x="1460979" y="78414"/>
                  </a:lnTo>
                  <a:close/>
                </a:path>
                <a:path w="1485900" h="578485">
                  <a:moveTo>
                    <a:pt x="38431" y="78968"/>
                  </a:moveTo>
                  <a:lnTo>
                    <a:pt x="38044" y="79425"/>
                  </a:lnTo>
                  <a:lnTo>
                    <a:pt x="38181" y="79425"/>
                  </a:lnTo>
                  <a:lnTo>
                    <a:pt x="38431" y="78968"/>
                  </a:lnTo>
                  <a:close/>
                </a:path>
                <a:path w="1485900" h="578485">
                  <a:moveTo>
                    <a:pt x="38889" y="78414"/>
                  </a:moveTo>
                  <a:lnTo>
                    <a:pt x="38734" y="78414"/>
                  </a:lnTo>
                  <a:lnTo>
                    <a:pt x="38431" y="78968"/>
                  </a:lnTo>
                  <a:lnTo>
                    <a:pt x="38889" y="78414"/>
                  </a:lnTo>
                  <a:close/>
                </a:path>
                <a:path w="1485900" h="578485">
                  <a:moveTo>
                    <a:pt x="1444361" y="56257"/>
                  </a:moveTo>
                  <a:lnTo>
                    <a:pt x="1427900" y="56257"/>
                  </a:lnTo>
                  <a:lnTo>
                    <a:pt x="1428265" y="56670"/>
                  </a:lnTo>
                  <a:lnTo>
                    <a:pt x="1428742" y="57063"/>
                  </a:lnTo>
                  <a:lnTo>
                    <a:pt x="1428574" y="57063"/>
                  </a:lnTo>
                  <a:lnTo>
                    <a:pt x="1446900" y="78968"/>
                  </a:lnTo>
                  <a:lnTo>
                    <a:pt x="1446598" y="78414"/>
                  </a:lnTo>
                  <a:lnTo>
                    <a:pt x="1460979" y="78414"/>
                  </a:lnTo>
                  <a:lnTo>
                    <a:pt x="1457395" y="71866"/>
                  </a:lnTo>
                  <a:lnTo>
                    <a:pt x="1445034" y="57063"/>
                  </a:lnTo>
                  <a:lnTo>
                    <a:pt x="1428742" y="57063"/>
                  </a:lnTo>
                  <a:lnTo>
                    <a:pt x="1428331" y="56670"/>
                  </a:lnTo>
                  <a:lnTo>
                    <a:pt x="1444706" y="56670"/>
                  </a:lnTo>
                  <a:lnTo>
                    <a:pt x="1444361" y="56257"/>
                  </a:lnTo>
                  <a:close/>
                </a:path>
                <a:path w="1485900" h="578485">
                  <a:moveTo>
                    <a:pt x="57055" y="56670"/>
                  </a:moveTo>
                  <a:lnTo>
                    <a:pt x="56578" y="57063"/>
                  </a:lnTo>
                  <a:lnTo>
                    <a:pt x="56726" y="57063"/>
                  </a:lnTo>
                  <a:lnTo>
                    <a:pt x="57055" y="56670"/>
                  </a:lnTo>
                  <a:close/>
                </a:path>
                <a:path w="1485900" h="578485">
                  <a:moveTo>
                    <a:pt x="57555" y="56257"/>
                  </a:moveTo>
                  <a:lnTo>
                    <a:pt x="57400" y="56257"/>
                  </a:lnTo>
                  <a:lnTo>
                    <a:pt x="57055" y="56670"/>
                  </a:lnTo>
                  <a:lnTo>
                    <a:pt x="57555" y="56257"/>
                  </a:lnTo>
                  <a:close/>
                </a:path>
                <a:path w="1485900" h="578485">
                  <a:moveTo>
                    <a:pt x="1405409" y="37819"/>
                  </a:moveTo>
                  <a:lnTo>
                    <a:pt x="1428265" y="56670"/>
                  </a:lnTo>
                  <a:lnTo>
                    <a:pt x="1427900" y="56257"/>
                  </a:lnTo>
                  <a:lnTo>
                    <a:pt x="1444361" y="56257"/>
                  </a:lnTo>
                  <a:lnTo>
                    <a:pt x="1437275" y="47771"/>
                  </a:lnTo>
                  <a:lnTo>
                    <a:pt x="1426049" y="38499"/>
                  </a:lnTo>
                  <a:lnTo>
                    <a:pt x="1406463" y="38499"/>
                  </a:lnTo>
                  <a:lnTo>
                    <a:pt x="1405409" y="37819"/>
                  </a:lnTo>
                  <a:close/>
                </a:path>
                <a:path w="1485900" h="578485">
                  <a:moveTo>
                    <a:pt x="79423" y="38200"/>
                  </a:moveTo>
                  <a:lnTo>
                    <a:pt x="78868" y="38499"/>
                  </a:lnTo>
                  <a:lnTo>
                    <a:pt x="79060" y="38499"/>
                  </a:lnTo>
                  <a:lnTo>
                    <a:pt x="79423" y="38200"/>
                  </a:lnTo>
                  <a:close/>
                </a:path>
                <a:path w="1485900" h="578485">
                  <a:moveTo>
                    <a:pt x="1425224" y="37819"/>
                  </a:moveTo>
                  <a:lnTo>
                    <a:pt x="1405409" y="37819"/>
                  </a:lnTo>
                  <a:lnTo>
                    <a:pt x="1405908" y="38200"/>
                  </a:lnTo>
                  <a:lnTo>
                    <a:pt x="1406463" y="38499"/>
                  </a:lnTo>
                  <a:lnTo>
                    <a:pt x="1426049" y="38499"/>
                  </a:lnTo>
                  <a:lnTo>
                    <a:pt x="1425224" y="37819"/>
                  </a:lnTo>
                  <a:close/>
                </a:path>
                <a:path w="1485900" h="578485">
                  <a:moveTo>
                    <a:pt x="80129" y="37819"/>
                  </a:moveTo>
                  <a:lnTo>
                    <a:pt x="79885" y="37819"/>
                  </a:lnTo>
                  <a:lnTo>
                    <a:pt x="79423" y="38200"/>
                  </a:lnTo>
                  <a:lnTo>
                    <a:pt x="80129" y="37819"/>
                  </a:lnTo>
                  <a:close/>
                </a:path>
                <a:path w="1485900" h="578485">
                  <a:moveTo>
                    <a:pt x="1380101" y="24260"/>
                  </a:moveTo>
                  <a:lnTo>
                    <a:pt x="1405908" y="38200"/>
                  </a:lnTo>
                  <a:lnTo>
                    <a:pt x="1405409" y="37819"/>
                  </a:lnTo>
                  <a:lnTo>
                    <a:pt x="1425224" y="37819"/>
                  </a:lnTo>
                  <a:lnTo>
                    <a:pt x="1413046" y="27761"/>
                  </a:lnTo>
                  <a:lnTo>
                    <a:pt x="1406950" y="24461"/>
                  </a:lnTo>
                  <a:lnTo>
                    <a:pt x="1380759" y="24461"/>
                  </a:lnTo>
                  <a:lnTo>
                    <a:pt x="1380101" y="24260"/>
                  </a:lnTo>
                  <a:close/>
                </a:path>
                <a:path w="1485900" h="578485">
                  <a:moveTo>
                    <a:pt x="105730" y="23990"/>
                  </a:moveTo>
                  <a:lnTo>
                    <a:pt x="104561" y="24461"/>
                  </a:lnTo>
                  <a:lnTo>
                    <a:pt x="105219" y="24260"/>
                  </a:lnTo>
                  <a:lnTo>
                    <a:pt x="105730" y="23990"/>
                  </a:lnTo>
                  <a:close/>
                </a:path>
                <a:path w="1485900" h="578485">
                  <a:moveTo>
                    <a:pt x="105230" y="24260"/>
                  </a:moveTo>
                  <a:lnTo>
                    <a:pt x="104561" y="24461"/>
                  </a:lnTo>
                  <a:lnTo>
                    <a:pt x="104858" y="24461"/>
                  </a:lnTo>
                  <a:lnTo>
                    <a:pt x="105230" y="24260"/>
                  </a:lnTo>
                  <a:close/>
                </a:path>
                <a:path w="1485900" h="578485">
                  <a:moveTo>
                    <a:pt x="1379601" y="23990"/>
                  </a:moveTo>
                  <a:lnTo>
                    <a:pt x="1380101" y="24260"/>
                  </a:lnTo>
                  <a:lnTo>
                    <a:pt x="1380759" y="24461"/>
                  </a:lnTo>
                  <a:lnTo>
                    <a:pt x="1379601" y="23990"/>
                  </a:lnTo>
                  <a:close/>
                </a:path>
                <a:path w="1485900" h="578485">
                  <a:moveTo>
                    <a:pt x="1406079" y="23990"/>
                  </a:moveTo>
                  <a:lnTo>
                    <a:pt x="1379601" y="23990"/>
                  </a:lnTo>
                  <a:lnTo>
                    <a:pt x="1380759" y="24461"/>
                  </a:lnTo>
                  <a:lnTo>
                    <a:pt x="1406950" y="24461"/>
                  </a:lnTo>
                  <a:lnTo>
                    <a:pt x="1406079" y="23990"/>
                  </a:lnTo>
                  <a:close/>
                </a:path>
                <a:path w="1485900" h="578485">
                  <a:moveTo>
                    <a:pt x="106102" y="23990"/>
                  </a:moveTo>
                  <a:lnTo>
                    <a:pt x="105730" y="23990"/>
                  </a:lnTo>
                  <a:lnTo>
                    <a:pt x="105230" y="24260"/>
                  </a:lnTo>
                  <a:lnTo>
                    <a:pt x="106102" y="23990"/>
                  </a:lnTo>
                  <a:close/>
                </a:path>
                <a:path w="1485900" h="578485">
                  <a:moveTo>
                    <a:pt x="1351106" y="15399"/>
                  </a:moveTo>
                  <a:lnTo>
                    <a:pt x="1380101" y="24260"/>
                  </a:lnTo>
                  <a:lnTo>
                    <a:pt x="1379601" y="23990"/>
                  </a:lnTo>
                  <a:lnTo>
                    <a:pt x="1406079" y="23990"/>
                  </a:lnTo>
                  <a:lnTo>
                    <a:pt x="1390691" y="15661"/>
                  </a:lnTo>
                  <a:lnTo>
                    <a:pt x="1352370" y="15661"/>
                  </a:lnTo>
                  <a:lnTo>
                    <a:pt x="1351106" y="15399"/>
                  </a:lnTo>
                  <a:close/>
                </a:path>
                <a:path w="1485900" h="578485">
                  <a:moveTo>
                    <a:pt x="134188" y="15399"/>
                  </a:moveTo>
                  <a:lnTo>
                    <a:pt x="132956" y="15661"/>
                  </a:lnTo>
                  <a:lnTo>
                    <a:pt x="133332" y="15661"/>
                  </a:lnTo>
                  <a:lnTo>
                    <a:pt x="134188" y="15399"/>
                  </a:lnTo>
                  <a:close/>
                </a:path>
                <a:path w="1485900" h="578485">
                  <a:moveTo>
                    <a:pt x="135622" y="15399"/>
                  </a:moveTo>
                  <a:lnTo>
                    <a:pt x="134188" y="15399"/>
                  </a:lnTo>
                  <a:lnTo>
                    <a:pt x="133332" y="15661"/>
                  </a:lnTo>
                  <a:lnTo>
                    <a:pt x="132956" y="15661"/>
                  </a:lnTo>
                  <a:lnTo>
                    <a:pt x="135622" y="15399"/>
                  </a:lnTo>
                  <a:close/>
                </a:path>
                <a:path w="1485900" h="578485">
                  <a:moveTo>
                    <a:pt x="1385078" y="12623"/>
                  </a:moveTo>
                  <a:lnTo>
                    <a:pt x="1321414" y="12623"/>
                  </a:lnTo>
                  <a:lnTo>
                    <a:pt x="1352370" y="15661"/>
                  </a:lnTo>
                  <a:lnTo>
                    <a:pt x="1351963" y="15661"/>
                  </a:lnTo>
                  <a:lnTo>
                    <a:pt x="1351106" y="15399"/>
                  </a:lnTo>
                  <a:lnTo>
                    <a:pt x="1390207" y="15399"/>
                  </a:lnTo>
                  <a:lnTo>
                    <a:pt x="1385078" y="12623"/>
                  </a:lnTo>
                  <a:close/>
                </a:path>
                <a:path w="1485900" h="578485">
                  <a:moveTo>
                    <a:pt x="1390207" y="15399"/>
                  </a:moveTo>
                  <a:lnTo>
                    <a:pt x="1351106" y="15399"/>
                  </a:lnTo>
                  <a:lnTo>
                    <a:pt x="1352370" y="15661"/>
                  </a:lnTo>
                  <a:lnTo>
                    <a:pt x="1390691" y="15661"/>
                  </a:lnTo>
                  <a:lnTo>
                    <a:pt x="1390207" y="15399"/>
                  </a:lnTo>
                  <a:close/>
                </a:path>
              </a:pathLst>
            </a:custGeom>
            <a:solidFill>
              <a:srgbClr val="FFFFFF">
                <a:alpha val="3960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53012" y="6044325"/>
              <a:ext cx="512445" cy="257810"/>
            </a:xfrm>
            <a:custGeom>
              <a:avLst/>
              <a:gdLst/>
              <a:ahLst/>
              <a:cxnLst/>
              <a:rect l="l" t="t" r="r" b="b"/>
              <a:pathLst>
                <a:path w="512444" h="257810">
                  <a:moveTo>
                    <a:pt x="442433" y="0"/>
                  </a:moveTo>
                  <a:lnTo>
                    <a:pt x="69525" y="0"/>
                  </a:lnTo>
                  <a:lnTo>
                    <a:pt x="42463" y="5433"/>
                  </a:lnTo>
                  <a:lnTo>
                    <a:pt x="20363" y="20251"/>
                  </a:lnTo>
                  <a:lnTo>
                    <a:pt x="5463" y="42229"/>
                  </a:lnTo>
                  <a:lnTo>
                    <a:pt x="0" y="69142"/>
                  </a:lnTo>
                  <a:lnTo>
                    <a:pt x="0" y="188571"/>
                  </a:lnTo>
                  <a:lnTo>
                    <a:pt x="5463" y="215484"/>
                  </a:lnTo>
                  <a:lnTo>
                    <a:pt x="20363" y="237462"/>
                  </a:lnTo>
                  <a:lnTo>
                    <a:pt x="42463" y="252280"/>
                  </a:lnTo>
                  <a:lnTo>
                    <a:pt x="69525" y="257713"/>
                  </a:lnTo>
                  <a:lnTo>
                    <a:pt x="442433" y="257713"/>
                  </a:lnTo>
                  <a:lnTo>
                    <a:pt x="469495" y="252280"/>
                  </a:lnTo>
                  <a:lnTo>
                    <a:pt x="491594" y="237462"/>
                  </a:lnTo>
                  <a:lnTo>
                    <a:pt x="506494" y="215484"/>
                  </a:lnTo>
                  <a:lnTo>
                    <a:pt x="511958" y="188571"/>
                  </a:lnTo>
                  <a:lnTo>
                    <a:pt x="511958" y="69142"/>
                  </a:lnTo>
                  <a:lnTo>
                    <a:pt x="506494" y="42229"/>
                  </a:lnTo>
                  <a:lnTo>
                    <a:pt x="491594" y="20251"/>
                  </a:lnTo>
                  <a:lnTo>
                    <a:pt x="469495" y="5433"/>
                  </a:lnTo>
                  <a:lnTo>
                    <a:pt x="4424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5711" y="507491"/>
              <a:ext cx="5873495" cy="1142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367186" y="610031"/>
              <a:ext cx="441325" cy="214629"/>
            </a:xfrm>
            <a:custGeom>
              <a:avLst/>
              <a:gdLst/>
              <a:ahLst/>
              <a:cxnLst/>
              <a:rect l="l" t="t" r="r" b="b"/>
              <a:pathLst>
                <a:path w="441325" h="214630">
                  <a:moveTo>
                    <a:pt x="213283" y="0"/>
                  </a:moveTo>
                  <a:lnTo>
                    <a:pt x="0" y="0"/>
                  </a:lnTo>
                  <a:lnTo>
                    <a:pt x="0" y="214312"/>
                  </a:lnTo>
                  <a:lnTo>
                    <a:pt x="213283" y="214325"/>
                  </a:lnTo>
                  <a:lnTo>
                    <a:pt x="213283" y="0"/>
                  </a:lnTo>
                  <a:close/>
                </a:path>
                <a:path w="441325" h="214630">
                  <a:moveTo>
                    <a:pt x="440791" y="0"/>
                  </a:moveTo>
                  <a:lnTo>
                    <a:pt x="227495" y="0"/>
                  </a:lnTo>
                  <a:lnTo>
                    <a:pt x="227495" y="214325"/>
                  </a:lnTo>
                  <a:lnTo>
                    <a:pt x="440791" y="214325"/>
                  </a:lnTo>
                  <a:lnTo>
                    <a:pt x="440791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367189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A40D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594693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424056" y="410019"/>
              <a:ext cx="341630" cy="371475"/>
            </a:xfrm>
            <a:custGeom>
              <a:avLst/>
              <a:gdLst/>
              <a:ahLst/>
              <a:cxnLst/>
              <a:rect l="l" t="t" r="r" b="b"/>
              <a:pathLst>
                <a:path w="341629" h="371475">
                  <a:moveTo>
                    <a:pt x="85318" y="242887"/>
                  </a:moveTo>
                  <a:lnTo>
                    <a:pt x="0" y="242887"/>
                  </a:lnTo>
                  <a:lnTo>
                    <a:pt x="0" y="371475"/>
                  </a:lnTo>
                  <a:lnTo>
                    <a:pt x="17284" y="371475"/>
                  </a:lnTo>
                  <a:lnTo>
                    <a:pt x="17284" y="319481"/>
                  </a:lnTo>
                  <a:lnTo>
                    <a:pt x="77914" y="319481"/>
                  </a:lnTo>
                  <a:lnTo>
                    <a:pt x="77914" y="303682"/>
                  </a:lnTo>
                  <a:lnTo>
                    <a:pt x="17284" y="303682"/>
                  </a:lnTo>
                  <a:lnTo>
                    <a:pt x="17284" y="258851"/>
                  </a:lnTo>
                  <a:lnTo>
                    <a:pt x="85318" y="258851"/>
                  </a:lnTo>
                  <a:lnTo>
                    <a:pt x="85318" y="242887"/>
                  </a:lnTo>
                  <a:close/>
                </a:path>
                <a:path w="341629" h="371475">
                  <a:moveTo>
                    <a:pt x="85318" y="92837"/>
                  </a:moveTo>
                  <a:lnTo>
                    <a:pt x="74828" y="68681"/>
                  </a:lnTo>
                  <a:lnTo>
                    <a:pt x="51752" y="58229"/>
                  </a:lnTo>
                  <a:lnTo>
                    <a:pt x="28689" y="50673"/>
                  </a:lnTo>
                  <a:lnTo>
                    <a:pt x="18199" y="35217"/>
                  </a:lnTo>
                  <a:lnTo>
                    <a:pt x="19748" y="27482"/>
                  </a:lnTo>
                  <a:lnTo>
                    <a:pt x="24587" y="21145"/>
                  </a:lnTo>
                  <a:lnTo>
                    <a:pt x="32956" y="16852"/>
                  </a:lnTo>
                  <a:lnTo>
                    <a:pt x="45110" y="15278"/>
                  </a:lnTo>
                  <a:lnTo>
                    <a:pt x="52641" y="15887"/>
                  </a:lnTo>
                  <a:lnTo>
                    <a:pt x="60363" y="17754"/>
                  </a:lnTo>
                  <a:lnTo>
                    <a:pt x="68072" y="20942"/>
                  </a:lnTo>
                  <a:lnTo>
                    <a:pt x="75514" y="25488"/>
                  </a:lnTo>
                  <a:lnTo>
                    <a:pt x="80746" y="11112"/>
                  </a:lnTo>
                  <a:lnTo>
                    <a:pt x="73126" y="6350"/>
                  </a:lnTo>
                  <a:lnTo>
                    <a:pt x="64338" y="2870"/>
                  </a:lnTo>
                  <a:lnTo>
                    <a:pt x="54851" y="723"/>
                  </a:lnTo>
                  <a:lnTo>
                    <a:pt x="45110" y="0"/>
                  </a:lnTo>
                  <a:lnTo>
                    <a:pt x="26200" y="2882"/>
                  </a:lnTo>
                  <a:lnTo>
                    <a:pt x="12979" y="10680"/>
                  </a:lnTo>
                  <a:lnTo>
                    <a:pt x="5219" y="22110"/>
                  </a:lnTo>
                  <a:lnTo>
                    <a:pt x="2692" y="35915"/>
                  </a:lnTo>
                  <a:lnTo>
                    <a:pt x="13182" y="60337"/>
                  </a:lnTo>
                  <a:lnTo>
                    <a:pt x="36245" y="70904"/>
                  </a:lnTo>
                  <a:lnTo>
                    <a:pt x="59321" y="78460"/>
                  </a:lnTo>
                  <a:lnTo>
                    <a:pt x="69811" y="93891"/>
                  </a:lnTo>
                  <a:lnTo>
                    <a:pt x="68224" y="101549"/>
                  </a:lnTo>
                  <a:lnTo>
                    <a:pt x="63296" y="107708"/>
                  </a:lnTo>
                  <a:lnTo>
                    <a:pt x="54775" y="111810"/>
                  </a:lnTo>
                  <a:lnTo>
                    <a:pt x="42418" y="113296"/>
                  </a:lnTo>
                  <a:lnTo>
                    <a:pt x="31864" y="112217"/>
                  </a:lnTo>
                  <a:lnTo>
                    <a:pt x="21894" y="109194"/>
                  </a:lnTo>
                  <a:lnTo>
                    <a:pt x="13042" y="104597"/>
                  </a:lnTo>
                  <a:lnTo>
                    <a:pt x="5842" y="98755"/>
                  </a:lnTo>
                  <a:lnTo>
                    <a:pt x="0" y="112763"/>
                  </a:lnTo>
                  <a:lnTo>
                    <a:pt x="7988" y="119176"/>
                  </a:lnTo>
                  <a:lnTo>
                    <a:pt x="18186" y="124180"/>
                  </a:lnTo>
                  <a:lnTo>
                    <a:pt x="29908" y="127431"/>
                  </a:lnTo>
                  <a:lnTo>
                    <a:pt x="42418" y="128587"/>
                  </a:lnTo>
                  <a:lnTo>
                    <a:pt x="61480" y="125691"/>
                  </a:lnTo>
                  <a:lnTo>
                    <a:pt x="74853" y="117906"/>
                  </a:lnTo>
                  <a:lnTo>
                    <a:pt x="82727" y="106514"/>
                  </a:lnTo>
                  <a:lnTo>
                    <a:pt x="85318" y="92837"/>
                  </a:lnTo>
                  <a:close/>
                </a:path>
                <a:path w="341629" h="371475">
                  <a:moveTo>
                    <a:pt x="327037" y="355511"/>
                  </a:moveTo>
                  <a:lnTo>
                    <a:pt x="259549" y="355511"/>
                  </a:lnTo>
                  <a:lnTo>
                    <a:pt x="259549" y="242938"/>
                  </a:lnTo>
                  <a:lnTo>
                    <a:pt x="241731" y="242938"/>
                  </a:lnTo>
                  <a:lnTo>
                    <a:pt x="241731" y="371475"/>
                  </a:lnTo>
                  <a:lnTo>
                    <a:pt x="327037" y="371475"/>
                  </a:lnTo>
                  <a:lnTo>
                    <a:pt x="327037" y="355511"/>
                  </a:lnTo>
                  <a:close/>
                </a:path>
                <a:path w="341629" h="371475">
                  <a:moveTo>
                    <a:pt x="341261" y="64287"/>
                  </a:moveTo>
                  <a:lnTo>
                    <a:pt x="336499" y="38709"/>
                  </a:lnTo>
                  <a:lnTo>
                    <a:pt x="324065" y="19596"/>
                  </a:lnTo>
                  <a:lnTo>
                    <a:pt x="324065" y="64287"/>
                  </a:lnTo>
                  <a:lnTo>
                    <a:pt x="320573" y="83591"/>
                  </a:lnTo>
                  <a:lnTo>
                    <a:pt x="310870" y="98894"/>
                  </a:lnTo>
                  <a:lnTo>
                    <a:pt x="296100" y="108966"/>
                  </a:lnTo>
                  <a:lnTo>
                    <a:pt x="277431" y="112598"/>
                  </a:lnTo>
                  <a:lnTo>
                    <a:pt x="258724" y="108966"/>
                  </a:lnTo>
                  <a:lnTo>
                    <a:pt x="243852" y="98894"/>
                  </a:lnTo>
                  <a:lnTo>
                    <a:pt x="234035" y="83591"/>
                  </a:lnTo>
                  <a:lnTo>
                    <a:pt x="230492" y="64287"/>
                  </a:lnTo>
                  <a:lnTo>
                    <a:pt x="234073" y="44996"/>
                  </a:lnTo>
                  <a:lnTo>
                    <a:pt x="243967" y="29692"/>
                  </a:lnTo>
                  <a:lnTo>
                    <a:pt x="258851" y="19608"/>
                  </a:lnTo>
                  <a:lnTo>
                    <a:pt x="277431" y="15976"/>
                  </a:lnTo>
                  <a:lnTo>
                    <a:pt x="295960" y="19608"/>
                  </a:lnTo>
                  <a:lnTo>
                    <a:pt x="310743" y="29692"/>
                  </a:lnTo>
                  <a:lnTo>
                    <a:pt x="320522" y="44996"/>
                  </a:lnTo>
                  <a:lnTo>
                    <a:pt x="324065" y="64287"/>
                  </a:lnTo>
                  <a:lnTo>
                    <a:pt x="324065" y="19596"/>
                  </a:lnTo>
                  <a:lnTo>
                    <a:pt x="323253" y="18338"/>
                  </a:lnTo>
                  <a:lnTo>
                    <a:pt x="319747" y="15976"/>
                  </a:lnTo>
                  <a:lnTo>
                    <a:pt x="303034" y="4864"/>
                  </a:lnTo>
                  <a:lnTo>
                    <a:pt x="277431" y="0"/>
                  </a:lnTo>
                  <a:lnTo>
                    <a:pt x="251815" y="4864"/>
                  </a:lnTo>
                  <a:lnTo>
                    <a:pt x="231508" y="18338"/>
                  </a:lnTo>
                  <a:lnTo>
                    <a:pt x="218122" y="38709"/>
                  </a:lnTo>
                  <a:lnTo>
                    <a:pt x="213296" y="64287"/>
                  </a:lnTo>
                  <a:lnTo>
                    <a:pt x="216966" y="83591"/>
                  </a:lnTo>
                  <a:lnTo>
                    <a:pt x="252082" y="123736"/>
                  </a:lnTo>
                  <a:lnTo>
                    <a:pt x="277431" y="128587"/>
                  </a:lnTo>
                  <a:lnTo>
                    <a:pt x="302869" y="123736"/>
                  </a:lnTo>
                  <a:lnTo>
                    <a:pt x="319633" y="112598"/>
                  </a:lnTo>
                  <a:lnTo>
                    <a:pt x="323088" y="110312"/>
                  </a:lnTo>
                  <a:lnTo>
                    <a:pt x="336435" y="89941"/>
                  </a:lnTo>
                  <a:lnTo>
                    <a:pt x="341261" y="64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47852" y="2147824"/>
            <a:ext cx="10976204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9000" spc="-610" dirty="0">
                <a:solidFill>
                  <a:srgbClr val="FFFFFF"/>
                </a:solidFill>
                <a:latin typeface="Segoe UI Semibold"/>
                <a:cs typeface="Segoe UI Semibold"/>
              </a:rPr>
              <a:t>Стратегия развития </a:t>
            </a:r>
            <a:r>
              <a:rPr lang="en" sz="9000" spc="-610" dirty="0">
                <a:solidFill>
                  <a:srgbClr val="FFFFFF"/>
                </a:solidFill>
                <a:latin typeface="Segoe UI Semibold"/>
                <a:cs typeface="Segoe UI Semibold"/>
              </a:rPr>
              <a:t>Softline Cloud</a:t>
            </a:r>
            <a:endParaRPr lang="ru-RU" sz="9000" spc="-610" dirty="0">
              <a:solidFill>
                <a:srgbClr val="FFFFFF"/>
              </a:solidFill>
              <a:latin typeface="Segoe UI Semibold"/>
              <a:cs typeface="Segoe UI Semibold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5531" y="6072022"/>
            <a:ext cx="64709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1100" spc="-25" dirty="0">
                <a:solidFill>
                  <a:srgbClr val="FFFFFF"/>
                </a:solidFill>
                <a:latin typeface="Segoe UI Semibold"/>
                <a:cs typeface="Segoe UI Semibold"/>
              </a:rPr>
              <a:t>Октябрь</a:t>
            </a:r>
            <a:endParaRPr sz="1100" dirty="0">
              <a:latin typeface="Segoe UI Semibold"/>
              <a:cs typeface="Segoe UI Semibol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42771" y="6072022"/>
            <a:ext cx="33718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0" dirty="0">
                <a:solidFill>
                  <a:srgbClr val="0D0003"/>
                </a:solidFill>
                <a:latin typeface="Segoe UI Semibold"/>
                <a:cs typeface="Segoe UI Semibold"/>
              </a:rPr>
              <a:t>2025</a:t>
            </a:r>
            <a:endParaRPr sz="1100">
              <a:latin typeface="Segoe UI Semibold"/>
              <a:cs typeface="Segoe UI Semibold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55850" y="5969609"/>
            <a:ext cx="268732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FFFFFF"/>
                </a:solidFill>
                <a:latin typeface="Segoe UI Semibold"/>
                <a:cs typeface="Segoe UI Semibold"/>
              </a:rPr>
              <a:t>ПАО </a:t>
            </a:r>
            <a:r>
              <a:rPr sz="23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«СОФТЛАЙН»</a:t>
            </a:r>
            <a:endParaRPr sz="2300" dirty="0">
              <a:latin typeface="Segoe UI Semibold"/>
              <a:cs typeface="Segoe UI Semibol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8300" y="406654"/>
            <a:ext cx="4794885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1300" b="1" dirty="0">
                <a:solidFill>
                  <a:srgbClr val="FFFFFF"/>
                </a:solidFill>
                <a:latin typeface="Segoe UI"/>
                <a:cs typeface="Segoe UI"/>
              </a:rPr>
              <a:t>ОБЛАКО </a:t>
            </a:r>
            <a:r>
              <a:rPr lang="en-US" sz="1300" b="1" dirty="0">
                <a:solidFill>
                  <a:srgbClr val="FFFFFF"/>
                </a:solidFill>
                <a:latin typeface="Segoe UI"/>
                <a:cs typeface="Segoe UI"/>
              </a:rPr>
              <a:t>SOFTLINE</a:t>
            </a:r>
            <a:r>
              <a:rPr lang="en-US" sz="1300" b="1" spc="-10" dirty="0">
                <a:solidFill>
                  <a:srgbClr val="FFFFFF"/>
                </a:solidFill>
                <a:latin typeface="Segoe UI"/>
                <a:cs typeface="Segoe UI"/>
              </a:rPr>
              <a:t>:</a:t>
            </a:r>
            <a:r>
              <a:rPr lang="ru-RU" sz="1300" b="1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lang="ru-RU" sz="1300" spc="-10" dirty="0">
                <a:solidFill>
                  <a:srgbClr val="FFFFFF"/>
                </a:solidFill>
                <a:latin typeface="Segoe UI"/>
                <a:cs typeface="Segoe UI"/>
              </a:rPr>
              <a:t>УСПЕШНОЕ.</a:t>
            </a:r>
            <a:r>
              <a:rPr lang="ru-RU" sz="1300" spc="-7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lang="ru-RU" sz="1300" spc="-10" dirty="0">
                <a:solidFill>
                  <a:srgbClr val="FFFFFF"/>
                </a:solidFill>
                <a:latin typeface="Segoe UI"/>
                <a:cs typeface="Segoe UI"/>
              </a:rPr>
              <a:t>ЭФФЕКТИВНОЕ.</a:t>
            </a:r>
            <a:endParaRPr sz="1300" dirty="0">
              <a:latin typeface="Segoe UI"/>
              <a:cs typeface="Segoe UI"/>
            </a:endParaRPr>
          </a:p>
        </p:txBody>
      </p:sp>
      <p:pic>
        <p:nvPicPr>
          <p:cNvPr id="19" name="object 7">
            <a:extLst>
              <a:ext uri="{FF2B5EF4-FFF2-40B4-BE49-F238E27FC236}">
                <a16:creationId xmlns:a16="http://schemas.microsoft.com/office/drawing/2014/main" id="{457A700E-0785-E987-1D80-63541B0017F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91000" y="508185"/>
            <a:ext cx="5873495" cy="114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4631" y="367030"/>
            <a:ext cx="12192000" cy="6490970"/>
            <a:chOff x="0" y="367147"/>
            <a:chExt cx="12192000" cy="649097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87095"/>
              <a:ext cx="12191999" cy="64709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367186" y="610031"/>
              <a:ext cx="441325" cy="214629"/>
            </a:xfrm>
            <a:custGeom>
              <a:avLst/>
              <a:gdLst/>
              <a:ahLst/>
              <a:cxnLst/>
              <a:rect l="l" t="t" r="r" b="b"/>
              <a:pathLst>
                <a:path w="441325" h="214630">
                  <a:moveTo>
                    <a:pt x="213283" y="0"/>
                  </a:moveTo>
                  <a:lnTo>
                    <a:pt x="0" y="0"/>
                  </a:lnTo>
                  <a:lnTo>
                    <a:pt x="0" y="214312"/>
                  </a:lnTo>
                  <a:lnTo>
                    <a:pt x="213283" y="214325"/>
                  </a:lnTo>
                  <a:lnTo>
                    <a:pt x="213283" y="0"/>
                  </a:lnTo>
                  <a:close/>
                </a:path>
                <a:path w="441325" h="214630">
                  <a:moveTo>
                    <a:pt x="440791" y="0"/>
                  </a:moveTo>
                  <a:lnTo>
                    <a:pt x="227495" y="0"/>
                  </a:lnTo>
                  <a:lnTo>
                    <a:pt x="227495" y="214325"/>
                  </a:lnTo>
                  <a:lnTo>
                    <a:pt x="440791" y="214325"/>
                  </a:lnTo>
                  <a:lnTo>
                    <a:pt x="440791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367188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A40D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594693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24057" y="410019"/>
              <a:ext cx="341630" cy="371475"/>
            </a:xfrm>
            <a:custGeom>
              <a:avLst/>
              <a:gdLst/>
              <a:ahLst/>
              <a:cxnLst/>
              <a:rect l="l" t="t" r="r" b="b"/>
              <a:pathLst>
                <a:path w="341629" h="371475">
                  <a:moveTo>
                    <a:pt x="85318" y="242887"/>
                  </a:moveTo>
                  <a:lnTo>
                    <a:pt x="0" y="242887"/>
                  </a:lnTo>
                  <a:lnTo>
                    <a:pt x="0" y="371475"/>
                  </a:lnTo>
                  <a:lnTo>
                    <a:pt x="17284" y="371475"/>
                  </a:lnTo>
                  <a:lnTo>
                    <a:pt x="17284" y="319481"/>
                  </a:lnTo>
                  <a:lnTo>
                    <a:pt x="77914" y="319481"/>
                  </a:lnTo>
                  <a:lnTo>
                    <a:pt x="77914" y="303682"/>
                  </a:lnTo>
                  <a:lnTo>
                    <a:pt x="17284" y="303682"/>
                  </a:lnTo>
                  <a:lnTo>
                    <a:pt x="17284" y="258851"/>
                  </a:lnTo>
                  <a:lnTo>
                    <a:pt x="85318" y="258851"/>
                  </a:lnTo>
                  <a:lnTo>
                    <a:pt x="85318" y="242887"/>
                  </a:lnTo>
                  <a:close/>
                </a:path>
                <a:path w="341629" h="371475">
                  <a:moveTo>
                    <a:pt x="85318" y="92837"/>
                  </a:moveTo>
                  <a:lnTo>
                    <a:pt x="74828" y="68681"/>
                  </a:lnTo>
                  <a:lnTo>
                    <a:pt x="51752" y="58229"/>
                  </a:lnTo>
                  <a:lnTo>
                    <a:pt x="28676" y="50673"/>
                  </a:lnTo>
                  <a:lnTo>
                    <a:pt x="18199" y="35217"/>
                  </a:lnTo>
                  <a:lnTo>
                    <a:pt x="19748" y="27482"/>
                  </a:lnTo>
                  <a:lnTo>
                    <a:pt x="24587" y="21145"/>
                  </a:lnTo>
                  <a:lnTo>
                    <a:pt x="32956" y="16852"/>
                  </a:lnTo>
                  <a:lnTo>
                    <a:pt x="45110" y="15278"/>
                  </a:lnTo>
                  <a:lnTo>
                    <a:pt x="52641" y="15887"/>
                  </a:lnTo>
                  <a:lnTo>
                    <a:pt x="60363" y="17754"/>
                  </a:lnTo>
                  <a:lnTo>
                    <a:pt x="68059" y="20942"/>
                  </a:lnTo>
                  <a:lnTo>
                    <a:pt x="75514" y="25488"/>
                  </a:lnTo>
                  <a:lnTo>
                    <a:pt x="80746" y="11112"/>
                  </a:lnTo>
                  <a:lnTo>
                    <a:pt x="73126" y="6350"/>
                  </a:lnTo>
                  <a:lnTo>
                    <a:pt x="64338" y="2870"/>
                  </a:lnTo>
                  <a:lnTo>
                    <a:pt x="54851" y="723"/>
                  </a:lnTo>
                  <a:lnTo>
                    <a:pt x="45110" y="0"/>
                  </a:lnTo>
                  <a:lnTo>
                    <a:pt x="26187" y="2882"/>
                  </a:lnTo>
                  <a:lnTo>
                    <a:pt x="12979" y="10680"/>
                  </a:lnTo>
                  <a:lnTo>
                    <a:pt x="5219" y="22110"/>
                  </a:lnTo>
                  <a:lnTo>
                    <a:pt x="2692" y="35915"/>
                  </a:lnTo>
                  <a:lnTo>
                    <a:pt x="13182" y="60337"/>
                  </a:lnTo>
                  <a:lnTo>
                    <a:pt x="36245" y="70904"/>
                  </a:lnTo>
                  <a:lnTo>
                    <a:pt x="59321" y="78460"/>
                  </a:lnTo>
                  <a:lnTo>
                    <a:pt x="69811" y="93891"/>
                  </a:lnTo>
                  <a:lnTo>
                    <a:pt x="68224" y="101549"/>
                  </a:lnTo>
                  <a:lnTo>
                    <a:pt x="63296" y="107708"/>
                  </a:lnTo>
                  <a:lnTo>
                    <a:pt x="54775" y="111810"/>
                  </a:lnTo>
                  <a:lnTo>
                    <a:pt x="42418" y="113296"/>
                  </a:lnTo>
                  <a:lnTo>
                    <a:pt x="31864" y="112217"/>
                  </a:lnTo>
                  <a:lnTo>
                    <a:pt x="21894" y="109194"/>
                  </a:lnTo>
                  <a:lnTo>
                    <a:pt x="13042" y="104597"/>
                  </a:lnTo>
                  <a:lnTo>
                    <a:pt x="5842" y="98755"/>
                  </a:lnTo>
                  <a:lnTo>
                    <a:pt x="0" y="112763"/>
                  </a:lnTo>
                  <a:lnTo>
                    <a:pt x="7988" y="119176"/>
                  </a:lnTo>
                  <a:lnTo>
                    <a:pt x="18186" y="124180"/>
                  </a:lnTo>
                  <a:lnTo>
                    <a:pt x="29908" y="127431"/>
                  </a:lnTo>
                  <a:lnTo>
                    <a:pt x="42418" y="128587"/>
                  </a:lnTo>
                  <a:lnTo>
                    <a:pt x="61468" y="125691"/>
                  </a:lnTo>
                  <a:lnTo>
                    <a:pt x="74841" y="117906"/>
                  </a:lnTo>
                  <a:lnTo>
                    <a:pt x="82727" y="106514"/>
                  </a:lnTo>
                  <a:lnTo>
                    <a:pt x="85318" y="92837"/>
                  </a:lnTo>
                  <a:close/>
                </a:path>
                <a:path w="341629" h="371475">
                  <a:moveTo>
                    <a:pt x="327037" y="355511"/>
                  </a:moveTo>
                  <a:lnTo>
                    <a:pt x="259549" y="355511"/>
                  </a:lnTo>
                  <a:lnTo>
                    <a:pt x="259549" y="242938"/>
                  </a:lnTo>
                  <a:lnTo>
                    <a:pt x="241731" y="242938"/>
                  </a:lnTo>
                  <a:lnTo>
                    <a:pt x="241731" y="371475"/>
                  </a:lnTo>
                  <a:lnTo>
                    <a:pt x="327037" y="371475"/>
                  </a:lnTo>
                  <a:lnTo>
                    <a:pt x="327037" y="355511"/>
                  </a:lnTo>
                  <a:close/>
                </a:path>
                <a:path w="341629" h="371475">
                  <a:moveTo>
                    <a:pt x="341261" y="64287"/>
                  </a:moveTo>
                  <a:lnTo>
                    <a:pt x="336499" y="38709"/>
                  </a:lnTo>
                  <a:lnTo>
                    <a:pt x="324065" y="19596"/>
                  </a:lnTo>
                  <a:lnTo>
                    <a:pt x="324065" y="64287"/>
                  </a:lnTo>
                  <a:lnTo>
                    <a:pt x="320573" y="83591"/>
                  </a:lnTo>
                  <a:lnTo>
                    <a:pt x="310870" y="98894"/>
                  </a:lnTo>
                  <a:lnTo>
                    <a:pt x="296100" y="108966"/>
                  </a:lnTo>
                  <a:lnTo>
                    <a:pt x="277431" y="112598"/>
                  </a:lnTo>
                  <a:lnTo>
                    <a:pt x="258724" y="108966"/>
                  </a:lnTo>
                  <a:lnTo>
                    <a:pt x="243852" y="98894"/>
                  </a:lnTo>
                  <a:lnTo>
                    <a:pt x="234035" y="83591"/>
                  </a:lnTo>
                  <a:lnTo>
                    <a:pt x="230492" y="64287"/>
                  </a:lnTo>
                  <a:lnTo>
                    <a:pt x="234073" y="44996"/>
                  </a:lnTo>
                  <a:lnTo>
                    <a:pt x="243967" y="29692"/>
                  </a:lnTo>
                  <a:lnTo>
                    <a:pt x="258851" y="19608"/>
                  </a:lnTo>
                  <a:lnTo>
                    <a:pt x="277431" y="15976"/>
                  </a:lnTo>
                  <a:lnTo>
                    <a:pt x="295960" y="19608"/>
                  </a:lnTo>
                  <a:lnTo>
                    <a:pt x="310743" y="29692"/>
                  </a:lnTo>
                  <a:lnTo>
                    <a:pt x="320522" y="44996"/>
                  </a:lnTo>
                  <a:lnTo>
                    <a:pt x="324065" y="64287"/>
                  </a:lnTo>
                  <a:lnTo>
                    <a:pt x="324065" y="19596"/>
                  </a:lnTo>
                  <a:lnTo>
                    <a:pt x="323253" y="18338"/>
                  </a:lnTo>
                  <a:lnTo>
                    <a:pt x="319747" y="15976"/>
                  </a:lnTo>
                  <a:lnTo>
                    <a:pt x="303034" y="4864"/>
                  </a:lnTo>
                  <a:lnTo>
                    <a:pt x="277431" y="0"/>
                  </a:lnTo>
                  <a:lnTo>
                    <a:pt x="251815" y="4864"/>
                  </a:lnTo>
                  <a:lnTo>
                    <a:pt x="231495" y="18338"/>
                  </a:lnTo>
                  <a:lnTo>
                    <a:pt x="218109" y="38709"/>
                  </a:lnTo>
                  <a:lnTo>
                    <a:pt x="213283" y="64287"/>
                  </a:lnTo>
                  <a:lnTo>
                    <a:pt x="216966" y="83591"/>
                  </a:lnTo>
                  <a:lnTo>
                    <a:pt x="252069" y="123736"/>
                  </a:lnTo>
                  <a:lnTo>
                    <a:pt x="277431" y="128587"/>
                  </a:lnTo>
                  <a:lnTo>
                    <a:pt x="302869" y="123736"/>
                  </a:lnTo>
                  <a:lnTo>
                    <a:pt x="319633" y="112598"/>
                  </a:lnTo>
                  <a:lnTo>
                    <a:pt x="323088" y="110312"/>
                  </a:lnTo>
                  <a:lnTo>
                    <a:pt x="336435" y="89941"/>
                  </a:lnTo>
                  <a:lnTo>
                    <a:pt x="341261" y="64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55803" y="362153"/>
            <a:ext cx="515302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" sz="3200" b="1" dirty="0">
                <a:solidFill>
                  <a:srgbClr val="434754"/>
                </a:solidFill>
                <a:latin typeface="Segoe UI"/>
                <a:ea typeface="Segoe UI Symbol" panose="020B0502040204020203" pitchFamily="34" charset="0"/>
                <a:cs typeface="Segoe UI"/>
              </a:rPr>
              <a:t>Executive Summary</a:t>
            </a:r>
            <a:endParaRPr sz="3200" b="1" dirty="0">
              <a:solidFill>
                <a:srgbClr val="434754"/>
              </a:solidFill>
              <a:latin typeface="Segoe UI Symbol" panose="020B0502040204020203" pitchFamily="34" charset="0"/>
              <a:ea typeface="Segoe UI Symbol" panose="020B0502040204020203" pitchFamily="34" charset="0"/>
              <a:cs typeface="Segoe UI"/>
            </a:endParaRPr>
          </a:p>
        </p:txBody>
      </p:sp>
      <p:sp>
        <p:nvSpPr>
          <p:cNvPr id="9" name="object 22">
            <a:extLst>
              <a:ext uri="{FF2B5EF4-FFF2-40B4-BE49-F238E27FC236}">
                <a16:creationId xmlns:a16="http://schemas.microsoft.com/office/drawing/2014/main" id="{F8FD20D2-BD69-DD85-C964-9644F9312C56}"/>
              </a:ext>
            </a:extLst>
          </p:cNvPr>
          <p:cNvSpPr txBox="1">
            <a:spLocks/>
          </p:cNvSpPr>
          <p:nvPr/>
        </p:nvSpPr>
        <p:spPr>
          <a:xfrm>
            <a:off x="355803" y="1440958"/>
            <a:ext cx="11011383" cy="44884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500" b="1" i="0">
                <a:solidFill>
                  <a:srgbClr val="434754"/>
                </a:solidFill>
                <a:latin typeface="Segoe UI"/>
                <a:ea typeface="+mn-ea"/>
                <a:cs typeface="Segoe U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Роль </a:t>
            </a:r>
            <a:r>
              <a:rPr lang="en" dirty="0"/>
              <a:t>Softline Cloud: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Платформа управления цифровой эффективностью бизнеса</a:t>
            </a:r>
            <a:r>
              <a:rPr lang="en-US" dirty="0"/>
              <a:t>;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Источник прибыли и точка роста за счет продуктов</a:t>
            </a:r>
            <a:r>
              <a:rPr lang="en-US" dirty="0"/>
              <a:t> </a:t>
            </a:r>
            <a:r>
              <a:rPr lang="ru-RU" dirty="0"/>
              <a:t>ГК</a:t>
            </a:r>
            <a:r>
              <a:rPr lang="en-US" dirty="0"/>
              <a:t>;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Платформа для масштабирования экосистемных решений </a:t>
            </a:r>
            <a:r>
              <a:rPr lang="en" dirty="0"/>
              <a:t>Softline;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Канал выхода в быстрорастущие сегменты </a:t>
            </a:r>
            <a:r>
              <a:rPr lang="en" dirty="0"/>
              <a:t>AI </a:t>
            </a:r>
            <a:r>
              <a:rPr lang="ru-RU" dirty="0"/>
              <a:t>и </a:t>
            </a:r>
            <a:r>
              <a:rPr lang="en" dirty="0"/>
              <a:t>Security.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dirty="0"/>
          </a:p>
          <a:p>
            <a:r>
              <a:rPr lang="ru-RU" dirty="0"/>
              <a:t>Три стратегических направления: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Эволюция </a:t>
            </a:r>
            <a:r>
              <a:rPr lang="en" dirty="0"/>
              <a:t>IaaS  →  PaaS </a:t>
            </a:r>
            <a:r>
              <a:rPr lang="en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→ </a:t>
            </a:r>
            <a:r>
              <a:rPr lang="ru-RU" dirty="0"/>
              <a:t>отраслевые решения</a:t>
            </a:r>
            <a:r>
              <a:rPr lang="en-US" dirty="0"/>
              <a:t>;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Развитие </a:t>
            </a:r>
            <a:r>
              <a:rPr lang="en" dirty="0"/>
              <a:t>Multi-cloud </a:t>
            </a:r>
            <a:r>
              <a:rPr lang="ru-RU" dirty="0"/>
              <a:t>и </a:t>
            </a:r>
            <a:r>
              <a:rPr lang="en" dirty="0"/>
              <a:t>FinOps (</a:t>
            </a:r>
            <a:r>
              <a:rPr lang="en" dirty="0" err="1"/>
              <a:t>CloudMaster</a:t>
            </a:r>
            <a:r>
              <a:rPr lang="en" dirty="0"/>
              <a:t>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Укрепление бренда и </a:t>
            </a:r>
            <a:r>
              <a:rPr lang="en" dirty="0"/>
              <a:t>GTM </a:t>
            </a:r>
            <a:r>
              <a:rPr lang="ru-RU" dirty="0"/>
              <a:t>для </a:t>
            </a:r>
            <a:r>
              <a:rPr lang="en" dirty="0"/>
              <a:t>Enterprise </a:t>
            </a:r>
            <a:r>
              <a:rPr lang="ru-RU" dirty="0"/>
              <a:t>и </a:t>
            </a:r>
            <a:r>
              <a:rPr lang="en-US" dirty="0"/>
              <a:t>SME</a:t>
            </a:r>
            <a:r>
              <a:rPr lang="en" dirty="0"/>
              <a:t> </a:t>
            </a:r>
            <a:r>
              <a:rPr lang="ru-RU" dirty="0"/>
              <a:t>сегментов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  <a:p>
            <a:pPr marL="12700" marR="284480" algn="l">
              <a:spcBef>
                <a:spcPts val="95"/>
              </a:spcBef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Цели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к 2028 году 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:</a:t>
            </a: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98450" marR="284480" indent="-285750" algn="l"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Доля </a:t>
            </a:r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SAM: 10%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- </a:t>
            </a:r>
            <a:r>
              <a:rPr lang="en-US" dirty="0"/>
              <a:t>46 </a:t>
            </a:r>
            <a:r>
              <a:rPr lang="ru-RU" dirty="0"/>
              <a:t>млрд руб.</a:t>
            </a:r>
            <a:r>
              <a:rPr lang="en-US" dirty="0"/>
              <a:t>;</a:t>
            </a: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98450" marR="284480" indent="-285750" algn="l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CAGR 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выручки: +30%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;</a:t>
            </a: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98450" marR="284480" indent="-285750" algn="l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EBITDA: &gt;15%;</a:t>
            </a: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98450" marR="284480" indent="-285750" algn="l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NPS: 70+;</a:t>
            </a: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98450" marR="284480" indent="-285750" algn="l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AI/ML-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доля: 5% рынка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;</a:t>
            </a: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98450" marR="284480" indent="-285750" algn="l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Клиентов </a:t>
            </a:r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multi-cloud (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через </a:t>
            </a:r>
            <a:r>
              <a:rPr lang="en" sz="1500" b="1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CloudMaster</a:t>
            </a:r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): 200+.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4631" y="367030"/>
            <a:ext cx="12192000" cy="6490970"/>
            <a:chOff x="0" y="367147"/>
            <a:chExt cx="12192000" cy="64909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87095"/>
              <a:ext cx="12191999" cy="64709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367186" y="610031"/>
              <a:ext cx="441325" cy="214629"/>
            </a:xfrm>
            <a:custGeom>
              <a:avLst/>
              <a:gdLst/>
              <a:ahLst/>
              <a:cxnLst/>
              <a:rect l="l" t="t" r="r" b="b"/>
              <a:pathLst>
                <a:path w="441325" h="214630">
                  <a:moveTo>
                    <a:pt x="213283" y="0"/>
                  </a:moveTo>
                  <a:lnTo>
                    <a:pt x="0" y="0"/>
                  </a:lnTo>
                  <a:lnTo>
                    <a:pt x="0" y="214312"/>
                  </a:lnTo>
                  <a:lnTo>
                    <a:pt x="213283" y="214325"/>
                  </a:lnTo>
                  <a:lnTo>
                    <a:pt x="213283" y="0"/>
                  </a:lnTo>
                  <a:close/>
                </a:path>
                <a:path w="441325" h="214630">
                  <a:moveTo>
                    <a:pt x="440791" y="0"/>
                  </a:moveTo>
                  <a:lnTo>
                    <a:pt x="227495" y="0"/>
                  </a:lnTo>
                  <a:lnTo>
                    <a:pt x="227495" y="214325"/>
                  </a:lnTo>
                  <a:lnTo>
                    <a:pt x="440791" y="214325"/>
                  </a:lnTo>
                  <a:lnTo>
                    <a:pt x="440791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367188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A40D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594693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24057" y="410019"/>
              <a:ext cx="341630" cy="371475"/>
            </a:xfrm>
            <a:custGeom>
              <a:avLst/>
              <a:gdLst/>
              <a:ahLst/>
              <a:cxnLst/>
              <a:rect l="l" t="t" r="r" b="b"/>
              <a:pathLst>
                <a:path w="341629" h="371475">
                  <a:moveTo>
                    <a:pt x="85318" y="242887"/>
                  </a:moveTo>
                  <a:lnTo>
                    <a:pt x="0" y="242887"/>
                  </a:lnTo>
                  <a:lnTo>
                    <a:pt x="0" y="371475"/>
                  </a:lnTo>
                  <a:lnTo>
                    <a:pt x="17284" y="371475"/>
                  </a:lnTo>
                  <a:lnTo>
                    <a:pt x="17284" y="319481"/>
                  </a:lnTo>
                  <a:lnTo>
                    <a:pt x="77914" y="319481"/>
                  </a:lnTo>
                  <a:lnTo>
                    <a:pt x="77914" y="303682"/>
                  </a:lnTo>
                  <a:lnTo>
                    <a:pt x="17284" y="303682"/>
                  </a:lnTo>
                  <a:lnTo>
                    <a:pt x="17284" y="258851"/>
                  </a:lnTo>
                  <a:lnTo>
                    <a:pt x="85318" y="258851"/>
                  </a:lnTo>
                  <a:lnTo>
                    <a:pt x="85318" y="242887"/>
                  </a:lnTo>
                  <a:close/>
                </a:path>
                <a:path w="341629" h="371475">
                  <a:moveTo>
                    <a:pt x="85318" y="92837"/>
                  </a:moveTo>
                  <a:lnTo>
                    <a:pt x="74828" y="68681"/>
                  </a:lnTo>
                  <a:lnTo>
                    <a:pt x="51752" y="58229"/>
                  </a:lnTo>
                  <a:lnTo>
                    <a:pt x="28676" y="50673"/>
                  </a:lnTo>
                  <a:lnTo>
                    <a:pt x="18199" y="35217"/>
                  </a:lnTo>
                  <a:lnTo>
                    <a:pt x="19748" y="27482"/>
                  </a:lnTo>
                  <a:lnTo>
                    <a:pt x="24587" y="21145"/>
                  </a:lnTo>
                  <a:lnTo>
                    <a:pt x="32956" y="16852"/>
                  </a:lnTo>
                  <a:lnTo>
                    <a:pt x="45110" y="15278"/>
                  </a:lnTo>
                  <a:lnTo>
                    <a:pt x="52641" y="15887"/>
                  </a:lnTo>
                  <a:lnTo>
                    <a:pt x="60363" y="17754"/>
                  </a:lnTo>
                  <a:lnTo>
                    <a:pt x="68059" y="20942"/>
                  </a:lnTo>
                  <a:lnTo>
                    <a:pt x="75514" y="25488"/>
                  </a:lnTo>
                  <a:lnTo>
                    <a:pt x="80746" y="11112"/>
                  </a:lnTo>
                  <a:lnTo>
                    <a:pt x="73126" y="6350"/>
                  </a:lnTo>
                  <a:lnTo>
                    <a:pt x="64338" y="2870"/>
                  </a:lnTo>
                  <a:lnTo>
                    <a:pt x="54851" y="723"/>
                  </a:lnTo>
                  <a:lnTo>
                    <a:pt x="45110" y="0"/>
                  </a:lnTo>
                  <a:lnTo>
                    <a:pt x="26187" y="2882"/>
                  </a:lnTo>
                  <a:lnTo>
                    <a:pt x="12979" y="10680"/>
                  </a:lnTo>
                  <a:lnTo>
                    <a:pt x="5219" y="22110"/>
                  </a:lnTo>
                  <a:lnTo>
                    <a:pt x="2692" y="35915"/>
                  </a:lnTo>
                  <a:lnTo>
                    <a:pt x="13182" y="60337"/>
                  </a:lnTo>
                  <a:lnTo>
                    <a:pt x="36245" y="70904"/>
                  </a:lnTo>
                  <a:lnTo>
                    <a:pt x="59321" y="78460"/>
                  </a:lnTo>
                  <a:lnTo>
                    <a:pt x="69811" y="93891"/>
                  </a:lnTo>
                  <a:lnTo>
                    <a:pt x="68224" y="101549"/>
                  </a:lnTo>
                  <a:lnTo>
                    <a:pt x="63296" y="107708"/>
                  </a:lnTo>
                  <a:lnTo>
                    <a:pt x="54775" y="111810"/>
                  </a:lnTo>
                  <a:lnTo>
                    <a:pt x="42418" y="113296"/>
                  </a:lnTo>
                  <a:lnTo>
                    <a:pt x="31864" y="112217"/>
                  </a:lnTo>
                  <a:lnTo>
                    <a:pt x="21894" y="109194"/>
                  </a:lnTo>
                  <a:lnTo>
                    <a:pt x="13042" y="104597"/>
                  </a:lnTo>
                  <a:lnTo>
                    <a:pt x="5842" y="98755"/>
                  </a:lnTo>
                  <a:lnTo>
                    <a:pt x="0" y="112763"/>
                  </a:lnTo>
                  <a:lnTo>
                    <a:pt x="7988" y="119176"/>
                  </a:lnTo>
                  <a:lnTo>
                    <a:pt x="18186" y="124180"/>
                  </a:lnTo>
                  <a:lnTo>
                    <a:pt x="29908" y="127431"/>
                  </a:lnTo>
                  <a:lnTo>
                    <a:pt x="42418" y="128587"/>
                  </a:lnTo>
                  <a:lnTo>
                    <a:pt x="61468" y="125691"/>
                  </a:lnTo>
                  <a:lnTo>
                    <a:pt x="74841" y="117906"/>
                  </a:lnTo>
                  <a:lnTo>
                    <a:pt x="82727" y="106514"/>
                  </a:lnTo>
                  <a:lnTo>
                    <a:pt x="85318" y="92837"/>
                  </a:lnTo>
                  <a:close/>
                </a:path>
                <a:path w="341629" h="371475">
                  <a:moveTo>
                    <a:pt x="327037" y="355511"/>
                  </a:moveTo>
                  <a:lnTo>
                    <a:pt x="259549" y="355511"/>
                  </a:lnTo>
                  <a:lnTo>
                    <a:pt x="259549" y="242938"/>
                  </a:lnTo>
                  <a:lnTo>
                    <a:pt x="241731" y="242938"/>
                  </a:lnTo>
                  <a:lnTo>
                    <a:pt x="241731" y="371475"/>
                  </a:lnTo>
                  <a:lnTo>
                    <a:pt x="327037" y="371475"/>
                  </a:lnTo>
                  <a:lnTo>
                    <a:pt x="327037" y="355511"/>
                  </a:lnTo>
                  <a:close/>
                </a:path>
                <a:path w="341629" h="371475">
                  <a:moveTo>
                    <a:pt x="341261" y="64287"/>
                  </a:moveTo>
                  <a:lnTo>
                    <a:pt x="336499" y="38709"/>
                  </a:lnTo>
                  <a:lnTo>
                    <a:pt x="324065" y="19596"/>
                  </a:lnTo>
                  <a:lnTo>
                    <a:pt x="324065" y="64287"/>
                  </a:lnTo>
                  <a:lnTo>
                    <a:pt x="320573" y="83591"/>
                  </a:lnTo>
                  <a:lnTo>
                    <a:pt x="310870" y="98894"/>
                  </a:lnTo>
                  <a:lnTo>
                    <a:pt x="296100" y="108966"/>
                  </a:lnTo>
                  <a:lnTo>
                    <a:pt x="277431" y="112598"/>
                  </a:lnTo>
                  <a:lnTo>
                    <a:pt x="258724" y="108966"/>
                  </a:lnTo>
                  <a:lnTo>
                    <a:pt x="243852" y="98894"/>
                  </a:lnTo>
                  <a:lnTo>
                    <a:pt x="234035" y="83591"/>
                  </a:lnTo>
                  <a:lnTo>
                    <a:pt x="230492" y="64287"/>
                  </a:lnTo>
                  <a:lnTo>
                    <a:pt x="234073" y="44996"/>
                  </a:lnTo>
                  <a:lnTo>
                    <a:pt x="243967" y="29692"/>
                  </a:lnTo>
                  <a:lnTo>
                    <a:pt x="258851" y="19608"/>
                  </a:lnTo>
                  <a:lnTo>
                    <a:pt x="277431" y="15976"/>
                  </a:lnTo>
                  <a:lnTo>
                    <a:pt x="295960" y="19608"/>
                  </a:lnTo>
                  <a:lnTo>
                    <a:pt x="310743" y="29692"/>
                  </a:lnTo>
                  <a:lnTo>
                    <a:pt x="320522" y="44996"/>
                  </a:lnTo>
                  <a:lnTo>
                    <a:pt x="324065" y="64287"/>
                  </a:lnTo>
                  <a:lnTo>
                    <a:pt x="324065" y="19596"/>
                  </a:lnTo>
                  <a:lnTo>
                    <a:pt x="323253" y="18338"/>
                  </a:lnTo>
                  <a:lnTo>
                    <a:pt x="319747" y="15976"/>
                  </a:lnTo>
                  <a:lnTo>
                    <a:pt x="303034" y="4864"/>
                  </a:lnTo>
                  <a:lnTo>
                    <a:pt x="277431" y="0"/>
                  </a:lnTo>
                  <a:lnTo>
                    <a:pt x="251815" y="4864"/>
                  </a:lnTo>
                  <a:lnTo>
                    <a:pt x="231495" y="18338"/>
                  </a:lnTo>
                  <a:lnTo>
                    <a:pt x="218109" y="38709"/>
                  </a:lnTo>
                  <a:lnTo>
                    <a:pt x="213283" y="64287"/>
                  </a:lnTo>
                  <a:lnTo>
                    <a:pt x="216966" y="83591"/>
                  </a:lnTo>
                  <a:lnTo>
                    <a:pt x="252069" y="123736"/>
                  </a:lnTo>
                  <a:lnTo>
                    <a:pt x="277431" y="128587"/>
                  </a:lnTo>
                  <a:lnTo>
                    <a:pt x="302869" y="123736"/>
                  </a:lnTo>
                  <a:lnTo>
                    <a:pt x="319633" y="112598"/>
                  </a:lnTo>
                  <a:lnTo>
                    <a:pt x="323088" y="110312"/>
                  </a:lnTo>
                  <a:lnTo>
                    <a:pt x="336435" y="89941"/>
                  </a:lnTo>
                  <a:lnTo>
                    <a:pt x="341261" y="64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55803" y="362153"/>
            <a:ext cx="515302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200" b="1" dirty="0">
                <a:solidFill>
                  <a:srgbClr val="434754"/>
                </a:solidFill>
                <a:latin typeface="Segoe UI"/>
                <a:ea typeface="Segoe UI Symbol" panose="020B0502040204020203" pitchFamily="34" charset="0"/>
                <a:cs typeface="Segoe UI"/>
              </a:rPr>
              <a:t>Цели бизнеса</a:t>
            </a:r>
            <a:endParaRPr sz="3200" b="1" dirty="0">
              <a:solidFill>
                <a:srgbClr val="434754"/>
              </a:solidFill>
              <a:latin typeface="Segoe UI Symbol" panose="020B0502040204020203" pitchFamily="34" charset="0"/>
              <a:ea typeface="Segoe UI Symbol" panose="020B0502040204020203" pitchFamily="34" charset="0"/>
              <a:cs typeface="Segoe U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93191" y="1050036"/>
            <a:ext cx="5637530" cy="1367155"/>
          </a:xfrm>
          <a:custGeom>
            <a:avLst/>
            <a:gdLst/>
            <a:ahLst/>
            <a:cxnLst/>
            <a:rect l="l" t="t" r="r" b="b"/>
            <a:pathLst>
              <a:path w="5637530" h="1367155">
                <a:moveTo>
                  <a:pt x="5591556" y="0"/>
                </a:moveTo>
                <a:lnTo>
                  <a:pt x="45732" y="0"/>
                </a:lnTo>
                <a:lnTo>
                  <a:pt x="27930" y="3589"/>
                </a:lnTo>
                <a:lnTo>
                  <a:pt x="13393" y="13382"/>
                </a:lnTo>
                <a:lnTo>
                  <a:pt x="3593" y="27914"/>
                </a:lnTo>
                <a:lnTo>
                  <a:pt x="0" y="45719"/>
                </a:lnTo>
                <a:lnTo>
                  <a:pt x="0" y="1321308"/>
                </a:lnTo>
                <a:lnTo>
                  <a:pt x="3593" y="1339113"/>
                </a:lnTo>
                <a:lnTo>
                  <a:pt x="13393" y="1353645"/>
                </a:lnTo>
                <a:lnTo>
                  <a:pt x="27930" y="1363438"/>
                </a:lnTo>
                <a:lnTo>
                  <a:pt x="45732" y="1367027"/>
                </a:lnTo>
                <a:lnTo>
                  <a:pt x="5591556" y="1367027"/>
                </a:lnTo>
                <a:lnTo>
                  <a:pt x="5609361" y="1363438"/>
                </a:lnTo>
                <a:lnTo>
                  <a:pt x="5623893" y="1353645"/>
                </a:lnTo>
                <a:lnTo>
                  <a:pt x="5633686" y="1339113"/>
                </a:lnTo>
                <a:lnTo>
                  <a:pt x="5637276" y="1321308"/>
                </a:lnTo>
                <a:lnTo>
                  <a:pt x="5637276" y="45719"/>
                </a:lnTo>
                <a:lnTo>
                  <a:pt x="5633686" y="27914"/>
                </a:lnTo>
                <a:lnTo>
                  <a:pt x="5623893" y="13382"/>
                </a:lnTo>
                <a:lnTo>
                  <a:pt x="5609361" y="3589"/>
                </a:lnTo>
                <a:lnTo>
                  <a:pt x="5591556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11">
            <a:extLst>
              <a:ext uri="{FF2B5EF4-FFF2-40B4-BE49-F238E27FC236}">
                <a16:creationId xmlns:a16="http://schemas.microsoft.com/office/drawing/2014/main" id="{E81B1184-C2B6-F16C-18D1-3E478C26653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7374" y="1186564"/>
            <a:ext cx="391668" cy="393191"/>
          </a:xfrm>
          <a:prstGeom prst="rect">
            <a:avLst/>
          </a:prstGeom>
        </p:spPr>
      </p:pic>
      <p:sp>
        <p:nvSpPr>
          <p:cNvPr id="30" name="object 22">
            <a:extLst>
              <a:ext uri="{FF2B5EF4-FFF2-40B4-BE49-F238E27FC236}">
                <a16:creationId xmlns:a16="http://schemas.microsoft.com/office/drawing/2014/main" id="{55F1F499-4923-FAE8-87CB-FDB881845D50}"/>
              </a:ext>
            </a:extLst>
          </p:cNvPr>
          <p:cNvSpPr txBox="1">
            <a:spLocks/>
          </p:cNvSpPr>
          <p:nvPr/>
        </p:nvSpPr>
        <p:spPr>
          <a:xfrm>
            <a:off x="1215641" y="1186564"/>
            <a:ext cx="4130675" cy="8899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500" b="1" i="0">
                <a:solidFill>
                  <a:srgbClr val="434754"/>
                </a:solidFill>
                <a:latin typeface="Segoe UI"/>
                <a:ea typeface="+mn-ea"/>
                <a:cs typeface="Segoe U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0005"/>
            <a:r>
              <a:rPr lang="ru-RU" sz="2700" spc="-10" dirty="0">
                <a:solidFill>
                  <a:srgbClr val="BE1743"/>
                </a:solidFill>
              </a:rPr>
              <a:t>Рост оборота и маржи</a:t>
            </a:r>
            <a:endParaRPr lang="ru-RU" sz="2700" dirty="0"/>
          </a:p>
          <a:p>
            <a:r>
              <a:rPr lang="ru-RU" dirty="0"/>
              <a:t>Источник прибыли за счет собственных продуктов</a:t>
            </a:r>
          </a:p>
        </p:txBody>
      </p:sp>
      <p:sp>
        <p:nvSpPr>
          <p:cNvPr id="35" name="object 20">
            <a:extLst>
              <a:ext uri="{FF2B5EF4-FFF2-40B4-BE49-F238E27FC236}">
                <a16:creationId xmlns:a16="http://schemas.microsoft.com/office/drawing/2014/main" id="{310EA484-0B88-7754-D756-DD956EA1067A}"/>
              </a:ext>
            </a:extLst>
          </p:cNvPr>
          <p:cNvSpPr/>
          <p:nvPr/>
        </p:nvSpPr>
        <p:spPr>
          <a:xfrm>
            <a:off x="6196448" y="1057715"/>
            <a:ext cx="5637530" cy="1367155"/>
          </a:xfrm>
          <a:custGeom>
            <a:avLst/>
            <a:gdLst/>
            <a:ahLst/>
            <a:cxnLst/>
            <a:rect l="l" t="t" r="r" b="b"/>
            <a:pathLst>
              <a:path w="5637530" h="1367155">
                <a:moveTo>
                  <a:pt x="5591556" y="0"/>
                </a:moveTo>
                <a:lnTo>
                  <a:pt x="45732" y="0"/>
                </a:lnTo>
                <a:lnTo>
                  <a:pt x="27930" y="3589"/>
                </a:lnTo>
                <a:lnTo>
                  <a:pt x="13393" y="13382"/>
                </a:lnTo>
                <a:lnTo>
                  <a:pt x="3593" y="27914"/>
                </a:lnTo>
                <a:lnTo>
                  <a:pt x="0" y="45719"/>
                </a:lnTo>
                <a:lnTo>
                  <a:pt x="0" y="1321308"/>
                </a:lnTo>
                <a:lnTo>
                  <a:pt x="3593" y="1339113"/>
                </a:lnTo>
                <a:lnTo>
                  <a:pt x="13393" y="1353645"/>
                </a:lnTo>
                <a:lnTo>
                  <a:pt x="27930" y="1363438"/>
                </a:lnTo>
                <a:lnTo>
                  <a:pt x="45732" y="1367027"/>
                </a:lnTo>
                <a:lnTo>
                  <a:pt x="5591556" y="1367027"/>
                </a:lnTo>
                <a:lnTo>
                  <a:pt x="5609361" y="1363438"/>
                </a:lnTo>
                <a:lnTo>
                  <a:pt x="5623893" y="1353645"/>
                </a:lnTo>
                <a:lnTo>
                  <a:pt x="5633686" y="1339113"/>
                </a:lnTo>
                <a:lnTo>
                  <a:pt x="5637276" y="1321308"/>
                </a:lnTo>
                <a:lnTo>
                  <a:pt x="5637276" y="45719"/>
                </a:lnTo>
                <a:lnTo>
                  <a:pt x="5633686" y="27914"/>
                </a:lnTo>
                <a:lnTo>
                  <a:pt x="5623893" y="13382"/>
                </a:lnTo>
                <a:lnTo>
                  <a:pt x="5609361" y="3589"/>
                </a:lnTo>
                <a:lnTo>
                  <a:pt x="5591556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11">
            <a:extLst>
              <a:ext uri="{FF2B5EF4-FFF2-40B4-BE49-F238E27FC236}">
                <a16:creationId xmlns:a16="http://schemas.microsoft.com/office/drawing/2014/main" id="{BEEC76A7-F4D8-79EB-FDBF-F9E4B3F7C0F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0631" y="1194243"/>
            <a:ext cx="391668" cy="393191"/>
          </a:xfrm>
          <a:prstGeom prst="rect">
            <a:avLst/>
          </a:prstGeom>
        </p:spPr>
      </p:pic>
      <p:sp>
        <p:nvSpPr>
          <p:cNvPr id="37" name="object 22">
            <a:extLst>
              <a:ext uri="{FF2B5EF4-FFF2-40B4-BE49-F238E27FC236}">
                <a16:creationId xmlns:a16="http://schemas.microsoft.com/office/drawing/2014/main" id="{7A289D34-F6CD-4814-CE0A-B6E0813AE337}"/>
              </a:ext>
            </a:extLst>
          </p:cNvPr>
          <p:cNvSpPr txBox="1">
            <a:spLocks/>
          </p:cNvSpPr>
          <p:nvPr/>
        </p:nvSpPr>
        <p:spPr>
          <a:xfrm>
            <a:off x="7018898" y="1194243"/>
            <a:ext cx="4523866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500" b="1" i="0">
                <a:solidFill>
                  <a:srgbClr val="434754"/>
                </a:solidFill>
                <a:latin typeface="Segoe UI"/>
                <a:ea typeface="+mn-ea"/>
                <a:cs typeface="Segoe U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0005"/>
            <a:r>
              <a:rPr lang="ru-RU" sz="2700" spc="-10" dirty="0">
                <a:solidFill>
                  <a:srgbClr val="BE1743"/>
                </a:solidFill>
              </a:rPr>
              <a:t>Увеличение доли рынка</a:t>
            </a:r>
            <a:endParaRPr lang="ru-RU" sz="2700" dirty="0"/>
          </a:p>
          <a:p>
            <a:r>
              <a:rPr lang="ru-RU" dirty="0"/>
              <a:t>В сегментах </a:t>
            </a:r>
            <a:r>
              <a:rPr lang="en-US" dirty="0"/>
              <a:t>E</a:t>
            </a:r>
            <a:r>
              <a:rPr lang="en" dirty="0" err="1"/>
              <a:t>nterprise</a:t>
            </a:r>
            <a:r>
              <a:rPr lang="en" dirty="0"/>
              <a:t> </a:t>
            </a:r>
            <a:r>
              <a:rPr lang="ru-RU" dirty="0"/>
              <a:t>и </a:t>
            </a:r>
            <a:r>
              <a:rPr lang="en" dirty="0"/>
              <a:t>SME</a:t>
            </a:r>
            <a:endParaRPr lang="ru-RU" dirty="0"/>
          </a:p>
        </p:txBody>
      </p:sp>
      <p:sp>
        <p:nvSpPr>
          <p:cNvPr id="40" name="object 20">
            <a:extLst>
              <a:ext uri="{FF2B5EF4-FFF2-40B4-BE49-F238E27FC236}">
                <a16:creationId xmlns:a16="http://schemas.microsoft.com/office/drawing/2014/main" id="{1BDC6FF9-ACA4-286E-E0B6-F68CC21D8670}"/>
              </a:ext>
            </a:extLst>
          </p:cNvPr>
          <p:cNvSpPr/>
          <p:nvPr/>
        </p:nvSpPr>
        <p:spPr>
          <a:xfrm>
            <a:off x="355803" y="2681226"/>
            <a:ext cx="11409884" cy="1689573"/>
          </a:xfrm>
          <a:custGeom>
            <a:avLst/>
            <a:gdLst/>
            <a:ahLst/>
            <a:cxnLst/>
            <a:rect l="l" t="t" r="r" b="b"/>
            <a:pathLst>
              <a:path w="5637530" h="1367155">
                <a:moveTo>
                  <a:pt x="5591556" y="0"/>
                </a:moveTo>
                <a:lnTo>
                  <a:pt x="45732" y="0"/>
                </a:lnTo>
                <a:lnTo>
                  <a:pt x="27930" y="3589"/>
                </a:lnTo>
                <a:lnTo>
                  <a:pt x="13393" y="13382"/>
                </a:lnTo>
                <a:lnTo>
                  <a:pt x="3593" y="27914"/>
                </a:lnTo>
                <a:lnTo>
                  <a:pt x="0" y="45719"/>
                </a:lnTo>
                <a:lnTo>
                  <a:pt x="0" y="1321308"/>
                </a:lnTo>
                <a:lnTo>
                  <a:pt x="3593" y="1339113"/>
                </a:lnTo>
                <a:lnTo>
                  <a:pt x="13393" y="1353645"/>
                </a:lnTo>
                <a:lnTo>
                  <a:pt x="27930" y="1363438"/>
                </a:lnTo>
                <a:lnTo>
                  <a:pt x="45732" y="1367027"/>
                </a:lnTo>
                <a:lnTo>
                  <a:pt x="5591556" y="1367027"/>
                </a:lnTo>
                <a:lnTo>
                  <a:pt x="5609361" y="1363438"/>
                </a:lnTo>
                <a:lnTo>
                  <a:pt x="5623893" y="1353645"/>
                </a:lnTo>
                <a:lnTo>
                  <a:pt x="5633686" y="1339113"/>
                </a:lnTo>
                <a:lnTo>
                  <a:pt x="5637276" y="1321308"/>
                </a:lnTo>
                <a:lnTo>
                  <a:pt x="5637276" y="45719"/>
                </a:lnTo>
                <a:lnTo>
                  <a:pt x="5633686" y="27914"/>
                </a:lnTo>
                <a:lnTo>
                  <a:pt x="5623893" y="13382"/>
                </a:lnTo>
                <a:lnTo>
                  <a:pt x="5609361" y="3589"/>
                </a:lnTo>
                <a:lnTo>
                  <a:pt x="5591556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2">
            <a:extLst>
              <a:ext uri="{FF2B5EF4-FFF2-40B4-BE49-F238E27FC236}">
                <a16:creationId xmlns:a16="http://schemas.microsoft.com/office/drawing/2014/main" id="{E11B7DB8-4A52-ACF2-B5DA-F2A64BC61934}"/>
              </a:ext>
            </a:extLst>
          </p:cNvPr>
          <p:cNvSpPr txBox="1">
            <a:spLocks/>
          </p:cNvSpPr>
          <p:nvPr/>
        </p:nvSpPr>
        <p:spPr>
          <a:xfrm>
            <a:off x="1178253" y="2817754"/>
            <a:ext cx="10483564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500" b="1" i="0">
                <a:solidFill>
                  <a:srgbClr val="434754"/>
                </a:solidFill>
                <a:latin typeface="Segoe UI"/>
                <a:ea typeface="+mn-ea"/>
                <a:cs typeface="Segoe U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0005"/>
            <a:r>
              <a:rPr lang="ru-RU" sz="2700" spc="-10" dirty="0">
                <a:solidFill>
                  <a:srgbClr val="BE1743"/>
                </a:solidFill>
              </a:rPr>
              <a:t>Развитие продуктового портфеля</a:t>
            </a:r>
            <a:endParaRPr lang="ru-RU" sz="2700" dirty="0"/>
          </a:p>
          <a:p>
            <a:r>
              <a:rPr lang="ru-RU" dirty="0"/>
              <a:t>Трансформация превратить </a:t>
            </a:r>
            <a:r>
              <a:rPr lang="en" dirty="0"/>
              <a:t>Softline</a:t>
            </a:r>
            <a:r>
              <a:rPr lang="ru-RU" dirty="0"/>
              <a:t> </a:t>
            </a:r>
            <a:r>
              <a:rPr lang="en" dirty="0"/>
              <a:t>Cloud </a:t>
            </a:r>
            <a:r>
              <a:rPr lang="ru-RU" dirty="0"/>
              <a:t>из инфраструктурного игрока в </a:t>
            </a:r>
            <a:r>
              <a:rPr lang="ru-RU" b="1" dirty="0"/>
              <a:t>полноценного </a:t>
            </a:r>
            <a:r>
              <a:rPr lang="ru-RU" b="1" dirty="0" err="1"/>
              <a:t>мультисервисного</a:t>
            </a:r>
            <a:r>
              <a:rPr lang="ru-RU" b="1" dirty="0"/>
              <a:t> провайдера</a:t>
            </a:r>
            <a:endParaRPr lang="ru-RU" dirty="0"/>
          </a:p>
          <a:p>
            <a:r>
              <a:rPr lang="ru-RU" dirty="0"/>
              <a:t>Закрепление в сегментах </a:t>
            </a:r>
            <a:r>
              <a:rPr lang="en" dirty="0"/>
              <a:t>AI </a:t>
            </a:r>
            <a:r>
              <a:rPr lang="ru-RU" dirty="0"/>
              <a:t>и </a:t>
            </a:r>
            <a:r>
              <a:rPr lang="en" dirty="0"/>
              <a:t>Security</a:t>
            </a:r>
            <a:r>
              <a:rPr lang="ru-RU" dirty="0"/>
              <a:t> – доля рынка в данных сегментах</a:t>
            </a:r>
          </a:p>
        </p:txBody>
      </p:sp>
      <p:pic>
        <p:nvPicPr>
          <p:cNvPr id="42" name="object 13">
            <a:extLst>
              <a:ext uri="{FF2B5EF4-FFF2-40B4-BE49-F238E27FC236}">
                <a16:creationId xmlns:a16="http://schemas.microsoft.com/office/drawing/2014/main" id="{8CEF31C5-A887-19E3-C5AE-E6B064CACB3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195" y="2846424"/>
            <a:ext cx="391667" cy="39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774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67189" y="367147"/>
            <a:ext cx="441325" cy="457200"/>
            <a:chOff x="11367189" y="367147"/>
            <a:chExt cx="441325" cy="457200"/>
          </a:xfrm>
        </p:grpSpPr>
        <p:sp>
          <p:nvSpPr>
            <p:cNvPr id="3" name="object 3"/>
            <p:cNvSpPr/>
            <p:nvPr/>
          </p:nvSpPr>
          <p:spPr>
            <a:xfrm>
              <a:off x="11367186" y="610031"/>
              <a:ext cx="441325" cy="214629"/>
            </a:xfrm>
            <a:custGeom>
              <a:avLst/>
              <a:gdLst/>
              <a:ahLst/>
              <a:cxnLst/>
              <a:rect l="l" t="t" r="r" b="b"/>
              <a:pathLst>
                <a:path w="441325" h="214630">
                  <a:moveTo>
                    <a:pt x="213283" y="0"/>
                  </a:moveTo>
                  <a:lnTo>
                    <a:pt x="0" y="0"/>
                  </a:lnTo>
                  <a:lnTo>
                    <a:pt x="0" y="214312"/>
                  </a:lnTo>
                  <a:lnTo>
                    <a:pt x="213283" y="214325"/>
                  </a:lnTo>
                  <a:lnTo>
                    <a:pt x="213283" y="0"/>
                  </a:lnTo>
                  <a:close/>
                </a:path>
                <a:path w="441325" h="214630">
                  <a:moveTo>
                    <a:pt x="440791" y="0"/>
                  </a:moveTo>
                  <a:lnTo>
                    <a:pt x="227495" y="0"/>
                  </a:lnTo>
                  <a:lnTo>
                    <a:pt x="227495" y="214325"/>
                  </a:lnTo>
                  <a:lnTo>
                    <a:pt x="440791" y="214325"/>
                  </a:lnTo>
                  <a:lnTo>
                    <a:pt x="440791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67189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A40D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94692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24057" y="410019"/>
              <a:ext cx="341630" cy="371475"/>
            </a:xfrm>
            <a:custGeom>
              <a:avLst/>
              <a:gdLst/>
              <a:ahLst/>
              <a:cxnLst/>
              <a:rect l="l" t="t" r="r" b="b"/>
              <a:pathLst>
                <a:path w="341629" h="371475">
                  <a:moveTo>
                    <a:pt x="85318" y="242887"/>
                  </a:moveTo>
                  <a:lnTo>
                    <a:pt x="0" y="242887"/>
                  </a:lnTo>
                  <a:lnTo>
                    <a:pt x="0" y="371475"/>
                  </a:lnTo>
                  <a:lnTo>
                    <a:pt x="17284" y="371475"/>
                  </a:lnTo>
                  <a:lnTo>
                    <a:pt x="17284" y="319481"/>
                  </a:lnTo>
                  <a:lnTo>
                    <a:pt x="77914" y="319481"/>
                  </a:lnTo>
                  <a:lnTo>
                    <a:pt x="77914" y="303682"/>
                  </a:lnTo>
                  <a:lnTo>
                    <a:pt x="17284" y="303682"/>
                  </a:lnTo>
                  <a:lnTo>
                    <a:pt x="17284" y="258851"/>
                  </a:lnTo>
                  <a:lnTo>
                    <a:pt x="85318" y="258851"/>
                  </a:lnTo>
                  <a:lnTo>
                    <a:pt x="85318" y="242887"/>
                  </a:lnTo>
                  <a:close/>
                </a:path>
                <a:path w="341629" h="371475">
                  <a:moveTo>
                    <a:pt x="85318" y="92837"/>
                  </a:moveTo>
                  <a:lnTo>
                    <a:pt x="74828" y="68681"/>
                  </a:lnTo>
                  <a:lnTo>
                    <a:pt x="51752" y="58229"/>
                  </a:lnTo>
                  <a:lnTo>
                    <a:pt x="28689" y="50673"/>
                  </a:lnTo>
                  <a:lnTo>
                    <a:pt x="18199" y="35217"/>
                  </a:lnTo>
                  <a:lnTo>
                    <a:pt x="19748" y="27482"/>
                  </a:lnTo>
                  <a:lnTo>
                    <a:pt x="24587" y="21145"/>
                  </a:lnTo>
                  <a:lnTo>
                    <a:pt x="32956" y="16852"/>
                  </a:lnTo>
                  <a:lnTo>
                    <a:pt x="45110" y="15278"/>
                  </a:lnTo>
                  <a:lnTo>
                    <a:pt x="52641" y="15887"/>
                  </a:lnTo>
                  <a:lnTo>
                    <a:pt x="60363" y="17754"/>
                  </a:lnTo>
                  <a:lnTo>
                    <a:pt x="68072" y="20942"/>
                  </a:lnTo>
                  <a:lnTo>
                    <a:pt x="75514" y="25488"/>
                  </a:lnTo>
                  <a:lnTo>
                    <a:pt x="80746" y="11112"/>
                  </a:lnTo>
                  <a:lnTo>
                    <a:pt x="73126" y="6350"/>
                  </a:lnTo>
                  <a:lnTo>
                    <a:pt x="64338" y="2870"/>
                  </a:lnTo>
                  <a:lnTo>
                    <a:pt x="54851" y="723"/>
                  </a:lnTo>
                  <a:lnTo>
                    <a:pt x="45110" y="0"/>
                  </a:lnTo>
                  <a:lnTo>
                    <a:pt x="26200" y="2882"/>
                  </a:lnTo>
                  <a:lnTo>
                    <a:pt x="12979" y="10680"/>
                  </a:lnTo>
                  <a:lnTo>
                    <a:pt x="5219" y="22110"/>
                  </a:lnTo>
                  <a:lnTo>
                    <a:pt x="2692" y="35915"/>
                  </a:lnTo>
                  <a:lnTo>
                    <a:pt x="13182" y="60337"/>
                  </a:lnTo>
                  <a:lnTo>
                    <a:pt x="36245" y="70904"/>
                  </a:lnTo>
                  <a:lnTo>
                    <a:pt x="59321" y="78460"/>
                  </a:lnTo>
                  <a:lnTo>
                    <a:pt x="69811" y="93891"/>
                  </a:lnTo>
                  <a:lnTo>
                    <a:pt x="68224" y="101549"/>
                  </a:lnTo>
                  <a:lnTo>
                    <a:pt x="63296" y="107708"/>
                  </a:lnTo>
                  <a:lnTo>
                    <a:pt x="54775" y="111810"/>
                  </a:lnTo>
                  <a:lnTo>
                    <a:pt x="42418" y="113296"/>
                  </a:lnTo>
                  <a:lnTo>
                    <a:pt x="31864" y="112217"/>
                  </a:lnTo>
                  <a:lnTo>
                    <a:pt x="21894" y="109194"/>
                  </a:lnTo>
                  <a:lnTo>
                    <a:pt x="13042" y="104597"/>
                  </a:lnTo>
                  <a:lnTo>
                    <a:pt x="5842" y="98755"/>
                  </a:lnTo>
                  <a:lnTo>
                    <a:pt x="0" y="112763"/>
                  </a:lnTo>
                  <a:lnTo>
                    <a:pt x="7988" y="119176"/>
                  </a:lnTo>
                  <a:lnTo>
                    <a:pt x="18186" y="124180"/>
                  </a:lnTo>
                  <a:lnTo>
                    <a:pt x="29908" y="127431"/>
                  </a:lnTo>
                  <a:lnTo>
                    <a:pt x="42418" y="128587"/>
                  </a:lnTo>
                  <a:lnTo>
                    <a:pt x="61480" y="125691"/>
                  </a:lnTo>
                  <a:lnTo>
                    <a:pt x="74853" y="117906"/>
                  </a:lnTo>
                  <a:lnTo>
                    <a:pt x="82727" y="106514"/>
                  </a:lnTo>
                  <a:lnTo>
                    <a:pt x="85318" y="92837"/>
                  </a:lnTo>
                  <a:close/>
                </a:path>
                <a:path w="341629" h="371475">
                  <a:moveTo>
                    <a:pt x="327037" y="355511"/>
                  </a:moveTo>
                  <a:lnTo>
                    <a:pt x="259549" y="355511"/>
                  </a:lnTo>
                  <a:lnTo>
                    <a:pt x="259549" y="242938"/>
                  </a:lnTo>
                  <a:lnTo>
                    <a:pt x="241731" y="242938"/>
                  </a:lnTo>
                  <a:lnTo>
                    <a:pt x="241731" y="371475"/>
                  </a:lnTo>
                  <a:lnTo>
                    <a:pt x="327037" y="371475"/>
                  </a:lnTo>
                  <a:lnTo>
                    <a:pt x="327037" y="355511"/>
                  </a:lnTo>
                  <a:close/>
                </a:path>
                <a:path w="341629" h="371475">
                  <a:moveTo>
                    <a:pt x="341261" y="64287"/>
                  </a:moveTo>
                  <a:lnTo>
                    <a:pt x="336499" y="38709"/>
                  </a:lnTo>
                  <a:lnTo>
                    <a:pt x="324065" y="19596"/>
                  </a:lnTo>
                  <a:lnTo>
                    <a:pt x="324065" y="64287"/>
                  </a:lnTo>
                  <a:lnTo>
                    <a:pt x="320573" y="83591"/>
                  </a:lnTo>
                  <a:lnTo>
                    <a:pt x="310870" y="98894"/>
                  </a:lnTo>
                  <a:lnTo>
                    <a:pt x="296100" y="108966"/>
                  </a:lnTo>
                  <a:lnTo>
                    <a:pt x="277431" y="112598"/>
                  </a:lnTo>
                  <a:lnTo>
                    <a:pt x="258724" y="108966"/>
                  </a:lnTo>
                  <a:lnTo>
                    <a:pt x="243852" y="98894"/>
                  </a:lnTo>
                  <a:lnTo>
                    <a:pt x="234035" y="83591"/>
                  </a:lnTo>
                  <a:lnTo>
                    <a:pt x="230492" y="64287"/>
                  </a:lnTo>
                  <a:lnTo>
                    <a:pt x="234073" y="44996"/>
                  </a:lnTo>
                  <a:lnTo>
                    <a:pt x="243967" y="29692"/>
                  </a:lnTo>
                  <a:lnTo>
                    <a:pt x="258851" y="19608"/>
                  </a:lnTo>
                  <a:lnTo>
                    <a:pt x="277431" y="15976"/>
                  </a:lnTo>
                  <a:lnTo>
                    <a:pt x="295960" y="19608"/>
                  </a:lnTo>
                  <a:lnTo>
                    <a:pt x="310743" y="29692"/>
                  </a:lnTo>
                  <a:lnTo>
                    <a:pt x="320522" y="44996"/>
                  </a:lnTo>
                  <a:lnTo>
                    <a:pt x="324065" y="64287"/>
                  </a:lnTo>
                  <a:lnTo>
                    <a:pt x="324065" y="19596"/>
                  </a:lnTo>
                  <a:lnTo>
                    <a:pt x="323253" y="18338"/>
                  </a:lnTo>
                  <a:lnTo>
                    <a:pt x="319747" y="15976"/>
                  </a:lnTo>
                  <a:lnTo>
                    <a:pt x="303034" y="4864"/>
                  </a:lnTo>
                  <a:lnTo>
                    <a:pt x="277431" y="0"/>
                  </a:lnTo>
                  <a:lnTo>
                    <a:pt x="251815" y="4864"/>
                  </a:lnTo>
                  <a:lnTo>
                    <a:pt x="231508" y="18338"/>
                  </a:lnTo>
                  <a:lnTo>
                    <a:pt x="218122" y="38709"/>
                  </a:lnTo>
                  <a:lnTo>
                    <a:pt x="213296" y="64287"/>
                  </a:lnTo>
                  <a:lnTo>
                    <a:pt x="216966" y="83591"/>
                  </a:lnTo>
                  <a:lnTo>
                    <a:pt x="252082" y="123736"/>
                  </a:lnTo>
                  <a:lnTo>
                    <a:pt x="277431" y="128587"/>
                  </a:lnTo>
                  <a:lnTo>
                    <a:pt x="302869" y="123736"/>
                  </a:lnTo>
                  <a:lnTo>
                    <a:pt x="319633" y="112598"/>
                  </a:lnTo>
                  <a:lnTo>
                    <a:pt x="323088" y="110312"/>
                  </a:lnTo>
                  <a:lnTo>
                    <a:pt x="336435" y="89941"/>
                  </a:lnTo>
                  <a:lnTo>
                    <a:pt x="341261" y="64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8">
            <a:extLst>
              <a:ext uri="{FF2B5EF4-FFF2-40B4-BE49-F238E27FC236}">
                <a16:creationId xmlns:a16="http://schemas.microsoft.com/office/drawing/2014/main" id="{55E4262E-B240-3CC5-6FD0-778E476B42CA}"/>
              </a:ext>
            </a:extLst>
          </p:cNvPr>
          <p:cNvSpPr txBox="1"/>
          <p:nvPr/>
        </p:nvSpPr>
        <p:spPr>
          <a:xfrm>
            <a:off x="355803" y="362153"/>
            <a:ext cx="8178597" cy="886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spcBef>
                <a:spcPts val="95"/>
              </a:spcBef>
            </a:pPr>
            <a:r>
              <a:rPr lang="ru-RU" sz="3200" b="1" dirty="0">
                <a:solidFill>
                  <a:srgbClr val="434754"/>
                </a:solidFill>
                <a:latin typeface="Segoe UI"/>
                <a:ea typeface="Segoe UI Symbol" panose="020B0502040204020203" pitchFamily="34" charset="0"/>
                <a:cs typeface="Segoe UI"/>
              </a:rPr>
              <a:t>Системный эффект для ГК </a:t>
            </a:r>
            <a:r>
              <a:rPr lang="en-US" sz="3200" b="1" dirty="0">
                <a:solidFill>
                  <a:srgbClr val="434754"/>
                </a:solidFill>
                <a:latin typeface="Segoe UI"/>
                <a:ea typeface="Segoe UI Symbol" panose="020B0502040204020203" pitchFamily="34" charset="0"/>
                <a:cs typeface="Segoe UI"/>
              </a:rPr>
              <a:t>Softline</a:t>
            </a:r>
            <a:endParaRPr lang="ru-RU" sz="3200" b="1" dirty="0">
              <a:solidFill>
                <a:srgbClr val="434754"/>
              </a:solidFill>
              <a:latin typeface="Segoe UI"/>
              <a:ea typeface="Segoe UI Symbol" panose="020B0502040204020203" pitchFamily="34" charset="0"/>
              <a:cs typeface="Segoe UI"/>
            </a:endParaRPr>
          </a:p>
          <a:p>
            <a:pPr marL="12700" algn="l">
              <a:spcBef>
                <a:spcPts val="95"/>
              </a:spcBef>
            </a:pPr>
            <a:endParaRPr sz="2400" b="1" dirty="0">
              <a:solidFill>
                <a:srgbClr val="434754"/>
              </a:solidFill>
              <a:latin typeface="Segoe UI Symbol" panose="020B0502040204020203" pitchFamily="34" charset="0"/>
              <a:ea typeface="Segoe UI Symbol" panose="020B0502040204020203" pitchFamily="34" charset="0"/>
              <a:cs typeface="Segoe UI"/>
            </a:endParaRPr>
          </a:p>
        </p:txBody>
      </p:sp>
      <p:sp>
        <p:nvSpPr>
          <p:cNvPr id="19" name="object 16">
            <a:extLst>
              <a:ext uri="{FF2B5EF4-FFF2-40B4-BE49-F238E27FC236}">
                <a16:creationId xmlns:a16="http://schemas.microsoft.com/office/drawing/2014/main" id="{DFF4FB84-D482-9E8C-9883-F6EFE4BC8019}"/>
              </a:ext>
            </a:extLst>
          </p:cNvPr>
          <p:cNvSpPr txBox="1"/>
          <p:nvPr/>
        </p:nvSpPr>
        <p:spPr>
          <a:xfrm>
            <a:off x="609601" y="1676400"/>
            <a:ext cx="11353800" cy="15202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4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Для бизнеса дистрибуции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ru-RU" sz="14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Для сервисного бизнеса (</a:t>
            </a:r>
            <a:r>
              <a:rPr lang="en" sz="14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Professional &amp; Managed Services)</a:t>
            </a:r>
            <a:endParaRPr lang="ru-RU" sz="14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ru-RU" sz="14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Для бизнеса собственной разработки ПО (</a:t>
            </a:r>
            <a:r>
              <a:rPr lang="en" sz="1400" b="1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Develonika</a:t>
            </a:r>
            <a:r>
              <a:rPr lang="en" sz="14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, </a:t>
            </a:r>
            <a:r>
              <a:rPr lang="en-US" sz="1400" b="1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CloudMaster</a:t>
            </a:r>
            <a:r>
              <a:rPr lang="en-US" sz="14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, </a:t>
            </a:r>
            <a:r>
              <a:rPr lang="en-US" sz="1400" b="1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TestIt</a:t>
            </a:r>
            <a:r>
              <a:rPr lang="en-US" sz="14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, </a:t>
            </a:r>
            <a:r>
              <a:rPr lang="en-US" sz="1400" b="1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etc</a:t>
            </a:r>
            <a:r>
              <a:rPr lang="en" sz="14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)</a:t>
            </a:r>
            <a:endParaRPr lang="ru-RU" sz="14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sz="14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Для общего позиционирования и конкуренции</a:t>
            </a:r>
          </a:p>
        </p:txBody>
      </p:sp>
    </p:spTree>
    <p:extLst>
      <p:ext uri="{BB962C8B-B14F-4D97-AF65-F5344CB8AC3E}">
        <p14:creationId xmlns:p14="http://schemas.microsoft.com/office/powerpoint/2010/main" val="1516423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67189" y="367147"/>
            <a:ext cx="441325" cy="457200"/>
            <a:chOff x="11367189" y="367147"/>
            <a:chExt cx="441325" cy="457200"/>
          </a:xfrm>
        </p:grpSpPr>
        <p:sp>
          <p:nvSpPr>
            <p:cNvPr id="3" name="object 3"/>
            <p:cNvSpPr/>
            <p:nvPr/>
          </p:nvSpPr>
          <p:spPr>
            <a:xfrm>
              <a:off x="11367186" y="610031"/>
              <a:ext cx="441325" cy="214629"/>
            </a:xfrm>
            <a:custGeom>
              <a:avLst/>
              <a:gdLst/>
              <a:ahLst/>
              <a:cxnLst/>
              <a:rect l="l" t="t" r="r" b="b"/>
              <a:pathLst>
                <a:path w="441325" h="214630">
                  <a:moveTo>
                    <a:pt x="213283" y="0"/>
                  </a:moveTo>
                  <a:lnTo>
                    <a:pt x="0" y="0"/>
                  </a:lnTo>
                  <a:lnTo>
                    <a:pt x="0" y="214312"/>
                  </a:lnTo>
                  <a:lnTo>
                    <a:pt x="213283" y="214325"/>
                  </a:lnTo>
                  <a:lnTo>
                    <a:pt x="213283" y="0"/>
                  </a:lnTo>
                  <a:close/>
                </a:path>
                <a:path w="441325" h="214630">
                  <a:moveTo>
                    <a:pt x="440791" y="0"/>
                  </a:moveTo>
                  <a:lnTo>
                    <a:pt x="227495" y="0"/>
                  </a:lnTo>
                  <a:lnTo>
                    <a:pt x="227495" y="214325"/>
                  </a:lnTo>
                  <a:lnTo>
                    <a:pt x="440791" y="214325"/>
                  </a:lnTo>
                  <a:lnTo>
                    <a:pt x="440791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67189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A40D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94692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24057" y="410019"/>
              <a:ext cx="341630" cy="371475"/>
            </a:xfrm>
            <a:custGeom>
              <a:avLst/>
              <a:gdLst/>
              <a:ahLst/>
              <a:cxnLst/>
              <a:rect l="l" t="t" r="r" b="b"/>
              <a:pathLst>
                <a:path w="341629" h="371475">
                  <a:moveTo>
                    <a:pt x="85318" y="242887"/>
                  </a:moveTo>
                  <a:lnTo>
                    <a:pt x="0" y="242887"/>
                  </a:lnTo>
                  <a:lnTo>
                    <a:pt x="0" y="371475"/>
                  </a:lnTo>
                  <a:lnTo>
                    <a:pt x="17284" y="371475"/>
                  </a:lnTo>
                  <a:lnTo>
                    <a:pt x="17284" y="319481"/>
                  </a:lnTo>
                  <a:lnTo>
                    <a:pt x="77914" y="319481"/>
                  </a:lnTo>
                  <a:lnTo>
                    <a:pt x="77914" y="303682"/>
                  </a:lnTo>
                  <a:lnTo>
                    <a:pt x="17284" y="303682"/>
                  </a:lnTo>
                  <a:lnTo>
                    <a:pt x="17284" y="258851"/>
                  </a:lnTo>
                  <a:lnTo>
                    <a:pt x="85318" y="258851"/>
                  </a:lnTo>
                  <a:lnTo>
                    <a:pt x="85318" y="242887"/>
                  </a:lnTo>
                  <a:close/>
                </a:path>
                <a:path w="341629" h="371475">
                  <a:moveTo>
                    <a:pt x="85318" y="92837"/>
                  </a:moveTo>
                  <a:lnTo>
                    <a:pt x="74828" y="68681"/>
                  </a:lnTo>
                  <a:lnTo>
                    <a:pt x="51752" y="58229"/>
                  </a:lnTo>
                  <a:lnTo>
                    <a:pt x="28689" y="50673"/>
                  </a:lnTo>
                  <a:lnTo>
                    <a:pt x="18199" y="35217"/>
                  </a:lnTo>
                  <a:lnTo>
                    <a:pt x="19748" y="27482"/>
                  </a:lnTo>
                  <a:lnTo>
                    <a:pt x="24587" y="21145"/>
                  </a:lnTo>
                  <a:lnTo>
                    <a:pt x="32956" y="16852"/>
                  </a:lnTo>
                  <a:lnTo>
                    <a:pt x="45110" y="15278"/>
                  </a:lnTo>
                  <a:lnTo>
                    <a:pt x="52641" y="15887"/>
                  </a:lnTo>
                  <a:lnTo>
                    <a:pt x="60363" y="17754"/>
                  </a:lnTo>
                  <a:lnTo>
                    <a:pt x="68072" y="20942"/>
                  </a:lnTo>
                  <a:lnTo>
                    <a:pt x="75514" y="25488"/>
                  </a:lnTo>
                  <a:lnTo>
                    <a:pt x="80746" y="11112"/>
                  </a:lnTo>
                  <a:lnTo>
                    <a:pt x="73126" y="6350"/>
                  </a:lnTo>
                  <a:lnTo>
                    <a:pt x="64338" y="2870"/>
                  </a:lnTo>
                  <a:lnTo>
                    <a:pt x="54851" y="723"/>
                  </a:lnTo>
                  <a:lnTo>
                    <a:pt x="45110" y="0"/>
                  </a:lnTo>
                  <a:lnTo>
                    <a:pt x="26200" y="2882"/>
                  </a:lnTo>
                  <a:lnTo>
                    <a:pt x="12979" y="10680"/>
                  </a:lnTo>
                  <a:lnTo>
                    <a:pt x="5219" y="22110"/>
                  </a:lnTo>
                  <a:lnTo>
                    <a:pt x="2692" y="35915"/>
                  </a:lnTo>
                  <a:lnTo>
                    <a:pt x="13182" y="60337"/>
                  </a:lnTo>
                  <a:lnTo>
                    <a:pt x="36245" y="70904"/>
                  </a:lnTo>
                  <a:lnTo>
                    <a:pt x="59321" y="78460"/>
                  </a:lnTo>
                  <a:lnTo>
                    <a:pt x="69811" y="93891"/>
                  </a:lnTo>
                  <a:lnTo>
                    <a:pt x="68224" y="101549"/>
                  </a:lnTo>
                  <a:lnTo>
                    <a:pt x="63296" y="107708"/>
                  </a:lnTo>
                  <a:lnTo>
                    <a:pt x="54775" y="111810"/>
                  </a:lnTo>
                  <a:lnTo>
                    <a:pt x="42418" y="113296"/>
                  </a:lnTo>
                  <a:lnTo>
                    <a:pt x="31864" y="112217"/>
                  </a:lnTo>
                  <a:lnTo>
                    <a:pt x="21894" y="109194"/>
                  </a:lnTo>
                  <a:lnTo>
                    <a:pt x="13042" y="104597"/>
                  </a:lnTo>
                  <a:lnTo>
                    <a:pt x="5842" y="98755"/>
                  </a:lnTo>
                  <a:lnTo>
                    <a:pt x="0" y="112763"/>
                  </a:lnTo>
                  <a:lnTo>
                    <a:pt x="7988" y="119176"/>
                  </a:lnTo>
                  <a:lnTo>
                    <a:pt x="18186" y="124180"/>
                  </a:lnTo>
                  <a:lnTo>
                    <a:pt x="29908" y="127431"/>
                  </a:lnTo>
                  <a:lnTo>
                    <a:pt x="42418" y="128587"/>
                  </a:lnTo>
                  <a:lnTo>
                    <a:pt x="61480" y="125691"/>
                  </a:lnTo>
                  <a:lnTo>
                    <a:pt x="74853" y="117906"/>
                  </a:lnTo>
                  <a:lnTo>
                    <a:pt x="82727" y="106514"/>
                  </a:lnTo>
                  <a:lnTo>
                    <a:pt x="85318" y="92837"/>
                  </a:lnTo>
                  <a:close/>
                </a:path>
                <a:path w="341629" h="371475">
                  <a:moveTo>
                    <a:pt x="327037" y="355511"/>
                  </a:moveTo>
                  <a:lnTo>
                    <a:pt x="259549" y="355511"/>
                  </a:lnTo>
                  <a:lnTo>
                    <a:pt x="259549" y="242938"/>
                  </a:lnTo>
                  <a:lnTo>
                    <a:pt x="241731" y="242938"/>
                  </a:lnTo>
                  <a:lnTo>
                    <a:pt x="241731" y="371475"/>
                  </a:lnTo>
                  <a:lnTo>
                    <a:pt x="327037" y="371475"/>
                  </a:lnTo>
                  <a:lnTo>
                    <a:pt x="327037" y="355511"/>
                  </a:lnTo>
                  <a:close/>
                </a:path>
                <a:path w="341629" h="371475">
                  <a:moveTo>
                    <a:pt x="341261" y="64287"/>
                  </a:moveTo>
                  <a:lnTo>
                    <a:pt x="336499" y="38709"/>
                  </a:lnTo>
                  <a:lnTo>
                    <a:pt x="324065" y="19596"/>
                  </a:lnTo>
                  <a:lnTo>
                    <a:pt x="324065" y="64287"/>
                  </a:lnTo>
                  <a:lnTo>
                    <a:pt x="320573" y="83591"/>
                  </a:lnTo>
                  <a:lnTo>
                    <a:pt x="310870" y="98894"/>
                  </a:lnTo>
                  <a:lnTo>
                    <a:pt x="296100" y="108966"/>
                  </a:lnTo>
                  <a:lnTo>
                    <a:pt x="277431" y="112598"/>
                  </a:lnTo>
                  <a:lnTo>
                    <a:pt x="258724" y="108966"/>
                  </a:lnTo>
                  <a:lnTo>
                    <a:pt x="243852" y="98894"/>
                  </a:lnTo>
                  <a:lnTo>
                    <a:pt x="234035" y="83591"/>
                  </a:lnTo>
                  <a:lnTo>
                    <a:pt x="230492" y="64287"/>
                  </a:lnTo>
                  <a:lnTo>
                    <a:pt x="234073" y="44996"/>
                  </a:lnTo>
                  <a:lnTo>
                    <a:pt x="243967" y="29692"/>
                  </a:lnTo>
                  <a:lnTo>
                    <a:pt x="258851" y="19608"/>
                  </a:lnTo>
                  <a:lnTo>
                    <a:pt x="277431" y="15976"/>
                  </a:lnTo>
                  <a:lnTo>
                    <a:pt x="295960" y="19608"/>
                  </a:lnTo>
                  <a:lnTo>
                    <a:pt x="310743" y="29692"/>
                  </a:lnTo>
                  <a:lnTo>
                    <a:pt x="320522" y="44996"/>
                  </a:lnTo>
                  <a:lnTo>
                    <a:pt x="324065" y="64287"/>
                  </a:lnTo>
                  <a:lnTo>
                    <a:pt x="324065" y="19596"/>
                  </a:lnTo>
                  <a:lnTo>
                    <a:pt x="323253" y="18338"/>
                  </a:lnTo>
                  <a:lnTo>
                    <a:pt x="319747" y="15976"/>
                  </a:lnTo>
                  <a:lnTo>
                    <a:pt x="303034" y="4864"/>
                  </a:lnTo>
                  <a:lnTo>
                    <a:pt x="277431" y="0"/>
                  </a:lnTo>
                  <a:lnTo>
                    <a:pt x="251815" y="4864"/>
                  </a:lnTo>
                  <a:lnTo>
                    <a:pt x="231508" y="18338"/>
                  </a:lnTo>
                  <a:lnTo>
                    <a:pt x="218122" y="38709"/>
                  </a:lnTo>
                  <a:lnTo>
                    <a:pt x="213296" y="64287"/>
                  </a:lnTo>
                  <a:lnTo>
                    <a:pt x="216966" y="83591"/>
                  </a:lnTo>
                  <a:lnTo>
                    <a:pt x="252082" y="123736"/>
                  </a:lnTo>
                  <a:lnTo>
                    <a:pt x="277431" y="128587"/>
                  </a:lnTo>
                  <a:lnTo>
                    <a:pt x="302869" y="123736"/>
                  </a:lnTo>
                  <a:lnTo>
                    <a:pt x="319633" y="112598"/>
                  </a:lnTo>
                  <a:lnTo>
                    <a:pt x="323088" y="110312"/>
                  </a:lnTo>
                  <a:lnTo>
                    <a:pt x="336435" y="89941"/>
                  </a:lnTo>
                  <a:lnTo>
                    <a:pt x="341261" y="64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68300" y="6448145"/>
            <a:ext cx="2787650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solidFill>
                  <a:srgbClr val="828591"/>
                </a:solidFill>
                <a:latin typeface="Segoe UI"/>
                <a:cs typeface="Segoe UI"/>
              </a:rPr>
              <a:t>Источник:</a:t>
            </a:r>
            <a:r>
              <a:rPr sz="800" spc="-25" dirty="0">
                <a:solidFill>
                  <a:srgbClr val="828591"/>
                </a:solidFill>
                <a:latin typeface="Segoe UI"/>
                <a:cs typeface="Segoe UI"/>
              </a:rPr>
              <a:t> </a:t>
            </a:r>
            <a:r>
              <a:rPr lang="en-US" sz="800" spc="-25" dirty="0" err="1">
                <a:solidFill>
                  <a:srgbClr val="828591"/>
                </a:solidFill>
                <a:latin typeface="Segoe UI"/>
                <a:cs typeface="Segoe UI"/>
              </a:rPr>
              <a:t>iKS</a:t>
            </a:r>
            <a:r>
              <a:rPr lang="en-US" sz="800" spc="-25" dirty="0">
                <a:solidFill>
                  <a:srgbClr val="828591"/>
                </a:solidFill>
                <a:latin typeface="Segoe UI"/>
                <a:cs typeface="Segoe UI"/>
              </a:rPr>
              <a:t> Consulting, 2024</a:t>
            </a:r>
            <a:endParaRPr sz="800" dirty="0">
              <a:latin typeface="Segoe UI"/>
              <a:cs typeface="Segoe UI"/>
            </a:endParaRPr>
          </a:p>
        </p:txBody>
      </p:sp>
      <p:sp>
        <p:nvSpPr>
          <p:cNvPr id="39" name="object 8">
            <a:extLst>
              <a:ext uri="{FF2B5EF4-FFF2-40B4-BE49-F238E27FC236}">
                <a16:creationId xmlns:a16="http://schemas.microsoft.com/office/drawing/2014/main" id="{55E4262E-B240-3CC5-6FD0-778E476B42CA}"/>
              </a:ext>
            </a:extLst>
          </p:cNvPr>
          <p:cNvSpPr txBox="1"/>
          <p:nvPr/>
        </p:nvSpPr>
        <p:spPr>
          <a:xfrm>
            <a:off x="355803" y="362153"/>
            <a:ext cx="515302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200" b="1" dirty="0">
                <a:solidFill>
                  <a:srgbClr val="434754"/>
                </a:solidFill>
                <a:latin typeface="Segoe UI"/>
                <a:ea typeface="Segoe UI Symbol" panose="020B0502040204020203" pitchFamily="34" charset="0"/>
                <a:cs typeface="Segoe UI"/>
              </a:rPr>
              <a:t>Объем рынка</a:t>
            </a:r>
            <a:endParaRPr sz="2400" b="1" dirty="0">
              <a:solidFill>
                <a:srgbClr val="434754"/>
              </a:solidFill>
              <a:latin typeface="Segoe UI Symbol" panose="020B0502040204020203" pitchFamily="34" charset="0"/>
              <a:ea typeface="Segoe UI Symbol" panose="020B0502040204020203" pitchFamily="34" charset="0"/>
              <a:cs typeface="Segoe UI"/>
            </a:endParaRPr>
          </a:p>
        </p:txBody>
      </p:sp>
      <p:sp>
        <p:nvSpPr>
          <p:cNvPr id="45" name="object 16">
            <a:extLst>
              <a:ext uri="{FF2B5EF4-FFF2-40B4-BE49-F238E27FC236}">
                <a16:creationId xmlns:a16="http://schemas.microsoft.com/office/drawing/2014/main" id="{CF3FE10F-AC3C-0745-CE67-75B28708281F}"/>
              </a:ext>
            </a:extLst>
          </p:cNvPr>
          <p:cNvSpPr txBox="1"/>
          <p:nvPr/>
        </p:nvSpPr>
        <p:spPr>
          <a:xfrm>
            <a:off x="401636" y="1295401"/>
            <a:ext cx="6211685" cy="7303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84480">
              <a:lnSpc>
                <a:spcPct val="100000"/>
              </a:lnSpc>
              <a:spcBef>
                <a:spcPts val="95"/>
              </a:spcBef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Рынок в России вырастит в 2,7 раза.</a:t>
            </a:r>
          </a:p>
          <a:p>
            <a:pPr marL="12700" marR="284480">
              <a:lnSpc>
                <a:spcPct val="100000"/>
              </a:lnSpc>
              <a:spcBef>
                <a:spcPts val="95"/>
              </a:spcBef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До 465 млрд руб. с 2024 до 2028 года. </a:t>
            </a:r>
          </a:p>
          <a:p>
            <a:pPr marL="12700" marR="284480">
              <a:lnSpc>
                <a:spcPct val="100000"/>
              </a:lnSpc>
              <a:spcBef>
                <a:spcPts val="95"/>
              </a:spcBef>
            </a:pP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CAGR ~21% 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до 202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8</a:t>
            </a: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</p:txBody>
      </p:sp>
      <p:graphicFrame>
        <p:nvGraphicFramePr>
          <p:cNvPr id="47" name="Диаграмма 46">
            <a:extLst>
              <a:ext uri="{FF2B5EF4-FFF2-40B4-BE49-F238E27FC236}">
                <a16:creationId xmlns:a16="http://schemas.microsoft.com/office/drawing/2014/main" id="{C8B1E661-3E48-AC08-B624-937925CB96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9649000"/>
              </p:ext>
            </p:extLst>
          </p:nvPr>
        </p:nvGraphicFramePr>
        <p:xfrm>
          <a:off x="423407" y="2316721"/>
          <a:ext cx="6211685" cy="3425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8" name="object 20">
            <a:extLst>
              <a:ext uri="{FF2B5EF4-FFF2-40B4-BE49-F238E27FC236}">
                <a16:creationId xmlns:a16="http://schemas.microsoft.com/office/drawing/2014/main" id="{869E1B26-0BD9-E56F-87D4-29654A6903CF}"/>
              </a:ext>
            </a:extLst>
          </p:cNvPr>
          <p:cNvSpPr/>
          <p:nvPr/>
        </p:nvSpPr>
        <p:spPr>
          <a:xfrm>
            <a:off x="7162799" y="1295401"/>
            <a:ext cx="4417749" cy="4584713"/>
          </a:xfrm>
          <a:custGeom>
            <a:avLst/>
            <a:gdLst/>
            <a:ahLst/>
            <a:cxnLst/>
            <a:rect l="l" t="t" r="r" b="b"/>
            <a:pathLst>
              <a:path w="5637530" h="1367155">
                <a:moveTo>
                  <a:pt x="5591556" y="0"/>
                </a:moveTo>
                <a:lnTo>
                  <a:pt x="45732" y="0"/>
                </a:lnTo>
                <a:lnTo>
                  <a:pt x="27930" y="3589"/>
                </a:lnTo>
                <a:lnTo>
                  <a:pt x="13393" y="13382"/>
                </a:lnTo>
                <a:lnTo>
                  <a:pt x="3593" y="27914"/>
                </a:lnTo>
                <a:lnTo>
                  <a:pt x="0" y="45719"/>
                </a:lnTo>
                <a:lnTo>
                  <a:pt x="0" y="1321308"/>
                </a:lnTo>
                <a:lnTo>
                  <a:pt x="3593" y="1339113"/>
                </a:lnTo>
                <a:lnTo>
                  <a:pt x="13393" y="1353645"/>
                </a:lnTo>
                <a:lnTo>
                  <a:pt x="27930" y="1363438"/>
                </a:lnTo>
                <a:lnTo>
                  <a:pt x="45732" y="1367027"/>
                </a:lnTo>
                <a:lnTo>
                  <a:pt x="5591556" y="1367027"/>
                </a:lnTo>
                <a:lnTo>
                  <a:pt x="5609361" y="1363438"/>
                </a:lnTo>
                <a:lnTo>
                  <a:pt x="5623893" y="1353645"/>
                </a:lnTo>
                <a:lnTo>
                  <a:pt x="5633686" y="1339113"/>
                </a:lnTo>
                <a:lnTo>
                  <a:pt x="5637276" y="1321308"/>
                </a:lnTo>
                <a:lnTo>
                  <a:pt x="5637276" y="45719"/>
                </a:lnTo>
                <a:lnTo>
                  <a:pt x="5633686" y="27914"/>
                </a:lnTo>
                <a:lnTo>
                  <a:pt x="5623893" y="13382"/>
                </a:lnTo>
                <a:lnTo>
                  <a:pt x="5609361" y="3589"/>
                </a:lnTo>
                <a:lnTo>
                  <a:pt x="5591556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22">
            <a:extLst>
              <a:ext uri="{FF2B5EF4-FFF2-40B4-BE49-F238E27FC236}">
                <a16:creationId xmlns:a16="http://schemas.microsoft.com/office/drawing/2014/main" id="{FA9D7267-2DA8-E5B2-C3C1-F829D1161254}"/>
              </a:ext>
            </a:extLst>
          </p:cNvPr>
          <p:cNvSpPr txBox="1">
            <a:spLocks/>
          </p:cNvSpPr>
          <p:nvPr/>
        </p:nvSpPr>
        <p:spPr>
          <a:xfrm>
            <a:off x="7288783" y="1440958"/>
            <a:ext cx="4040303" cy="47525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500" b="1" i="0">
                <a:solidFill>
                  <a:srgbClr val="434754"/>
                </a:solidFill>
                <a:latin typeface="Segoe UI"/>
                <a:ea typeface="+mn-ea"/>
                <a:cs typeface="Segoe U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0005"/>
            <a:r>
              <a:rPr lang="ru-RU" sz="2700" spc="-10" dirty="0">
                <a:solidFill>
                  <a:srgbClr val="BE1743"/>
                </a:solidFill>
              </a:rPr>
              <a:t>Рынок</a:t>
            </a:r>
            <a:endParaRPr lang="ru-RU" sz="27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TAM – 463 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млрд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</a:t>
            </a:r>
            <a:r>
              <a:rPr lang="ru-RU" sz="1500" b="1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руб</a:t>
            </a: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b="1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S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A</a:t>
            </a:r>
            <a:r>
              <a:rPr lang="en-US" dirty="0"/>
              <a:t>M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(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Потенциальный</a:t>
            </a:r>
            <a:r>
              <a:rPr lang="en-US" dirty="0"/>
              <a:t>) – 139 </a:t>
            </a:r>
            <a:r>
              <a:rPr lang="ru-RU" dirty="0"/>
              <a:t>млрд </a:t>
            </a:r>
            <a:r>
              <a:rPr lang="ru-RU" dirty="0" err="1"/>
              <a:t>руб</a:t>
            </a:r>
            <a:endParaRPr lang="ru-RU" dirty="0"/>
          </a:p>
          <a:p>
            <a:r>
              <a:rPr lang="en-US" b="0" dirty="0"/>
              <a:t>     30-50 % </a:t>
            </a:r>
            <a:r>
              <a:rPr lang="ru-RU" b="0" dirty="0"/>
              <a:t>от</a:t>
            </a:r>
            <a:r>
              <a:rPr lang="en-US" b="0" dirty="0"/>
              <a:t> TAM </a:t>
            </a:r>
          </a:p>
          <a:p>
            <a:endParaRPr lang="en-US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</a:t>
            </a:r>
            <a:r>
              <a:rPr lang="ru-RU" dirty="0"/>
              <a:t> 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(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Потенциальный</a:t>
            </a:r>
            <a:r>
              <a:rPr lang="en-US" dirty="0"/>
              <a:t>) – 46 </a:t>
            </a:r>
            <a:r>
              <a:rPr lang="ru-RU" dirty="0"/>
              <a:t>млрд </a:t>
            </a:r>
            <a:r>
              <a:rPr lang="ru-RU" dirty="0" err="1"/>
              <a:t>руб</a:t>
            </a: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r>
              <a:rPr lang="en-US" b="0" dirty="0"/>
              <a:t>     10-15 % </a:t>
            </a:r>
            <a:r>
              <a:rPr lang="ru-RU" b="0" dirty="0"/>
              <a:t>от</a:t>
            </a:r>
            <a:r>
              <a:rPr lang="en-US" b="0" dirty="0"/>
              <a:t> SAM</a:t>
            </a:r>
            <a:endParaRPr lang="ru-RU" b="0" dirty="0"/>
          </a:p>
          <a:p>
            <a:endParaRPr lang="ru-RU" b="0" dirty="0"/>
          </a:p>
          <a:p>
            <a:pPr>
              <a:spcBef>
                <a:spcPts val="1200"/>
              </a:spcBef>
            </a:pPr>
            <a:r>
              <a:rPr lang="ru-RU" sz="1600" dirty="0"/>
              <a:t>Структура рынка: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b="0" dirty="0"/>
              <a:t>IaaS — </a:t>
            </a:r>
            <a:r>
              <a:rPr lang="ru-RU" b="0" dirty="0"/>
              <a:t>доминирующий сегмент (~70%)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b="0" dirty="0"/>
              <a:t>PaaS — </a:t>
            </a:r>
            <a:r>
              <a:rPr lang="ru-RU" b="0" dirty="0"/>
              <a:t>растущий сегмент (~9%), потенциал для дифференциации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b="0" dirty="0"/>
              <a:t>SaaS/</a:t>
            </a:r>
            <a:r>
              <a:rPr lang="ru-RU" b="0" dirty="0"/>
              <a:t>отраслевые решения — доп. источник роста</a:t>
            </a:r>
          </a:p>
          <a:p>
            <a:endParaRPr lang="en-US" b="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8934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67189" y="367147"/>
            <a:ext cx="441325" cy="457200"/>
            <a:chOff x="11367189" y="367147"/>
            <a:chExt cx="441325" cy="457200"/>
          </a:xfrm>
        </p:grpSpPr>
        <p:sp>
          <p:nvSpPr>
            <p:cNvPr id="3" name="object 3"/>
            <p:cNvSpPr/>
            <p:nvPr/>
          </p:nvSpPr>
          <p:spPr>
            <a:xfrm>
              <a:off x="11367186" y="610031"/>
              <a:ext cx="441325" cy="214629"/>
            </a:xfrm>
            <a:custGeom>
              <a:avLst/>
              <a:gdLst/>
              <a:ahLst/>
              <a:cxnLst/>
              <a:rect l="l" t="t" r="r" b="b"/>
              <a:pathLst>
                <a:path w="441325" h="214630">
                  <a:moveTo>
                    <a:pt x="213283" y="0"/>
                  </a:moveTo>
                  <a:lnTo>
                    <a:pt x="0" y="0"/>
                  </a:lnTo>
                  <a:lnTo>
                    <a:pt x="0" y="214312"/>
                  </a:lnTo>
                  <a:lnTo>
                    <a:pt x="213283" y="214325"/>
                  </a:lnTo>
                  <a:lnTo>
                    <a:pt x="213283" y="0"/>
                  </a:lnTo>
                  <a:close/>
                </a:path>
                <a:path w="441325" h="214630">
                  <a:moveTo>
                    <a:pt x="440791" y="0"/>
                  </a:moveTo>
                  <a:lnTo>
                    <a:pt x="227495" y="0"/>
                  </a:lnTo>
                  <a:lnTo>
                    <a:pt x="227495" y="214325"/>
                  </a:lnTo>
                  <a:lnTo>
                    <a:pt x="440791" y="214325"/>
                  </a:lnTo>
                  <a:lnTo>
                    <a:pt x="440791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67189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A40D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94692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24057" y="410019"/>
              <a:ext cx="341630" cy="371475"/>
            </a:xfrm>
            <a:custGeom>
              <a:avLst/>
              <a:gdLst/>
              <a:ahLst/>
              <a:cxnLst/>
              <a:rect l="l" t="t" r="r" b="b"/>
              <a:pathLst>
                <a:path w="341629" h="371475">
                  <a:moveTo>
                    <a:pt x="85318" y="242887"/>
                  </a:moveTo>
                  <a:lnTo>
                    <a:pt x="0" y="242887"/>
                  </a:lnTo>
                  <a:lnTo>
                    <a:pt x="0" y="371475"/>
                  </a:lnTo>
                  <a:lnTo>
                    <a:pt x="17284" y="371475"/>
                  </a:lnTo>
                  <a:lnTo>
                    <a:pt x="17284" y="319481"/>
                  </a:lnTo>
                  <a:lnTo>
                    <a:pt x="77914" y="319481"/>
                  </a:lnTo>
                  <a:lnTo>
                    <a:pt x="77914" y="303682"/>
                  </a:lnTo>
                  <a:lnTo>
                    <a:pt x="17284" y="303682"/>
                  </a:lnTo>
                  <a:lnTo>
                    <a:pt x="17284" y="258851"/>
                  </a:lnTo>
                  <a:lnTo>
                    <a:pt x="85318" y="258851"/>
                  </a:lnTo>
                  <a:lnTo>
                    <a:pt x="85318" y="242887"/>
                  </a:lnTo>
                  <a:close/>
                </a:path>
                <a:path w="341629" h="371475">
                  <a:moveTo>
                    <a:pt x="85318" y="92837"/>
                  </a:moveTo>
                  <a:lnTo>
                    <a:pt x="74828" y="68681"/>
                  </a:lnTo>
                  <a:lnTo>
                    <a:pt x="51752" y="58229"/>
                  </a:lnTo>
                  <a:lnTo>
                    <a:pt x="28689" y="50673"/>
                  </a:lnTo>
                  <a:lnTo>
                    <a:pt x="18199" y="35217"/>
                  </a:lnTo>
                  <a:lnTo>
                    <a:pt x="19748" y="27482"/>
                  </a:lnTo>
                  <a:lnTo>
                    <a:pt x="24587" y="21145"/>
                  </a:lnTo>
                  <a:lnTo>
                    <a:pt x="32956" y="16852"/>
                  </a:lnTo>
                  <a:lnTo>
                    <a:pt x="45110" y="15278"/>
                  </a:lnTo>
                  <a:lnTo>
                    <a:pt x="52641" y="15887"/>
                  </a:lnTo>
                  <a:lnTo>
                    <a:pt x="60363" y="17754"/>
                  </a:lnTo>
                  <a:lnTo>
                    <a:pt x="68072" y="20942"/>
                  </a:lnTo>
                  <a:lnTo>
                    <a:pt x="75514" y="25488"/>
                  </a:lnTo>
                  <a:lnTo>
                    <a:pt x="80746" y="11112"/>
                  </a:lnTo>
                  <a:lnTo>
                    <a:pt x="73126" y="6350"/>
                  </a:lnTo>
                  <a:lnTo>
                    <a:pt x="64338" y="2870"/>
                  </a:lnTo>
                  <a:lnTo>
                    <a:pt x="54851" y="723"/>
                  </a:lnTo>
                  <a:lnTo>
                    <a:pt x="45110" y="0"/>
                  </a:lnTo>
                  <a:lnTo>
                    <a:pt x="26200" y="2882"/>
                  </a:lnTo>
                  <a:lnTo>
                    <a:pt x="12979" y="10680"/>
                  </a:lnTo>
                  <a:lnTo>
                    <a:pt x="5219" y="22110"/>
                  </a:lnTo>
                  <a:lnTo>
                    <a:pt x="2692" y="35915"/>
                  </a:lnTo>
                  <a:lnTo>
                    <a:pt x="13182" y="60337"/>
                  </a:lnTo>
                  <a:lnTo>
                    <a:pt x="36245" y="70904"/>
                  </a:lnTo>
                  <a:lnTo>
                    <a:pt x="59321" y="78460"/>
                  </a:lnTo>
                  <a:lnTo>
                    <a:pt x="69811" y="93891"/>
                  </a:lnTo>
                  <a:lnTo>
                    <a:pt x="68224" y="101549"/>
                  </a:lnTo>
                  <a:lnTo>
                    <a:pt x="63296" y="107708"/>
                  </a:lnTo>
                  <a:lnTo>
                    <a:pt x="54775" y="111810"/>
                  </a:lnTo>
                  <a:lnTo>
                    <a:pt x="42418" y="113296"/>
                  </a:lnTo>
                  <a:lnTo>
                    <a:pt x="31864" y="112217"/>
                  </a:lnTo>
                  <a:lnTo>
                    <a:pt x="21894" y="109194"/>
                  </a:lnTo>
                  <a:lnTo>
                    <a:pt x="13042" y="104597"/>
                  </a:lnTo>
                  <a:lnTo>
                    <a:pt x="5842" y="98755"/>
                  </a:lnTo>
                  <a:lnTo>
                    <a:pt x="0" y="112763"/>
                  </a:lnTo>
                  <a:lnTo>
                    <a:pt x="7988" y="119176"/>
                  </a:lnTo>
                  <a:lnTo>
                    <a:pt x="18186" y="124180"/>
                  </a:lnTo>
                  <a:lnTo>
                    <a:pt x="29908" y="127431"/>
                  </a:lnTo>
                  <a:lnTo>
                    <a:pt x="42418" y="128587"/>
                  </a:lnTo>
                  <a:lnTo>
                    <a:pt x="61480" y="125691"/>
                  </a:lnTo>
                  <a:lnTo>
                    <a:pt x="74853" y="117906"/>
                  </a:lnTo>
                  <a:lnTo>
                    <a:pt x="82727" y="106514"/>
                  </a:lnTo>
                  <a:lnTo>
                    <a:pt x="85318" y="92837"/>
                  </a:lnTo>
                  <a:close/>
                </a:path>
                <a:path w="341629" h="371475">
                  <a:moveTo>
                    <a:pt x="327037" y="355511"/>
                  </a:moveTo>
                  <a:lnTo>
                    <a:pt x="259549" y="355511"/>
                  </a:lnTo>
                  <a:lnTo>
                    <a:pt x="259549" y="242938"/>
                  </a:lnTo>
                  <a:lnTo>
                    <a:pt x="241731" y="242938"/>
                  </a:lnTo>
                  <a:lnTo>
                    <a:pt x="241731" y="371475"/>
                  </a:lnTo>
                  <a:lnTo>
                    <a:pt x="327037" y="371475"/>
                  </a:lnTo>
                  <a:lnTo>
                    <a:pt x="327037" y="355511"/>
                  </a:lnTo>
                  <a:close/>
                </a:path>
                <a:path w="341629" h="371475">
                  <a:moveTo>
                    <a:pt x="341261" y="64287"/>
                  </a:moveTo>
                  <a:lnTo>
                    <a:pt x="336499" y="38709"/>
                  </a:lnTo>
                  <a:lnTo>
                    <a:pt x="324065" y="19596"/>
                  </a:lnTo>
                  <a:lnTo>
                    <a:pt x="324065" y="64287"/>
                  </a:lnTo>
                  <a:lnTo>
                    <a:pt x="320573" y="83591"/>
                  </a:lnTo>
                  <a:lnTo>
                    <a:pt x="310870" y="98894"/>
                  </a:lnTo>
                  <a:lnTo>
                    <a:pt x="296100" y="108966"/>
                  </a:lnTo>
                  <a:lnTo>
                    <a:pt x="277431" y="112598"/>
                  </a:lnTo>
                  <a:lnTo>
                    <a:pt x="258724" y="108966"/>
                  </a:lnTo>
                  <a:lnTo>
                    <a:pt x="243852" y="98894"/>
                  </a:lnTo>
                  <a:lnTo>
                    <a:pt x="234035" y="83591"/>
                  </a:lnTo>
                  <a:lnTo>
                    <a:pt x="230492" y="64287"/>
                  </a:lnTo>
                  <a:lnTo>
                    <a:pt x="234073" y="44996"/>
                  </a:lnTo>
                  <a:lnTo>
                    <a:pt x="243967" y="29692"/>
                  </a:lnTo>
                  <a:lnTo>
                    <a:pt x="258851" y="19608"/>
                  </a:lnTo>
                  <a:lnTo>
                    <a:pt x="277431" y="15976"/>
                  </a:lnTo>
                  <a:lnTo>
                    <a:pt x="295960" y="19608"/>
                  </a:lnTo>
                  <a:lnTo>
                    <a:pt x="310743" y="29692"/>
                  </a:lnTo>
                  <a:lnTo>
                    <a:pt x="320522" y="44996"/>
                  </a:lnTo>
                  <a:lnTo>
                    <a:pt x="324065" y="64287"/>
                  </a:lnTo>
                  <a:lnTo>
                    <a:pt x="324065" y="19596"/>
                  </a:lnTo>
                  <a:lnTo>
                    <a:pt x="323253" y="18338"/>
                  </a:lnTo>
                  <a:lnTo>
                    <a:pt x="319747" y="15976"/>
                  </a:lnTo>
                  <a:lnTo>
                    <a:pt x="303034" y="4864"/>
                  </a:lnTo>
                  <a:lnTo>
                    <a:pt x="277431" y="0"/>
                  </a:lnTo>
                  <a:lnTo>
                    <a:pt x="251815" y="4864"/>
                  </a:lnTo>
                  <a:lnTo>
                    <a:pt x="231508" y="18338"/>
                  </a:lnTo>
                  <a:lnTo>
                    <a:pt x="218122" y="38709"/>
                  </a:lnTo>
                  <a:lnTo>
                    <a:pt x="213296" y="64287"/>
                  </a:lnTo>
                  <a:lnTo>
                    <a:pt x="216966" y="83591"/>
                  </a:lnTo>
                  <a:lnTo>
                    <a:pt x="252082" y="123736"/>
                  </a:lnTo>
                  <a:lnTo>
                    <a:pt x="277431" y="128587"/>
                  </a:lnTo>
                  <a:lnTo>
                    <a:pt x="302869" y="123736"/>
                  </a:lnTo>
                  <a:lnTo>
                    <a:pt x="319633" y="112598"/>
                  </a:lnTo>
                  <a:lnTo>
                    <a:pt x="323088" y="110312"/>
                  </a:lnTo>
                  <a:lnTo>
                    <a:pt x="336435" y="89941"/>
                  </a:lnTo>
                  <a:lnTo>
                    <a:pt x="341261" y="64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68300" y="6448145"/>
            <a:ext cx="2787650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solidFill>
                  <a:srgbClr val="828591"/>
                </a:solidFill>
                <a:latin typeface="Segoe UI"/>
                <a:cs typeface="Segoe UI"/>
              </a:rPr>
              <a:t>Источник:</a:t>
            </a:r>
            <a:r>
              <a:rPr sz="800" spc="-25" dirty="0">
                <a:solidFill>
                  <a:srgbClr val="828591"/>
                </a:solidFill>
                <a:latin typeface="Segoe UI"/>
                <a:cs typeface="Segoe UI"/>
              </a:rPr>
              <a:t> </a:t>
            </a:r>
            <a:r>
              <a:rPr lang="en-US" sz="800" spc="-25" dirty="0" err="1">
                <a:solidFill>
                  <a:srgbClr val="828591"/>
                </a:solidFill>
                <a:latin typeface="Segoe UI"/>
                <a:cs typeface="Segoe UI"/>
              </a:rPr>
              <a:t>iKS</a:t>
            </a:r>
            <a:r>
              <a:rPr lang="en-US" sz="800" spc="-25" dirty="0">
                <a:solidFill>
                  <a:srgbClr val="828591"/>
                </a:solidFill>
                <a:latin typeface="Segoe UI"/>
                <a:cs typeface="Segoe UI"/>
              </a:rPr>
              <a:t> Consulting, 2024</a:t>
            </a:r>
            <a:endParaRPr sz="800" dirty="0">
              <a:latin typeface="Segoe UI"/>
              <a:cs typeface="Segoe UI"/>
            </a:endParaRPr>
          </a:p>
        </p:txBody>
      </p:sp>
      <p:sp>
        <p:nvSpPr>
          <p:cNvPr id="39" name="object 8">
            <a:extLst>
              <a:ext uri="{FF2B5EF4-FFF2-40B4-BE49-F238E27FC236}">
                <a16:creationId xmlns:a16="http://schemas.microsoft.com/office/drawing/2014/main" id="{55E4262E-B240-3CC5-6FD0-778E476B42CA}"/>
              </a:ext>
            </a:extLst>
          </p:cNvPr>
          <p:cNvSpPr txBox="1"/>
          <p:nvPr/>
        </p:nvSpPr>
        <p:spPr>
          <a:xfrm>
            <a:off x="355803" y="362153"/>
            <a:ext cx="515302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200" b="1" dirty="0">
                <a:solidFill>
                  <a:srgbClr val="434754"/>
                </a:solidFill>
                <a:latin typeface="Segoe UI"/>
                <a:ea typeface="Segoe UI Symbol" panose="020B0502040204020203" pitchFamily="34" charset="0"/>
                <a:cs typeface="Segoe UI"/>
              </a:rPr>
              <a:t>Доли игроков</a:t>
            </a:r>
            <a:endParaRPr sz="2400" b="1" dirty="0">
              <a:solidFill>
                <a:srgbClr val="434754"/>
              </a:solidFill>
              <a:latin typeface="Segoe UI Symbol" panose="020B0502040204020203" pitchFamily="34" charset="0"/>
              <a:ea typeface="Segoe UI Symbol" panose="020B0502040204020203" pitchFamily="34" charset="0"/>
              <a:cs typeface="Segoe UI"/>
            </a:endParaRP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298D750E-5BCD-38A0-A6B5-21E4F9ED6D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8112208"/>
              </p:ext>
            </p:extLst>
          </p:nvPr>
        </p:nvGraphicFramePr>
        <p:xfrm>
          <a:off x="368300" y="1123622"/>
          <a:ext cx="7684069" cy="50676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object 20">
            <a:extLst>
              <a:ext uri="{FF2B5EF4-FFF2-40B4-BE49-F238E27FC236}">
                <a16:creationId xmlns:a16="http://schemas.microsoft.com/office/drawing/2014/main" id="{74896CA6-A258-F66E-BDE6-8324618DAE17}"/>
              </a:ext>
            </a:extLst>
          </p:cNvPr>
          <p:cNvSpPr/>
          <p:nvPr/>
        </p:nvSpPr>
        <p:spPr>
          <a:xfrm>
            <a:off x="7162799" y="1295401"/>
            <a:ext cx="4417749" cy="4584713"/>
          </a:xfrm>
          <a:custGeom>
            <a:avLst/>
            <a:gdLst/>
            <a:ahLst/>
            <a:cxnLst/>
            <a:rect l="l" t="t" r="r" b="b"/>
            <a:pathLst>
              <a:path w="5637530" h="1367155">
                <a:moveTo>
                  <a:pt x="5591556" y="0"/>
                </a:moveTo>
                <a:lnTo>
                  <a:pt x="45732" y="0"/>
                </a:lnTo>
                <a:lnTo>
                  <a:pt x="27930" y="3589"/>
                </a:lnTo>
                <a:lnTo>
                  <a:pt x="13393" y="13382"/>
                </a:lnTo>
                <a:lnTo>
                  <a:pt x="3593" y="27914"/>
                </a:lnTo>
                <a:lnTo>
                  <a:pt x="0" y="45719"/>
                </a:lnTo>
                <a:lnTo>
                  <a:pt x="0" y="1321308"/>
                </a:lnTo>
                <a:lnTo>
                  <a:pt x="3593" y="1339113"/>
                </a:lnTo>
                <a:lnTo>
                  <a:pt x="13393" y="1353645"/>
                </a:lnTo>
                <a:lnTo>
                  <a:pt x="27930" y="1363438"/>
                </a:lnTo>
                <a:lnTo>
                  <a:pt x="45732" y="1367027"/>
                </a:lnTo>
                <a:lnTo>
                  <a:pt x="5591556" y="1367027"/>
                </a:lnTo>
                <a:lnTo>
                  <a:pt x="5609361" y="1363438"/>
                </a:lnTo>
                <a:lnTo>
                  <a:pt x="5623893" y="1353645"/>
                </a:lnTo>
                <a:lnTo>
                  <a:pt x="5633686" y="1339113"/>
                </a:lnTo>
                <a:lnTo>
                  <a:pt x="5637276" y="1321308"/>
                </a:lnTo>
                <a:lnTo>
                  <a:pt x="5637276" y="45719"/>
                </a:lnTo>
                <a:lnTo>
                  <a:pt x="5633686" y="27914"/>
                </a:lnTo>
                <a:lnTo>
                  <a:pt x="5623893" y="13382"/>
                </a:lnTo>
                <a:lnTo>
                  <a:pt x="5609361" y="3589"/>
                </a:lnTo>
                <a:lnTo>
                  <a:pt x="5591556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2">
            <a:extLst>
              <a:ext uri="{FF2B5EF4-FFF2-40B4-BE49-F238E27FC236}">
                <a16:creationId xmlns:a16="http://schemas.microsoft.com/office/drawing/2014/main" id="{08FAE820-4544-47C6-B318-0314B98FD11B}"/>
              </a:ext>
            </a:extLst>
          </p:cNvPr>
          <p:cNvSpPr txBox="1">
            <a:spLocks/>
          </p:cNvSpPr>
          <p:nvPr/>
        </p:nvSpPr>
        <p:spPr>
          <a:xfrm>
            <a:off x="7288783" y="1440958"/>
            <a:ext cx="4040303" cy="48141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500" b="1" i="0">
                <a:solidFill>
                  <a:srgbClr val="434754"/>
                </a:solidFill>
                <a:latin typeface="Segoe UI"/>
                <a:ea typeface="+mn-ea"/>
                <a:cs typeface="Segoe U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0005"/>
            <a:r>
              <a:rPr lang="ru-RU" sz="2700" spc="-10" dirty="0">
                <a:solidFill>
                  <a:srgbClr val="BE1743"/>
                </a:solidFill>
              </a:rPr>
              <a:t>Тренды</a:t>
            </a:r>
            <a:endParaRPr lang="ru-RU" sz="27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Растущий спрос на </a:t>
            </a:r>
            <a:r>
              <a:rPr lang="en" dirty="0"/>
              <a:t>GPU-</a:t>
            </a:r>
            <a:r>
              <a:rPr lang="ru-RU" dirty="0"/>
              <a:t>инфраструктуру, ИИ-решения, </a:t>
            </a:r>
            <a:r>
              <a:rPr lang="en" dirty="0"/>
              <a:t>ML-</a:t>
            </a:r>
            <a:r>
              <a:rPr lang="ru-RU" dirty="0"/>
              <a:t>проекты</a:t>
            </a:r>
            <a:r>
              <a:rPr lang="en-US" dirty="0"/>
              <a:t>;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Усиление требований к локализации данных, безопасности и</a:t>
            </a:r>
            <a:r>
              <a:rPr lang="en-US" dirty="0"/>
              <a:t> </a:t>
            </a:r>
            <a:r>
              <a:rPr lang="ru-RU" dirty="0" err="1"/>
              <a:t>импортонезависимости</a:t>
            </a:r>
            <a:r>
              <a:rPr lang="en-US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Требования к ИБ (как со стороны регуляторов, так и со стороны бизнеса из-за возросшего кол-ва атака)</a:t>
            </a:r>
            <a:r>
              <a:rPr lang="en-US" dirty="0"/>
              <a:t>;</a:t>
            </a:r>
            <a:r>
              <a:rPr lang="ru-RU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Медленное развитие </a:t>
            </a:r>
            <a:r>
              <a:rPr lang="en" dirty="0"/>
              <a:t>PaaS </a:t>
            </a:r>
            <a:r>
              <a:rPr lang="ru-RU" dirty="0"/>
              <a:t>из-за отсутствия отечественных платформ, но потенциал роста</a:t>
            </a:r>
            <a:r>
              <a:rPr lang="en-US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Недостаток квалифицированных ИТ-специалистов</a:t>
            </a:r>
            <a:r>
              <a:rPr lang="en-US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Замедление темпов роста после 2028</a:t>
            </a:r>
            <a:r>
              <a:rPr lang="en-US" dirty="0"/>
              <a:t> – </a:t>
            </a:r>
            <a:r>
              <a:rPr lang="ru-RU" dirty="0"/>
              <a:t>консолидация игроков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0112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67189" y="367147"/>
            <a:ext cx="441325" cy="457200"/>
            <a:chOff x="11367189" y="367147"/>
            <a:chExt cx="441325" cy="457200"/>
          </a:xfrm>
        </p:grpSpPr>
        <p:sp>
          <p:nvSpPr>
            <p:cNvPr id="3" name="object 3"/>
            <p:cNvSpPr/>
            <p:nvPr/>
          </p:nvSpPr>
          <p:spPr>
            <a:xfrm>
              <a:off x="11367186" y="610031"/>
              <a:ext cx="441325" cy="214629"/>
            </a:xfrm>
            <a:custGeom>
              <a:avLst/>
              <a:gdLst/>
              <a:ahLst/>
              <a:cxnLst/>
              <a:rect l="l" t="t" r="r" b="b"/>
              <a:pathLst>
                <a:path w="441325" h="214630">
                  <a:moveTo>
                    <a:pt x="213283" y="0"/>
                  </a:moveTo>
                  <a:lnTo>
                    <a:pt x="0" y="0"/>
                  </a:lnTo>
                  <a:lnTo>
                    <a:pt x="0" y="214312"/>
                  </a:lnTo>
                  <a:lnTo>
                    <a:pt x="213283" y="214325"/>
                  </a:lnTo>
                  <a:lnTo>
                    <a:pt x="213283" y="0"/>
                  </a:lnTo>
                  <a:close/>
                </a:path>
                <a:path w="441325" h="214630">
                  <a:moveTo>
                    <a:pt x="440791" y="0"/>
                  </a:moveTo>
                  <a:lnTo>
                    <a:pt x="227495" y="0"/>
                  </a:lnTo>
                  <a:lnTo>
                    <a:pt x="227495" y="214325"/>
                  </a:lnTo>
                  <a:lnTo>
                    <a:pt x="440791" y="214325"/>
                  </a:lnTo>
                  <a:lnTo>
                    <a:pt x="440791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67189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A40D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94692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24057" y="410019"/>
              <a:ext cx="341630" cy="371475"/>
            </a:xfrm>
            <a:custGeom>
              <a:avLst/>
              <a:gdLst/>
              <a:ahLst/>
              <a:cxnLst/>
              <a:rect l="l" t="t" r="r" b="b"/>
              <a:pathLst>
                <a:path w="341629" h="371475">
                  <a:moveTo>
                    <a:pt x="85318" y="242887"/>
                  </a:moveTo>
                  <a:lnTo>
                    <a:pt x="0" y="242887"/>
                  </a:lnTo>
                  <a:lnTo>
                    <a:pt x="0" y="371475"/>
                  </a:lnTo>
                  <a:lnTo>
                    <a:pt x="17284" y="371475"/>
                  </a:lnTo>
                  <a:lnTo>
                    <a:pt x="17284" y="319481"/>
                  </a:lnTo>
                  <a:lnTo>
                    <a:pt x="77914" y="319481"/>
                  </a:lnTo>
                  <a:lnTo>
                    <a:pt x="77914" y="303682"/>
                  </a:lnTo>
                  <a:lnTo>
                    <a:pt x="17284" y="303682"/>
                  </a:lnTo>
                  <a:lnTo>
                    <a:pt x="17284" y="258851"/>
                  </a:lnTo>
                  <a:lnTo>
                    <a:pt x="85318" y="258851"/>
                  </a:lnTo>
                  <a:lnTo>
                    <a:pt x="85318" y="242887"/>
                  </a:lnTo>
                  <a:close/>
                </a:path>
                <a:path w="341629" h="371475">
                  <a:moveTo>
                    <a:pt x="85318" y="92837"/>
                  </a:moveTo>
                  <a:lnTo>
                    <a:pt x="74828" y="68681"/>
                  </a:lnTo>
                  <a:lnTo>
                    <a:pt x="51752" y="58229"/>
                  </a:lnTo>
                  <a:lnTo>
                    <a:pt x="28689" y="50673"/>
                  </a:lnTo>
                  <a:lnTo>
                    <a:pt x="18199" y="35217"/>
                  </a:lnTo>
                  <a:lnTo>
                    <a:pt x="19748" y="27482"/>
                  </a:lnTo>
                  <a:lnTo>
                    <a:pt x="24587" y="21145"/>
                  </a:lnTo>
                  <a:lnTo>
                    <a:pt x="32956" y="16852"/>
                  </a:lnTo>
                  <a:lnTo>
                    <a:pt x="45110" y="15278"/>
                  </a:lnTo>
                  <a:lnTo>
                    <a:pt x="52641" y="15887"/>
                  </a:lnTo>
                  <a:lnTo>
                    <a:pt x="60363" y="17754"/>
                  </a:lnTo>
                  <a:lnTo>
                    <a:pt x="68072" y="20942"/>
                  </a:lnTo>
                  <a:lnTo>
                    <a:pt x="75514" y="25488"/>
                  </a:lnTo>
                  <a:lnTo>
                    <a:pt x="80746" y="11112"/>
                  </a:lnTo>
                  <a:lnTo>
                    <a:pt x="73126" y="6350"/>
                  </a:lnTo>
                  <a:lnTo>
                    <a:pt x="64338" y="2870"/>
                  </a:lnTo>
                  <a:lnTo>
                    <a:pt x="54851" y="723"/>
                  </a:lnTo>
                  <a:lnTo>
                    <a:pt x="45110" y="0"/>
                  </a:lnTo>
                  <a:lnTo>
                    <a:pt x="26200" y="2882"/>
                  </a:lnTo>
                  <a:lnTo>
                    <a:pt x="12979" y="10680"/>
                  </a:lnTo>
                  <a:lnTo>
                    <a:pt x="5219" y="22110"/>
                  </a:lnTo>
                  <a:lnTo>
                    <a:pt x="2692" y="35915"/>
                  </a:lnTo>
                  <a:lnTo>
                    <a:pt x="13182" y="60337"/>
                  </a:lnTo>
                  <a:lnTo>
                    <a:pt x="36245" y="70904"/>
                  </a:lnTo>
                  <a:lnTo>
                    <a:pt x="59321" y="78460"/>
                  </a:lnTo>
                  <a:lnTo>
                    <a:pt x="69811" y="93891"/>
                  </a:lnTo>
                  <a:lnTo>
                    <a:pt x="68224" y="101549"/>
                  </a:lnTo>
                  <a:lnTo>
                    <a:pt x="63296" y="107708"/>
                  </a:lnTo>
                  <a:lnTo>
                    <a:pt x="54775" y="111810"/>
                  </a:lnTo>
                  <a:lnTo>
                    <a:pt x="42418" y="113296"/>
                  </a:lnTo>
                  <a:lnTo>
                    <a:pt x="31864" y="112217"/>
                  </a:lnTo>
                  <a:lnTo>
                    <a:pt x="21894" y="109194"/>
                  </a:lnTo>
                  <a:lnTo>
                    <a:pt x="13042" y="104597"/>
                  </a:lnTo>
                  <a:lnTo>
                    <a:pt x="5842" y="98755"/>
                  </a:lnTo>
                  <a:lnTo>
                    <a:pt x="0" y="112763"/>
                  </a:lnTo>
                  <a:lnTo>
                    <a:pt x="7988" y="119176"/>
                  </a:lnTo>
                  <a:lnTo>
                    <a:pt x="18186" y="124180"/>
                  </a:lnTo>
                  <a:lnTo>
                    <a:pt x="29908" y="127431"/>
                  </a:lnTo>
                  <a:lnTo>
                    <a:pt x="42418" y="128587"/>
                  </a:lnTo>
                  <a:lnTo>
                    <a:pt x="61480" y="125691"/>
                  </a:lnTo>
                  <a:lnTo>
                    <a:pt x="74853" y="117906"/>
                  </a:lnTo>
                  <a:lnTo>
                    <a:pt x="82727" y="106514"/>
                  </a:lnTo>
                  <a:lnTo>
                    <a:pt x="85318" y="92837"/>
                  </a:lnTo>
                  <a:close/>
                </a:path>
                <a:path w="341629" h="371475">
                  <a:moveTo>
                    <a:pt x="327037" y="355511"/>
                  </a:moveTo>
                  <a:lnTo>
                    <a:pt x="259549" y="355511"/>
                  </a:lnTo>
                  <a:lnTo>
                    <a:pt x="259549" y="242938"/>
                  </a:lnTo>
                  <a:lnTo>
                    <a:pt x="241731" y="242938"/>
                  </a:lnTo>
                  <a:lnTo>
                    <a:pt x="241731" y="371475"/>
                  </a:lnTo>
                  <a:lnTo>
                    <a:pt x="327037" y="371475"/>
                  </a:lnTo>
                  <a:lnTo>
                    <a:pt x="327037" y="355511"/>
                  </a:lnTo>
                  <a:close/>
                </a:path>
                <a:path w="341629" h="371475">
                  <a:moveTo>
                    <a:pt x="341261" y="64287"/>
                  </a:moveTo>
                  <a:lnTo>
                    <a:pt x="336499" y="38709"/>
                  </a:lnTo>
                  <a:lnTo>
                    <a:pt x="324065" y="19596"/>
                  </a:lnTo>
                  <a:lnTo>
                    <a:pt x="324065" y="64287"/>
                  </a:lnTo>
                  <a:lnTo>
                    <a:pt x="320573" y="83591"/>
                  </a:lnTo>
                  <a:lnTo>
                    <a:pt x="310870" y="98894"/>
                  </a:lnTo>
                  <a:lnTo>
                    <a:pt x="296100" y="108966"/>
                  </a:lnTo>
                  <a:lnTo>
                    <a:pt x="277431" y="112598"/>
                  </a:lnTo>
                  <a:lnTo>
                    <a:pt x="258724" y="108966"/>
                  </a:lnTo>
                  <a:lnTo>
                    <a:pt x="243852" y="98894"/>
                  </a:lnTo>
                  <a:lnTo>
                    <a:pt x="234035" y="83591"/>
                  </a:lnTo>
                  <a:lnTo>
                    <a:pt x="230492" y="64287"/>
                  </a:lnTo>
                  <a:lnTo>
                    <a:pt x="234073" y="44996"/>
                  </a:lnTo>
                  <a:lnTo>
                    <a:pt x="243967" y="29692"/>
                  </a:lnTo>
                  <a:lnTo>
                    <a:pt x="258851" y="19608"/>
                  </a:lnTo>
                  <a:lnTo>
                    <a:pt x="277431" y="15976"/>
                  </a:lnTo>
                  <a:lnTo>
                    <a:pt x="295960" y="19608"/>
                  </a:lnTo>
                  <a:lnTo>
                    <a:pt x="310743" y="29692"/>
                  </a:lnTo>
                  <a:lnTo>
                    <a:pt x="320522" y="44996"/>
                  </a:lnTo>
                  <a:lnTo>
                    <a:pt x="324065" y="64287"/>
                  </a:lnTo>
                  <a:lnTo>
                    <a:pt x="324065" y="19596"/>
                  </a:lnTo>
                  <a:lnTo>
                    <a:pt x="323253" y="18338"/>
                  </a:lnTo>
                  <a:lnTo>
                    <a:pt x="319747" y="15976"/>
                  </a:lnTo>
                  <a:lnTo>
                    <a:pt x="303034" y="4864"/>
                  </a:lnTo>
                  <a:lnTo>
                    <a:pt x="277431" y="0"/>
                  </a:lnTo>
                  <a:lnTo>
                    <a:pt x="251815" y="4864"/>
                  </a:lnTo>
                  <a:lnTo>
                    <a:pt x="231508" y="18338"/>
                  </a:lnTo>
                  <a:lnTo>
                    <a:pt x="218122" y="38709"/>
                  </a:lnTo>
                  <a:lnTo>
                    <a:pt x="213296" y="64287"/>
                  </a:lnTo>
                  <a:lnTo>
                    <a:pt x="216966" y="83591"/>
                  </a:lnTo>
                  <a:lnTo>
                    <a:pt x="252082" y="123736"/>
                  </a:lnTo>
                  <a:lnTo>
                    <a:pt x="277431" y="128587"/>
                  </a:lnTo>
                  <a:lnTo>
                    <a:pt x="302869" y="123736"/>
                  </a:lnTo>
                  <a:lnTo>
                    <a:pt x="319633" y="112598"/>
                  </a:lnTo>
                  <a:lnTo>
                    <a:pt x="323088" y="110312"/>
                  </a:lnTo>
                  <a:lnTo>
                    <a:pt x="336435" y="89941"/>
                  </a:lnTo>
                  <a:lnTo>
                    <a:pt x="341261" y="64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68300" y="6448145"/>
            <a:ext cx="2787650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solidFill>
                  <a:srgbClr val="828591"/>
                </a:solidFill>
                <a:latin typeface="Segoe UI"/>
                <a:cs typeface="Segoe UI"/>
              </a:rPr>
              <a:t>Источник:</a:t>
            </a:r>
            <a:r>
              <a:rPr sz="800" spc="-25" dirty="0">
                <a:solidFill>
                  <a:srgbClr val="828591"/>
                </a:solidFill>
                <a:latin typeface="Segoe UI"/>
                <a:cs typeface="Segoe UI"/>
              </a:rPr>
              <a:t> </a:t>
            </a:r>
            <a:r>
              <a:rPr lang="en-US" sz="800" spc="-25" dirty="0" err="1">
                <a:solidFill>
                  <a:srgbClr val="828591"/>
                </a:solidFill>
                <a:latin typeface="Segoe UI"/>
                <a:cs typeface="Segoe UI"/>
              </a:rPr>
              <a:t>iKS</a:t>
            </a:r>
            <a:r>
              <a:rPr lang="en-US" sz="800" spc="-25" dirty="0">
                <a:solidFill>
                  <a:srgbClr val="828591"/>
                </a:solidFill>
                <a:latin typeface="Segoe UI"/>
                <a:cs typeface="Segoe UI"/>
              </a:rPr>
              <a:t> Consulting, 202</a:t>
            </a:r>
            <a:r>
              <a:rPr lang="ru-RU" sz="800" spc="-25" dirty="0">
                <a:solidFill>
                  <a:srgbClr val="828591"/>
                </a:solidFill>
                <a:latin typeface="Segoe UI"/>
                <a:cs typeface="Segoe UI"/>
              </a:rPr>
              <a:t>3</a:t>
            </a:r>
            <a:endParaRPr sz="800" dirty="0">
              <a:latin typeface="Segoe UI"/>
              <a:cs typeface="Segoe UI"/>
            </a:endParaRPr>
          </a:p>
        </p:txBody>
      </p:sp>
      <p:sp>
        <p:nvSpPr>
          <p:cNvPr id="39" name="object 8">
            <a:extLst>
              <a:ext uri="{FF2B5EF4-FFF2-40B4-BE49-F238E27FC236}">
                <a16:creationId xmlns:a16="http://schemas.microsoft.com/office/drawing/2014/main" id="{55E4262E-B240-3CC5-6FD0-778E476B42CA}"/>
              </a:ext>
            </a:extLst>
          </p:cNvPr>
          <p:cNvSpPr txBox="1"/>
          <p:nvPr/>
        </p:nvSpPr>
        <p:spPr>
          <a:xfrm>
            <a:off x="355803" y="362153"/>
            <a:ext cx="848339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200" b="1" dirty="0">
                <a:solidFill>
                  <a:srgbClr val="434754"/>
                </a:solidFill>
                <a:latin typeface="Segoe UI"/>
                <a:ea typeface="Segoe UI Symbol" panose="020B0502040204020203" pitchFamily="34" charset="0"/>
                <a:cs typeface="Segoe UI"/>
              </a:rPr>
              <a:t>Исходная точка</a:t>
            </a:r>
            <a:endParaRPr sz="2400" b="1" dirty="0">
              <a:solidFill>
                <a:srgbClr val="434754"/>
              </a:solidFill>
              <a:latin typeface="Segoe UI Symbol" panose="020B0502040204020203" pitchFamily="34" charset="0"/>
              <a:ea typeface="Segoe UI Symbol" panose="020B0502040204020203" pitchFamily="34" charset="0"/>
              <a:cs typeface="Segoe UI"/>
            </a:endParaRPr>
          </a:p>
        </p:txBody>
      </p:sp>
      <p:sp>
        <p:nvSpPr>
          <p:cNvPr id="48" name="object 20">
            <a:extLst>
              <a:ext uri="{FF2B5EF4-FFF2-40B4-BE49-F238E27FC236}">
                <a16:creationId xmlns:a16="http://schemas.microsoft.com/office/drawing/2014/main" id="{869E1B26-0BD9-E56F-87D4-29654A6903CF}"/>
              </a:ext>
            </a:extLst>
          </p:cNvPr>
          <p:cNvSpPr/>
          <p:nvPr/>
        </p:nvSpPr>
        <p:spPr>
          <a:xfrm>
            <a:off x="7162799" y="1295401"/>
            <a:ext cx="4417749" cy="5152580"/>
          </a:xfrm>
          <a:custGeom>
            <a:avLst/>
            <a:gdLst/>
            <a:ahLst/>
            <a:cxnLst/>
            <a:rect l="l" t="t" r="r" b="b"/>
            <a:pathLst>
              <a:path w="5637530" h="1367155">
                <a:moveTo>
                  <a:pt x="5591556" y="0"/>
                </a:moveTo>
                <a:lnTo>
                  <a:pt x="45732" y="0"/>
                </a:lnTo>
                <a:lnTo>
                  <a:pt x="27930" y="3589"/>
                </a:lnTo>
                <a:lnTo>
                  <a:pt x="13393" y="13382"/>
                </a:lnTo>
                <a:lnTo>
                  <a:pt x="3593" y="27914"/>
                </a:lnTo>
                <a:lnTo>
                  <a:pt x="0" y="45719"/>
                </a:lnTo>
                <a:lnTo>
                  <a:pt x="0" y="1321308"/>
                </a:lnTo>
                <a:lnTo>
                  <a:pt x="3593" y="1339113"/>
                </a:lnTo>
                <a:lnTo>
                  <a:pt x="13393" y="1353645"/>
                </a:lnTo>
                <a:lnTo>
                  <a:pt x="27930" y="1363438"/>
                </a:lnTo>
                <a:lnTo>
                  <a:pt x="45732" y="1367027"/>
                </a:lnTo>
                <a:lnTo>
                  <a:pt x="5591556" y="1367027"/>
                </a:lnTo>
                <a:lnTo>
                  <a:pt x="5609361" y="1363438"/>
                </a:lnTo>
                <a:lnTo>
                  <a:pt x="5623893" y="1353645"/>
                </a:lnTo>
                <a:lnTo>
                  <a:pt x="5633686" y="1339113"/>
                </a:lnTo>
                <a:lnTo>
                  <a:pt x="5637276" y="1321308"/>
                </a:lnTo>
                <a:lnTo>
                  <a:pt x="5637276" y="45719"/>
                </a:lnTo>
                <a:lnTo>
                  <a:pt x="5633686" y="27914"/>
                </a:lnTo>
                <a:lnTo>
                  <a:pt x="5623893" y="13382"/>
                </a:lnTo>
                <a:lnTo>
                  <a:pt x="5609361" y="3589"/>
                </a:lnTo>
                <a:lnTo>
                  <a:pt x="5591556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22">
            <a:extLst>
              <a:ext uri="{FF2B5EF4-FFF2-40B4-BE49-F238E27FC236}">
                <a16:creationId xmlns:a16="http://schemas.microsoft.com/office/drawing/2014/main" id="{FA9D7267-2DA8-E5B2-C3C1-F829D1161254}"/>
              </a:ext>
            </a:extLst>
          </p:cNvPr>
          <p:cNvSpPr txBox="1">
            <a:spLocks/>
          </p:cNvSpPr>
          <p:nvPr/>
        </p:nvSpPr>
        <p:spPr>
          <a:xfrm>
            <a:off x="7288783" y="1440958"/>
            <a:ext cx="4078403" cy="45833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500" b="1" i="0">
                <a:solidFill>
                  <a:srgbClr val="434754"/>
                </a:solidFill>
                <a:latin typeface="Segoe UI"/>
                <a:ea typeface="+mn-ea"/>
                <a:cs typeface="Segoe U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ru-RU" sz="2700" spc="-10" dirty="0">
                <a:solidFill>
                  <a:srgbClr val="BE1743"/>
                </a:solidFill>
              </a:rPr>
              <a:t>Выводы</a:t>
            </a:r>
          </a:p>
          <a:p>
            <a:endParaRPr lang="ru-RU" dirty="0"/>
          </a:p>
          <a:p>
            <a:r>
              <a:rPr lang="ru-RU" dirty="0"/>
              <a:t>Отрицательный темп на фоне растущего рынка рынка может говорить о том, что компания проигрывала конкуренцию другим игрокам из-за потери части иностранного ПО (после ухода вендоров) и активного перехода клиентов к более технологичным и </a:t>
            </a:r>
            <a:r>
              <a:rPr lang="en-US" dirty="0"/>
              <a:t>“</a:t>
            </a:r>
            <a:r>
              <a:rPr lang="ru-RU" dirty="0" err="1"/>
              <a:t>импортозамещенным</a:t>
            </a:r>
            <a:r>
              <a:rPr lang="en-US" dirty="0"/>
              <a:t>”</a:t>
            </a:r>
            <a:r>
              <a:rPr lang="ru-RU" dirty="0"/>
              <a:t> провайдерам</a:t>
            </a:r>
          </a:p>
          <a:p>
            <a:endParaRPr lang="ru-RU" dirty="0"/>
          </a:p>
          <a:p>
            <a:r>
              <a:rPr lang="ru-RU" dirty="0"/>
              <a:t>Мы стартуем с позиции</a:t>
            </a:r>
            <a:r>
              <a:rPr lang="en-US" dirty="0"/>
              <a:t>: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IaaS-</a:t>
            </a:r>
            <a:r>
              <a:rPr lang="ru-RU" dirty="0"/>
              <a:t>фокус, слабая дифференциация</a:t>
            </a:r>
            <a:r>
              <a:rPr lang="en-US" dirty="0"/>
              <a:t>;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Низкая узнаваемость</a:t>
            </a:r>
            <a:r>
              <a:rPr lang="en-US" dirty="0"/>
              <a:t>;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Недостаточный фокус на новые клиенты</a:t>
            </a:r>
            <a:r>
              <a:rPr lang="en-US" dirty="0"/>
              <a:t>;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Отсутствие технологичных решений</a:t>
            </a:r>
            <a:r>
              <a:rPr lang="en-US" dirty="0"/>
              <a:t>;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Ограниченный </a:t>
            </a:r>
            <a:r>
              <a:rPr lang="en" dirty="0"/>
              <a:t>PaaS.</a:t>
            </a:r>
          </a:p>
          <a:p>
            <a:endParaRPr lang="ru-RU" dirty="0"/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0C9C3917-8A0A-5BB5-9E5F-4D21298B6F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9777447"/>
              </p:ext>
            </p:extLst>
          </p:nvPr>
        </p:nvGraphicFramePr>
        <p:xfrm>
          <a:off x="574129" y="1424394"/>
          <a:ext cx="6205818" cy="4113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45117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67189" y="367147"/>
            <a:ext cx="441325" cy="457200"/>
            <a:chOff x="11367189" y="367147"/>
            <a:chExt cx="441325" cy="457200"/>
          </a:xfrm>
        </p:grpSpPr>
        <p:sp>
          <p:nvSpPr>
            <p:cNvPr id="3" name="object 3"/>
            <p:cNvSpPr/>
            <p:nvPr/>
          </p:nvSpPr>
          <p:spPr>
            <a:xfrm>
              <a:off x="11367186" y="610031"/>
              <a:ext cx="441325" cy="214629"/>
            </a:xfrm>
            <a:custGeom>
              <a:avLst/>
              <a:gdLst/>
              <a:ahLst/>
              <a:cxnLst/>
              <a:rect l="l" t="t" r="r" b="b"/>
              <a:pathLst>
                <a:path w="441325" h="214630">
                  <a:moveTo>
                    <a:pt x="213283" y="0"/>
                  </a:moveTo>
                  <a:lnTo>
                    <a:pt x="0" y="0"/>
                  </a:lnTo>
                  <a:lnTo>
                    <a:pt x="0" y="214312"/>
                  </a:lnTo>
                  <a:lnTo>
                    <a:pt x="213283" y="214325"/>
                  </a:lnTo>
                  <a:lnTo>
                    <a:pt x="213283" y="0"/>
                  </a:lnTo>
                  <a:close/>
                </a:path>
                <a:path w="441325" h="214630">
                  <a:moveTo>
                    <a:pt x="440791" y="0"/>
                  </a:moveTo>
                  <a:lnTo>
                    <a:pt x="227495" y="0"/>
                  </a:lnTo>
                  <a:lnTo>
                    <a:pt x="227495" y="214325"/>
                  </a:lnTo>
                  <a:lnTo>
                    <a:pt x="440791" y="214325"/>
                  </a:lnTo>
                  <a:lnTo>
                    <a:pt x="440791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67189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A40D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94692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24057" y="410019"/>
              <a:ext cx="341630" cy="371475"/>
            </a:xfrm>
            <a:custGeom>
              <a:avLst/>
              <a:gdLst/>
              <a:ahLst/>
              <a:cxnLst/>
              <a:rect l="l" t="t" r="r" b="b"/>
              <a:pathLst>
                <a:path w="341629" h="371475">
                  <a:moveTo>
                    <a:pt x="85318" y="242887"/>
                  </a:moveTo>
                  <a:lnTo>
                    <a:pt x="0" y="242887"/>
                  </a:lnTo>
                  <a:lnTo>
                    <a:pt x="0" y="371475"/>
                  </a:lnTo>
                  <a:lnTo>
                    <a:pt x="17284" y="371475"/>
                  </a:lnTo>
                  <a:lnTo>
                    <a:pt x="17284" y="319481"/>
                  </a:lnTo>
                  <a:lnTo>
                    <a:pt x="77914" y="319481"/>
                  </a:lnTo>
                  <a:lnTo>
                    <a:pt x="77914" y="303682"/>
                  </a:lnTo>
                  <a:lnTo>
                    <a:pt x="17284" y="303682"/>
                  </a:lnTo>
                  <a:lnTo>
                    <a:pt x="17284" y="258851"/>
                  </a:lnTo>
                  <a:lnTo>
                    <a:pt x="85318" y="258851"/>
                  </a:lnTo>
                  <a:lnTo>
                    <a:pt x="85318" y="242887"/>
                  </a:lnTo>
                  <a:close/>
                </a:path>
                <a:path w="341629" h="371475">
                  <a:moveTo>
                    <a:pt x="85318" y="92837"/>
                  </a:moveTo>
                  <a:lnTo>
                    <a:pt x="74828" y="68681"/>
                  </a:lnTo>
                  <a:lnTo>
                    <a:pt x="51752" y="58229"/>
                  </a:lnTo>
                  <a:lnTo>
                    <a:pt x="28689" y="50673"/>
                  </a:lnTo>
                  <a:lnTo>
                    <a:pt x="18199" y="35217"/>
                  </a:lnTo>
                  <a:lnTo>
                    <a:pt x="19748" y="27482"/>
                  </a:lnTo>
                  <a:lnTo>
                    <a:pt x="24587" y="21145"/>
                  </a:lnTo>
                  <a:lnTo>
                    <a:pt x="32956" y="16852"/>
                  </a:lnTo>
                  <a:lnTo>
                    <a:pt x="45110" y="15278"/>
                  </a:lnTo>
                  <a:lnTo>
                    <a:pt x="52641" y="15887"/>
                  </a:lnTo>
                  <a:lnTo>
                    <a:pt x="60363" y="17754"/>
                  </a:lnTo>
                  <a:lnTo>
                    <a:pt x="68072" y="20942"/>
                  </a:lnTo>
                  <a:lnTo>
                    <a:pt x="75514" y="25488"/>
                  </a:lnTo>
                  <a:lnTo>
                    <a:pt x="80746" y="11112"/>
                  </a:lnTo>
                  <a:lnTo>
                    <a:pt x="73126" y="6350"/>
                  </a:lnTo>
                  <a:lnTo>
                    <a:pt x="64338" y="2870"/>
                  </a:lnTo>
                  <a:lnTo>
                    <a:pt x="54851" y="723"/>
                  </a:lnTo>
                  <a:lnTo>
                    <a:pt x="45110" y="0"/>
                  </a:lnTo>
                  <a:lnTo>
                    <a:pt x="26200" y="2882"/>
                  </a:lnTo>
                  <a:lnTo>
                    <a:pt x="12979" y="10680"/>
                  </a:lnTo>
                  <a:lnTo>
                    <a:pt x="5219" y="22110"/>
                  </a:lnTo>
                  <a:lnTo>
                    <a:pt x="2692" y="35915"/>
                  </a:lnTo>
                  <a:lnTo>
                    <a:pt x="13182" y="60337"/>
                  </a:lnTo>
                  <a:lnTo>
                    <a:pt x="36245" y="70904"/>
                  </a:lnTo>
                  <a:lnTo>
                    <a:pt x="59321" y="78460"/>
                  </a:lnTo>
                  <a:lnTo>
                    <a:pt x="69811" y="93891"/>
                  </a:lnTo>
                  <a:lnTo>
                    <a:pt x="68224" y="101549"/>
                  </a:lnTo>
                  <a:lnTo>
                    <a:pt x="63296" y="107708"/>
                  </a:lnTo>
                  <a:lnTo>
                    <a:pt x="54775" y="111810"/>
                  </a:lnTo>
                  <a:lnTo>
                    <a:pt x="42418" y="113296"/>
                  </a:lnTo>
                  <a:lnTo>
                    <a:pt x="31864" y="112217"/>
                  </a:lnTo>
                  <a:lnTo>
                    <a:pt x="21894" y="109194"/>
                  </a:lnTo>
                  <a:lnTo>
                    <a:pt x="13042" y="104597"/>
                  </a:lnTo>
                  <a:lnTo>
                    <a:pt x="5842" y="98755"/>
                  </a:lnTo>
                  <a:lnTo>
                    <a:pt x="0" y="112763"/>
                  </a:lnTo>
                  <a:lnTo>
                    <a:pt x="7988" y="119176"/>
                  </a:lnTo>
                  <a:lnTo>
                    <a:pt x="18186" y="124180"/>
                  </a:lnTo>
                  <a:lnTo>
                    <a:pt x="29908" y="127431"/>
                  </a:lnTo>
                  <a:lnTo>
                    <a:pt x="42418" y="128587"/>
                  </a:lnTo>
                  <a:lnTo>
                    <a:pt x="61480" y="125691"/>
                  </a:lnTo>
                  <a:lnTo>
                    <a:pt x="74853" y="117906"/>
                  </a:lnTo>
                  <a:lnTo>
                    <a:pt x="82727" y="106514"/>
                  </a:lnTo>
                  <a:lnTo>
                    <a:pt x="85318" y="92837"/>
                  </a:lnTo>
                  <a:close/>
                </a:path>
                <a:path w="341629" h="371475">
                  <a:moveTo>
                    <a:pt x="327037" y="355511"/>
                  </a:moveTo>
                  <a:lnTo>
                    <a:pt x="259549" y="355511"/>
                  </a:lnTo>
                  <a:lnTo>
                    <a:pt x="259549" y="242938"/>
                  </a:lnTo>
                  <a:lnTo>
                    <a:pt x="241731" y="242938"/>
                  </a:lnTo>
                  <a:lnTo>
                    <a:pt x="241731" y="371475"/>
                  </a:lnTo>
                  <a:lnTo>
                    <a:pt x="327037" y="371475"/>
                  </a:lnTo>
                  <a:lnTo>
                    <a:pt x="327037" y="355511"/>
                  </a:lnTo>
                  <a:close/>
                </a:path>
                <a:path w="341629" h="371475">
                  <a:moveTo>
                    <a:pt x="341261" y="64287"/>
                  </a:moveTo>
                  <a:lnTo>
                    <a:pt x="336499" y="38709"/>
                  </a:lnTo>
                  <a:lnTo>
                    <a:pt x="324065" y="19596"/>
                  </a:lnTo>
                  <a:lnTo>
                    <a:pt x="324065" y="64287"/>
                  </a:lnTo>
                  <a:lnTo>
                    <a:pt x="320573" y="83591"/>
                  </a:lnTo>
                  <a:lnTo>
                    <a:pt x="310870" y="98894"/>
                  </a:lnTo>
                  <a:lnTo>
                    <a:pt x="296100" y="108966"/>
                  </a:lnTo>
                  <a:lnTo>
                    <a:pt x="277431" y="112598"/>
                  </a:lnTo>
                  <a:lnTo>
                    <a:pt x="258724" y="108966"/>
                  </a:lnTo>
                  <a:lnTo>
                    <a:pt x="243852" y="98894"/>
                  </a:lnTo>
                  <a:lnTo>
                    <a:pt x="234035" y="83591"/>
                  </a:lnTo>
                  <a:lnTo>
                    <a:pt x="230492" y="64287"/>
                  </a:lnTo>
                  <a:lnTo>
                    <a:pt x="234073" y="44996"/>
                  </a:lnTo>
                  <a:lnTo>
                    <a:pt x="243967" y="29692"/>
                  </a:lnTo>
                  <a:lnTo>
                    <a:pt x="258851" y="19608"/>
                  </a:lnTo>
                  <a:lnTo>
                    <a:pt x="277431" y="15976"/>
                  </a:lnTo>
                  <a:lnTo>
                    <a:pt x="295960" y="19608"/>
                  </a:lnTo>
                  <a:lnTo>
                    <a:pt x="310743" y="29692"/>
                  </a:lnTo>
                  <a:lnTo>
                    <a:pt x="320522" y="44996"/>
                  </a:lnTo>
                  <a:lnTo>
                    <a:pt x="324065" y="64287"/>
                  </a:lnTo>
                  <a:lnTo>
                    <a:pt x="324065" y="19596"/>
                  </a:lnTo>
                  <a:lnTo>
                    <a:pt x="323253" y="18338"/>
                  </a:lnTo>
                  <a:lnTo>
                    <a:pt x="319747" y="15976"/>
                  </a:lnTo>
                  <a:lnTo>
                    <a:pt x="303034" y="4864"/>
                  </a:lnTo>
                  <a:lnTo>
                    <a:pt x="277431" y="0"/>
                  </a:lnTo>
                  <a:lnTo>
                    <a:pt x="251815" y="4864"/>
                  </a:lnTo>
                  <a:lnTo>
                    <a:pt x="231508" y="18338"/>
                  </a:lnTo>
                  <a:lnTo>
                    <a:pt x="218122" y="38709"/>
                  </a:lnTo>
                  <a:lnTo>
                    <a:pt x="213296" y="64287"/>
                  </a:lnTo>
                  <a:lnTo>
                    <a:pt x="216966" y="83591"/>
                  </a:lnTo>
                  <a:lnTo>
                    <a:pt x="252082" y="123736"/>
                  </a:lnTo>
                  <a:lnTo>
                    <a:pt x="277431" y="128587"/>
                  </a:lnTo>
                  <a:lnTo>
                    <a:pt x="302869" y="123736"/>
                  </a:lnTo>
                  <a:lnTo>
                    <a:pt x="319633" y="112598"/>
                  </a:lnTo>
                  <a:lnTo>
                    <a:pt x="323088" y="110312"/>
                  </a:lnTo>
                  <a:lnTo>
                    <a:pt x="336435" y="89941"/>
                  </a:lnTo>
                  <a:lnTo>
                    <a:pt x="341261" y="64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8">
            <a:extLst>
              <a:ext uri="{FF2B5EF4-FFF2-40B4-BE49-F238E27FC236}">
                <a16:creationId xmlns:a16="http://schemas.microsoft.com/office/drawing/2014/main" id="{55E4262E-B240-3CC5-6FD0-778E476B42CA}"/>
              </a:ext>
            </a:extLst>
          </p:cNvPr>
          <p:cNvSpPr txBox="1"/>
          <p:nvPr/>
        </p:nvSpPr>
        <p:spPr>
          <a:xfrm>
            <a:off x="355803" y="362153"/>
            <a:ext cx="515302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200" b="1" dirty="0">
                <a:solidFill>
                  <a:srgbClr val="434754"/>
                </a:solidFill>
                <a:latin typeface="Segoe UI"/>
                <a:ea typeface="Segoe UI Symbol" panose="020B0502040204020203" pitchFamily="34" charset="0"/>
                <a:cs typeface="Segoe UI"/>
              </a:rPr>
              <a:t>Конкурентная среда </a:t>
            </a:r>
            <a:endParaRPr sz="2400" b="1" dirty="0">
              <a:solidFill>
                <a:srgbClr val="434754"/>
              </a:solidFill>
              <a:latin typeface="Segoe UI Symbol" panose="020B0502040204020203" pitchFamily="34" charset="0"/>
              <a:ea typeface="Segoe UI Symbol" panose="020B0502040204020203" pitchFamily="34" charset="0"/>
              <a:cs typeface="Segoe UI"/>
            </a:endParaRPr>
          </a:p>
        </p:txBody>
      </p:sp>
      <p:graphicFrame>
        <p:nvGraphicFramePr>
          <p:cNvPr id="35" name="Таблица 36">
            <a:extLst>
              <a:ext uri="{FF2B5EF4-FFF2-40B4-BE49-F238E27FC236}">
                <a16:creationId xmlns:a16="http://schemas.microsoft.com/office/drawing/2014/main" id="{626C9A69-9017-18E7-38AA-84EE3D071B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771517"/>
              </p:ext>
            </p:extLst>
          </p:nvPr>
        </p:nvGraphicFramePr>
        <p:xfrm>
          <a:off x="262800" y="852915"/>
          <a:ext cx="11506200" cy="5996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200">
                  <a:extLst>
                    <a:ext uri="{9D8B030D-6E8A-4147-A177-3AD203B41FA5}">
                      <a16:colId xmlns:a16="http://schemas.microsoft.com/office/drawing/2014/main" val="259952113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425256892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4155395826"/>
                    </a:ext>
                  </a:extLst>
                </a:gridCol>
              </a:tblGrid>
              <a:tr h="34672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Группа конкурентов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Ключевые игроки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Позиционирование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539649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  <a:latin typeface="quote-cjk-patch"/>
                        </a:rPr>
                        <a:t>Масштаб + Экосистема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" b="0" dirty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• </a:t>
                      </a:r>
                      <a:r>
                        <a:rPr lang="en" b="0" dirty="0" err="1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Cloud.ru</a:t>
                      </a:r>
                      <a:r>
                        <a:rPr lang="en" b="0" dirty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 (</a:t>
                      </a:r>
                      <a:r>
                        <a:rPr lang="ru-RU" b="0" dirty="0" err="1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Сбер</a:t>
                      </a:r>
                      <a:r>
                        <a:rPr lang="ru-RU" b="0" dirty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)</a:t>
                      </a:r>
                      <a:br>
                        <a:rPr lang="ru-RU" b="0" dirty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</a:br>
                      <a:r>
                        <a:rPr lang="ru-RU" b="0" dirty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• </a:t>
                      </a:r>
                      <a:r>
                        <a:rPr lang="en" b="0" dirty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VK Cloud</a:t>
                      </a:r>
                      <a:br>
                        <a:rPr lang="en" b="0" dirty="0">
                          <a:effectLst/>
                          <a:latin typeface="quote-cjk-patch"/>
                        </a:rPr>
                      </a:br>
                      <a:r>
                        <a:rPr lang="en" b="0" dirty="0">
                          <a:effectLst/>
                          <a:latin typeface="quote-cjk-patch"/>
                        </a:rPr>
                        <a:t>• Yandex Cloud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  <a:p>
                      <a:r>
                        <a:rPr lang="en" b="0" dirty="0">
                          <a:effectLst/>
                          <a:latin typeface="quote-cjk-patch"/>
                        </a:rPr>
                        <a:t>• MWS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Крупнейшие гос. и корпоративные тендеры. Экосистемы, инвестиции в </a:t>
                      </a:r>
                      <a:r>
                        <a:rPr lang="en" b="0" dirty="0">
                          <a:effectLst/>
                          <a:latin typeface="quote-cjk-patch"/>
                        </a:rPr>
                        <a:t>R&amp;D, 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административный ресурс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052532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  <a:latin typeface="quote-cjk-patch"/>
                        </a:rPr>
                        <a:t>Интеграция + Облако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• 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K2 Cloud (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КРОК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)</a:t>
                      </a:r>
                      <a:br>
                        <a:rPr lang="ru-RU" b="0" dirty="0">
                          <a:effectLst/>
                          <a:latin typeface="quote-cjk-patch"/>
                        </a:rPr>
                      </a:br>
                      <a:r>
                        <a:rPr lang="ru-RU" b="0" dirty="0">
                          <a:effectLst/>
                          <a:latin typeface="quote-cjk-patch"/>
                        </a:rPr>
                        <a:t>• </a:t>
                      </a:r>
                      <a:r>
                        <a:rPr lang="ru-RU" b="0" dirty="0" err="1">
                          <a:effectLst/>
                          <a:latin typeface="quote-cjk-patch"/>
                        </a:rPr>
                        <a:t>Онланта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 (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Ланит)</a:t>
                      </a:r>
                      <a:br>
                        <a:rPr lang="en" b="0" dirty="0">
                          <a:effectLst/>
                          <a:latin typeface="quote-cjk-patch"/>
                        </a:rPr>
                      </a:br>
                      <a:r>
                        <a:rPr lang="en" b="0" dirty="0">
                          <a:effectLst/>
                          <a:latin typeface="quote-cjk-patch"/>
                        </a:rPr>
                        <a:t>• </a:t>
                      </a:r>
                      <a:r>
                        <a:rPr lang="en" b="0" dirty="0" err="1">
                          <a:effectLst/>
                          <a:latin typeface="quote-cjk-patch"/>
                        </a:rPr>
                        <a:t>ITGlobal</a:t>
                      </a:r>
                      <a:r>
                        <a:rPr lang="en" b="0" dirty="0">
                          <a:effectLst/>
                          <a:latin typeface="quote-cjk-patch"/>
                        </a:rPr>
                        <a:t> (ITG)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Комплексные проекты цифровой трансформации "под ключ"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619399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quote-cjk-patch"/>
                        </a:rPr>
                        <a:t>Динамичные</a:t>
                      </a:r>
                      <a:br>
                        <a:rPr lang="ru-RU" b="1">
                          <a:effectLst/>
                          <a:latin typeface="quote-cjk-patch"/>
                        </a:rPr>
                      </a:br>
                      <a:r>
                        <a:rPr lang="ru-RU" b="1">
                          <a:effectLst/>
                          <a:latin typeface="quote-cjk-patch"/>
                        </a:rPr>
                        <a:t>облачные провайдеры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" b="0" dirty="0">
                          <a:effectLst/>
                          <a:latin typeface="quote-cjk-patch"/>
                        </a:rPr>
                        <a:t>• </a:t>
                      </a:r>
                      <a:r>
                        <a:rPr lang="en" b="0" dirty="0" err="1">
                          <a:effectLst/>
                          <a:latin typeface="quote-cjk-patch"/>
                        </a:rPr>
                        <a:t>Selectel</a:t>
                      </a:r>
                      <a:br>
                        <a:rPr lang="en" b="0" dirty="0">
                          <a:effectLst/>
                          <a:latin typeface="quote-cjk-patch"/>
                        </a:rPr>
                      </a:br>
                      <a:r>
                        <a:rPr lang="en" b="0" dirty="0">
                          <a:effectLst/>
                          <a:latin typeface="quote-cjk-patch"/>
                        </a:rPr>
                        <a:t>• Beeline Cloud</a:t>
                      </a:r>
                      <a:br>
                        <a:rPr lang="en" b="0" dirty="0">
                          <a:effectLst/>
                          <a:latin typeface="quote-cjk-patch"/>
                        </a:rPr>
                      </a:br>
                      <a:r>
                        <a:rPr lang="en" b="0" dirty="0">
                          <a:effectLst/>
                          <a:latin typeface="quote-cjk-patch"/>
                        </a:rPr>
                        <a:t>• T1 Cloud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Высокие темпы роста. Коммерческий сегмент, </a:t>
                      </a:r>
                      <a:r>
                        <a:rPr lang="en" b="0">
                          <a:effectLst/>
                          <a:latin typeface="quote-cjk-patch"/>
                        </a:rPr>
                        <a:t>tech-</a:t>
                      </a:r>
                      <a:r>
                        <a:rPr lang="ru-RU" b="0">
                          <a:effectLst/>
                          <a:latin typeface="quote-cjk-patch"/>
                        </a:rPr>
                        <a:t>компании, гибкость и цена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10838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  <a:latin typeface="quote-cjk-patch"/>
                        </a:rPr>
                        <a:t>Хостинг / МСБ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" b="0" dirty="0">
                          <a:effectLst/>
                          <a:latin typeface="quote-cjk-patch"/>
                        </a:rPr>
                        <a:t>• </a:t>
                      </a:r>
                      <a:r>
                        <a:rPr lang="en" b="0" dirty="0" err="1">
                          <a:effectLst/>
                          <a:latin typeface="quote-cjk-patch"/>
                        </a:rPr>
                        <a:t>Timeweb</a:t>
                      </a:r>
                      <a:r>
                        <a:rPr lang="en" b="0" dirty="0">
                          <a:effectLst/>
                          <a:latin typeface="quote-cjk-patch"/>
                        </a:rPr>
                        <a:t> Cloud</a:t>
                      </a:r>
                      <a:br>
                        <a:rPr lang="en" b="0" dirty="0">
                          <a:effectLst/>
                          <a:latin typeface="quote-cjk-patch"/>
                        </a:rPr>
                      </a:br>
                      <a:r>
                        <a:rPr lang="en" b="0" dirty="0">
                          <a:effectLst/>
                          <a:latin typeface="quote-cjk-patch"/>
                        </a:rPr>
                        <a:t>• </a:t>
                      </a:r>
                      <a:r>
                        <a:rPr lang="en" b="0" dirty="0" err="1">
                          <a:effectLst/>
                          <a:latin typeface="quote-cjk-patch"/>
                        </a:rPr>
                        <a:t>Reg.ru</a:t>
                      </a:r>
                      <a:r>
                        <a:rPr lang="en" b="0" dirty="0">
                          <a:effectLst/>
                          <a:latin typeface="quote-cjk-patch"/>
                        </a:rPr>
                        <a:t> Cloud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Малый и средний бизнес, стартапы. Низкий порог входа, простота, цена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381788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quote-cjk-patch"/>
                        </a:rPr>
                        <a:t>Нишевые /</a:t>
                      </a:r>
                      <a:br>
                        <a:rPr lang="ru-RU" b="1">
                          <a:effectLst/>
                          <a:latin typeface="quote-cjk-patch"/>
                        </a:rPr>
                      </a:br>
                      <a:r>
                        <a:rPr lang="ru-RU" b="1">
                          <a:effectLst/>
                          <a:latin typeface="quote-cjk-patch"/>
                        </a:rPr>
                        <a:t>Специализированные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" b="0" dirty="0">
                          <a:effectLst/>
                          <a:latin typeface="quote-cjk-patch"/>
                        </a:rPr>
                        <a:t>• Edge Cloud (</a:t>
                      </a:r>
                      <a:r>
                        <a:rPr lang="en" b="0" dirty="0" err="1">
                          <a:effectLst/>
                          <a:latin typeface="quote-cjk-patch"/>
                        </a:rPr>
                        <a:t>EdgeCenter</a:t>
                      </a:r>
                      <a:r>
                        <a:rPr lang="en" b="0" dirty="0">
                          <a:effectLst/>
                          <a:latin typeface="quote-cjk-patch"/>
                        </a:rPr>
                        <a:t>)</a:t>
                      </a:r>
                      <a:br>
                        <a:rPr lang="en" b="0" dirty="0">
                          <a:effectLst/>
                          <a:latin typeface="quote-cjk-patch"/>
                        </a:rPr>
                      </a:br>
                      <a:r>
                        <a:rPr lang="en" b="0" dirty="0">
                          <a:effectLst/>
                          <a:latin typeface="quote-cjk-patch"/>
                        </a:rPr>
                        <a:t>• Astra Cloud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" b="0" dirty="0" err="1">
                          <a:effectLst/>
                          <a:latin typeface="quote-cjk-patch"/>
                        </a:rPr>
                        <a:t>EdgeCenter:low-latency</a:t>
                      </a:r>
                      <a:r>
                        <a:rPr lang="en" b="0" dirty="0">
                          <a:effectLst/>
                          <a:latin typeface="quote-cjk-patch"/>
                        </a:rPr>
                        <a:t>,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цена за трафик за счет 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CDN</a:t>
                      </a:r>
                      <a:br>
                        <a:rPr lang="ru-RU" b="0" dirty="0">
                          <a:effectLst/>
                          <a:latin typeface="quote-cjk-patch"/>
                        </a:rPr>
                      </a:br>
                      <a:r>
                        <a:rPr lang="en" b="0" dirty="0">
                          <a:effectLst/>
                          <a:latin typeface="quote-cjk-patch"/>
                        </a:rPr>
                        <a:t>Astra: 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госсектор, ФСТЭК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643611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quote-cjk-patch"/>
                        </a:rPr>
                        <a:t>Игроки госсектора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" b="0" dirty="0">
                          <a:effectLst/>
                          <a:latin typeface="quote-cjk-patch"/>
                        </a:rPr>
                        <a:t>• 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РТК ЦОД</a:t>
                      </a:r>
                      <a:r>
                        <a:rPr lang="en" b="0" dirty="0">
                          <a:effectLst/>
                          <a:latin typeface="quote-cjk-patch"/>
                        </a:rPr>
                        <a:t> (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Ростелеком)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Госзаказ, инфраструктура национального оператора связи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77805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49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67189" y="367147"/>
            <a:ext cx="441325" cy="457200"/>
            <a:chOff x="11367189" y="367147"/>
            <a:chExt cx="441325" cy="457200"/>
          </a:xfrm>
        </p:grpSpPr>
        <p:sp>
          <p:nvSpPr>
            <p:cNvPr id="3" name="object 3"/>
            <p:cNvSpPr/>
            <p:nvPr/>
          </p:nvSpPr>
          <p:spPr>
            <a:xfrm>
              <a:off x="11367186" y="610031"/>
              <a:ext cx="441325" cy="214629"/>
            </a:xfrm>
            <a:custGeom>
              <a:avLst/>
              <a:gdLst/>
              <a:ahLst/>
              <a:cxnLst/>
              <a:rect l="l" t="t" r="r" b="b"/>
              <a:pathLst>
                <a:path w="441325" h="214630">
                  <a:moveTo>
                    <a:pt x="213283" y="0"/>
                  </a:moveTo>
                  <a:lnTo>
                    <a:pt x="0" y="0"/>
                  </a:lnTo>
                  <a:lnTo>
                    <a:pt x="0" y="214312"/>
                  </a:lnTo>
                  <a:lnTo>
                    <a:pt x="213283" y="214325"/>
                  </a:lnTo>
                  <a:lnTo>
                    <a:pt x="213283" y="0"/>
                  </a:lnTo>
                  <a:close/>
                </a:path>
                <a:path w="441325" h="214630">
                  <a:moveTo>
                    <a:pt x="440791" y="0"/>
                  </a:moveTo>
                  <a:lnTo>
                    <a:pt x="227495" y="0"/>
                  </a:lnTo>
                  <a:lnTo>
                    <a:pt x="227495" y="214325"/>
                  </a:lnTo>
                  <a:lnTo>
                    <a:pt x="440791" y="214325"/>
                  </a:lnTo>
                  <a:lnTo>
                    <a:pt x="440791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67189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A40D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94692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24057" y="410019"/>
              <a:ext cx="341630" cy="371475"/>
            </a:xfrm>
            <a:custGeom>
              <a:avLst/>
              <a:gdLst/>
              <a:ahLst/>
              <a:cxnLst/>
              <a:rect l="l" t="t" r="r" b="b"/>
              <a:pathLst>
                <a:path w="341629" h="371475">
                  <a:moveTo>
                    <a:pt x="85318" y="242887"/>
                  </a:moveTo>
                  <a:lnTo>
                    <a:pt x="0" y="242887"/>
                  </a:lnTo>
                  <a:lnTo>
                    <a:pt x="0" y="371475"/>
                  </a:lnTo>
                  <a:lnTo>
                    <a:pt x="17284" y="371475"/>
                  </a:lnTo>
                  <a:lnTo>
                    <a:pt x="17284" y="319481"/>
                  </a:lnTo>
                  <a:lnTo>
                    <a:pt x="77914" y="319481"/>
                  </a:lnTo>
                  <a:lnTo>
                    <a:pt x="77914" y="303682"/>
                  </a:lnTo>
                  <a:lnTo>
                    <a:pt x="17284" y="303682"/>
                  </a:lnTo>
                  <a:lnTo>
                    <a:pt x="17284" y="258851"/>
                  </a:lnTo>
                  <a:lnTo>
                    <a:pt x="85318" y="258851"/>
                  </a:lnTo>
                  <a:lnTo>
                    <a:pt x="85318" y="242887"/>
                  </a:lnTo>
                  <a:close/>
                </a:path>
                <a:path w="341629" h="371475">
                  <a:moveTo>
                    <a:pt x="85318" y="92837"/>
                  </a:moveTo>
                  <a:lnTo>
                    <a:pt x="74828" y="68681"/>
                  </a:lnTo>
                  <a:lnTo>
                    <a:pt x="51752" y="58229"/>
                  </a:lnTo>
                  <a:lnTo>
                    <a:pt x="28689" y="50673"/>
                  </a:lnTo>
                  <a:lnTo>
                    <a:pt x="18199" y="35217"/>
                  </a:lnTo>
                  <a:lnTo>
                    <a:pt x="19748" y="27482"/>
                  </a:lnTo>
                  <a:lnTo>
                    <a:pt x="24587" y="21145"/>
                  </a:lnTo>
                  <a:lnTo>
                    <a:pt x="32956" y="16852"/>
                  </a:lnTo>
                  <a:lnTo>
                    <a:pt x="45110" y="15278"/>
                  </a:lnTo>
                  <a:lnTo>
                    <a:pt x="52641" y="15887"/>
                  </a:lnTo>
                  <a:lnTo>
                    <a:pt x="60363" y="17754"/>
                  </a:lnTo>
                  <a:lnTo>
                    <a:pt x="68072" y="20942"/>
                  </a:lnTo>
                  <a:lnTo>
                    <a:pt x="75514" y="25488"/>
                  </a:lnTo>
                  <a:lnTo>
                    <a:pt x="80746" y="11112"/>
                  </a:lnTo>
                  <a:lnTo>
                    <a:pt x="73126" y="6350"/>
                  </a:lnTo>
                  <a:lnTo>
                    <a:pt x="64338" y="2870"/>
                  </a:lnTo>
                  <a:lnTo>
                    <a:pt x="54851" y="723"/>
                  </a:lnTo>
                  <a:lnTo>
                    <a:pt x="45110" y="0"/>
                  </a:lnTo>
                  <a:lnTo>
                    <a:pt x="26200" y="2882"/>
                  </a:lnTo>
                  <a:lnTo>
                    <a:pt x="12979" y="10680"/>
                  </a:lnTo>
                  <a:lnTo>
                    <a:pt x="5219" y="22110"/>
                  </a:lnTo>
                  <a:lnTo>
                    <a:pt x="2692" y="35915"/>
                  </a:lnTo>
                  <a:lnTo>
                    <a:pt x="13182" y="60337"/>
                  </a:lnTo>
                  <a:lnTo>
                    <a:pt x="36245" y="70904"/>
                  </a:lnTo>
                  <a:lnTo>
                    <a:pt x="59321" y="78460"/>
                  </a:lnTo>
                  <a:lnTo>
                    <a:pt x="69811" y="93891"/>
                  </a:lnTo>
                  <a:lnTo>
                    <a:pt x="68224" y="101549"/>
                  </a:lnTo>
                  <a:lnTo>
                    <a:pt x="63296" y="107708"/>
                  </a:lnTo>
                  <a:lnTo>
                    <a:pt x="54775" y="111810"/>
                  </a:lnTo>
                  <a:lnTo>
                    <a:pt x="42418" y="113296"/>
                  </a:lnTo>
                  <a:lnTo>
                    <a:pt x="31864" y="112217"/>
                  </a:lnTo>
                  <a:lnTo>
                    <a:pt x="21894" y="109194"/>
                  </a:lnTo>
                  <a:lnTo>
                    <a:pt x="13042" y="104597"/>
                  </a:lnTo>
                  <a:lnTo>
                    <a:pt x="5842" y="98755"/>
                  </a:lnTo>
                  <a:lnTo>
                    <a:pt x="0" y="112763"/>
                  </a:lnTo>
                  <a:lnTo>
                    <a:pt x="7988" y="119176"/>
                  </a:lnTo>
                  <a:lnTo>
                    <a:pt x="18186" y="124180"/>
                  </a:lnTo>
                  <a:lnTo>
                    <a:pt x="29908" y="127431"/>
                  </a:lnTo>
                  <a:lnTo>
                    <a:pt x="42418" y="128587"/>
                  </a:lnTo>
                  <a:lnTo>
                    <a:pt x="61480" y="125691"/>
                  </a:lnTo>
                  <a:lnTo>
                    <a:pt x="74853" y="117906"/>
                  </a:lnTo>
                  <a:lnTo>
                    <a:pt x="82727" y="106514"/>
                  </a:lnTo>
                  <a:lnTo>
                    <a:pt x="85318" y="92837"/>
                  </a:lnTo>
                  <a:close/>
                </a:path>
                <a:path w="341629" h="371475">
                  <a:moveTo>
                    <a:pt x="327037" y="355511"/>
                  </a:moveTo>
                  <a:lnTo>
                    <a:pt x="259549" y="355511"/>
                  </a:lnTo>
                  <a:lnTo>
                    <a:pt x="259549" y="242938"/>
                  </a:lnTo>
                  <a:lnTo>
                    <a:pt x="241731" y="242938"/>
                  </a:lnTo>
                  <a:lnTo>
                    <a:pt x="241731" y="371475"/>
                  </a:lnTo>
                  <a:lnTo>
                    <a:pt x="327037" y="371475"/>
                  </a:lnTo>
                  <a:lnTo>
                    <a:pt x="327037" y="355511"/>
                  </a:lnTo>
                  <a:close/>
                </a:path>
                <a:path w="341629" h="371475">
                  <a:moveTo>
                    <a:pt x="341261" y="64287"/>
                  </a:moveTo>
                  <a:lnTo>
                    <a:pt x="336499" y="38709"/>
                  </a:lnTo>
                  <a:lnTo>
                    <a:pt x="324065" y="19596"/>
                  </a:lnTo>
                  <a:lnTo>
                    <a:pt x="324065" y="64287"/>
                  </a:lnTo>
                  <a:lnTo>
                    <a:pt x="320573" y="83591"/>
                  </a:lnTo>
                  <a:lnTo>
                    <a:pt x="310870" y="98894"/>
                  </a:lnTo>
                  <a:lnTo>
                    <a:pt x="296100" y="108966"/>
                  </a:lnTo>
                  <a:lnTo>
                    <a:pt x="277431" y="112598"/>
                  </a:lnTo>
                  <a:lnTo>
                    <a:pt x="258724" y="108966"/>
                  </a:lnTo>
                  <a:lnTo>
                    <a:pt x="243852" y="98894"/>
                  </a:lnTo>
                  <a:lnTo>
                    <a:pt x="234035" y="83591"/>
                  </a:lnTo>
                  <a:lnTo>
                    <a:pt x="230492" y="64287"/>
                  </a:lnTo>
                  <a:lnTo>
                    <a:pt x="234073" y="44996"/>
                  </a:lnTo>
                  <a:lnTo>
                    <a:pt x="243967" y="29692"/>
                  </a:lnTo>
                  <a:lnTo>
                    <a:pt x="258851" y="19608"/>
                  </a:lnTo>
                  <a:lnTo>
                    <a:pt x="277431" y="15976"/>
                  </a:lnTo>
                  <a:lnTo>
                    <a:pt x="295960" y="19608"/>
                  </a:lnTo>
                  <a:lnTo>
                    <a:pt x="310743" y="29692"/>
                  </a:lnTo>
                  <a:lnTo>
                    <a:pt x="320522" y="44996"/>
                  </a:lnTo>
                  <a:lnTo>
                    <a:pt x="324065" y="64287"/>
                  </a:lnTo>
                  <a:lnTo>
                    <a:pt x="324065" y="19596"/>
                  </a:lnTo>
                  <a:lnTo>
                    <a:pt x="323253" y="18338"/>
                  </a:lnTo>
                  <a:lnTo>
                    <a:pt x="319747" y="15976"/>
                  </a:lnTo>
                  <a:lnTo>
                    <a:pt x="303034" y="4864"/>
                  </a:lnTo>
                  <a:lnTo>
                    <a:pt x="277431" y="0"/>
                  </a:lnTo>
                  <a:lnTo>
                    <a:pt x="251815" y="4864"/>
                  </a:lnTo>
                  <a:lnTo>
                    <a:pt x="231508" y="18338"/>
                  </a:lnTo>
                  <a:lnTo>
                    <a:pt x="218122" y="38709"/>
                  </a:lnTo>
                  <a:lnTo>
                    <a:pt x="213296" y="64287"/>
                  </a:lnTo>
                  <a:lnTo>
                    <a:pt x="216966" y="83591"/>
                  </a:lnTo>
                  <a:lnTo>
                    <a:pt x="252082" y="123736"/>
                  </a:lnTo>
                  <a:lnTo>
                    <a:pt x="277431" y="128587"/>
                  </a:lnTo>
                  <a:lnTo>
                    <a:pt x="302869" y="123736"/>
                  </a:lnTo>
                  <a:lnTo>
                    <a:pt x="319633" y="112598"/>
                  </a:lnTo>
                  <a:lnTo>
                    <a:pt x="323088" y="110312"/>
                  </a:lnTo>
                  <a:lnTo>
                    <a:pt x="336435" y="89941"/>
                  </a:lnTo>
                  <a:lnTo>
                    <a:pt x="341261" y="64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8">
            <a:extLst>
              <a:ext uri="{FF2B5EF4-FFF2-40B4-BE49-F238E27FC236}">
                <a16:creationId xmlns:a16="http://schemas.microsoft.com/office/drawing/2014/main" id="{55E4262E-B240-3CC5-6FD0-778E476B42CA}"/>
              </a:ext>
            </a:extLst>
          </p:cNvPr>
          <p:cNvSpPr txBox="1"/>
          <p:nvPr/>
        </p:nvSpPr>
        <p:spPr>
          <a:xfrm>
            <a:off x="355803" y="362153"/>
            <a:ext cx="515302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200" b="1" dirty="0">
                <a:solidFill>
                  <a:srgbClr val="434754"/>
                </a:solidFill>
                <a:latin typeface="Segoe UI"/>
                <a:ea typeface="Segoe UI Symbol" panose="020B0502040204020203" pitchFamily="34" charset="0"/>
                <a:cs typeface="Segoe UI"/>
              </a:rPr>
              <a:t>Конкуренты</a:t>
            </a:r>
            <a:endParaRPr sz="2400" b="1" dirty="0">
              <a:solidFill>
                <a:srgbClr val="434754"/>
              </a:solidFill>
              <a:latin typeface="Segoe UI Symbol" panose="020B0502040204020203" pitchFamily="34" charset="0"/>
              <a:ea typeface="Segoe UI Symbol" panose="020B0502040204020203" pitchFamily="34" charset="0"/>
              <a:cs typeface="Segoe UI"/>
            </a:endParaRPr>
          </a:p>
        </p:txBody>
      </p:sp>
      <p:sp>
        <p:nvSpPr>
          <p:cNvPr id="19" name="object 16">
            <a:extLst>
              <a:ext uri="{FF2B5EF4-FFF2-40B4-BE49-F238E27FC236}">
                <a16:creationId xmlns:a16="http://schemas.microsoft.com/office/drawing/2014/main" id="{DFF4FB84-D482-9E8C-9883-F6EFE4BC8019}"/>
              </a:ext>
            </a:extLst>
          </p:cNvPr>
          <p:cNvSpPr txBox="1"/>
          <p:nvPr/>
        </p:nvSpPr>
        <p:spPr>
          <a:xfrm>
            <a:off x="359115" y="1164600"/>
            <a:ext cx="11465071" cy="167930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84480">
              <a:lnSpc>
                <a:spcPct val="100000"/>
              </a:lnSpc>
              <a:spcBef>
                <a:spcPts val="95"/>
              </a:spcBef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Основные конкуренты – это 2 группа компаний также работающих по схеме 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“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Облако + Сервисы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”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.</a:t>
            </a:r>
          </a:p>
          <a:p>
            <a:pPr marL="12700" marR="284480">
              <a:lnSpc>
                <a:spcPct val="100000"/>
              </a:lnSpc>
              <a:spcBef>
                <a:spcPts val="95"/>
              </a:spcBef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Конкуренция идет не столько за цены на виртуальную машину, сколько за комплексные услуги: миграция, построение отказоустойчивой архитектуры, </a:t>
            </a:r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FinOps, 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управляемые сервисы</a:t>
            </a:r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. </a:t>
            </a: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12700" marR="284480">
              <a:lnSpc>
                <a:spcPct val="100000"/>
              </a:lnSpc>
              <a:spcBef>
                <a:spcPts val="95"/>
              </a:spcBef>
            </a:pPr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K2 Cloud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, </a:t>
            </a:r>
            <a:r>
              <a:rPr lang="en" sz="1500" b="1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ITGlobal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и </a:t>
            </a:r>
            <a:r>
              <a:rPr lang="ru-RU" sz="1500" b="1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Онланта</a:t>
            </a:r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используют комплементарную 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Softline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бизнес-модель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и с которыми будет основная борьба за клиентов, ожидающих "облачную трансформацию под ключ": </a:t>
            </a:r>
          </a:p>
          <a:p>
            <a:pPr marL="12700" marR="284480">
              <a:lnSpc>
                <a:spcPct val="100000"/>
              </a:lnSpc>
              <a:spcBef>
                <a:spcPts val="95"/>
              </a:spcBef>
            </a:pPr>
            <a:endParaRPr lang="en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12700" marR="284480">
              <a:lnSpc>
                <a:spcPct val="100000"/>
              </a:lnSpc>
              <a:spcBef>
                <a:spcPts val="95"/>
              </a:spcBef>
            </a:pPr>
            <a:endParaRPr lang="en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CC2813B-A67F-BBD5-E5B7-B8A8D14935A5}"/>
              </a:ext>
            </a:extLst>
          </p:cNvPr>
          <p:cNvSpPr/>
          <p:nvPr/>
        </p:nvSpPr>
        <p:spPr>
          <a:xfrm>
            <a:off x="367813" y="2445326"/>
            <a:ext cx="5637530" cy="2279074"/>
          </a:xfrm>
          <a:custGeom>
            <a:avLst/>
            <a:gdLst/>
            <a:ahLst/>
            <a:cxnLst/>
            <a:rect l="l" t="t" r="r" b="b"/>
            <a:pathLst>
              <a:path w="5637530" h="1367155">
                <a:moveTo>
                  <a:pt x="5591556" y="0"/>
                </a:moveTo>
                <a:lnTo>
                  <a:pt x="45732" y="0"/>
                </a:lnTo>
                <a:lnTo>
                  <a:pt x="27930" y="3589"/>
                </a:lnTo>
                <a:lnTo>
                  <a:pt x="13393" y="13382"/>
                </a:lnTo>
                <a:lnTo>
                  <a:pt x="3593" y="27914"/>
                </a:lnTo>
                <a:lnTo>
                  <a:pt x="0" y="45719"/>
                </a:lnTo>
                <a:lnTo>
                  <a:pt x="0" y="1321308"/>
                </a:lnTo>
                <a:lnTo>
                  <a:pt x="3593" y="1339113"/>
                </a:lnTo>
                <a:lnTo>
                  <a:pt x="13393" y="1353645"/>
                </a:lnTo>
                <a:lnTo>
                  <a:pt x="27930" y="1363438"/>
                </a:lnTo>
                <a:lnTo>
                  <a:pt x="45732" y="1367027"/>
                </a:lnTo>
                <a:lnTo>
                  <a:pt x="5591556" y="1367027"/>
                </a:lnTo>
                <a:lnTo>
                  <a:pt x="5609361" y="1363438"/>
                </a:lnTo>
                <a:lnTo>
                  <a:pt x="5623893" y="1353645"/>
                </a:lnTo>
                <a:lnTo>
                  <a:pt x="5633686" y="1339113"/>
                </a:lnTo>
                <a:lnTo>
                  <a:pt x="5637276" y="1321308"/>
                </a:lnTo>
                <a:lnTo>
                  <a:pt x="5637276" y="45719"/>
                </a:lnTo>
                <a:lnTo>
                  <a:pt x="5633686" y="27914"/>
                </a:lnTo>
                <a:lnTo>
                  <a:pt x="5623893" y="13382"/>
                </a:lnTo>
                <a:lnTo>
                  <a:pt x="5609361" y="3589"/>
                </a:lnTo>
                <a:lnTo>
                  <a:pt x="5591556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2">
            <a:extLst>
              <a:ext uri="{FF2B5EF4-FFF2-40B4-BE49-F238E27FC236}">
                <a16:creationId xmlns:a16="http://schemas.microsoft.com/office/drawing/2014/main" id="{D66DDC64-9C3A-31D6-3350-EE8BA5DDEB71}"/>
              </a:ext>
            </a:extLst>
          </p:cNvPr>
          <p:cNvSpPr txBox="1">
            <a:spLocks/>
          </p:cNvSpPr>
          <p:nvPr/>
        </p:nvSpPr>
        <p:spPr>
          <a:xfrm>
            <a:off x="457200" y="2496180"/>
            <a:ext cx="5401802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500" b="1" i="0">
                <a:solidFill>
                  <a:srgbClr val="434754"/>
                </a:solidFill>
                <a:latin typeface="Segoe UI"/>
                <a:ea typeface="+mn-ea"/>
                <a:cs typeface="Segoe U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0005"/>
            <a:r>
              <a:rPr lang="en-US" sz="2700" spc="-10" dirty="0">
                <a:solidFill>
                  <a:srgbClr val="BE1743"/>
                </a:solidFill>
              </a:rPr>
              <a:t>K2 Cloud</a:t>
            </a:r>
            <a:endParaRPr lang="ru-RU" sz="2700" dirty="0"/>
          </a:p>
          <a:p>
            <a:pPr algn="l"/>
            <a:r>
              <a:rPr lang="ru-RU" dirty="0"/>
              <a:t>Почему конкурент: Как и </a:t>
            </a:r>
            <a:r>
              <a:rPr lang="en" dirty="0"/>
              <a:t>Softline, </a:t>
            </a:r>
            <a:r>
              <a:rPr lang="ru-RU" dirty="0"/>
              <a:t>КРОК — крупный системный интегратор и дистрибьютор. </a:t>
            </a:r>
            <a:r>
              <a:rPr lang="en" dirty="0"/>
              <a:t>K2 Cloud </a:t>
            </a:r>
            <a:r>
              <a:rPr lang="ru-RU" dirty="0"/>
              <a:t>является их облачной платформой. Это прямое столкновение двух </a:t>
            </a:r>
            <a:r>
              <a:rPr lang="en" dirty="0"/>
              <a:t>IT-</a:t>
            </a:r>
            <a:r>
              <a:rPr lang="ru-RU" dirty="0"/>
              <a:t>гигантов за одних и тех же клиентов.</a:t>
            </a:r>
          </a:p>
          <a:p>
            <a:pPr algn="l"/>
            <a:r>
              <a:rPr lang="ru-RU" dirty="0"/>
              <a:t>Ключевое преимущество: Сильная интеграция с услугами системной интеграции КРОК</a:t>
            </a: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E3318C0C-9D4F-25B7-01DA-E4F70686FC4D}"/>
              </a:ext>
            </a:extLst>
          </p:cNvPr>
          <p:cNvSpPr/>
          <p:nvPr/>
        </p:nvSpPr>
        <p:spPr>
          <a:xfrm>
            <a:off x="6088570" y="2447381"/>
            <a:ext cx="5763358" cy="2277019"/>
          </a:xfrm>
          <a:custGeom>
            <a:avLst/>
            <a:gdLst/>
            <a:ahLst/>
            <a:cxnLst/>
            <a:rect l="l" t="t" r="r" b="b"/>
            <a:pathLst>
              <a:path w="5637530" h="1367155">
                <a:moveTo>
                  <a:pt x="5591556" y="0"/>
                </a:moveTo>
                <a:lnTo>
                  <a:pt x="45732" y="0"/>
                </a:lnTo>
                <a:lnTo>
                  <a:pt x="27930" y="3589"/>
                </a:lnTo>
                <a:lnTo>
                  <a:pt x="13393" y="13382"/>
                </a:lnTo>
                <a:lnTo>
                  <a:pt x="3593" y="27914"/>
                </a:lnTo>
                <a:lnTo>
                  <a:pt x="0" y="45719"/>
                </a:lnTo>
                <a:lnTo>
                  <a:pt x="0" y="1321308"/>
                </a:lnTo>
                <a:lnTo>
                  <a:pt x="3593" y="1339113"/>
                </a:lnTo>
                <a:lnTo>
                  <a:pt x="13393" y="1353645"/>
                </a:lnTo>
                <a:lnTo>
                  <a:pt x="27930" y="1363438"/>
                </a:lnTo>
                <a:lnTo>
                  <a:pt x="45732" y="1367027"/>
                </a:lnTo>
                <a:lnTo>
                  <a:pt x="5591556" y="1367027"/>
                </a:lnTo>
                <a:lnTo>
                  <a:pt x="5609361" y="1363438"/>
                </a:lnTo>
                <a:lnTo>
                  <a:pt x="5623893" y="1353645"/>
                </a:lnTo>
                <a:lnTo>
                  <a:pt x="5633686" y="1339113"/>
                </a:lnTo>
                <a:lnTo>
                  <a:pt x="5637276" y="1321308"/>
                </a:lnTo>
                <a:lnTo>
                  <a:pt x="5637276" y="45719"/>
                </a:lnTo>
                <a:lnTo>
                  <a:pt x="5633686" y="27914"/>
                </a:lnTo>
                <a:lnTo>
                  <a:pt x="5623893" y="13382"/>
                </a:lnTo>
                <a:lnTo>
                  <a:pt x="5609361" y="3589"/>
                </a:lnTo>
                <a:lnTo>
                  <a:pt x="5591556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0">
            <a:extLst>
              <a:ext uri="{FF2B5EF4-FFF2-40B4-BE49-F238E27FC236}">
                <a16:creationId xmlns:a16="http://schemas.microsoft.com/office/drawing/2014/main" id="{B0190E2F-3B89-AAB5-94BB-18479ECA90E4}"/>
              </a:ext>
            </a:extLst>
          </p:cNvPr>
          <p:cNvSpPr/>
          <p:nvPr/>
        </p:nvSpPr>
        <p:spPr>
          <a:xfrm>
            <a:off x="355802" y="4876800"/>
            <a:ext cx="11496125" cy="1367155"/>
          </a:xfrm>
          <a:custGeom>
            <a:avLst/>
            <a:gdLst/>
            <a:ahLst/>
            <a:cxnLst/>
            <a:rect l="l" t="t" r="r" b="b"/>
            <a:pathLst>
              <a:path w="5637530" h="1367155">
                <a:moveTo>
                  <a:pt x="5591556" y="0"/>
                </a:moveTo>
                <a:lnTo>
                  <a:pt x="45732" y="0"/>
                </a:lnTo>
                <a:lnTo>
                  <a:pt x="27930" y="3589"/>
                </a:lnTo>
                <a:lnTo>
                  <a:pt x="13393" y="13382"/>
                </a:lnTo>
                <a:lnTo>
                  <a:pt x="3593" y="27914"/>
                </a:lnTo>
                <a:lnTo>
                  <a:pt x="0" y="45719"/>
                </a:lnTo>
                <a:lnTo>
                  <a:pt x="0" y="1321308"/>
                </a:lnTo>
                <a:lnTo>
                  <a:pt x="3593" y="1339113"/>
                </a:lnTo>
                <a:lnTo>
                  <a:pt x="13393" y="1353645"/>
                </a:lnTo>
                <a:lnTo>
                  <a:pt x="27930" y="1363438"/>
                </a:lnTo>
                <a:lnTo>
                  <a:pt x="45732" y="1367027"/>
                </a:lnTo>
                <a:lnTo>
                  <a:pt x="5591556" y="1367027"/>
                </a:lnTo>
                <a:lnTo>
                  <a:pt x="5609361" y="1363438"/>
                </a:lnTo>
                <a:lnTo>
                  <a:pt x="5623893" y="1353645"/>
                </a:lnTo>
                <a:lnTo>
                  <a:pt x="5633686" y="1339113"/>
                </a:lnTo>
                <a:lnTo>
                  <a:pt x="5637276" y="1321308"/>
                </a:lnTo>
                <a:lnTo>
                  <a:pt x="5637276" y="45719"/>
                </a:lnTo>
                <a:lnTo>
                  <a:pt x="5633686" y="27914"/>
                </a:lnTo>
                <a:lnTo>
                  <a:pt x="5623893" y="13382"/>
                </a:lnTo>
                <a:lnTo>
                  <a:pt x="5609361" y="3589"/>
                </a:lnTo>
                <a:lnTo>
                  <a:pt x="5591556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2">
            <a:extLst>
              <a:ext uri="{FF2B5EF4-FFF2-40B4-BE49-F238E27FC236}">
                <a16:creationId xmlns:a16="http://schemas.microsoft.com/office/drawing/2014/main" id="{8D413186-06CD-CE4C-382E-B2FC5981C29F}"/>
              </a:ext>
            </a:extLst>
          </p:cNvPr>
          <p:cNvSpPr txBox="1">
            <a:spLocks/>
          </p:cNvSpPr>
          <p:nvPr/>
        </p:nvSpPr>
        <p:spPr>
          <a:xfrm>
            <a:off x="457200" y="4876800"/>
            <a:ext cx="1139472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500" b="1" i="0">
                <a:solidFill>
                  <a:srgbClr val="434754"/>
                </a:solidFill>
                <a:latin typeface="Segoe UI"/>
                <a:ea typeface="+mn-ea"/>
                <a:cs typeface="Segoe U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0005"/>
            <a:r>
              <a:rPr lang="ru-RU" sz="2700" spc="-10" dirty="0" err="1">
                <a:solidFill>
                  <a:srgbClr val="BE1743"/>
                </a:solidFill>
              </a:rPr>
              <a:t>Онланта</a:t>
            </a:r>
            <a:endParaRPr lang="ru-RU" sz="2700" dirty="0"/>
          </a:p>
          <a:p>
            <a:pPr algn="l"/>
            <a:r>
              <a:rPr lang="ru-RU" dirty="0"/>
              <a:t>Почему конкурент: ЛАНИТ — один из крупнейших российских ИТ-холдингов. Его облачное предложение (через бренды "Облако ЛАНИТ" и "</a:t>
            </a:r>
            <a:r>
              <a:rPr lang="ru-RU" dirty="0" err="1"/>
              <a:t>Онланта</a:t>
            </a:r>
            <a:r>
              <a:rPr lang="ru-RU" dirty="0"/>
              <a:t>") напрямую конкурирует с </a:t>
            </a:r>
            <a:r>
              <a:rPr lang="en" dirty="0"/>
              <a:t>Softline </a:t>
            </a:r>
            <a:r>
              <a:rPr lang="ru-RU" dirty="0"/>
              <a:t>за одних и тех же корпоративных клиентов.</a:t>
            </a:r>
          </a:p>
          <a:p>
            <a:pPr algn="l"/>
            <a:r>
              <a:rPr lang="ru-RU" dirty="0"/>
              <a:t>Конкурентное преимущество: Широта компетенций холдинга, масштаб и ресурсы.</a:t>
            </a:r>
          </a:p>
        </p:txBody>
      </p:sp>
      <p:sp>
        <p:nvSpPr>
          <p:cNvPr id="8" name="object 22">
            <a:extLst>
              <a:ext uri="{FF2B5EF4-FFF2-40B4-BE49-F238E27FC236}">
                <a16:creationId xmlns:a16="http://schemas.microsoft.com/office/drawing/2014/main" id="{CD4D5AF2-080B-24B9-BC15-C025C4D1091F}"/>
              </a:ext>
            </a:extLst>
          </p:cNvPr>
          <p:cNvSpPr txBox="1">
            <a:spLocks/>
          </p:cNvSpPr>
          <p:nvPr/>
        </p:nvSpPr>
        <p:spPr>
          <a:xfrm>
            <a:off x="6131172" y="2496180"/>
            <a:ext cx="5603628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500" b="1" i="0">
                <a:solidFill>
                  <a:srgbClr val="434754"/>
                </a:solidFill>
                <a:latin typeface="Segoe UI"/>
                <a:ea typeface="+mn-ea"/>
                <a:cs typeface="Segoe U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0005"/>
            <a:r>
              <a:rPr lang="en" sz="2700" spc="-10" dirty="0" err="1">
                <a:solidFill>
                  <a:srgbClr val="BE1743"/>
                </a:solidFill>
              </a:rPr>
              <a:t>ITGlobal</a:t>
            </a:r>
            <a:r>
              <a:rPr lang="en" sz="2700" spc="-10" dirty="0">
                <a:solidFill>
                  <a:srgbClr val="BE1743"/>
                </a:solidFill>
              </a:rPr>
              <a:t> (ITG)</a:t>
            </a:r>
            <a:endParaRPr lang="ru-RU" sz="2700" spc="-10" dirty="0">
              <a:solidFill>
                <a:srgbClr val="BE1743"/>
              </a:solidFill>
            </a:endParaRPr>
          </a:p>
          <a:p>
            <a:pPr marL="40005"/>
            <a:r>
              <a:rPr lang="ru-RU" dirty="0"/>
              <a:t>Почему конкурент: Лидер по темпам роста (114%) с долей 2.9%. Также является частью крупного </a:t>
            </a:r>
            <a:r>
              <a:rPr lang="en" dirty="0"/>
              <a:t>IT-</a:t>
            </a:r>
            <a:r>
              <a:rPr lang="ru-RU" dirty="0"/>
              <a:t>холдинга. Это показывает, что их модель "облако + сервисы" крайне востребована.</a:t>
            </a:r>
          </a:p>
          <a:p>
            <a:pPr marL="40005"/>
            <a:r>
              <a:rPr lang="ru-RU" dirty="0"/>
              <a:t>Ключевое преимущество: Возможно, более узкая специализация или гибкая модель обслуживания, позволившая показать рекордный рост.</a:t>
            </a:r>
          </a:p>
        </p:txBody>
      </p:sp>
    </p:spTree>
    <p:extLst>
      <p:ext uri="{BB962C8B-B14F-4D97-AF65-F5344CB8AC3E}">
        <p14:creationId xmlns:p14="http://schemas.microsoft.com/office/powerpoint/2010/main" val="805464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67189" y="367147"/>
            <a:ext cx="441325" cy="457200"/>
            <a:chOff x="11367189" y="367147"/>
            <a:chExt cx="441325" cy="457200"/>
          </a:xfrm>
        </p:grpSpPr>
        <p:sp>
          <p:nvSpPr>
            <p:cNvPr id="3" name="object 3"/>
            <p:cNvSpPr/>
            <p:nvPr/>
          </p:nvSpPr>
          <p:spPr>
            <a:xfrm>
              <a:off x="11367186" y="610031"/>
              <a:ext cx="441325" cy="214629"/>
            </a:xfrm>
            <a:custGeom>
              <a:avLst/>
              <a:gdLst/>
              <a:ahLst/>
              <a:cxnLst/>
              <a:rect l="l" t="t" r="r" b="b"/>
              <a:pathLst>
                <a:path w="441325" h="214630">
                  <a:moveTo>
                    <a:pt x="213283" y="0"/>
                  </a:moveTo>
                  <a:lnTo>
                    <a:pt x="0" y="0"/>
                  </a:lnTo>
                  <a:lnTo>
                    <a:pt x="0" y="214312"/>
                  </a:lnTo>
                  <a:lnTo>
                    <a:pt x="213283" y="214325"/>
                  </a:lnTo>
                  <a:lnTo>
                    <a:pt x="213283" y="0"/>
                  </a:lnTo>
                  <a:close/>
                </a:path>
                <a:path w="441325" h="214630">
                  <a:moveTo>
                    <a:pt x="440791" y="0"/>
                  </a:moveTo>
                  <a:lnTo>
                    <a:pt x="227495" y="0"/>
                  </a:lnTo>
                  <a:lnTo>
                    <a:pt x="227495" y="214325"/>
                  </a:lnTo>
                  <a:lnTo>
                    <a:pt x="440791" y="214325"/>
                  </a:lnTo>
                  <a:lnTo>
                    <a:pt x="440791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67189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A40D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94692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24057" y="410019"/>
              <a:ext cx="341630" cy="371475"/>
            </a:xfrm>
            <a:custGeom>
              <a:avLst/>
              <a:gdLst/>
              <a:ahLst/>
              <a:cxnLst/>
              <a:rect l="l" t="t" r="r" b="b"/>
              <a:pathLst>
                <a:path w="341629" h="371475">
                  <a:moveTo>
                    <a:pt x="85318" y="242887"/>
                  </a:moveTo>
                  <a:lnTo>
                    <a:pt x="0" y="242887"/>
                  </a:lnTo>
                  <a:lnTo>
                    <a:pt x="0" y="371475"/>
                  </a:lnTo>
                  <a:lnTo>
                    <a:pt x="17284" y="371475"/>
                  </a:lnTo>
                  <a:lnTo>
                    <a:pt x="17284" y="319481"/>
                  </a:lnTo>
                  <a:lnTo>
                    <a:pt x="77914" y="319481"/>
                  </a:lnTo>
                  <a:lnTo>
                    <a:pt x="77914" y="303682"/>
                  </a:lnTo>
                  <a:lnTo>
                    <a:pt x="17284" y="303682"/>
                  </a:lnTo>
                  <a:lnTo>
                    <a:pt x="17284" y="258851"/>
                  </a:lnTo>
                  <a:lnTo>
                    <a:pt x="85318" y="258851"/>
                  </a:lnTo>
                  <a:lnTo>
                    <a:pt x="85318" y="242887"/>
                  </a:lnTo>
                  <a:close/>
                </a:path>
                <a:path w="341629" h="371475">
                  <a:moveTo>
                    <a:pt x="85318" y="92837"/>
                  </a:moveTo>
                  <a:lnTo>
                    <a:pt x="74828" y="68681"/>
                  </a:lnTo>
                  <a:lnTo>
                    <a:pt x="51752" y="58229"/>
                  </a:lnTo>
                  <a:lnTo>
                    <a:pt x="28689" y="50673"/>
                  </a:lnTo>
                  <a:lnTo>
                    <a:pt x="18199" y="35217"/>
                  </a:lnTo>
                  <a:lnTo>
                    <a:pt x="19748" y="27482"/>
                  </a:lnTo>
                  <a:lnTo>
                    <a:pt x="24587" y="21145"/>
                  </a:lnTo>
                  <a:lnTo>
                    <a:pt x="32956" y="16852"/>
                  </a:lnTo>
                  <a:lnTo>
                    <a:pt x="45110" y="15278"/>
                  </a:lnTo>
                  <a:lnTo>
                    <a:pt x="52641" y="15887"/>
                  </a:lnTo>
                  <a:lnTo>
                    <a:pt x="60363" y="17754"/>
                  </a:lnTo>
                  <a:lnTo>
                    <a:pt x="68072" y="20942"/>
                  </a:lnTo>
                  <a:lnTo>
                    <a:pt x="75514" y="25488"/>
                  </a:lnTo>
                  <a:lnTo>
                    <a:pt x="80746" y="11112"/>
                  </a:lnTo>
                  <a:lnTo>
                    <a:pt x="73126" y="6350"/>
                  </a:lnTo>
                  <a:lnTo>
                    <a:pt x="64338" y="2870"/>
                  </a:lnTo>
                  <a:lnTo>
                    <a:pt x="54851" y="723"/>
                  </a:lnTo>
                  <a:lnTo>
                    <a:pt x="45110" y="0"/>
                  </a:lnTo>
                  <a:lnTo>
                    <a:pt x="26200" y="2882"/>
                  </a:lnTo>
                  <a:lnTo>
                    <a:pt x="12979" y="10680"/>
                  </a:lnTo>
                  <a:lnTo>
                    <a:pt x="5219" y="22110"/>
                  </a:lnTo>
                  <a:lnTo>
                    <a:pt x="2692" y="35915"/>
                  </a:lnTo>
                  <a:lnTo>
                    <a:pt x="13182" y="60337"/>
                  </a:lnTo>
                  <a:lnTo>
                    <a:pt x="36245" y="70904"/>
                  </a:lnTo>
                  <a:lnTo>
                    <a:pt x="59321" y="78460"/>
                  </a:lnTo>
                  <a:lnTo>
                    <a:pt x="69811" y="93891"/>
                  </a:lnTo>
                  <a:lnTo>
                    <a:pt x="68224" y="101549"/>
                  </a:lnTo>
                  <a:lnTo>
                    <a:pt x="63296" y="107708"/>
                  </a:lnTo>
                  <a:lnTo>
                    <a:pt x="54775" y="111810"/>
                  </a:lnTo>
                  <a:lnTo>
                    <a:pt x="42418" y="113296"/>
                  </a:lnTo>
                  <a:lnTo>
                    <a:pt x="31864" y="112217"/>
                  </a:lnTo>
                  <a:lnTo>
                    <a:pt x="21894" y="109194"/>
                  </a:lnTo>
                  <a:lnTo>
                    <a:pt x="13042" y="104597"/>
                  </a:lnTo>
                  <a:lnTo>
                    <a:pt x="5842" y="98755"/>
                  </a:lnTo>
                  <a:lnTo>
                    <a:pt x="0" y="112763"/>
                  </a:lnTo>
                  <a:lnTo>
                    <a:pt x="7988" y="119176"/>
                  </a:lnTo>
                  <a:lnTo>
                    <a:pt x="18186" y="124180"/>
                  </a:lnTo>
                  <a:lnTo>
                    <a:pt x="29908" y="127431"/>
                  </a:lnTo>
                  <a:lnTo>
                    <a:pt x="42418" y="128587"/>
                  </a:lnTo>
                  <a:lnTo>
                    <a:pt x="61480" y="125691"/>
                  </a:lnTo>
                  <a:lnTo>
                    <a:pt x="74853" y="117906"/>
                  </a:lnTo>
                  <a:lnTo>
                    <a:pt x="82727" y="106514"/>
                  </a:lnTo>
                  <a:lnTo>
                    <a:pt x="85318" y="92837"/>
                  </a:lnTo>
                  <a:close/>
                </a:path>
                <a:path w="341629" h="371475">
                  <a:moveTo>
                    <a:pt x="327037" y="355511"/>
                  </a:moveTo>
                  <a:lnTo>
                    <a:pt x="259549" y="355511"/>
                  </a:lnTo>
                  <a:lnTo>
                    <a:pt x="259549" y="242938"/>
                  </a:lnTo>
                  <a:lnTo>
                    <a:pt x="241731" y="242938"/>
                  </a:lnTo>
                  <a:lnTo>
                    <a:pt x="241731" y="371475"/>
                  </a:lnTo>
                  <a:lnTo>
                    <a:pt x="327037" y="371475"/>
                  </a:lnTo>
                  <a:lnTo>
                    <a:pt x="327037" y="355511"/>
                  </a:lnTo>
                  <a:close/>
                </a:path>
                <a:path w="341629" h="371475">
                  <a:moveTo>
                    <a:pt x="341261" y="64287"/>
                  </a:moveTo>
                  <a:lnTo>
                    <a:pt x="336499" y="38709"/>
                  </a:lnTo>
                  <a:lnTo>
                    <a:pt x="324065" y="19596"/>
                  </a:lnTo>
                  <a:lnTo>
                    <a:pt x="324065" y="64287"/>
                  </a:lnTo>
                  <a:lnTo>
                    <a:pt x="320573" y="83591"/>
                  </a:lnTo>
                  <a:lnTo>
                    <a:pt x="310870" y="98894"/>
                  </a:lnTo>
                  <a:lnTo>
                    <a:pt x="296100" y="108966"/>
                  </a:lnTo>
                  <a:lnTo>
                    <a:pt x="277431" y="112598"/>
                  </a:lnTo>
                  <a:lnTo>
                    <a:pt x="258724" y="108966"/>
                  </a:lnTo>
                  <a:lnTo>
                    <a:pt x="243852" y="98894"/>
                  </a:lnTo>
                  <a:lnTo>
                    <a:pt x="234035" y="83591"/>
                  </a:lnTo>
                  <a:lnTo>
                    <a:pt x="230492" y="64287"/>
                  </a:lnTo>
                  <a:lnTo>
                    <a:pt x="234073" y="44996"/>
                  </a:lnTo>
                  <a:lnTo>
                    <a:pt x="243967" y="29692"/>
                  </a:lnTo>
                  <a:lnTo>
                    <a:pt x="258851" y="19608"/>
                  </a:lnTo>
                  <a:lnTo>
                    <a:pt x="277431" y="15976"/>
                  </a:lnTo>
                  <a:lnTo>
                    <a:pt x="295960" y="19608"/>
                  </a:lnTo>
                  <a:lnTo>
                    <a:pt x="310743" y="29692"/>
                  </a:lnTo>
                  <a:lnTo>
                    <a:pt x="320522" y="44996"/>
                  </a:lnTo>
                  <a:lnTo>
                    <a:pt x="324065" y="64287"/>
                  </a:lnTo>
                  <a:lnTo>
                    <a:pt x="324065" y="19596"/>
                  </a:lnTo>
                  <a:lnTo>
                    <a:pt x="323253" y="18338"/>
                  </a:lnTo>
                  <a:lnTo>
                    <a:pt x="319747" y="15976"/>
                  </a:lnTo>
                  <a:lnTo>
                    <a:pt x="303034" y="4864"/>
                  </a:lnTo>
                  <a:lnTo>
                    <a:pt x="277431" y="0"/>
                  </a:lnTo>
                  <a:lnTo>
                    <a:pt x="251815" y="4864"/>
                  </a:lnTo>
                  <a:lnTo>
                    <a:pt x="231508" y="18338"/>
                  </a:lnTo>
                  <a:lnTo>
                    <a:pt x="218122" y="38709"/>
                  </a:lnTo>
                  <a:lnTo>
                    <a:pt x="213296" y="64287"/>
                  </a:lnTo>
                  <a:lnTo>
                    <a:pt x="216966" y="83591"/>
                  </a:lnTo>
                  <a:lnTo>
                    <a:pt x="252082" y="123736"/>
                  </a:lnTo>
                  <a:lnTo>
                    <a:pt x="277431" y="128587"/>
                  </a:lnTo>
                  <a:lnTo>
                    <a:pt x="302869" y="123736"/>
                  </a:lnTo>
                  <a:lnTo>
                    <a:pt x="319633" y="112598"/>
                  </a:lnTo>
                  <a:lnTo>
                    <a:pt x="323088" y="110312"/>
                  </a:lnTo>
                  <a:lnTo>
                    <a:pt x="336435" y="89941"/>
                  </a:lnTo>
                  <a:lnTo>
                    <a:pt x="341261" y="64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8">
            <a:extLst>
              <a:ext uri="{FF2B5EF4-FFF2-40B4-BE49-F238E27FC236}">
                <a16:creationId xmlns:a16="http://schemas.microsoft.com/office/drawing/2014/main" id="{55E4262E-B240-3CC5-6FD0-778E476B42CA}"/>
              </a:ext>
            </a:extLst>
          </p:cNvPr>
          <p:cNvSpPr txBox="1"/>
          <p:nvPr/>
        </p:nvSpPr>
        <p:spPr>
          <a:xfrm>
            <a:off x="355803" y="362153"/>
            <a:ext cx="817859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200" b="1" dirty="0">
                <a:solidFill>
                  <a:srgbClr val="434754"/>
                </a:solidFill>
                <a:latin typeface="Segoe UI"/>
                <a:ea typeface="Segoe UI Symbol" panose="020B0502040204020203" pitchFamily="34" charset="0"/>
                <a:cs typeface="Segoe UI"/>
              </a:rPr>
              <a:t>Конкуренты</a:t>
            </a:r>
            <a:endParaRPr sz="2400" b="1" dirty="0">
              <a:solidFill>
                <a:srgbClr val="434754"/>
              </a:solidFill>
              <a:latin typeface="Segoe UI Symbol" panose="020B0502040204020203" pitchFamily="34" charset="0"/>
              <a:ea typeface="Segoe UI Symbol" panose="020B0502040204020203" pitchFamily="34" charset="0"/>
              <a:cs typeface="Segoe UI"/>
            </a:endParaRPr>
          </a:p>
        </p:txBody>
      </p:sp>
      <p:sp>
        <p:nvSpPr>
          <p:cNvPr id="19" name="object 16">
            <a:extLst>
              <a:ext uri="{FF2B5EF4-FFF2-40B4-BE49-F238E27FC236}">
                <a16:creationId xmlns:a16="http://schemas.microsoft.com/office/drawing/2014/main" id="{DFF4FB84-D482-9E8C-9883-F6EFE4BC8019}"/>
              </a:ext>
            </a:extLst>
          </p:cNvPr>
          <p:cNvSpPr txBox="1"/>
          <p:nvPr/>
        </p:nvSpPr>
        <p:spPr>
          <a:xfrm>
            <a:off x="359116" y="1164600"/>
            <a:ext cx="11448936" cy="28591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84480">
              <a:lnSpc>
                <a:spcPct val="100000"/>
              </a:lnSpc>
              <a:spcBef>
                <a:spcPts val="95"/>
              </a:spcBef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Также следует уделять внимание таким компаниям как 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Beeline Cloud, T1 Cloud, 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Облако Мегафон, а также от 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MWS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и отчасти и 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Yandex Cloud 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с их 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self-service.</a:t>
            </a:r>
          </a:p>
          <a:p>
            <a:pPr marL="12700" marR="284480">
              <a:lnSpc>
                <a:spcPct val="100000"/>
              </a:lnSpc>
              <a:spcBef>
                <a:spcPts val="95"/>
              </a:spcBef>
            </a:pPr>
            <a:endParaRPr lang="en-US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12700" marR="284480">
              <a:spcBef>
                <a:spcPts val="95"/>
              </a:spcBef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У данных провайдеров также наблюдается фокус на инфраструктуре, а не на бизнес-результате клиента и, как следствие, заказчики наблюдают недостаток комплексных решений «под ключ».</a:t>
            </a:r>
          </a:p>
          <a:p>
            <a:pPr marL="12700" marR="284480">
              <a:spcBef>
                <a:spcPts val="95"/>
              </a:spcBef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Клиенты этих провайдеров — это «зрелый» средний и корпоративный бизнес, который уже прошел первую миграцию в облако и теперь сталкивается с более сложными задачами (оптимизация затрат, безопасность, гибридные сценарии), где наша модель «Облако + Сервисы» имеет решающее преимущество.</a:t>
            </a:r>
          </a:p>
          <a:p>
            <a:pPr marL="12700" marR="284480">
              <a:spcBef>
                <a:spcPts val="95"/>
              </a:spcBef>
            </a:pP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12700" marR="284480">
              <a:spcBef>
                <a:spcPts val="95"/>
              </a:spcBef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Ключевое – мы атакуем не «вообще всех», а целенаправленно переманиваем тех, кто столкнулся со сложностями роста и нуждается в более зрелом и сервисно-ориентированном партнере.</a:t>
            </a:r>
            <a:endParaRPr lang="en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12700" marR="284480">
              <a:lnSpc>
                <a:spcPct val="100000"/>
              </a:lnSpc>
              <a:spcBef>
                <a:spcPts val="95"/>
              </a:spcBef>
            </a:pPr>
            <a:endParaRPr lang="en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702251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67189" y="367147"/>
            <a:ext cx="441325" cy="457200"/>
            <a:chOff x="11367189" y="367147"/>
            <a:chExt cx="441325" cy="457200"/>
          </a:xfrm>
        </p:grpSpPr>
        <p:sp>
          <p:nvSpPr>
            <p:cNvPr id="3" name="object 3"/>
            <p:cNvSpPr/>
            <p:nvPr/>
          </p:nvSpPr>
          <p:spPr>
            <a:xfrm>
              <a:off x="11367186" y="610031"/>
              <a:ext cx="441325" cy="214629"/>
            </a:xfrm>
            <a:custGeom>
              <a:avLst/>
              <a:gdLst/>
              <a:ahLst/>
              <a:cxnLst/>
              <a:rect l="l" t="t" r="r" b="b"/>
              <a:pathLst>
                <a:path w="441325" h="214630">
                  <a:moveTo>
                    <a:pt x="213283" y="0"/>
                  </a:moveTo>
                  <a:lnTo>
                    <a:pt x="0" y="0"/>
                  </a:lnTo>
                  <a:lnTo>
                    <a:pt x="0" y="214312"/>
                  </a:lnTo>
                  <a:lnTo>
                    <a:pt x="213283" y="214325"/>
                  </a:lnTo>
                  <a:lnTo>
                    <a:pt x="213283" y="0"/>
                  </a:lnTo>
                  <a:close/>
                </a:path>
                <a:path w="441325" h="214630">
                  <a:moveTo>
                    <a:pt x="440791" y="0"/>
                  </a:moveTo>
                  <a:lnTo>
                    <a:pt x="227495" y="0"/>
                  </a:lnTo>
                  <a:lnTo>
                    <a:pt x="227495" y="214325"/>
                  </a:lnTo>
                  <a:lnTo>
                    <a:pt x="440791" y="214325"/>
                  </a:lnTo>
                  <a:lnTo>
                    <a:pt x="440791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67189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A40D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94692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24057" y="410019"/>
              <a:ext cx="341630" cy="371475"/>
            </a:xfrm>
            <a:custGeom>
              <a:avLst/>
              <a:gdLst/>
              <a:ahLst/>
              <a:cxnLst/>
              <a:rect l="l" t="t" r="r" b="b"/>
              <a:pathLst>
                <a:path w="341629" h="371475">
                  <a:moveTo>
                    <a:pt x="85318" y="242887"/>
                  </a:moveTo>
                  <a:lnTo>
                    <a:pt x="0" y="242887"/>
                  </a:lnTo>
                  <a:lnTo>
                    <a:pt x="0" y="371475"/>
                  </a:lnTo>
                  <a:lnTo>
                    <a:pt x="17284" y="371475"/>
                  </a:lnTo>
                  <a:lnTo>
                    <a:pt x="17284" y="319481"/>
                  </a:lnTo>
                  <a:lnTo>
                    <a:pt x="77914" y="319481"/>
                  </a:lnTo>
                  <a:lnTo>
                    <a:pt x="77914" y="303682"/>
                  </a:lnTo>
                  <a:lnTo>
                    <a:pt x="17284" y="303682"/>
                  </a:lnTo>
                  <a:lnTo>
                    <a:pt x="17284" y="258851"/>
                  </a:lnTo>
                  <a:lnTo>
                    <a:pt x="85318" y="258851"/>
                  </a:lnTo>
                  <a:lnTo>
                    <a:pt x="85318" y="242887"/>
                  </a:lnTo>
                  <a:close/>
                </a:path>
                <a:path w="341629" h="371475">
                  <a:moveTo>
                    <a:pt x="85318" y="92837"/>
                  </a:moveTo>
                  <a:lnTo>
                    <a:pt x="74828" y="68681"/>
                  </a:lnTo>
                  <a:lnTo>
                    <a:pt x="51752" y="58229"/>
                  </a:lnTo>
                  <a:lnTo>
                    <a:pt x="28689" y="50673"/>
                  </a:lnTo>
                  <a:lnTo>
                    <a:pt x="18199" y="35217"/>
                  </a:lnTo>
                  <a:lnTo>
                    <a:pt x="19748" y="27482"/>
                  </a:lnTo>
                  <a:lnTo>
                    <a:pt x="24587" y="21145"/>
                  </a:lnTo>
                  <a:lnTo>
                    <a:pt x="32956" y="16852"/>
                  </a:lnTo>
                  <a:lnTo>
                    <a:pt x="45110" y="15278"/>
                  </a:lnTo>
                  <a:lnTo>
                    <a:pt x="52641" y="15887"/>
                  </a:lnTo>
                  <a:lnTo>
                    <a:pt x="60363" y="17754"/>
                  </a:lnTo>
                  <a:lnTo>
                    <a:pt x="68072" y="20942"/>
                  </a:lnTo>
                  <a:lnTo>
                    <a:pt x="75514" y="25488"/>
                  </a:lnTo>
                  <a:lnTo>
                    <a:pt x="80746" y="11112"/>
                  </a:lnTo>
                  <a:lnTo>
                    <a:pt x="73126" y="6350"/>
                  </a:lnTo>
                  <a:lnTo>
                    <a:pt x="64338" y="2870"/>
                  </a:lnTo>
                  <a:lnTo>
                    <a:pt x="54851" y="723"/>
                  </a:lnTo>
                  <a:lnTo>
                    <a:pt x="45110" y="0"/>
                  </a:lnTo>
                  <a:lnTo>
                    <a:pt x="26200" y="2882"/>
                  </a:lnTo>
                  <a:lnTo>
                    <a:pt x="12979" y="10680"/>
                  </a:lnTo>
                  <a:lnTo>
                    <a:pt x="5219" y="22110"/>
                  </a:lnTo>
                  <a:lnTo>
                    <a:pt x="2692" y="35915"/>
                  </a:lnTo>
                  <a:lnTo>
                    <a:pt x="13182" y="60337"/>
                  </a:lnTo>
                  <a:lnTo>
                    <a:pt x="36245" y="70904"/>
                  </a:lnTo>
                  <a:lnTo>
                    <a:pt x="59321" y="78460"/>
                  </a:lnTo>
                  <a:lnTo>
                    <a:pt x="69811" y="93891"/>
                  </a:lnTo>
                  <a:lnTo>
                    <a:pt x="68224" y="101549"/>
                  </a:lnTo>
                  <a:lnTo>
                    <a:pt x="63296" y="107708"/>
                  </a:lnTo>
                  <a:lnTo>
                    <a:pt x="54775" y="111810"/>
                  </a:lnTo>
                  <a:lnTo>
                    <a:pt x="42418" y="113296"/>
                  </a:lnTo>
                  <a:lnTo>
                    <a:pt x="31864" y="112217"/>
                  </a:lnTo>
                  <a:lnTo>
                    <a:pt x="21894" y="109194"/>
                  </a:lnTo>
                  <a:lnTo>
                    <a:pt x="13042" y="104597"/>
                  </a:lnTo>
                  <a:lnTo>
                    <a:pt x="5842" y="98755"/>
                  </a:lnTo>
                  <a:lnTo>
                    <a:pt x="0" y="112763"/>
                  </a:lnTo>
                  <a:lnTo>
                    <a:pt x="7988" y="119176"/>
                  </a:lnTo>
                  <a:lnTo>
                    <a:pt x="18186" y="124180"/>
                  </a:lnTo>
                  <a:lnTo>
                    <a:pt x="29908" y="127431"/>
                  </a:lnTo>
                  <a:lnTo>
                    <a:pt x="42418" y="128587"/>
                  </a:lnTo>
                  <a:lnTo>
                    <a:pt x="61480" y="125691"/>
                  </a:lnTo>
                  <a:lnTo>
                    <a:pt x="74853" y="117906"/>
                  </a:lnTo>
                  <a:lnTo>
                    <a:pt x="82727" y="106514"/>
                  </a:lnTo>
                  <a:lnTo>
                    <a:pt x="85318" y="92837"/>
                  </a:lnTo>
                  <a:close/>
                </a:path>
                <a:path w="341629" h="371475">
                  <a:moveTo>
                    <a:pt x="327037" y="355511"/>
                  </a:moveTo>
                  <a:lnTo>
                    <a:pt x="259549" y="355511"/>
                  </a:lnTo>
                  <a:lnTo>
                    <a:pt x="259549" y="242938"/>
                  </a:lnTo>
                  <a:lnTo>
                    <a:pt x="241731" y="242938"/>
                  </a:lnTo>
                  <a:lnTo>
                    <a:pt x="241731" y="371475"/>
                  </a:lnTo>
                  <a:lnTo>
                    <a:pt x="327037" y="371475"/>
                  </a:lnTo>
                  <a:lnTo>
                    <a:pt x="327037" y="355511"/>
                  </a:lnTo>
                  <a:close/>
                </a:path>
                <a:path w="341629" h="371475">
                  <a:moveTo>
                    <a:pt x="341261" y="64287"/>
                  </a:moveTo>
                  <a:lnTo>
                    <a:pt x="336499" y="38709"/>
                  </a:lnTo>
                  <a:lnTo>
                    <a:pt x="324065" y="19596"/>
                  </a:lnTo>
                  <a:lnTo>
                    <a:pt x="324065" y="64287"/>
                  </a:lnTo>
                  <a:lnTo>
                    <a:pt x="320573" y="83591"/>
                  </a:lnTo>
                  <a:lnTo>
                    <a:pt x="310870" y="98894"/>
                  </a:lnTo>
                  <a:lnTo>
                    <a:pt x="296100" y="108966"/>
                  </a:lnTo>
                  <a:lnTo>
                    <a:pt x="277431" y="112598"/>
                  </a:lnTo>
                  <a:lnTo>
                    <a:pt x="258724" y="108966"/>
                  </a:lnTo>
                  <a:lnTo>
                    <a:pt x="243852" y="98894"/>
                  </a:lnTo>
                  <a:lnTo>
                    <a:pt x="234035" y="83591"/>
                  </a:lnTo>
                  <a:lnTo>
                    <a:pt x="230492" y="64287"/>
                  </a:lnTo>
                  <a:lnTo>
                    <a:pt x="234073" y="44996"/>
                  </a:lnTo>
                  <a:lnTo>
                    <a:pt x="243967" y="29692"/>
                  </a:lnTo>
                  <a:lnTo>
                    <a:pt x="258851" y="19608"/>
                  </a:lnTo>
                  <a:lnTo>
                    <a:pt x="277431" y="15976"/>
                  </a:lnTo>
                  <a:lnTo>
                    <a:pt x="295960" y="19608"/>
                  </a:lnTo>
                  <a:lnTo>
                    <a:pt x="310743" y="29692"/>
                  </a:lnTo>
                  <a:lnTo>
                    <a:pt x="320522" y="44996"/>
                  </a:lnTo>
                  <a:lnTo>
                    <a:pt x="324065" y="64287"/>
                  </a:lnTo>
                  <a:lnTo>
                    <a:pt x="324065" y="19596"/>
                  </a:lnTo>
                  <a:lnTo>
                    <a:pt x="323253" y="18338"/>
                  </a:lnTo>
                  <a:lnTo>
                    <a:pt x="319747" y="15976"/>
                  </a:lnTo>
                  <a:lnTo>
                    <a:pt x="303034" y="4864"/>
                  </a:lnTo>
                  <a:lnTo>
                    <a:pt x="277431" y="0"/>
                  </a:lnTo>
                  <a:lnTo>
                    <a:pt x="251815" y="4864"/>
                  </a:lnTo>
                  <a:lnTo>
                    <a:pt x="231508" y="18338"/>
                  </a:lnTo>
                  <a:lnTo>
                    <a:pt x="218122" y="38709"/>
                  </a:lnTo>
                  <a:lnTo>
                    <a:pt x="213296" y="64287"/>
                  </a:lnTo>
                  <a:lnTo>
                    <a:pt x="216966" y="83591"/>
                  </a:lnTo>
                  <a:lnTo>
                    <a:pt x="252082" y="123736"/>
                  </a:lnTo>
                  <a:lnTo>
                    <a:pt x="277431" y="128587"/>
                  </a:lnTo>
                  <a:lnTo>
                    <a:pt x="302869" y="123736"/>
                  </a:lnTo>
                  <a:lnTo>
                    <a:pt x="319633" y="112598"/>
                  </a:lnTo>
                  <a:lnTo>
                    <a:pt x="323088" y="110312"/>
                  </a:lnTo>
                  <a:lnTo>
                    <a:pt x="336435" y="89941"/>
                  </a:lnTo>
                  <a:lnTo>
                    <a:pt x="341261" y="64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8">
            <a:extLst>
              <a:ext uri="{FF2B5EF4-FFF2-40B4-BE49-F238E27FC236}">
                <a16:creationId xmlns:a16="http://schemas.microsoft.com/office/drawing/2014/main" id="{55E4262E-B240-3CC5-6FD0-778E476B42CA}"/>
              </a:ext>
            </a:extLst>
          </p:cNvPr>
          <p:cNvSpPr txBox="1"/>
          <p:nvPr/>
        </p:nvSpPr>
        <p:spPr>
          <a:xfrm>
            <a:off x="355803" y="362153"/>
            <a:ext cx="515302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dirty="0">
                <a:solidFill>
                  <a:srgbClr val="434754"/>
                </a:solidFill>
                <a:latin typeface="Segoe UI"/>
                <a:ea typeface="Segoe UI Symbol" panose="020B0502040204020203" pitchFamily="34" charset="0"/>
                <a:cs typeface="Segoe UI"/>
              </a:rPr>
              <a:t>SWOT-</a:t>
            </a:r>
            <a:r>
              <a:rPr lang="ru-RU" sz="3200" b="1" dirty="0">
                <a:solidFill>
                  <a:srgbClr val="434754"/>
                </a:solidFill>
                <a:latin typeface="Segoe UI"/>
                <a:ea typeface="Segoe UI Symbol" panose="020B0502040204020203" pitchFamily="34" charset="0"/>
                <a:cs typeface="Segoe UI"/>
              </a:rPr>
              <a:t>анализ</a:t>
            </a:r>
            <a:endParaRPr sz="2400" b="1" dirty="0">
              <a:solidFill>
                <a:srgbClr val="434754"/>
              </a:solidFill>
              <a:latin typeface="Segoe UI Symbol" panose="020B0502040204020203" pitchFamily="34" charset="0"/>
              <a:ea typeface="Segoe UI Symbol" panose="020B0502040204020203" pitchFamily="34" charset="0"/>
              <a:cs typeface="Segoe UI"/>
            </a:endParaRPr>
          </a:p>
        </p:txBody>
      </p:sp>
      <p:sp>
        <p:nvSpPr>
          <p:cNvPr id="7" name="Google Shape;3641;g31255f78857_0_92">
            <a:extLst>
              <a:ext uri="{FF2B5EF4-FFF2-40B4-BE49-F238E27FC236}">
                <a16:creationId xmlns:a16="http://schemas.microsoft.com/office/drawing/2014/main" id="{A55CA38D-E29F-ACDA-8F78-FEE0683E7272}"/>
              </a:ext>
            </a:extLst>
          </p:cNvPr>
          <p:cNvSpPr/>
          <p:nvPr/>
        </p:nvSpPr>
        <p:spPr>
          <a:xfrm>
            <a:off x="355803" y="1375050"/>
            <a:ext cx="5115000" cy="205395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/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3642;g31255f78857_0_92">
            <a:extLst>
              <a:ext uri="{FF2B5EF4-FFF2-40B4-BE49-F238E27FC236}">
                <a16:creationId xmlns:a16="http://schemas.microsoft.com/office/drawing/2014/main" id="{8082A523-1871-B425-B231-24B3BDB263FA}"/>
              </a:ext>
            </a:extLst>
          </p:cNvPr>
          <p:cNvSpPr txBox="1"/>
          <p:nvPr/>
        </p:nvSpPr>
        <p:spPr>
          <a:xfrm>
            <a:off x="355803" y="1483000"/>
            <a:ext cx="3689400" cy="42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 marL="228600"/>
            <a:r>
              <a:rPr lang="ru-RU" sz="215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Strengths</a:t>
            </a:r>
            <a:endParaRPr sz="215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" name="Google Shape;3643;g31255f78857_0_92">
            <a:extLst>
              <a:ext uri="{FF2B5EF4-FFF2-40B4-BE49-F238E27FC236}">
                <a16:creationId xmlns:a16="http://schemas.microsoft.com/office/drawing/2014/main" id="{4C9FDDE7-2023-4187-FF9E-1C5D215B82F7}"/>
              </a:ext>
            </a:extLst>
          </p:cNvPr>
          <p:cNvSpPr txBox="1"/>
          <p:nvPr/>
        </p:nvSpPr>
        <p:spPr>
          <a:xfrm>
            <a:off x="562202" y="1881975"/>
            <a:ext cx="4612787" cy="1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Сильный</a:t>
            </a:r>
            <a:r>
              <a:rPr lang="en-US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 Sales Force</a:t>
            </a: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 / присутствие в регионах</a:t>
            </a:r>
          </a:p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Высокая экспертиза / высокий уровень сервиса</a:t>
            </a:r>
          </a:p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Гибкость для клиентов / кастомизации</a:t>
            </a:r>
          </a:p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Широкая партнёрская сеть</a:t>
            </a:r>
            <a:endParaRPr sz="1200" dirty="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Google Shape;3644;g31255f78857_0_92">
            <a:extLst>
              <a:ext uri="{FF2B5EF4-FFF2-40B4-BE49-F238E27FC236}">
                <a16:creationId xmlns:a16="http://schemas.microsoft.com/office/drawing/2014/main" id="{C6AE4B66-A4B9-D1A3-F656-C3E9CDA10D8B}"/>
              </a:ext>
            </a:extLst>
          </p:cNvPr>
          <p:cNvSpPr/>
          <p:nvPr/>
        </p:nvSpPr>
        <p:spPr>
          <a:xfrm>
            <a:off x="344240" y="3659737"/>
            <a:ext cx="5115000" cy="2490474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/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3645;g31255f78857_0_92">
            <a:extLst>
              <a:ext uri="{FF2B5EF4-FFF2-40B4-BE49-F238E27FC236}">
                <a16:creationId xmlns:a16="http://schemas.microsoft.com/office/drawing/2014/main" id="{68FD9962-8D55-4DB3-5132-5651B1B71216}"/>
              </a:ext>
            </a:extLst>
          </p:cNvPr>
          <p:cNvSpPr txBox="1"/>
          <p:nvPr/>
        </p:nvSpPr>
        <p:spPr>
          <a:xfrm>
            <a:off x="344240" y="3719925"/>
            <a:ext cx="5115000" cy="42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 marL="228600"/>
            <a:r>
              <a:rPr lang="ru-RU" sz="215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Opportunities</a:t>
            </a:r>
            <a:endParaRPr sz="215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" name="Google Shape;3646;g31255f78857_0_92">
            <a:extLst>
              <a:ext uri="{FF2B5EF4-FFF2-40B4-BE49-F238E27FC236}">
                <a16:creationId xmlns:a16="http://schemas.microsoft.com/office/drawing/2014/main" id="{94FE10C4-FF1D-B95D-428F-EC377C2D7C04}"/>
              </a:ext>
            </a:extLst>
          </p:cNvPr>
          <p:cNvSpPr txBox="1"/>
          <p:nvPr/>
        </p:nvSpPr>
        <p:spPr>
          <a:xfrm>
            <a:off x="550640" y="4118894"/>
            <a:ext cx="4624350" cy="1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Рынок активно растет</a:t>
            </a:r>
          </a:p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Продукты и решения в рамках ГК </a:t>
            </a:r>
            <a:r>
              <a:rPr lang="en-US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Softline</a:t>
            </a:r>
          </a:p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 err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МультиКлауд</a:t>
            </a: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FinOps </a:t>
            </a: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как сервис (</a:t>
            </a:r>
            <a:r>
              <a:rPr lang="en-US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via </a:t>
            </a:r>
            <a:r>
              <a:rPr lang="en-US" sz="1200" dirty="0" err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CloudMaster</a:t>
            </a:r>
            <a:r>
              <a:rPr lang="en-US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en-US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 “</a:t>
            </a: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Вертикальная экспертиза</a:t>
            </a:r>
            <a:r>
              <a:rPr lang="en-US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endParaRPr lang="ru-RU" sz="1200" dirty="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3647;g31255f78857_0_92">
            <a:extLst>
              <a:ext uri="{FF2B5EF4-FFF2-40B4-BE49-F238E27FC236}">
                <a16:creationId xmlns:a16="http://schemas.microsoft.com/office/drawing/2014/main" id="{A95F9A73-D972-4409-E98D-DCF7A830C97C}"/>
              </a:ext>
            </a:extLst>
          </p:cNvPr>
          <p:cNvSpPr/>
          <p:nvPr/>
        </p:nvSpPr>
        <p:spPr>
          <a:xfrm>
            <a:off x="5739003" y="1375050"/>
            <a:ext cx="5115000" cy="205395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/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Google Shape;3648;g31255f78857_0_92">
            <a:extLst>
              <a:ext uri="{FF2B5EF4-FFF2-40B4-BE49-F238E27FC236}">
                <a16:creationId xmlns:a16="http://schemas.microsoft.com/office/drawing/2014/main" id="{B350CC3C-D1B8-0EE6-A6A6-7D6921A46415}"/>
              </a:ext>
            </a:extLst>
          </p:cNvPr>
          <p:cNvSpPr txBox="1"/>
          <p:nvPr/>
        </p:nvSpPr>
        <p:spPr>
          <a:xfrm>
            <a:off x="5739003" y="1483000"/>
            <a:ext cx="5115000" cy="42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 marL="228600"/>
            <a:r>
              <a:rPr lang="ru-RU" sz="2150" dirty="0" err="1">
                <a:solidFill>
                  <a:schemeClr val="accent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Weakness</a:t>
            </a:r>
            <a:endParaRPr sz="2150" dirty="0">
              <a:solidFill>
                <a:schemeClr val="accent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" name="Google Shape;3649;g31255f78857_0_92">
            <a:extLst>
              <a:ext uri="{FF2B5EF4-FFF2-40B4-BE49-F238E27FC236}">
                <a16:creationId xmlns:a16="http://schemas.microsoft.com/office/drawing/2014/main" id="{F544F337-72EC-5B8A-9C4E-6E45C512D31B}"/>
              </a:ext>
            </a:extLst>
          </p:cNvPr>
          <p:cNvSpPr txBox="1"/>
          <p:nvPr/>
        </p:nvSpPr>
        <p:spPr>
          <a:xfrm>
            <a:off x="5945402" y="1881975"/>
            <a:ext cx="4655837" cy="1477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latin typeface="Montserrat"/>
                <a:ea typeface="Montserrat"/>
                <a:cs typeface="Montserrat"/>
                <a:sym typeface="Montserrat"/>
              </a:rPr>
              <a:t>Восприятие как игрока только в сегменте </a:t>
            </a:r>
            <a:r>
              <a:rPr lang="en-US" sz="1200" dirty="0">
                <a:latin typeface="Montserrat"/>
                <a:ea typeface="Montserrat"/>
                <a:cs typeface="Montserrat"/>
                <a:sym typeface="Montserrat"/>
              </a:rPr>
              <a:t>IaaS</a:t>
            </a:r>
            <a:endParaRPr lang="ru-RU" sz="12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latin typeface="Montserrat"/>
                <a:ea typeface="Montserrat"/>
                <a:cs typeface="Montserrat"/>
                <a:sym typeface="Montserrat"/>
              </a:rPr>
              <a:t>Недостаточный фокус на новые продажи</a:t>
            </a:r>
          </a:p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latin typeface="Montserrat"/>
                <a:ea typeface="Montserrat"/>
                <a:cs typeface="Montserrat"/>
                <a:sym typeface="Montserrat"/>
              </a:rPr>
              <a:t>Слабый маркетинг</a:t>
            </a:r>
          </a:p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latin typeface="Montserrat"/>
                <a:ea typeface="Montserrat"/>
                <a:cs typeface="Montserrat"/>
                <a:sym typeface="Montserrat"/>
              </a:rPr>
              <a:t>Повышенная загрузка технической команды</a:t>
            </a:r>
          </a:p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Низкий уровень зрелости, особенно в части ИИ и ИБ</a:t>
            </a:r>
            <a:endParaRPr sz="1200" dirty="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" name="Google Shape;3650;g31255f78857_0_92">
            <a:extLst>
              <a:ext uri="{FF2B5EF4-FFF2-40B4-BE49-F238E27FC236}">
                <a16:creationId xmlns:a16="http://schemas.microsoft.com/office/drawing/2014/main" id="{CCBD7329-345E-0876-9FD1-9A64FE788D49}"/>
              </a:ext>
            </a:extLst>
          </p:cNvPr>
          <p:cNvSpPr/>
          <p:nvPr/>
        </p:nvSpPr>
        <p:spPr>
          <a:xfrm>
            <a:off x="5727440" y="3659674"/>
            <a:ext cx="5115000" cy="2490474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/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3651;g31255f78857_0_92">
            <a:extLst>
              <a:ext uri="{FF2B5EF4-FFF2-40B4-BE49-F238E27FC236}">
                <a16:creationId xmlns:a16="http://schemas.microsoft.com/office/drawing/2014/main" id="{0AD15113-3927-554F-F41D-A0F83F32C982}"/>
              </a:ext>
            </a:extLst>
          </p:cNvPr>
          <p:cNvSpPr txBox="1"/>
          <p:nvPr/>
        </p:nvSpPr>
        <p:spPr>
          <a:xfrm>
            <a:off x="5727440" y="3719925"/>
            <a:ext cx="5115000" cy="42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 marL="228600"/>
            <a:r>
              <a:rPr lang="ru-RU" sz="2150">
                <a:solidFill>
                  <a:schemeClr val="accent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Threats</a:t>
            </a:r>
            <a:endParaRPr sz="2150">
              <a:solidFill>
                <a:schemeClr val="accent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" name="Google Shape;3652;g31255f78857_0_92">
            <a:extLst>
              <a:ext uri="{FF2B5EF4-FFF2-40B4-BE49-F238E27FC236}">
                <a16:creationId xmlns:a16="http://schemas.microsoft.com/office/drawing/2014/main" id="{9A0E4C66-4908-F0CA-37DA-2F97CA6BA93C}"/>
              </a:ext>
            </a:extLst>
          </p:cNvPr>
          <p:cNvSpPr txBox="1"/>
          <p:nvPr/>
        </p:nvSpPr>
        <p:spPr>
          <a:xfrm>
            <a:off x="5933840" y="4118900"/>
            <a:ext cx="4667400" cy="2031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Много сильных и агрессивных игроков с развитыми </a:t>
            </a:r>
            <a:r>
              <a:rPr lang="en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PaaS </a:t>
            </a: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и </a:t>
            </a:r>
            <a:r>
              <a:rPr lang="en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AI-</a:t>
            </a: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сервисами и маркетинговыми бюджетами</a:t>
            </a:r>
          </a:p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В каждом сегменте есть конкурент с более сильным продуктом</a:t>
            </a:r>
          </a:p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Нет своих решений, которые могут быть дифференциатором (например сертифицированное облако </a:t>
            </a:r>
            <a:r>
              <a:rPr lang="en-US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VK Cloud)</a:t>
            </a: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/отставание по технологиям</a:t>
            </a:r>
            <a:endParaRPr sz="1200" dirty="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0943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67189" y="367147"/>
            <a:ext cx="441325" cy="457200"/>
            <a:chOff x="11367189" y="367147"/>
            <a:chExt cx="441325" cy="457200"/>
          </a:xfrm>
        </p:grpSpPr>
        <p:sp>
          <p:nvSpPr>
            <p:cNvPr id="3" name="object 3"/>
            <p:cNvSpPr/>
            <p:nvPr/>
          </p:nvSpPr>
          <p:spPr>
            <a:xfrm>
              <a:off x="11367186" y="610031"/>
              <a:ext cx="441325" cy="214629"/>
            </a:xfrm>
            <a:custGeom>
              <a:avLst/>
              <a:gdLst/>
              <a:ahLst/>
              <a:cxnLst/>
              <a:rect l="l" t="t" r="r" b="b"/>
              <a:pathLst>
                <a:path w="441325" h="214630">
                  <a:moveTo>
                    <a:pt x="213283" y="0"/>
                  </a:moveTo>
                  <a:lnTo>
                    <a:pt x="0" y="0"/>
                  </a:lnTo>
                  <a:lnTo>
                    <a:pt x="0" y="214312"/>
                  </a:lnTo>
                  <a:lnTo>
                    <a:pt x="213283" y="214325"/>
                  </a:lnTo>
                  <a:lnTo>
                    <a:pt x="213283" y="0"/>
                  </a:lnTo>
                  <a:close/>
                </a:path>
                <a:path w="441325" h="214630">
                  <a:moveTo>
                    <a:pt x="440791" y="0"/>
                  </a:moveTo>
                  <a:lnTo>
                    <a:pt x="227495" y="0"/>
                  </a:lnTo>
                  <a:lnTo>
                    <a:pt x="227495" y="214325"/>
                  </a:lnTo>
                  <a:lnTo>
                    <a:pt x="440791" y="214325"/>
                  </a:lnTo>
                  <a:lnTo>
                    <a:pt x="440791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67189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A40D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94692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24057" y="410019"/>
              <a:ext cx="341630" cy="371475"/>
            </a:xfrm>
            <a:custGeom>
              <a:avLst/>
              <a:gdLst/>
              <a:ahLst/>
              <a:cxnLst/>
              <a:rect l="l" t="t" r="r" b="b"/>
              <a:pathLst>
                <a:path w="341629" h="371475">
                  <a:moveTo>
                    <a:pt x="85318" y="242887"/>
                  </a:moveTo>
                  <a:lnTo>
                    <a:pt x="0" y="242887"/>
                  </a:lnTo>
                  <a:lnTo>
                    <a:pt x="0" y="371475"/>
                  </a:lnTo>
                  <a:lnTo>
                    <a:pt x="17284" y="371475"/>
                  </a:lnTo>
                  <a:lnTo>
                    <a:pt x="17284" y="319481"/>
                  </a:lnTo>
                  <a:lnTo>
                    <a:pt x="77914" y="319481"/>
                  </a:lnTo>
                  <a:lnTo>
                    <a:pt x="77914" y="303682"/>
                  </a:lnTo>
                  <a:lnTo>
                    <a:pt x="17284" y="303682"/>
                  </a:lnTo>
                  <a:lnTo>
                    <a:pt x="17284" y="258851"/>
                  </a:lnTo>
                  <a:lnTo>
                    <a:pt x="85318" y="258851"/>
                  </a:lnTo>
                  <a:lnTo>
                    <a:pt x="85318" y="242887"/>
                  </a:lnTo>
                  <a:close/>
                </a:path>
                <a:path w="341629" h="371475">
                  <a:moveTo>
                    <a:pt x="85318" y="92837"/>
                  </a:moveTo>
                  <a:lnTo>
                    <a:pt x="74828" y="68681"/>
                  </a:lnTo>
                  <a:lnTo>
                    <a:pt x="51752" y="58229"/>
                  </a:lnTo>
                  <a:lnTo>
                    <a:pt x="28689" y="50673"/>
                  </a:lnTo>
                  <a:lnTo>
                    <a:pt x="18199" y="35217"/>
                  </a:lnTo>
                  <a:lnTo>
                    <a:pt x="19748" y="27482"/>
                  </a:lnTo>
                  <a:lnTo>
                    <a:pt x="24587" y="21145"/>
                  </a:lnTo>
                  <a:lnTo>
                    <a:pt x="32956" y="16852"/>
                  </a:lnTo>
                  <a:lnTo>
                    <a:pt x="45110" y="15278"/>
                  </a:lnTo>
                  <a:lnTo>
                    <a:pt x="52641" y="15887"/>
                  </a:lnTo>
                  <a:lnTo>
                    <a:pt x="60363" y="17754"/>
                  </a:lnTo>
                  <a:lnTo>
                    <a:pt x="68072" y="20942"/>
                  </a:lnTo>
                  <a:lnTo>
                    <a:pt x="75514" y="25488"/>
                  </a:lnTo>
                  <a:lnTo>
                    <a:pt x="80746" y="11112"/>
                  </a:lnTo>
                  <a:lnTo>
                    <a:pt x="73126" y="6350"/>
                  </a:lnTo>
                  <a:lnTo>
                    <a:pt x="64338" y="2870"/>
                  </a:lnTo>
                  <a:lnTo>
                    <a:pt x="54851" y="723"/>
                  </a:lnTo>
                  <a:lnTo>
                    <a:pt x="45110" y="0"/>
                  </a:lnTo>
                  <a:lnTo>
                    <a:pt x="26200" y="2882"/>
                  </a:lnTo>
                  <a:lnTo>
                    <a:pt x="12979" y="10680"/>
                  </a:lnTo>
                  <a:lnTo>
                    <a:pt x="5219" y="22110"/>
                  </a:lnTo>
                  <a:lnTo>
                    <a:pt x="2692" y="35915"/>
                  </a:lnTo>
                  <a:lnTo>
                    <a:pt x="13182" y="60337"/>
                  </a:lnTo>
                  <a:lnTo>
                    <a:pt x="36245" y="70904"/>
                  </a:lnTo>
                  <a:lnTo>
                    <a:pt x="59321" y="78460"/>
                  </a:lnTo>
                  <a:lnTo>
                    <a:pt x="69811" y="93891"/>
                  </a:lnTo>
                  <a:lnTo>
                    <a:pt x="68224" y="101549"/>
                  </a:lnTo>
                  <a:lnTo>
                    <a:pt x="63296" y="107708"/>
                  </a:lnTo>
                  <a:lnTo>
                    <a:pt x="54775" y="111810"/>
                  </a:lnTo>
                  <a:lnTo>
                    <a:pt x="42418" y="113296"/>
                  </a:lnTo>
                  <a:lnTo>
                    <a:pt x="31864" y="112217"/>
                  </a:lnTo>
                  <a:lnTo>
                    <a:pt x="21894" y="109194"/>
                  </a:lnTo>
                  <a:lnTo>
                    <a:pt x="13042" y="104597"/>
                  </a:lnTo>
                  <a:lnTo>
                    <a:pt x="5842" y="98755"/>
                  </a:lnTo>
                  <a:lnTo>
                    <a:pt x="0" y="112763"/>
                  </a:lnTo>
                  <a:lnTo>
                    <a:pt x="7988" y="119176"/>
                  </a:lnTo>
                  <a:lnTo>
                    <a:pt x="18186" y="124180"/>
                  </a:lnTo>
                  <a:lnTo>
                    <a:pt x="29908" y="127431"/>
                  </a:lnTo>
                  <a:lnTo>
                    <a:pt x="42418" y="128587"/>
                  </a:lnTo>
                  <a:lnTo>
                    <a:pt x="61480" y="125691"/>
                  </a:lnTo>
                  <a:lnTo>
                    <a:pt x="74853" y="117906"/>
                  </a:lnTo>
                  <a:lnTo>
                    <a:pt x="82727" y="106514"/>
                  </a:lnTo>
                  <a:lnTo>
                    <a:pt x="85318" y="92837"/>
                  </a:lnTo>
                  <a:close/>
                </a:path>
                <a:path w="341629" h="371475">
                  <a:moveTo>
                    <a:pt x="327037" y="355511"/>
                  </a:moveTo>
                  <a:lnTo>
                    <a:pt x="259549" y="355511"/>
                  </a:lnTo>
                  <a:lnTo>
                    <a:pt x="259549" y="242938"/>
                  </a:lnTo>
                  <a:lnTo>
                    <a:pt x="241731" y="242938"/>
                  </a:lnTo>
                  <a:lnTo>
                    <a:pt x="241731" y="371475"/>
                  </a:lnTo>
                  <a:lnTo>
                    <a:pt x="327037" y="371475"/>
                  </a:lnTo>
                  <a:lnTo>
                    <a:pt x="327037" y="355511"/>
                  </a:lnTo>
                  <a:close/>
                </a:path>
                <a:path w="341629" h="371475">
                  <a:moveTo>
                    <a:pt x="341261" y="64287"/>
                  </a:moveTo>
                  <a:lnTo>
                    <a:pt x="336499" y="38709"/>
                  </a:lnTo>
                  <a:lnTo>
                    <a:pt x="324065" y="19596"/>
                  </a:lnTo>
                  <a:lnTo>
                    <a:pt x="324065" y="64287"/>
                  </a:lnTo>
                  <a:lnTo>
                    <a:pt x="320573" y="83591"/>
                  </a:lnTo>
                  <a:lnTo>
                    <a:pt x="310870" y="98894"/>
                  </a:lnTo>
                  <a:lnTo>
                    <a:pt x="296100" y="108966"/>
                  </a:lnTo>
                  <a:lnTo>
                    <a:pt x="277431" y="112598"/>
                  </a:lnTo>
                  <a:lnTo>
                    <a:pt x="258724" y="108966"/>
                  </a:lnTo>
                  <a:lnTo>
                    <a:pt x="243852" y="98894"/>
                  </a:lnTo>
                  <a:lnTo>
                    <a:pt x="234035" y="83591"/>
                  </a:lnTo>
                  <a:lnTo>
                    <a:pt x="230492" y="64287"/>
                  </a:lnTo>
                  <a:lnTo>
                    <a:pt x="234073" y="44996"/>
                  </a:lnTo>
                  <a:lnTo>
                    <a:pt x="243967" y="29692"/>
                  </a:lnTo>
                  <a:lnTo>
                    <a:pt x="258851" y="19608"/>
                  </a:lnTo>
                  <a:lnTo>
                    <a:pt x="277431" y="15976"/>
                  </a:lnTo>
                  <a:lnTo>
                    <a:pt x="295960" y="19608"/>
                  </a:lnTo>
                  <a:lnTo>
                    <a:pt x="310743" y="29692"/>
                  </a:lnTo>
                  <a:lnTo>
                    <a:pt x="320522" y="44996"/>
                  </a:lnTo>
                  <a:lnTo>
                    <a:pt x="324065" y="64287"/>
                  </a:lnTo>
                  <a:lnTo>
                    <a:pt x="324065" y="19596"/>
                  </a:lnTo>
                  <a:lnTo>
                    <a:pt x="323253" y="18338"/>
                  </a:lnTo>
                  <a:lnTo>
                    <a:pt x="319747" y="15976"/>
                  </a:lnTo>
                  <a:lnTo>
                    <a:pt x="303034" y="4864"/>
                  </a:lnTo>
                  <a:lnTo>
                    <a:pt x="277431" y="0"/>
                  </a:lnTo>
                  <a:lnTo>
                    <a:pt x="251815" y="4864"/>
                  </a:lnTo>
                  <a:lnTo>
                    <a:pt x="231508" y="18338"/>
                  </a:lnTo>
                  <a:lnTo>
                    <a:pt x="218122" y="38709"/>
                  </a:lnTo>
                  <a:lnTo>
                    <a:pt x="213296" y="64287"/>
                  </a:lnTo>
                  <a:lnTo>
                    <a:pt x="216966" y="83591"/>
                  </a:lnTo>
                  <a:lnTo>
                    <a:pt x="252082" y="123736"/>
                  </a:lnTo>
                  <a:lnTo>
                    <a:pt x="277431" y="128587"/>
                  </a:lnTo>
                  <a:lnTo>
                    <a:pt x="302869" y="123736"/>
                  </a:lnTo>
                  <a:lnTo>
                    <a:pt x="319633" y="112598"/>
                  </a:lnTo>
                  <a:lnTo>
                    <a:pt x="323088" y="110312"/>
                  </a:lnTo>
                  <a:lnTo>
                    <a:pt x="336435" y="89941"/>
                  </a:lnTo>
                  <a:lnTo>
                    <a:pt x="341261" y="64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8">
            <a:extLst>
              <a:ext uri="{FF2B5EF4-FFF2-40B4-BE49-F238E27FC236}">
                <a16:creationId xmlns:a16="http://schemas.microsoft.com/office/drawing/2014/main" id="{55E4262E-B240-3CC5-6FD0-778E476B42CA}"/>
              </a:ext>
            </a:extLst>
          </p:cNvPr>
          <p:cNvSpPr txBox="1"/>
          <p:nvPr/>
        </p:nvSpPr>
        <p:spPr>
          <a:xfrm>
            <a:off x="355803" y="362153"/>
            <a:ext cx="886439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ru-RU" sz="3200" b="1" dirty="0">
                <a:solidFill>
                  <a:srgbClr val="434754"/>
                </a:solidFill>
                <a:latin typeface="Segoe UI"/>
                <a:ea typeface="Segoe UI Symbol" panose="020B0502040204020203" pitchFamily="34" charset="0"/>
                <a:cs typeface="Segoe UI"/>
              </a:rPr>
              <a:t>Ключевые стратегические приоритеты </a:t>
            </a:r>
            <a:endParaRPr sz="2400" b="1" dirty="0">
              <a:solidFill>
                <a:srgbClr val="434754"/>
              </a:solidFill>
              <a:latin typeface="Segoe UI Symbol" panose="020B0502040204020203" pitchFamily="34" charset="0"/>
              <a:ea typeface="Segoe UI Symbol" panose="020B0502040204020203" pitchFamily="34" charset="0"/>
              <a:cs typeface="Segoe UI"/>
            </a:endParaRPr>
          </a:p>
        </p:txBody>
      </p:sp>
      <p:sp>
        <p:nvSpPr>
          <p:cNvPr id="19" name="object 16">
            <a:extLst>
              <a:ext uri="{FF2B5EF4-FFF2-40B4-BE49-F238E27FC236}">
                <a16:creationId xmlns:a16="http://schemas.microsoft.com/office/drawing/2014/main" id="{FAFC940B-B080-EC0E-85CD-FCF0C0EA2741}"/>
              </a:ext>
            </a:extLst>
          </p:cNvPr>
          <p:cNvSpPr txBox="1"/>
          <p:nvPr/>
        </p:nvSpPr>
        <p:spPr>
          <a:xfrm>
            <a:off x="348183" y="1322666"/>
            <a:ext cx="11075874" cy="5103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Ставка на «облако как сервис управления бизнесом» - через </a:t>
            </a:r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Multi-cloud (</a:t>
            </a:r>
            <a:r>
              <a:rPr lang="en" sz="1500" b="1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CloudMaster</a:t>
            </a:r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) 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и отраслевые решения</a:t>
            </a:r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. </a:t>
            </a: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endParaRPr lang="en-US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Эволюция продукта:</a:t>
            </a:r>
          </a:p>
          <a:p>
            <a:r>
              <a:rPr lang="ru-RU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От </a:t>
            </a:r>
            <a:r>
              <a:rPr lang="en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IaaS </a:t>
            </a:r>
            <a:r>
              <a:rPr lang="ru-RU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к </a:t>
            </a:r>
            <a:r>
              <a:rPr lang="en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PaaS </a:t>
            </a:r>
            <a:r>
              <a:rPr lang="ru-RU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и далее к отраслевым решениям.</a:t>
            </a:r>
          </a:p>
          <a:p>
            <a:endParaRPr lang="ru-RU" sz="1500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GPU</a:t>
            </a:r>
            <a:endParaRPr lang="ru-RU" sz="1500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DBaaS</a:t>
            </a:r>
            <a:endParaRPr lang="ru-RU" sz="1500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ML/AI</a:t>
            </a:r>
            <a:endParaRPr lang="ru-RU" sz="1500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DevOps</a:t>
            </a:r>
            <a:endParaRPr lang="ru-RU" sz="1500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endParaRPr lang="ru-RU" sz="1500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Multi-cloud 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и </a:t>
            </a:r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FinOp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	</a:t>
            </a:r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s:</a:t>
            </a:r>
          </a:p>
          <a:p>
            <a:r>
              <a:rPr lang="ru-RU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Развитие </a:t>
            </a:r>
            <a:r>
              <a:rPr lang="en" sz="1500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CloudMaster</a:t>
            </a:r>
            <a:r>
              <a:rPr lang="en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</a:t>
            </a:r>
            <a:r>
              <a:rPr lang="ru-RU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как точки входа для </a:t>
            </a:r>
            <a:r>
              <a:rPr lang="en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enterprise-</a:t>
            </a:r>
            <a:r>
              <a:rPr lang="ru-RU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клиентов</a:t>
            </a:r>
          </a:p>
          <a:p>
            <a:r>
              <a:rPr lang="en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FinOps </a:t>
            </a:r>
            <a:r>
              <a:rPr lang="ru-RU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как канал роста</a:t>
            </a:r>
          </a:p>
          <a:p>
            <a:endParaRPr lang="ru-RU" sz="1500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Отраслевые решения:</a:t>
            </a:r>
          </a:p>
          <a:p>
            <a:r>
              <a:rPr lang="ru-RU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Вертикальная экспертиза (например для </a:t>
            </a:r>
            <a:r>
              <a:rPr lang="ru-RU" sz="1500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ФинТеха</a:t>
            </a:r>
            <a:r>
              <a:rPr lang="ru-RU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, Ритейла)</a:t>
            </a:r>
            <a:endParaRPr lang="en" sz="1500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endParaRPr lang="ru-RU" sz="1500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Маркетинг и бренд:</a:t>
            </a:r>
          </a:p>
          <a:p>
            <a:r>
              <a:rPr lang="ru-RU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Рост узнаваемости через экспертность и контент</a:t>
            </a:r>
          </a:p>
          <a:p>
            <a:r>
              <a:rPr lang="ru-RU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Развитие партнёрской сети и региональных продаж</a:t>
            </a:r>
          </a:p>
          <a:p>
            <a:endParaRPr lang="ru-RU" sz="1500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12700" marR="284480">
              <a:lnSpc>
                <a:spcPct val="100000"/>
              </a:lnSpc>
              <a:spcBef>
                <a:spcPts val="95"/>
              </a:spcBef>
            </a:pP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88137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9"/>
          <p:cNvGrpSpPr/>
          <p:nvPr/>
        </p:nvGrpSpPr>
        <p:grpSpPr>
          <a:xfrm>
            <a:off x="11367189" y="367147"/>
            <a:ext cx="441325" cy="457200"/>
            <a:chOff x="11367189" y="367147"/>
            <a:chExt cx="441325" cy="457200"/>
          </a:xfrm>
        </p:grpSpPr>
        <p:sp>
          <p:nvSpPr>
            <p:cNvPr id="10" name="object 10"/>
            <p:cNvSpPr/>
            <p:nvPr/>
          </p:nvSpPr>
          <p:spPr>
            <a:xfrm>
              <a:off x="11367186" y="610031"/>
              <a:ext cx="441325" cy="214629"/>
            </a:xfrm>
            <a:custGeom>
              <a:avLst/>
              <a:gdLst/>
              <a:ahLst/>
              <a:cxnLst/>
              <a:rect l="l" t="t" r="r" b="b"/>
              <a:pathLst>
                <a:path w="441325" h="214630">
                  <a:moveTo>
                    <a:pt x="213283" y="0"/>
                  </a:moveTo>
                  <a:lnTo>
                    <a:pt x="0" y="0"/>
                  </a:lnTo>
                  <a:lnTo>
                    <a:pt x="0" y="214312"/>
                  </a:lnTo>
                  <a:lnTo>
                    <a:pt x="213283" y="214325"/>
                  </a:lnTo>
                  <a:lnTo>
                    <a:pt x="213283" y="0"/>
                  </a:lnTo>
                  <a:close/>
                </a:path>
                <a:path w="441325" h="214630">
                  <a:moveTo>
                    <a:pt x="440791" y="0"/>
                  </a:moveTo>
                  <a:lnTo>
                    <a:pt x="227495" y="0"/>
                  </a:lnTo>
                  <a:lnTo>
                    <a:pt x="227495" y="214325"/>
                  </a:lnTo>
                  <a:lnTo>
                    <a:pt x="440791" y="214325"/>
                  </a:lnTo>
                  <a:lnTo>
                    <a:pt x="440791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367189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A40D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594693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424057" y="410019"/>
              <a:ext cx="341630" cy="371475"/>
            </a:xfrm>
            <a:custGeom>
              <a:avLst/>
              <a:gdLst/>
              <a:ahLst/>
              <a:cxnLst/>
              <a:rect l="l" t="t" r="r" b="b"/>
              <a:pathLst>
                <a:path w="341629" h="371475">
                  <a:moveTo>
                    <a:pt x="85318" y="242887"/>
                  </a:moveTo>
                  <a:lnTo>
                    <a:pt x="0" y="242887"/>
                  </a:lnTo>
                  <a:lnTo>
                    <a:pt x="0" y="371475"/>
                  </a:lnTo>
                  <a:lnTo>
                    <a:pt x="17284" y="371475"/>
                  </a:lnTo>
                  <a:lnTo>
                    <a:pt x="17284" y="319481"/>
                  </a:lnTo>
                  <a:lnTo>
                    <a:pt x="77914" y="319481"/>
                  </a:lnTo>
                  <a:lnTo>
                    <a:pt x="77914" y="303682"/>
                  </a:lnTo>
                  <a:lnTo>
                    <a:pt x="17284" y="303682"/>
                  </a:lnTo>
                  <a:lnTo>
                    <a:pt x="17284" y="258851"/>
                  </a:lnTo>
                  <a:lnTo>
                    <a:pt x="85318" y="258851"/>
                  </a:lnTo>
                  <a:lnTo>
                    <a:pt x="85318" y="242887"/>
                  </a:lnTo>
                  <a:close/>
                </a:path>
                <a:path w="341629" h="371475">
                  <a:moveTo>
                    <a:pt x="85318" y="92837"/>
                  </a:moveTo>
                  <a:lnTo>
                    <a:pt x="74828" y="68681"/>
                  </a:lnTo>
                  <a:lnTo>
                    <a:pt x="51752" y="58229"/>
                  </a:lnTo>
                  <a:lnTo>
                    <a:pt x="28676" y="50673"/>
                  </a:lnTo>
                  <a:lnTo>
                    <a:pt x="18199" y="35217"/>
                  </a:lnTo>
                  <a:lnTo>
                    <a:pt x="19748" y="27482"/>
                  </a:lnTo>
                  <a:lnTo>
                    <a:pt x="24587" y="21145"/>
                  </a:lnTo>
                  <a:lnTo>
                    <a:pt x="32956" y="16852"/>
                  </a:lnTo>
                  <a:lnTo>
                    <a:pt x="45110" y="15278"/>
                  </a:lnTo>
                  <a:lnTo>
                    <a:pt x="52641" y="15887"/>
                  </a:lnTo>
                  <a:lnTo>
                    <a:pt x="60363" y="17754"/>
                  </a:lnTo>
                  <a:lnTo>
                    <a:pt x="68059" y="20942"/>
                  </a:lnTo>
                  <a:lnTo>
                    <a:pt x="75514" y="25488"/>
                  </a:lnTo>
                  <a:lnTo>
                    <a:pt x="80746" y="11112"/>
                  </a:lnTo>
                  <a:lnTo>
                    <a:pt x="73126" y="6350"/>
                  </a:lnTo>
                  <a:lnTo>
                    <a:pt x="64338" y="2870"/>
                  </a:lnTo>
                  <a:lnTo>
                    <a:pt x="54851" y="723"/>
                  </a:lnTo>
                  <a:lnTo>
                    <a:pt x="45110" y="0"/>
                  </a:lnTo>
                  <a:lnTo>
                    <a:pt x="26187" y="2882"/>
                  </a:lnTo>
                  <a:lnTo>
                    <a:pt x="12979" y="10680"/>
                  </a:lnTo>
                  <a:lnTo>
                    <a:pt x="5219" y="22110"/>
                  </a:lnTo>
                  <a:lnTo>
                    <a:pt x="2692" y="35915"/>
                  </a:lnTo>
                  <a:lnTo>
                    <a:pt x="13182" y="60337"/>
                  </a:lnTo>
                  <a:lnTo>
                    <a:pt x="36245" y="70904"/>
                  </a:lnTo>
                  <a:lnTo>
                    <a:pt x="59321" y="78460"/>
                  </a:lnTo>
                  <a:lnTo>
                    <a:pt x="69811" y="93891"/>
                  </a:lnTo>
                  <a:lnTo>
                    <a:pt x="68224" y="101549"/>
                  </a:lnTo>
                  <a:lnTo>
                    <a:pt x="63296" y="107708"/>
                  </a:lnTo>
                  <a:lnTo>
                    <a:pt x="54775" y="111810"/>
                  </a:lnTo>
                  <a:lnTo>
                    <a:pt x="42418" y="113296"/>
                  </a:lnTo>
                  <a:lnTo>
                    <a:pt x="31864" y="112217"/>
                  </a:lnTo>
                  <a:lnTo>
                    <a:pt x="21894" y="109194"/>
                  </a:lnTo>
                  <a:lnTo>
                    <a:pt x="13042" y="104597"/>
                  </a:lnTo>
                  <a:lnTo>
                    <a:pt x="5842" y="98755"/>
                  </a:lnTo>
                  <a:lnTo>
                    <a:pt x="0" y="112763"/>
                  </a:lnTo>
                  <a:lnTo>
                    <a:pt x="7988" y="119176"/>
                  </a:lnTo>
                  <a:lnTo>
                    <a:pt x="18186" y="124180"/>
                  </a:lnTo>
                  <a:lnTo>
                    <a:pt x="29908" y="127431"/>
                  </a:lnTo>
                  <a:lnTo>
                    <a:pt x="42418" y="128587"/>
                  </a:lnTo>
                  <a:lnTo>
                    <a:pt x="61468" y="125691"/>
                  </a:lnTo>
                  <a:lnTo>
                    <a:pt x="74841" y="117906"/>
                  </a:lnTo>
                  <a:lnTo>
                    <a:pt x="82727" y="106514"/>
                  </a:lnTo>
                  <a:lnTo>
                    <a:pt x="85318" y="92837"/>
                  </a:lnTo>
                  <a:close/>
                </a:path>
                <a:path w="341629" h="371475">
                  <a:moveTo>
                    <a:pt x="327037" y="355511"/>
                  </a:moveTo>
                  <a:lnTo>
                    <a:pt x="259549" y="355511"/>
                  </a:lnTo>
                  <a:lnTo>
                    <a:pt x="259549" y="242938"/>
                  </a:lnTo>
                  <a:lnTo>
                    <a:pt x="241731" y="242938"/>
                  </a:lnTo>
                  <a:lnTo>
                    <a:pt x="241731" y="371475"/>
                  </a:lnTo>
                  <a:lnTo>
                    <a:pt x="327037" y="371475"/>
                  </a:lnTo>
                  <a:lnTo>
                    <a:pt x="327037" y="355511"/>
                  </a:lnTo>
                  <a:close/>
                </a:path>
                <a:path w="341629" h="371475">
                  <a:moveTo>
                    <a:pt x="341261" y="64287"/>
                  </a:moveTo>
                  <a:lnTo>
                    <a:pt x="336499" y="38709"/>
                  </a:lnTo>
                  <a:lnTo>
                    <a:pt x="324065" y="19596"/>
                  </a:lnTo>
                  <a:lnTo>
                    <a:pt x="324065" y="64287"/>
                  </a:lnTo>
                  <a:lnTo>
                    <a:pt x="320573" y="83591"/>
                  </a:lnTo>
                  <a:lnTo>
                    <a:pt x="310870" y="98894"/>
                  </a:lnTo>
                  <a:lnTo>
                    <a:pt x="296100" y="108966"/>
                  </a:lnTo>
                  <a:lnTo>
                    <a:pt x="277431" y="112598"/>
                  </a:lnTo>
                  <a:lnTo>
                    <a:pt x="258724" y="108966"/>
                  </a:lnTo>
                  <a:lnTo>
                    <a:pt x="243852" y="98894"/>
                  </a:lnTo>
                  <a:lnTo>
                    <a:pt x="234035" y="83591"/>
                  </a:lnTo>
                  <a:lnTo>
                    <a:pt x="230492" y="64287"/>
                  </a:lnTo>
                  <a:lnTo>
                    <a:pt x="234073" y="44996"/>
                  </a:lnTo>
                  <a:lnTo>
                    <a:pt x="243967" y="29692"/>
                  </a:lnTo>
                  <a:lnTo>
                    <a:pt x="258851" y="19608"/>
                  </a:lnTo>
                  <a:lnTo>
                    <a:pt x="277431" y="15976"/>
                  </a:lnTo>
                  <a:lnTo>
                    <a:pt x="295960" y="19608"/>
                  </a:lnTo>
                  <a:lnTo>
                    <a:pt x="310743" y="29692"/>
                  </a:lnTo>
                  <a:lnTo>
                    <a:pt x="320522" y="44996"/>
                  </a:lnTo>
                  <a:lnTo>
                    <a:pt x="324065" y="64287"/>
                  </a:lnTo>
                  <a:lnTo>
                    <a:pt x="324065" y="19596"/>
                  </a:lnTo>
                  <a:lnTo>
                    <a:pt x="323253" y="18338"/>
                  </a:lnTo>
                  <a:lnTo>
                    <a:pt x="319747" y="15976"/>
                  </a:lnTo>
                  <a:lnTo>
                    <a:pt x="303034" y="4864"/>
                  </a:lnTo>
                  <a:lnTo>
                    <a:pt x="277431" y="0"/>
                  </a:lnTo>
                  <a:lnTo>
                    <a:pt x="251815" y="4864"/>
                  </a:lnTo>
                  <a:lnTo>
                    <a:pt x="231495" y="18338"/>
                  </a:lnTo>
                  <a:lnTo>
                    <a:pt x="218109" y="38709"/>
                  </a:lnTo>
                  <a:lnTo>
                    <a:pt x="213283" y="64287"/>
                  </a:lnTo>
                  <a:lnTo>
                    <a:pt x="216966" y="83591"/>
                  </a:lnTo>
                  <a:lnTo>
                    <a:pt x="252069" y="123736"/>
                  </a:lnTo>
                  <a:lnTo>
                    <a:pt x="277431" y="128587"/>
                  </a:lnTo>
                  <a:lnTo>
                    <a:pt x="302869" y="123736"/>
                  </a:lnTo>
                  <a:lnTo>
                    <a:pt x="319633" y="112598"/>
                  </a:lnTo>
                  <a:lnTo>
                    <a:pt x="323088" y="110312"/>
                  </a:lnTo>
                  <a:lnTo>
                    <a:pt x="336435" y="89941"/>
                  </a:lnTo>
                  <a:lnTo>
                    <a:pt x="341261" y="64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48183" y="362153"/>
            <a:ext cx="1042987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384">
              <a:spcBef>
                <a:spcPts val="95"/>
              </a:spcBef>
            </a:pPr>
            <a:r>
              <a:rPr lang="en-US" sz="2400" dirty="0">
                <a:ea typeface="Segoe UI Symbol" panose="020B0502040204020203" pitchFamily="34" charset="0"/>
              </a:rPr>
              <a:t>Multi</a:t>
            </a:r>
            <a:r>
              <a:rPr lang="ru-RU" sz="2400" dirty="0">
                <a:ea typeface="Segoe UI Symbol" panose="020B0502040204020203" pitchFamily="34" charset="0"/>
              </a:rPr>
              <a:t>-</a:t>
            </a:r>
            <a:r>
              <a:rPr lang="en-US" sz="2400" dirty="0">
                <a:ea typeface="Segoe UI Symbol" panose="020B0502040204020203" pitchFamily="34" charset="0"/>
              </a:rPr>
              <a:t>Cloud</a:t>
            </a:r>
            <a:endParaRPr b="0" spc="-755" dirty="0">
              <a:latin typeface="Segoe UI Symbol"/>
              <a:cs typeface="Segoe UI Symbol"/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1251800C-7C51-C310-4D7A-BE752318D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631" y="1311097"/>
            <a:ext cx="6104957" cy="2846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16">
            <a:extLst>
              <a:ext uri="{FF2B5EF4-FFF2-40B4-BE49-F238E27FC236}">
                <a16:creationId xmlns:a16="http://schemas.microsoft.com/office/drawing/2014/main" id="{728F5081-62B0-A052-F08C-2E22273AFC99}"/>
              </a:ext>
            </a:extLst>
          </p:cNvPr>
          <p:cNvSpPr txBox="1"/>
          <p:nvPr/>
        </p:nvSpPr>
        <p:spPr>
          <a:xfrm>
            <a:off x="348183" y="1322666"/>
            <a:ext cx="5316659" cy="28334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84480">
              <a:lnSpc>
                <a:spcPct val="100000"/>
              </a:lnSpc>
              <a:spcBef>
                <a:spcPts val="95"/>
              </a:spcBef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По данным </a:t>
            </a:r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Gartner, 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до 80% крупных компаний к 2026 году будут использовать 2+ облачных провайдера.</a:t>
            </a:r>
          </a:p>
          <a:p>
            <a:pPr marL="12700" marR="284480">
              <a:lnSpc>
                <a:spcPct val="100000"/>
              </a:lnSpc>
              <a:spcBef>
                <a:spcPts val="95"/>
              </a:spcBef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Даже в России, где инфраструктура более централизована, крупные заказчики (банки, ретейл) предпочитают распределять риски между 2–3 провайдерами.</a:t>
            </a:r>
          </a:p>
          <a:p>
            <a:pPr marL="12700" marR="284480">
              <a:lnSpc>
                <a:spcPct val="100000"/>
              </a:lnSpc>
              <a:spcBef>
                <a:spcPts val="95"/>
              </a:spcBef>
            </a:pP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85750" marR="284480" lvl="0" indent="-285750"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500" b="1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CloudMaster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- 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УТП к подобным заказчикам</a:t>
            </a:r>
          </a:p>
          <a:p>
            <a:pPr marL="285750" marR="284480" lvl="0" indent="-285750"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Модель второго плеча снижает барьеры входа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:</a:t>
            </a: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lvl="0">
              <a:tabLst>
                <a:tab pos="457200" algn="l"/>
              </a:tabLst>
            </a:pPr>
            <a:endParaRPr lang="ru-RU" sz="1500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</p:txBody>
      </p:sp>
      <p:sp>
        <p:nvSpPr>
          <p:cNvPr id="3" name="object 16">
            <a:extLst>
              <a:ext uri="{FF2B5EF4-FFF2-40B4-BE49-F238E27FC236}">
                <a16:creationId xmlns:a16="http://schemas.microsoft.com/office/drawing/2014/main" id="{C21783BD-99FC-1767-E4FA-99CE3EFB9791}"/>
              </a:ext>
            </a:extLst>
          </p:cNvPr>
          <p:cNvSpPr txBox="1"/>
          <p:nvPr/>
        </p:nvSpPr>
        <p:spPr>
          <a:xfrm>
            <a:off x="359069" y="4491476"/>
            <a:ext cx="11528291" cy="120481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84480">
              <a:spcBef>
                <a:spcPts val="95"/>
              </a:spcBef>
            </a:pPr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FinOps (</a:t>
            </a:r>
            <a:r>
              <a:rPr lang="en" sz="1500" b="1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CloudMaster</a:t>
            </a:r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) → 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оптимизация расходов → вход к клиенту → миграция в </a:t>
            </a:r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Softline PaaS / 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отраслевые решения</a:t>
            </a:r>
          </a:p>
          <a:p>
            <a:pPr marL="12700" marR="284480">
              <a:spcBef>
                <a:spcPts val="95"/>
              </a:spcBef>
            </a:pP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12700" marR="284480">
              <a:spcBef>
                <a:spcPts val="95"/>
              </a:spcBef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«Мы не конкурируем с другими облаками — мы помогаем управлять ими эффективнее, а часть работы делаем оптимальнее»</a:t>
            </a:r>
          </a:p>
          <a:p>
            <a:pPr marL="12700" marR="284480">
              <a:spcBef>
                <a:spcPts val="95"/>
              </a:spcBef>
            </a:pP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269642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9"/>
          <p:cNvGrpSpPr/>
          <p:nvPr/>
        </p:nvGrpSpPr>
        <p:grpSpPr>
          <a:xfrm>
            <a:off x="11367189" y="367147"/>
            <a:ext cx="441325" cy="457200"/>
            <a:chOff x="11367189" y="367147"/>
            <a:chExt cx="441325" cy="457200"/>
          </a:xfrm>
        </p:grpSpPr>
        <p:sp>
          <p:nvSpPr>
            <p:cNvPr id="10" name="object 10"/>
            <p:cNvSpPr/>
            <p:nvPr/>
          </p:nvSpPr>
          <p:spPr>
            <a:xfrm>
              <a:off x="11367186" y="610031"/>
              <a:ext cx="441325" cy="214629"/>
            </a:xfrm>
            <a:custGeom>
              <a:avLst/>
              <a:gdLst/>
              <a:ahLst/>
              <a:cxnLst/>
              <a:rect l="l" t="t" r="r" b="b"/>
              <a:pathLst>
                <a:path w="441325" h="214630">
                  <a:moveTo>
                    <a:pt x="213283" y="0"/>
                  </a:moveTo>
                  <a:lnTo>
                    <a:pt x="0" y="0"/>
                  </a:lnTo>
                  <a:lnTo>
                    <a:pt x="0" y="214312"/>
                  </a:lnTo>
                  <a:lnTo>
                    <a:pt x="213283" y="214325"/>
                  </a:lnTo>
                  <a:lnTo>
                    <a:pt x="213283" y="0"/>
                  </a:lnTo>
                  <a:close/>
                </a:path>
                <a:path w="441325" h="214630">
                  <a:moveTo>
                    <a:pt x="440791" y="0"/>
                  </a:moveTo>
                  <a:lnTo>
                    <a:pt x="227495" y="0"/>
                  </a:lnTo>
                  <a:lnTo>
                    <a:pt x="227495" y="214325"/>
                  </a:lnTo>
                  <a:lnTo>
                    <a:pt x="440791" y="214325"/>
                  </a:lnTo>
                  <a:lnTo>
                    <a:pt x="440791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367189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A40D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594693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424057" y="410019"/>
              <a:ext cx="341630" cy="371475"/>
            </a:xfrm>
            <a:custGeom>
              <a:avLst/>
              <a:gdLst/>
              <a:ahLst/>
              <a:cxnLst/>
              <a:rect l="l" t="t" r="r" b="b"/>
              <a:pathLst>
                <a:path w="341629" h="371475">
                  <a:moveTo>
                    <a:pt x="85318" y="242887"/>
                  </a:moveTo>
                  <a:lnTo>
                    <a:pt x="0" y="242887"/>
                  </a:lnTo>
                  <a:lnTo>
                    <a:pt x="0" y="371475"/>
                  </a:lnTo>
                  <a:lnTo>
                    <a:pt x="17284" y="371475"/>
                  </a:lnTo>
                  <a:lnTo>
                    <a:pt x="17284" y="319481"/>
                  </a:lnTo>
                  <a:lnTo>
                    <a:pt x="77914" y="319481"/>
                  </a:lnTo>
                  <a:lnTo>
                    <a:pt x="77914" y="303682"/>
                  </a:lnTo>
                  <a:lnTo>
                    <a:pt x="17284" y="303682"/>
                  </a:lnTo>
                  <a:lnTo>
                    <a:pt x="17284" y="258851"/>
                  </a:lnTo>
                  <a:lnTo>
                    <a:pt x="85318" y="258851"/>
                  </a:lnTo>
                  <a:lnTo>
                    <a:pt x="85318" y="242887"/>
                  </a:lnTo>
                  <a:close/>
                </a:path>
                <a:path w="341629" h="371475">
                  <a:moveTo>
                    <a:pt x="85318" y="92837"/>
                  </a:moveTo>
                  <a:lnTo>
                    <a:pt x="74828" y="68681"/>
                  </a:lnTo>
                  <a:lnTo>
                    <a:pt x="51752" y="58229"/>
                  </a:lnTo>
                  <a:lnTo>
                    <a:pt x="28676" y="50673"/>
                  </a:lnTo>
                  <a:lnTo>
                    <a:pt x="18199" y="35217"/>
                  </a:lnTo>
                  <a:lnTo>
                    <a:pt x="19748" y="27482"/>
                  </a:lnTo>
                  <a:lnTo>
                    <a:pt x="24587" y="21145"/>
                  </a:lnTo>
                  <a:lnTo>
                    <a:pt x="32956" y="16852"/>
                  </a:lnTo>
                  <a:lnTo>
                    <a:pt x="45110" y="15278"/>
                  </a:lnTo>
                  <a:lnTo>
                    <a:pt x="52641" y="15887"/>
                  </a:lnTo>
                  <a:lnTo>
                    <a:pt x="60363" y="17754"/>
                  </a:lnTo>
                  <a:lnTo>
                    <a:pt x="68059" y="20942"/>
                  </a:lnTo>
                  <a:lnTo>
                    <a:pt x="75514" y="25488"/>
                  </a:lnTo>
                  <a:lnTo>
                    <a:pt x="80746" y="11112"/>
                  </a:lnTo>
                  <a:lnTo>
                    <a:pt x="73126" y="6350"/>
                  </a:lnTo>
                  <a:lnTo>
                    <a:pt x="64338" y="2870"/>
                  </a:lnTo>
                  <a:lnTo>
                    <a:pt x="54851" y="723"/>
                  </a:lnTo>
                  <a:lnTo>
                    <a:pt x="45110" y="0"/>
                  </a:lnTo>
                  <a:lnTo>
                    <a:pt x="26187" y="2882"/>
                  </a:lnTo>
                  <a:lnTo>
                    <a:pt x="12979" y="10680"/>
                  </a:lnTo>
                  <a:lnTo>
                    <a:pt x="5219" y="22110"/>
                  </a:lnTo>
                  <a:lnTo>
                    <a:pt x="2692" y="35915"/>
                  </a:lnTo>
                  <a:lnTo>
                    <a:pt x="13182" y="60337"/>
                  </a:lnTo>
                  <a:lnTo>
                    <a:pt x="36245" y="70904"/>
                  </a:lnTo>
                  <a:lnTo>
                    <a:pt x="59321" y="78460"/>
                  </a:lnTo>
                  <a:lnTo>
                    <a:pt x="69811" y="93891"/>
                  </a:lnTo>
                  <a:lnTo>
                    <a:pt x="68224" y="101549"/>
                  </a:lnTo>
                  <a:lnTo>
                    <a:pt x="63296" y="107708"/>
                  </a:lnTo>
                  <a:lnTo>
                    <a:pt x="54775" y="111810"/>
                  </a:lnTo>
                  <a:lnTo>
                    <a:pt x="42418" y="113296"/>
                  </a:lnTo>
                  <a:lnTo>
                    <a:pt x="31864" y="112217"/>
                  </a:lnTo>
                  <a:lnTo>
                    <a:pt x="21894" y="109194"/>
                  </a:lnTo>
                  <a:lnTo>
                    <a:pt x="13042" y="104597"/>
                  </a:lnTo>
                  <a:lnTo>
                    <a:pt x="5842" y="98755"/>
                  </a:lnTo>
                  <a:lnTo>
                    <a:pt x="0" y="112763"/>
                  </a:lnTo>
                  <a:lnTo>
                    <a:pt x="7988" y="119176"/>
                  </a:lnTo>
                  <a:lnTo>
                    <a:pt x="18186" y="124180"/>
                  </a:lnTo>
                  <a:lnTo>
                    <a:pt x="29908" y="127431"/>
                  </a:lnTo>
                  <a:lnTo>
                    <a:pt x="42418" y="128587"/>
                  </a:lnTo>
                  <a:lnTo>
                    <a:pt x="61468" y="125691"/>
                  </a:lnTo>
                  <a:lnTo>
                    <a:pt x="74841" y="117906"/>
                  </a:lnTo>
                  <a:lnTo>
                    <a:pt x="82727" y="106514"/>
                  </a:lnTo>
                  <a:lnTo>
                    <a:pt x="85318" y="92837"/>
                  </a:lnTo>
                  <a:close/>
                </a:path>
                <a:path w="341629" h="371475">
                  <a:moveTo>
                    <a:pt x="327037" y="355511"/>
                  </a:moveTo>
                  <a:lnTo>
                    <a:pt x="259549" y="355511"/>
                  </a:lnTo>
                  <a:lnTo>
                    <a:pt x="259549" y="242938"/>
                  </a:lnTo>
                  <a:lnTo>
                    <a:pt x="241731" y="242938"/>
                  </a:lnTo>
                  <a:lnTo>
                    <a:pt x="241731" y="371475"/>
                  </a:lnTo>
                  <a:lnTo>
                    <a:pt x="327037" y="371475"/>
                  </a:lnTo>
                  <a:lnTo>
                    <a:pt x="327037" y="355511"/>
                  </a:lnTo>
                  <a:close/>
                </a:path>
                <a:path w="341629" h="371475">
                  <a:moveTo>
                    <a:pt x="341261" y="64287"/>
                  </a:moveTo>
                  <a:lnTo>
                    <a:pt x="336499" y="38709"/>
                  </a:lnTo>
                  <a:lnTo>
                    <a:pt x="324065" y="19596"/>
                  </a:lnTo>
                  <a:lnTo>
                    <a:pt x="324065" y="64287"/>
                  </a:lnTo>
                  <a:lnTo>
                    <a:pt x="320573" y="83591"/>
                  </a:lnTo>
                  <a:lnTo>
                    <a:pt x="310870" y="98894"/>
                  </a:lnTo>
                  <a:lnTo>
                    <a:pt x="296100" y="108966"/>
                  </a:lnTo>
                  <a:lnTo>
                    <a:pt x="277431" y="112598"/>
                  </a:lnTo>
                  <a:lnTo>
                    <a:pt x="258724" y="108966"/>
                  </a:lnTo>
                  <a:lnTo>
                    <a:pt x="243852" y="98894"/>
                  </a:lnTo>
                  <a:lnTo>
                    <a:pt x="234035" y="83591"/>
                  </a:lnTo>
                  <a:lnTo>
                    <a:pt x="230492" y="64287"/>
                  </a:lnTo>
                  <a:lnTo>
                    <a:pt x="234073" y="44996"/>
                  </a:lnTo>
                  <a:lnTo>
                    <a:pt x="243967" y="29692"/>
                  </a:lnTo>
                  <a:lnTo>
                    <a:pt x="258851" y="19608"/>
                  </a:lnTo>
                  <a:lnTo>
                    <a:pt x="277431" y="15976"/>
                  </a:lnTo>
                  <a:lnTo>
                    <a:pt x="295960" y="19608"/>
                  </a:lnTo>
                  <a:lnTo>
                    <a:pt x="310743" y="29692"/>
                  </a:lnTo>
                  <a:lnTo>
                    <a:pt x="320522" y="44996"/>
                  </a:lnTo>
                  <a:lnTo>
                    <a:pt x="324065" y="64287"/>
                  </a:lnTo>
                  <a:lnTo>
                    <a:pt x="324065" y="19596"/>
                  </a:lnTo>
                  <a:lnTo>
                    <a:pt x="323253" y="18338"/>
                  </a:lnTo>
                  <a:lnTo>
                    <a:pt x="319747" y="15976"/>
                  </a:lnTo>
                  <a:lnTo>
                    <a:pt x="303034" y="4864"/>
                  </a:lnTo>
                  <a:lnTo>
                    <a:pt x="277431" y="0"/>
                  </a:lnTo>
                  <a:lnTo>
                    <a:pt x="251815" y="4864"/>
                  </a:lnTo>
                  <a:lnTo>
                    <a:pt x="231495" y="18338"/>
                  </a:lnTo>
                  <a:lnTo>
                    <a:pt x="218109" y="38709"/>
                  </a:lnTo>
                  <a:lnTo>
                    <a:pt x="213283" y="64287"/>
                  </a:lnTo>
                  <a:lnTo>
                    <a:pt x="216966" y="83591"/>
                  </a:lnTo>
                  <a:lnTo>
                    <a:pt x="252069" y="123736"/>
                  </a:lnTo>
                  <a:lnTo>
                    <a:pt x="277431" y="128587"/>
                  </a:lnTo>
                  <a:lnTo>
                    <a:pt x="302869" y="123736"/>
                  </a:lnTo>
                  <a:lnTo>
                    <a:pt x="319633" y="112598"/>
                  </a:lnTo>
                  <a:lnTo>
                    <a:pt x="323088" y="110312"/>
                  </a:lnTo>
                  <a:lnTo>
                    <a:pt x="336435" y="89941"/>
                  </a:lnTo>
                  <a:lnTo>
                    <a:pt x="341261" y="64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48183" y="362153"/>
            <a:ext cx="10429875" cy="720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384" algn="l">
              <a:spcBef>
                <a:spcPts val="95"/>
              </a:spcBef>
            </a:pPr>
            <a:r>
              <a:rPr lang="ru-RU" sz="2400" dirty="0">
                <a:ea typeface="Segoe UI Symbol" panose="020B0502040204020203" pitchFamily="34" charset="0"/>
              </a:rPr>
              <a:t>Вертикальная экспертиза</a:t>
            </a:r>
            <a:br>
              <a:rPr lang="ru-RU" sz="2400" dirty="0">
                <a:ea typeface="Segoe UI Symbol" panose="020B0502040204020203" pitchFamily="34" charset="0"/>
              </a:rPr>
            </a:br>
            <a:endParaRPr b="0" spc="-755" dirty="0">
              <a:latin typeface="Segoe UI Symbol"/>
              <a:cs typeface="Segoe UI Symbol"/>
            </a:endParaRPr>
          </a:p>
        </p:txBody>
      </p:sp>
      <p:sp>
        <p:nvSpPr>
          <p:cNvPr id="2" name="object 16">
            <a:extLst>
              <a:ext uri="{FF2B5EF4-FFF2-40B4-BE49-F238E27FC236}">
                <a16:creationId xmlns:a16="http://schemas.microsoft.com/office/drawing/2014/main" id="{728F5081-62B0-A052-F08C-2E22273AFC99}"/>
              </a:ext>
            </a:extLst>
          </p:cNvPr>
          <p:cNvSpPr txBox="1"/>
          <p:nvPr/>
        </p:nvSpPr>
        <p:spPr>
          <a:xfrm>
            <a:off x="348183" y="1322666"/>
            <a:ext cx="11075874" cy="26282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84480">
              <a:lnSpc>
                <a:spcPct val="100000"/>
              </a:lnSpc>
              <a:spcBef>
                <a:spcPts val="95"/>
              </a:spcBef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Провайдеры предлагают </a:t>
            </a:r>
            <a:r>
              <a:rPr lang="ru-RU" sz="1500" b="1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стандратизированные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услуги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- 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клиентам же нужны отраслевые решения.</a:t>
            </a:r>
          </a:p>
          <a:p>
            <a:pPr marL="12700" marR="284480">
              <a:spcBef>
                <a:spcPts val="95"/>
              </a:spcBef>
            </a:pPr>
            <a:r>
              <a:rPr lang="ru-RU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Мы «затачиваем» наше предложение под 2-3 ключевые вертикали, где у </a:t>
            </a:r>
            <a:r>
              <a:rPr lang="en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Softline </a:t>
            </a:r>
            <a:r>
              <a:rPr lang="ru-RU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есть сильный бренд (например, Ритейл и </a:t>
            </a:r>
            <a:r>
              <a:rPr lang="ru-RU" sz="1500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Финтех</a:t>
            </a:r>
            <a:r>
              <a:rPr lang="ru-RU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).</a:t>
            </a:r>
          </a:p>
          <a:p>
            <a:pPr marL="12700" marR="284480">
              <a:lnSpc>
                <a:spcPct val="100000"/>
              </a:lnSpc>
              <a:spcBef>
                <a:spcPts val="95"/>
              </a:spcBef>
            </a:pPr>
            <a:r>
              <a:rPr lang="ru-RU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Для ритейла: Предлагаем готовый стек для </a:t>
            </a:r>
            <a:r>
              <a:rPr lang="ru-RU" sz="1500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микромаркетинга</a:t>
            </a:r>
            <a:r>
              <a:rPr lang="ru-RU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: облако + аналитика данных о покупателях + </a:t>
            </a:r>
            <a:r>
              <a:rPr lang="en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CDN </a:t>
            </a:r>
            <a:r>
              <a:rPr lang="ru-RU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для промо-сайтов.</a:t>
            </a:r>
          </a:p>
          <a:p>
            <a:pPr marL="12700" marR="284480">
              <a:lnSpc>
                <a:spcPct val="100000"/>
              </a:lnSpc>
              <a:spcBef>
                <a:spcPts val="95"/>
              </a:spcBef>
            </a:pPr>
            <a:r>
              <a:rPr lang="ru-RU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Для </a:t>
            </a:r>
            <a:r>
              <a:rPr lang="ru-RU" sz="1500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финтеха</a:t>
            </a:r>
            <a:r>
              <a:rPr lang="ru-RU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: Управляемый </a:t>
            </a:r>
            <a:r>
              <a:rPr lang="en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Kubernetes-</a:t>
            </a:r>
            <a:r>
              <a:rPr lang="ru-RU" sz="1500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кластер с предустановленными и протестированными инструментами безопасности для соблюдения требований регуляторов.</a:t>
            </a:r>
            <a:endParaRPr lang="en-US" sz="1500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12700" marR="284480">
              <a:lnSpc>
                <a:spcPct val="100000"/>
              </a:lnSpc>
              <a:spcBef>
                <a:spcPts val="95"/>
              </a:spcBef>
            </a:pPr>
            <a:endParaRPr lang="ru-RU" sz="1500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12700" marR="284480">
              <a:lnSpc>
                <a:spcPct val="100000"/>
              </a:lnSpc>
              <a:spcBef>
                <a:spcPts val="95"/>
              </a:spcBef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«Мы понимаем специфику вашего бизнеса и предлагаем не просто облако, а инструмент для решения ваших конкретных задач».</a:t>
            </a:r>
          </a:p>
          <a:p>
            <a:pPr marL="12700" marR="284480">
              <a:lnSpc>
                <a:spcPct val="100000"/>
              </a:lnSpc>
              <a:spcBef>
                <a:spcPts val="95"/>
              </a:spcBef>
            </a:pP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59690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81405" y="1290727"/>
            <a:ext cx="4047795" cy="1944470"/>
          </a:xfrm>
          <a:custGeom>
            <a:avLst/>
            <a:gdLst/>
            <a:ahLst/>
            <a:cxnLst/>
            <a:rect l="l" t="t" r="r" b="b"/>
            <a:pathLst>
              <a:path w="4084320" h="5369560">
                <a:moveTo>
                  <a:pt x="4048457" y="0"/>
                </a:moveTo>
                <a:lnTo>
                  <a:pt x="35394" y="0"/>
                </a:lnTo>
                <a:lnTo>
                  <a:pt x="21617" y="4425"/>
                </a:lnTo>
                <a:lnTo>
                  <a:pt x="10366" y="16493"/>
                </a:lnTo>
                <a:lnTo>
                  <a:pt x="2781" y="34388"/>
                </a:lnTo>
                <a:lnTo>
                  <a:pt x="0" y="56297"/>
                </a:lnTo>
                <a:lnTo>
                  <a:pt x="0" y="5313069"/>
                </a:lnTo>
                <a:lnTo>
                  <a:pt x="2782" y="5334983"/>
                </a:lnTo>
                <a:lnTo>
                  <a:pt x="10367" y="5352878"/>
                </a:lnTo>
                <a:lnTo>
                  <a:pt x="21618" y="5364943"/>
                </a:lnTo>
                <a:lnTo>
                  <a:pt x="35395" y="5369367"/>
                </a:lnTo>
                <a:lnTo>
                  <a:pt x="4048457" y="5369367"/>
                </a:lnTo>
                <a:lnTo>
                  <a:pt x="4062232" y="5364943"/>
                </a:lnTo>
                <a:lnTo>
                  <a:pt x="4073483" y="5352878"/>
                </a:lnTo>
                <a:lnTo>
                  <a:pt x="4081070" y="5334984"/>
                </a:lnTo>
                <a:lnTo>
                  <a:pt x="4083852" y="5313070"/>
                </a:lnTo>
                <a:lnTo>
                  <a:pt x="4083852" y="56297"/>
                </a:lnTo>
                <a:lnTo>
                  <a:pt x="4081069" y="34388"/>
                </a:lnTo>
                <a:lnTo>
                  <a:pt x="4073482" y="16493"/>
                </a:lnTo>
                <a:lnTo>
                  <a:pt x="4062231" y="4425"/>
                </a:lnTo>
                <a:lnTo>
                  <a:pt x="4048457" y="0"/>
                </a:lnTo>
                <a:close/>
              </a:path>
            </a:pathLst>
          </a:custGeom>
          <a:solidFill>
            <a:srgbClr val="FFFFFF">
              <a:alpha val="59606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9" name="object 9"/>
          <p:cNvGrpSpPr/>
          <p:nvPr/>
        </p:nvGrpSpPr>
        <p:grpSpPr>
          <a:xfrm>
            <a:off x="11367189" y="367147"/>
            <a:ext cx="441325" cy="457200"/>
            <a:chOff x="11367189" y="367147"/>
            <a:chExt cx="441325" cy="457200"/>
          </a:xfrm>
        </p:grpSpPr>
        <p:sp>
          <p:nvSpPr>
            <p:cNvPr id="10" name="object 10"/>
            <p:cNvSpPr/>
            <p:nvPr/>
          </p:nvSpPr>
          <p:spPr>
            <a:xfrm>
              <a:off x="11367186" y="610031"/>
              <a:ext cx="441325" cy="214629"/>
            </a:xfrm>
            <a:custGeom>
              <a:avLst/>
              <a:gdLst/>
              <a:ahLst/>
              <a:cxnLst/>
              <a:rect l="l" t="t" r="r" b="b"/>
              <a:pathLst>
                <a:path w="441325" h="214630">
                  <a:moveTo>
                    <a:pt x="213283" y="0"/>
                  </a:moveTo>
                  <a:lnTo>
                    <a:pt x="0" y="0"/>
                  </a:lnTo>
                  <a:lnTo>
                    <a:pt x="0" y="214312"/>
                  </a:lnTo>
                  <a:lnTo>
                    <a:pt x="213283" y="214325"/>
                  </a:lnTo>
                  <a:lnTo>
                    <a:pt x="213283" y="0"/>
                  </a:lnTo>
                  <a:close/>
                </a:path>
                <a:path w="441325" h="214630">
                  <a:moveTo>
                    <a:pt x="440791" y="0"/>
                  </a:moveTo>
                  <a:lnTo>
                    <a:pt x="227495" y="0"/>
                  </a:lnTo>
                  <a:lnTo>
                    <a:pt x="227495" y="214325"/>
                  </a:lnTo>
                  <a:lnTo>
                    <a:pt x="440791" y="214325"/>
                  </a:lnTo>
                  <a:lnTo>
                    <a:pt x="440791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367189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A40D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594693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424057" y="410019"/>
              <a:ext cx="341630" cy="371475"/>
            </a:xfrm>
            <a:custGeom>
              <a:avLst/>
              <a:gdLst/>
              <a:ahLst/>
              <a:cxnLst/>
              <a:rect l="l" t="t" r="r" b="b"/>
              <a:pathLst>
                <a:path w="341629" h="371475">
                  <a:moveTo>
                    <a:pt x="85318" y="242887"/>
                  </a:moveTo>
                  <a:lnTo>
                    <a:pt x="0" y="242887"/>
                  </a:lnTo>
                  <a:lnTo>
                    <a:pt x="0" y="371475"/>
                  </a:lnTo>
                  <a:lnTo>
                    <a:pt x="17284" y="371475"/>
                  </a:lnTo>
                  <a:lnTo>
                    <a:pt x="17284" y="319481"/>
                  </a:lnTo>
                  <a:lnTo>
                    <a:pt x="77914" y="319481"/>
                  </a:lnTo>
                  <a:lnTo>
                    <a:pt x="77914" y="303682"/>
                  </a:lnTo>
                  <a:lnTo>
                    <a:pt x="17284" y="303682"/>
                  </a:lnTo>
                  <a:lnTo>
                    <a:pt x="17284" y="258851"/>
                  </a:lnTo>
                  <a:lnTo>
                    <a:pt x="85318" y="258851"/>
                  </a:lnTo>
                  <a:lnTo>
                    <a:pt x="85318" y="242887"/>
                  </a:lnTo>
                  <a:close/>
                </a:path>
                <a:path w="341629" h="371475">
                  <a:moveTo>
                    <a:pt x="85318" y="92837"/>
                  </a:moveTo>
                  <a:lnTo>
                    <a:pt x="74828" y="68681"/>
                  </a:lnTo>
                  <a:lnTo>
                    <a:pt x="51752" y="58229"/>
                  </a:lnTo>
                  <a:lnTo>
                    <a:pt x="28676" y="50673"/>
                  </a:lnTo>
                  <a:lnTo>
                    <a:pt x="18199" y="35217"/>
                  </a:lnTo>
                  <a:lnTo>
                    <a:pt x="19748" y="27482"/>
                  </a:lnTo>
                  <a:lnTo>
                    <a:pt x="24587" y="21145"/>
                  </a:lnTo>
                  <a:lnTo>
                    <a:pt x="32956" y="16852"/>
                  </a:lnTo>
                  <a:lnTo>
                    <a:pt x="45110" y="15278"/>
                  </a:lnTo>
                  <a:lnTo>
                    <a:pt x="52641" y="15887"/>
                  </a:lnTo>
                  <a:lnTo>
                    <a:pt x="60363" y="17754"/>
                  </a:lnTo>
                  <a:lnTo>
                    <a:pt x="68059" y="20942"/>
                  </a:lnTo>
                  <a:lnTo>
                    <a:pt x="75514" y="25488"/>
                  </a:lnTo>
                  <a:lnTo>
                    <a:pt x="80746" y="11112"/>
                  </a:lnTo>
                  <a:lnTo>
                    <a:pt x="73126" y="6350"/>
                  </a:lnTo>
                  <a:lnTo>
                    <a:pt x="64338" y="2870"/>
                  </a:lnTo>
                  <a:lnTo>
                    <a:pt x="54851" y="723"/>
                  </a:lnTo>
                  <a:lnTo>
                    <a:pt x="45110" y="0"/>
                  </a:lnTo>
                  <a:lnTo>
                    <a:pt x="26187" y="2882"/>
                  </a:lnTo>
                  <a:lnTo>
                    <a:pt x="12979" y="10680"/>
                  </a:lnTo>
                  <a:lnTo>
                    <a:pt x="5219" y="22110"/>
                  </a:lnTo>
                  <a:lnTo>
                    <a:pt x="2692" y="35915"/>
                  </a:lnTo>
                  <a:lnTo>
                    <a:pt x="13182" y="60337"/>
                  </a:lnTo>
                  <a:lnTo>
                    <a:pt x="36245" y="70904"/>
                  </a:lnTo>
                  <a:lnTo>
                    <a:pt x="59321" y="78460"/>
                  </a:lnTo>
                  <a:lnTo>
                    <a:pt x="69811" y="93891"/>
                  </a:lnTo>
                  <a:lnTo>
                    <a:pt x="68224" y="101549"/>
                  </a:lnTo>
                  <a:lnTo>
                    <a:pt x="63296" y="107708"/>
                  </a:lnTo>
                  <a:lnTo>
                    <a:pt x="54775" y="111810"/>
                  </a:lnTo>
                  <a:lnTo>
                    <a:pt x="42418" y="113296"/>
                  </a:lnTo>
                  <a:lnTo>
                    <a:pt x="31864" y="112217"/>
                  </a:lnTo>
                  <a:lnTo>
                    <a:pt x="21894" y="109194"/>
                  </a:lnTo>
                  <a:lnTo>
                    <a:pt x="13042" y="104597"/>
                  </a:lnTo>
                  <a:lnTo>
                    <a:pt x="5842" y="98755"/>
                  </a:lnTo>
                  <a:lnTo>
                    <a:pt x="0" y="112763"/>
                  </a:lnTo>
                  <a:lnTo>
                    <a:pt x="7988" y="119176"/>
                  </a:lnTo>
                  <a:lnTo>
                    <a:pt x="18186" y="124180"/>
                  </a:lnTo>
                  <a:lnTo>
                    <a:pt x="29908" y="127431"/>
                  </a:lnTo>
                  <a:lnTo>
                    <a:pt x="42418" y="128587"/>
                  </a:lnTo>
                  <a:lnTo>
                    <a:pt x="61468" y="125691"/>
                  </a:lnTo>
                  <a:lnTo>
                    <a:pt x="74841" y="117906"/>
                  </a:lnTo>
                  <a:lnTo>
                    <a:pt x="82727" y="106514"/>
                  </a:lnTo>
                  <a:lnTo>
                    <a:pt x="85318" y="92837"/>
                  </a:lnTo>
                  <a:close/>
                </a:path>
                <a:path w="341629" h="371475">
                  <a:moveTo>
                    <a:pt x="327037" y="355511"/>
                  </a:moveTo>
                  <a:lnTo>
                    <a:pt x="259549" y="355511"/>
                  </a:lnTo>
                  <a:lnTo>
                    <a:pt x="259549" y="242938"/>
                  </a:lnTo>
                  <a:lnTo>
                    <a:pt x="241731" y="242938"/>
                  </a:lnTo>
                  <a:lnTo>
                    <a:pt x="241731" y="371475"/>
                  </a:lnTo>
                  <a:lnTo>
                    <a:pt x="327037" y="371475"/>
                  </a:lnTo>
                  <a:lnTo>
                    <a:pt x="327037" y="355511"/>
                  </a:lnTo>
                  <a:close/>
                </a:path>
                <a:path w="341629" h="371475">
                  <a:moveTo>
                    <a:pt x="341261" y="64287"/>
                  </a:moveTo>
                  <a:lnTo>
                    <a:pt x="336499" y="38709"/>
                  </a:lnTo>
                  <a:lnTo>
                    <a:pt x="324065" y="19596"/>
                  </a:lnTo>
                  <a:lnTo>
                    <a:pt x="324065" y="64287"/>
                  </a:lnTo>
                  <a:lnTo>
                    <a:pt x="320573" y="83591"/>
                  </a:lnTo>
                  <a:lnTo>
                    <a:pt x="310870" y="98894"/>
                  </a:lnTo>
                  <a:lnTo>
                    <a:pt x="296100" y="108966"/>
                  </a:lnTo>
                  <a:lnTo>
                    <a:pt x="277431" y="112598"/>
                  </a:lnTo>
                  <a:lnTo>
                    <a:pt x="258724" y="108966"/>
                  </a:lnTo>
                  <a:lnTo>
                    <a:pt x="243852" y="98894"/>
                  </a:lnTo>
                  <a:lnTo>
                    <a:pt x="234035" y="83591"/>
                  </a:lnTo>
                  <a:lnTo>
                    <a:pt x="230492" y="64287"/>
                  </a:lnTo>
                  <a:lnTo>
                    <a:pt x="234073" y="44996"/>
                  </a:lnTo>
                  <a:lnTo>
                    <a:pt x="243967" y="29692"/>
                  </a:lnTo>
                  <a:lnTo>
                    <a:pt x="258851" y="19608"/>
                  </a:lnTo>
                  <a:lnTo>
                    <a:pt x="277431" y="15976"/>
                  </a:lnTo>
                  <a:lnTo>
                    <a:pt x="295960" y="19608"/>
                  </a:lnTo>
                  <a:lnTo>
                    <a:pt x="310743" y="29692"/>
                  </a:lnTo>
                  <a:lnTo>
                    <a:pt x="320522" y="44996"/>
                  </a:lnTo>
                  <a:lnTo>
                    <a:pt x="324065" y="64287"/>
                  </a:lnTo>
                  <a:lnTo>
                    <a:pt x="324065" y="19596"/>
                  </a:lnTo>
                  <a:lnTo>
                    <a:pt x="323253" y="18338"/>
                  </a:lnTo>
                  <a:lnTo>
                    <a:pt x="319747" y="15976"/>
                  </a:lnTo>
                  <a:lnTo>
                    <a:pt x="303034" y="4864"/>
                  </a:lnTo>
                  <a:lnTo>
                    <a:pt x="277431" y="0"/>
                  </a:lnTo>
                  <a:lnTo>
                    <a:pt x="251815" y="4864"/>
                  </a:lnTo>
                  <a:lnTo>
                    <a:pt x="231495" y="18338"/>
                  </a:lnTo>
                  <a:lnTo>
                    <a:pt x="218109" y="38709"/>
                  </a:lnTo>
                  <a:lnTo>
                    <a:pt x="213283" y="64287"/>
                  </a:lnTo>
                  <a:lnTo>
                    <a:pt x="216966" y="83591"/>
                  </a:lnTo>
                  <a:lnTo>
                    <a:pt x="252069" y="123736"/>
                  </a:lnTo>
                  <a:lnTo>
                    <a:pt x="277431" y="128587"/>
                  </a:lnTo>
                  <a:lnTo>
                    <a:pt x="302869" y="123736"/>
                  </a:lnTo>
                  <a:lnTo>
                    <a:pt x="319633" y="112598"/>
                  </a:lnTo>
                  <a:lnTo>
                    <a:pt x="323088" y="110312"/>
                  </a:lnTo>
                  <a:lnTo>
                    <a:pt x="336435" y="89941"/>
                  </a:lnTo>
                  <a:lnTo>
                    <a:pt x="341261" y="64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48183" y="362153"/>
            <a:ext cx="1042987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384">
              <a:spcBef>
                <a:spcPts val="95"/>
              </a:spcBef>
            </a:pPr>
            <a:r>
              <a:rPr lang="ru-RU" sz="2400" b="1" dirty="0">
                <a:solidFill>
                  <a:srgbClr val="434754"/>
                </a:solidFill>
                <a:latin typeface="Segoe UI"/>
                <a:ea typeface="Segoe UI Symbol" panose="020B0502040204020203" pitchFamily="34" charset="0"/>
                <a:cs typeface="Segoe UI"/>
              </a:rPr>
              <a:t>Дорожная карта</a:t>
            </a:r>
            <a:endParaRPr b="0" spc="-755" dirty="0">
              <a:latin typeface="Segoe UI Symbol"/>
              <a:cs typeface="Segoe UI Symbo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24056" y="1031650"/>
            <a:ext cx="11139344" cy="223422"/>
          </a:xfrm>
          <a:custGeom>
            <a:avLst/>
            <a:gdLst/>
            <a:ahLst/>
            <a:cxnLst/>
            <a:rect l="l" t="t" r="r" b="b"/>
            <a:pathLst>
              <a:path w="6278880" h="55245">
                <a:moveTo>
                  <a:pt x="0" y="0"/>
                </a:moveTo>
                <a:lnTo>
                  <a:pt x="6278880" y="0"/>
                </a:lnTo>
              </a:path>
              <a:path w="6278880" h="55245">
                <a:moveTo>
                  <a:pt x="0" y="0"/>
                </a:moveTo>
                <a:lnTo>
                  <a:pt x="0" y="54863"/>
                </a:lnTo>
              </a:path>
              <a:path w="6278880" h="55245">
                <a:moveTo>
                  <a:pt x="3139440" y="0"/>
                </a:moveTo>
                <a:lnTo>
                  <a:pt x="3139440" y="54863"/>
                </a:lnTo>
              </a:path>
              <a:path w="6278880" h="55245">
                <a:moveTo>
                  <a:pt x="6278880" y="0"/>
                </a:moveTo>
                <a:lnTo>
                  <a:pt x="6278880" y="54863"/>
                </a:lnTo>
              </a:path>
            </a:pathLst>
          </a:custGeom>
          <a:ln w="6096">
            <a:solidFill>
              <a:srgbClr val="9294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529736" y="1043122"/>
            <a:ext cx="5232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b="1" spc="-10" dirty="0">
                <a:solidFill>
                  <a:srgbClr val="434754"/>
                </a:solidFill>
                <a:latin typeface="Segoe UI Semibold"/>
                <a:cs typeface="Segoe UI Semibold"/>
              </a:rPr>
              <a:t>2026</a:t>
            </a:r>
            <a:endParaRPr sz="1400" b="1" dirty="0">
              <a:latin typeface="Segoe UI Semibold"/>
              <a:cs typeface="Segoe UI Semibold"/>
            </a:endParaRPr>
          </a:p>
        </p:txBody>
      </p:sp>
      <p:sp>
        <p:nvSpPr>
          <p:cNvPr id="40" name="object 16">
            <a:extLst>
              <a:ext uri="{FF2B5EF4-FFF2-40B4-BE49-F238E27FC236}">
                <a16:creationId xmlns:a16="http://schemas.microsoft.com/office/drawing/2014/main" id="{8880E06A-9ED8-7DA1-A30D-ADF40D36A92D}"/>
              </a:ext>
            </a:extLst>
          </p:cNvPr>
          <p:cNvSpPr txBox="1"/>
          <p:nvPr/>
        </p:nvSpPr>
        <p:spPr>
          <a:xfrm>
            <a:off x="7517893" y="410019"/>
            <a:ext cx="2393315" cy="7816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</p:txBody>
      </p:sp>
      <p:sp>
        <p:nvSpPr>
          <p:cNvPr id="42" name="object 16">
            <a:extLst>
              <a:ext uri="{FF2B5EF4-FFF2-40B4-BE49-F238E27FC236}">
                <a16:creationId xmlns:a16="http://schemas.microsoft.com/office/drawing/2014/main" id="{908C9705-2267-175D-407C-8F3C59A20CE7}"/>
              </a:ext>
            </a:extLst>
          </p:cNvPr>
          <p:cNvSpPr txBox="1"/>
          <p:nvPr/>
        </p:nvSpPr>
        <p:spPr>
          <a:xfrm>
            <a:off x="5124578" y="129878"/>
            <a:ext cx="2393315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</p:txBody>
      </p:sp>
      <p:sp>
        <p:nvSpPr>
          <p:cNvPr id="43" name="object 33">
            <a:extLst>
              <a:ext uri="{FF2B5EF4-FFF2-40B4-BE49-F238E27FC236}">
                <a16:creationId xmlns:a16="http://schemas.microsoft.com/office/drawing/2014/main" id="{A8E1900E-C8CB-4FCE-DFCA-B0C5F1E1D66E}"/>
              </a:ext>
            </a:extLst>
          </p:cNvPr>
          <p:cNvSpPr txBox="1"/>
          <p:nvPr/>
        </p:nvSpPr>
        <p:spPr>
          <a:xfrm>
            <a:off x="5914723" y="1036343"/>
            <a:ext cx="5232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b="1" spc="-10" dirty="0">
                <a:solidFill>
                  <a:srgbClr val="434754"/>
                </a:solidFill>
                <a:latin typeface="Segoe UI Semibold"/>
                <a:cs typeface="Segoe UI Semibold"/>
              </a:rPr>
              <a:t>2027</a:t>
            </a:r>
            <a:endParaRPr sz="1400" b="1" dirty="0">
              <a:latin typeface="Segoe UI Semibold"/>
              <a:cs typeface="Segoe UI Semibold"/>
            </a:endParaRPr>
          </a:p>
        </p:txBody>
      </p:sp>
      <p:sp>
        <p:nvSpPr>
          <p:cNvPr id="44" name="object 33">
            <a:extLst>
              <a:ext uri="{FF2B5EF4-FFF2-40B4-BE49-F238E27FC236}">
                <a16:creationId xmlns:a16="http://schemas.microsoft.com/office/drawing/2014/main" id="{AA673040-2BB0-4E5B-5CF8-B54093C0176A}"/>
              </a:ext>
            </a:extLst>
          </p:cNvPr>
          <p:cNvSpPr txBox="1"/>
          <p:nvPr/>
        </p:nvSpPr>
        <p:spPr>
          <a:xfrm>
            <a:off x="9852393" y="1040043"/>
            <a:ext cx="5232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b="1" spc="-10" dirty="0">
                <a:solidFill>
                  <a:srgbClr val="434754"/>
                </a:solidFill>
                <a:latin typeface="Segoe UI Semibold"/>
                <a:cs typeface="Segoe UI Semibold"/>
              </a:rPr>
              <a:t>2028</a:t>
            </a:r>
            <a:endParaRPr sz="1400" b="1" dirty="0">
              <a:latin typeface="Segoe UI Semibold"/>
              <a:cs typeface="Segoe UI Semibold"/>
            </a:endParaRPr>
          </a:p>
        </p:txBody>
      </p:sp>
      <p:sp>
        <p:nvSpPr>
          <p:cNvPr id="45" name="object 16">
            <a:extLst>
              <a:ext uri="{FF2B5EF4-FFF2-40B4-BE49-F238E27FC236}">
                <a16:creationId xmlns:a16="http://schemas.microsoft.com/office/drawing/2014/main" id="{B0D457A1-C175-3763-D6A2-3079BD4C7C84}"/>
              </a:ext>
            </a:extLst>
          </p:cNvPr>
          <p:cNvSpPr txBox="1"/>
          <p:nvPr/>
        </p:nvSpPr>
        <p:spPr>
          <a:xfrm>
            <a:off x="54978" y="1299710"/>
            <a:ext cx="844413" cy="243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84480">
              <a:lnSpc>
                <a:spcPct val="100000"/>
              </a:lnSpc>
              <a:spcBef>
                <a:spcPts val="95"/>
              </a:spcBef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Цель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:</a:t>
            </a:r>
            <a:endParaRPr sz="1250" dirty="0">
              <a:latin typeface="Segoe UI"/>
              <a:cs typeface="Segoe UI"/>
            </a:endParaRPr>
          </a:p>
        </p:txBody>
      </p:sp>
      <p:sp>
        <p:nvSpPr>
          <p:cNvPr id="51" name="object 16">
            <a:extLst>
              <a:ext uri="{FF2B5EF4-FFF2-40B4-BE49-F238E27FC236}">
                <a16:creationId xmlns:a16="http://schemas.microsoft.com/office/drawing/2014/main" id="{D4858F77-7B8B-E98D-94B1-075227204422}"/>
              </a:ext>
            </a:extLst>
          </p:cNvPr>
          <p:cNvSpPr txBox="1"/>
          <p:nvPr/>
        </p:nvSpPr>
        <p:spPr>
          <a:xfrm>
            <a:off x="1030603" y="1337812"/>
            <a:ext cx="3998598" cy="17434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ru-RU" sz="1250" b="1" spc="-10" dirty="0">
                <a:solidFill>
                  <a:srgbClr val="434754"/>
                </a:solidFill>
                <a:latin typeface="Segoe UI"/>
                <a:cs typeface="Segoe UI"/>
              </a:rPr>
              <a:t>База и стабильность</a:t>
            </a:r>
          </a:p>
          <a:p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Softline Cloud </a:t>
            </a: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- надёжный 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IaaS-</a:t>
            </a: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провайдер для </a:t>
            </a:r>
            <a:r>
              <a:rPr lang="en-US" sz="1250" spc="-10" dirty="0">
                <a:solidFill>
                  <a:srgbClr val="434754"/>
                </a:solidFill>
                <a:latin typeface="Segoe UI"/>
                <a:cs typeface="Segoe UI"/>
              </a:rPr>
              <a:t>E</a:t>
            </a:r>
            <a:r>
              <a:rPr lang="en" sz="1250" spc="-10" dirty="0" err="1">
                <a:solidFill>
                  <a:srgbClr val="434754"/>
                </a:solidFill>
                <a:latin typeface="Segoe UI"/>
                <a:cs typeface="Segoe UI"/>
              </a:rPr>
              <a:t>nterprise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 </a:t>
            </a: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и </a:t>
            </a:r>
            <a:r>
              <a:rPr lang="en-US" sz="1250" spc="-10" dirty="0">
                <a:solidFill>
                  <a:srgbClr val="434754"/>
                </a:solidFill>
                <a:latin typeface="Segoe UI"/>
                <a:cs typeface="Segoe UI"/>
              </a:rPr>
              <a:t>SME </a:t>
            </a: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клиентов. </a:t>
            </a:r>
          </a:p>
          <a:p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Усиление специализации в нишевых решениях – начать обновление 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PaaS-</a:t>
            </a: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платформы для определенных </a:t>
            </a:r>
            <a:r>
              <a:rPr lang="ru-RU" sz="1250" spc="-10">
                <a:solidFill>
                  <a:srgbClr val="434754"/>
                </a:solidFill>
                <a:latin typeface="Segoe UI"/>
                <a:cs typeface="Segoe UI"/>
              </a:rPr>
              <a:t>сегменов</a:t>
            </a:r>
            <a:endParaRPr lang="en-US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endParaRPr lang="en-US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Результат: стабильная основа для роста, выручка +15%</a:t>
            </a:r>
          </a:p>
        </p:txBody>
      </p:sp>
      <p:sp>
        <p:nvSpPr>
          <p:cNvPr id="66" name="object 3">
            <a:extLst>
              <a:ext uri="{FF2B5EF4-FFF2-40B4-BE49-F238E27FC236}">
                <a16:creationId xmlns:a16="http://schemas.microsoft.com/office/drawing/2014/main" id="{428FFF24-21B5-8BCF-FA4B-8CEEABDE1804}"/>
              </a:ext>
            </a:extLst>
          </p:cNvPr>
          <p:cNvSpPr/>
          <p:nvPr/>
        </p:nvSpPr>
        <p:spPr>
          <a:xfrm>
            <a:off x="5124783" y="1294260"/>
            <a:ext cx="3422802" cy="1944470"/>
          </a:xfrm>
          <a:custGeom>
            <a:avLst/>
            <a:gdLst/>
            <a:ahLst/>
            <a:cxnLst/>
            <a:rect l="l" t="t" r="r" b="b"/>
            <a:pathLst>
              <a:path w="4084320" h="5369560">
                <a:moveTo>
                  <a:pt x="4048457" y="0"/>
                </a:moveTo>
                <a:lnTo>
                  <a:pt x="35394" y="0"/>
                </a:lnTo>
                <a:lnTo>
                  <a:pt x="21617" y="4425"/>
                </a:lnTo>
                <a:lnTo>
                  <a:pt x="10366" y="16493"/>
                </a:lnTo>
                <a:lnTo>
                  <a:pt x="2781" y="34388"/>
                </a:lnTo>
                <a:lnTo>
                  <a:pt x="0" y="56297"/>
                </a:lnTo>
                <a:lnTo>
                  <a:pt x="0" y="5313069"/>
                </a:lnTo>
                <a:lnTo>
                  <a:pt x="2782" y="5334983"/>
                </a:lnTo>
                <a:lnTo>
                  <a:pt x="10367" y="5352878"/>
                </a:lnTo>
                <a:lnTo>
                  <a:pt x="21618" y="5364943"/>
                </a:lnTo>
                <a:lnTo>
                  <a:pt x="35395" y="5369367"/>
                </a:lnTo>
                <a:lnTo>
                  <a:pt x="4048457" y="5369367"/>
                </a:lnTo>
                <a:lnTo>
                  <a:pt x="4062232" y="5364943"/>
                </a:lnTo>
                <a:lnTo>
                  <a:pt x="4073483" y="5352878"/>
                </a:lnTo>
                <a:lnTo>
                  <a:pt x="4081070" y="5334984"/>
                </a:lnTo>
                <a:lnTo>
                  <a:pt x="4083852" y="5313070"/>
                </a:lnTo>
                <a:lnTo>
                  <a:pt x="4083852" y="56297"/>
                </a:lnTo>
                <a:lnTo>
                  <a:pt x="4081069" y="34388"/>
                </a:lnTo>
                <a:lnTo>
                  <a:pt x="4073482" y="16493"/>
                </a:lnTo>
                <a:lnTo>
                  <a:pt x="4062231" y="4425"/>
                </a:lnTo>
                <a:lnTo>
                  <a:pt x="4048457" y="0"/>
                </a:lnTo>
                <a:close/>
              </a:path>
            </a:pathLst>
          </a:custGeom>
          <a:solidFill>
            <a:srgbClr val="FFFFFF">
              <a:alpha val="5960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16">
            <a:extLst>
              <a:ext uri="{FF2B5EF4-FFF2-40B4-BE49-F238E27FC236}">
                <a16:creationId xmlns:a16="http://schemas.microsoft.com/office/drawing/2014/main" id="{44F9E9A9-137A-8918-BA6C-926057759941}"/>
              </a:ext>
            </a:extLst>
          </p:cNvPr>
          <p:cNvSpPr txBox="1"/>
          <p:nvPr/>
        </p:nvSpPr>
        <p:spPr>
          <a:xfrm>
            <a:off x="5206797" y="1299411"/>
            <a:ext cx="3355569" cy="19357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ru-RU" sz="1250" b="1" spc="-10" dirty="0">
                <a:solidFill>
                  <a:srgbClr val="434754"/>
                </a:solidFill>
                <a:latin typeface="Segoe UI"/>
                <a:cs typeface="Segoe UI"/>
              </a:rPr>
              <a:t>Платформа и бренд</a:t>
            </a:r>
          </a:p>
          <a:p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Переход от инфраструктурного облака к платформе. </a:t>
            </a:r>
          </a:p>
          <a:p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Формирование </a:t>
            </a:r>
            <a:r>
              <a:rPr lang="ru-RU" sz="1250" spc="-10" dirty="0" err="1">
                <a:solidFill>
                  <a:srgbClr val="434754"/>
                </a:solidFill>
                <a:latin typeface="Segoe UI"/>
                <a:cs typeface="Segoe UI"/>
              </a:rPr>
              <a:t>бандлов</a:t>
            </a: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 с продуктами 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Softline</a:t>
            </a:r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Формирование отраслевых решений.</a:t>
            </a:r>
          </a:p>
          <a:p>
            <a:endParaRPr lang="en-US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endParaRPr lang="en-US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Результат: доля рынка +3 </a:t>
            </a:r>
            <a:r>
              <a:rPr lang="ru-RU" sz="1250" spc="-10" dirty="0" err="1">
                <a:solidFill>
                  <a:srgbClr val="434754"/>
                </a:solidFill>
                <a:latin typeface="Segoe UI"/>
                <a:cs typeface="Segoe UI"/>
              </a:rPr>
              <a:t>п.п</a:t>
            </a: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., рост узнаваемости, 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NPS &gt; 65</a:t>
            </a:r>
          </a:p>
        </p:txBody>
      </p:sp>
      <p:sp>
        <p:nvSpPr>
          <p:cNvPr id="83" name="object 3">
            <a:extLst>
              <a:ext uri="{FF2B5EF4-FFF2-40B4-BE49-F238E27FC236}">
                <a16:creationId xmlns:a16="http://schemas.microsoft.com/office/drawing/2014/main" id="{20A4DF5E-CA43-7318-AB77-BD729C6E6905}"/>
              </a:ext>
            </a:extLst>
          </p:cNvPr>
          <p:cNvSpPr/>
          <p:nvPr/>
        </p:nvSpPr>
        <p:spPr>
          <a:xfrm>
            <a:off x="8608088" y="1263209"/>
            <a:ext cx="3161280" cy="1971988"/>
          </a:xfrm>
          <a:custGeom>
            <a:avLst/>
            <a:gdLst/>
            <a:ahLst/>
            <a:cxnLst/>
            <a:rect l="l" t="t" r="r" b="b"/>
            <a:pathLst>
              <a:path w="4084320" h="5369560">
                <a:moveTo>
                  <a:pt x="4048457" y="0"/>
                </a:moveTo>
                <a:lnTo>
                  <a:pt x="35394" y="0"/>
                </a:lnTo>
                <a:lnTo>
                  <a:pt x="21617" y="4425"/>
                </a:lnTo>
                <a:lnTo>
                  <a:pt x="10366" y="16493"/>
                </a:lnTo>
                <a:lnTo>
                  <a:pt x="2781" y="34388"/>
                </a:lnTo>
                <a:lnTo>
                  <a:pt x="0" y="56297"/>
                </a:lnTo>
                <a:lnTo>
                  <a:pt x="0" y="5313069"/>
                </a:lnTo>
                <a:lnTo>
                  <a:pt x="2782" y="5334983"/>
                </a:lnTo>
                <a:lnTo>
                  <a:pt x="10367" y="5352878"/>
                </a:lnTo>
                <a:lnTo>
                  <a:pt x="21618" y="5364943"/>
                </a:lnTo>
                <a:lnTo>
                  <a:pt x="35395" y="5369367"/>
                </a:lnTo>
                <a:lnTo>
                  <a:pt x="4048457" y="5369367"/>
                </a:lnTo>
                <a:lnTo>
                  <a:pt x="4062232" y="5364943"/>
                </a:lnTo>
                <a:lnTo>
                  <a:pt x="4073483" y="5352878"/>
                </a:lnTo>
                <a:lnTo>
                  <a:pt x="4081070" y="5334984"/>
                </a:lnTo>
                <a:lnTo>
                  <a:pt x="4083852" y="5313070"/>
                </a:lnTo>
                <a:lnTo>
                  <a:pt x="4083852" y="56297"/>
                </a:lnTo>
                <a:lnTo>
                  <a:pt x="4081069" y="34388"/>
                </a:lnTo>
                <a:lnTo>
                  <a:pt x="4073482" y="16493"/>
                </a:lnTo>
                <a:lnTo>
                  <a:pt x="4062231" y="4425"/>
                </a:lnTo>
                <a:lnTo>
                  <a:pt x="4048457" y="0"/>
                </a:lnTo>
                <a:close/>
              </a:path>
            </a:pathLst>
          </a:custGeom>
          <a:solidFill>
            <a:srgbClr val="FFFFFF">
              <a:alpha val="5960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16">
            <a:extLst>
              <a:ext uri="{FF2B5EF4-FFF2-40B4-BE49-F238E27FC236}">
                <a16:creationId xmlns:a16="http://schemas.microsoft.com/office/drawing/2014/main" id="{114331BE-3F47-7D29-C091-57A105E9C7A0}"/>
              </a:ext>
            </a:extLst>
          </p:cNvPr>
          <p:cNvSpPr txBox="1"/>
          <p:nvPr/>
        </p:nvSpPr>
        <p:spPr>
          <a:xfrm>
            <a:off x="8668591" y="1300587"/>
            <a:ext cx="3040274" cy="19357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ru-RU" sz="1250" b="1" spc="-10" dirty="0">
                <a:solidFill>
                  <a:srgbClr val="434754"/>
                </a:solidFill>
                <a:latin typeface="Segoe UI"/>
                <a:cs typeface="Segoe UI"/>
              </a:rPr>
              <a:t>Масштабирование</a:t>
            </a:r>
          </a:p>
          <a:p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Softline Cloud </a:t>
            </a: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входит в топ-5 публичных провайдеров среднего сегмента. </a:t>
            </a:r>
          </a:p>
          <a:p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Softline — trusted advisor </a:t>
            </a: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по эффективности и управлению 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multi-cloud.</a:t>
            </a:r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endParaRPr lang="en-US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endParaRPr lang="en-US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Результат: 10% 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SAM, EBITDA &gt; 15%</a:t>
            </a:r>
          </a:p>
          <a:p>
            <a:endParaRPr lang="en" sz="1250" spc="-10" dirty="0">
              <a:solidFill>
                <a:srgbClr val="434754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123351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9"/>
          <p:cNvGrpSpPr/>
          <p:nvPr/>
        </p:nvGrpSpPr>
        <p:grpSpPr>
          <a:xfrm>
            <a:off x="11367189" y="367147"/>
            <a:ext cx="441325" cy="457200"/>
            <a:chOff x="11367189" y="367147"/>
            <a:chExt cx="441325" cy="457200"/>
          </a:xfrm>
        </p:grpSpPr>
        <p:sp>
          <p:nvSpPr>
            <p:cNvPr id="10" name="object 10"/>
            <p:cNvSpPr/>
            <p:nvPr/>
          </p:nvSpPr>
          <p:spPr>
            <a:xfrm>
              <a:off x="11367186" y="610031"/>
              <a:ext cx="441325" cy="214629"/>
            </a:xfrm>
            <a:custGeom>
              <a:avLst/>
              <a:gdLst/>
              <a:ahLst/>
              <a:cxnLst/>
              <a:rect l="l" t="t" r="r" b="b"/>
              <a:pathLst>
                <a:path w="441325" h="214630">
                  <a:moveTo>
                    <a:pt x="213283" y="0"/>
                  </a:moveTo>
                  <a:lnTo>
                    <a:pt x="0" y="0"/>
                  </a:lnTo>
                  <a:lnTo>
                    <a:pt x="0" y="214312"/>
                  </a:lnTo>
                  <a:lnTo>
                    <a:pt x="213283" y="214325"/>
                  </a:lnTo>
                  <a:lnTo>
                    <a:pt x="213283" y="0"/>
                  </a:lnTo>
                  <a:close/>
                </a:path>
                <a:path w="441325" h="214630">
                  <a:moveTo>
                    <a:pt x="440791" y="0"/>
                  </a:moveTo>
                  <a:lnTo>
                    <a:pt x="227495" y="0"/>
                  </a:lnTo>
                  <a:lnTo>
                    <a:pt x="227495" y="214325"/>
                  </a:lnTo>
                  <a:lnTo>
                    <a:pt x="440791" y="214325"/>
                  </a:lnTo>
                  <a:lnTo>
                    <a:pt x="440791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367189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A40D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594693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424057" y="410019"/>
              <a:ext cx="341630" cy="371475"/>
            </a:xfrm>
            <a:custGeom>
              <a:avLst/>
              <a:gdLst/>
              <a:ahLst/>
              <a:cxnLst/>
              <a:rect l="l" t="t" r="r" b="b"/>
              <a:pathLst>
                <a:path w="341629" h="371475">
                  <a:moveTo>
                    <a:pt x="85318" y="242887"/>
                  </a:moveTo>
                  <a:lnTo>
                    <a:pt x="0" y="242887"/>
                  </a:lnTo>
                  <a:lnTo>
                    <a:pt x="0" y="371475"/>
                  </a:lnTo>
                  <a:lnTo>
                    <a:pt x="17284" y="371475"/>
                  </a:lnTo>
                  <a:lnTo>
                    <a:pt x="17284" y="319481"/>
                  </a:lnTo>
                  <a:lnTo>
                    <a:pt x="77914" y="319481"/>
                  </a:lnTo>
                  <a:lnTo>
                    <a:pt x="77914" y="303682"/>
                  </a:lnTo>
                  <a:lnTo>
                    <a:pt x="17284" y="303682"/>
                  </a:lnTo>
                  <a:lnTo>
                    <a:pt x="17284" y="258851"/>
                  </a:lnTo>
                  <a:lnTo>
                    <a:pt x="85318" y="258851"/>
                  </a:lnTo>
                  <a:lnTo>
                    <a:pt x="85318" y="242887"/>
                  </a:lnTo>
                  <a:close/>
                </a:path>
                <a:path w="341629" h="371475">
                  <a:moveTo>
                    <a:pt x="85318" y="92837"/>
                  </a:moveTo>
                  <a:lnTo>
                    <a:pt x="74828" y="68681"/>
                  </a:lnTo>
                  <a:lnTo>
                    <a:pt x="51752" y="58229"/>
                  </a:lnTo>
                  <a:lnTo>
                    <a:pt x="28676" y="50673"/>
                  </a:lnTo>
                  <a:lnTo>
                    <a:pt x="18199" y="35217"/>
                  </a:lnTo>
                  <a:lnTo>
                    <a:pt x="19748" y="27482"/>
                  </a:lnTo>
                  <a:lnTo>
                    <a:pt x="24587" y="21145"/>
                  </a:lnTo>
                  <a:lnTo>
                    <a:pt x="32956" y="16852"/>
                  </a:lnTo>
                  <a:lnTo>
                    <a:pt x="45110" y="15278"/>
                  </a:lnTo>
                  <a:lnTo>
                    <a:pt x="52641" y="15887"/>
                  </a:lnTo>
                  <a:lnTo>
                    <a:pt x="60363" y="17754"/>
                  </a:lnTo>
                  <a:lnTo>
                    <a:pt x="68059" y="20942"/>
                  </a:lnTo>
                  <a:lnTo>
                    <a:pt x="75514" y="25488"/>
                  </a:lnTo>
                  <a:lnTo>
                    <a:pt x="80746" y="11112"/>
                  </a:lnTo>
                  <a:lnTo>
                    <a:pt x="73126" y="6350"/>
                  </a:lnTo>
                  <a:lnTo>
                    <a:pt x="64338" y="2870"/>
                  </a:lnTo>
                  <a:lnTo>
                    <a:pt x="54851" y="723"/>
                  </a:lnTo>
                  <a:lnTo>
                    <a:pt x="45110" y="0"/>
                  </a:lnTo>
                  <a:lnTo>
                    <a:pt x="26187" y="2882"/>
                  </a:lnTo>
                  <a:lnTo>
                    <a:pt x="12979" y="10680"/>
                  </a:lnTo>
                  <a:lnTo>
                    <a:pt x="5219" y="22110"/>
                  </a:lnTo>
                  <a:lnTo>
                    <a:pt x="2692" y="35915"/>
                  </a:lnTo>
                  <a:lnTo>
                    <a:pt x="13182" y="60337"/>
                  </a:lnTo>
                  <a:lnTo>
                    <a:pt x="36245" y="70904"/>
                  </a:lnTo>
                  <a:lnTo>
                    <a:pt x="59321" y="78460"/>
                  </a:lnTo>
                  <a:lnTo>
                    <a:pt x="69811" y="93891"/>
                  </a:lnTo>
                  <a:lnTo>
                    <a:pt x="68224" y="101549"/>
                  </a:lnTo>
                  <a:lnTo>
                    <a:pt x="63296" y="107708"/>
                  </a:lnTo>
                  <a:lnTo>
                    <a:pt x="54775" y="111810"/>
                  </a:lnTo>
                  <a:lnTo>
                    <a:pt x="42418" y="113296"/>
                  </a:lnTo>
                  <a:lnTo>
                    <a:pt x="31864" y="112217"/>
                  </a:lnTo>
                  <a:lnTo>
                    <a:pt x="21894" y="109194"/>
                  </a:lnTo>
                  <a:lnTo>
                    <a:pt x="13042" y="104597"/>
                  </a:lnTo>
                  <a:lnTo>
                    <a:pt x="5842" y="98755"/>
                  </a:lnTo>
                  <a:lnTo>
                    <a:pt x="0" y="112763"/>
                  </a:lnTo>
                  <a:lnTo>
                    <a:pt x="7988" y="119176"/>
                  </a:lnTo>
                  <a:lnTo>
                    <a:pt x="18186" y="124180"/>
                  </a:lnTo>
                  <a:lnTo>
                    <a:pt x="29908" y="127431"/>
                  </a:lnTo>
                  <a:lnTo>
                    <a:pt x="42418" y="128587"/>
                  </a:lnTo>
                  <a:lnTo>
                    <a:pt x="61468" y="125691"/>
                  </a:lnTo>
                  <a:lnTo>
                    <a:pt x="74841" y="117906"/>
                  </a:lnTo>
                  <a:lnTo>
                    <a:pt x="82727" y="106514"/>
                  </a:lnTo>
                  <a:lnTo>
                    <a:pt x="85318" y="92837"/>
                  </a:lnTo>
                  <a:close/>
                </a:path>
                <a:path w="341629" h="371475">
                  <a:moveTo>
                    <a:pt x="327037" y="355511"/>
                  </a:moveTo>
                  <a:lnTo>
                    <a:pt x="259549" y="355511"/>
                  </a:lnTo>
                  <a:lnTo>
                    <a:pt x="259549" y="242938"/>
                  </a:lnTo>
                  <a:lnTo>
                    <a:pt x="241731" y="242938"/>
                  </a:lnTo>
                  <a:lnTo>
                    <a:pt x="241731" y="371475"/>
                  </a:lnTo>
                  <a:lnTo>
                    <a:pt x="327037" y="371475"/>
                  </a:lnTo>
                  <a:lnTo>
                    <a:pt x="327037" y="355511"/>
                  </a:lnTo>
                  <a:close/>
                </a:path>
                <a:path w="341629" h="371475">
                  <a:moveTo>
                    <a:pt x="341261" y="64287"/>
                  </a:moveTo>
                  <a:lnTo>
                    <a:pt x="336499" y="38709"/>
                  </a:lnTo>
                  <a:lnTo>
                    <a:pt x="324065" y="19596"/>
                  </a:lnTo>
                  <a:lnTo>
                    <a:pt x="324065" y="64287"/>
                  </a:lnTo>
                  <a:lnTo>
                    <a:pt x="320573" y="83591"/>
                  </a:lnTo>
                  <a:lnTo>
                    <a:pt x="310870" y="98894"/>
                  </a:lnTo>
                  <a:lnTo>
                    <a:pt x="296100" y="108966"/>
                  </a:lnTo>
                  <a:lnTo>
                    <a:pt x="277431" y="112598"/>
                  </a:lnTo>
                  <a:lnTo>
                    <a:pt x="258724" y="108966"/>
                  </a:lnTo>
                  <a:lnTo>
                    <a:pt x="243852" y="98894"/>
                  </a:lnTo>
                  <a:lnTo>
                    <a:pt x="234035" y="83591"/>
                  </a:lnTo>
                  <a:lnTo>
                    <a:pt x="230492" y="64287"/>
                  </a:lnTo>
                  <a:lnTo>
                    <a:pt x="234073" y="44996"/>
                  </a:lnTo>
                  <a:lnTo>
                    <a:pt x="243967" y="29692"/>
                  </a:lnTo>
                  <a:lnTo>
                    <a:pt x="258851" y="19608"/>
                  </a:lnTo>
                  <a:lnTo>
                    <a:pt x="277431" y="15976"/>
                  </a:lnTo>
                  <a:lnTo>
                    <a:pt x="295960" y="19608"/>
                  </a:lnTo>
                  <a:lnTo>
                    <a:pt x="310743" y="29692"/>
                  </a:lnTo>
                  <a:lnTo>
                    <a:pt x="320522" y="44996"/>
                  </a:lnTo>
                  <a:lnTo>
                    <a:pt x="324065" y="64287"/>
                  </a:lnTo>
                  <a:lnTo>
                    <a:pt x="324065" y="19596"/>
                  </a:lnTo>
                  <a:lnTo>
                    <a:pt x="323253" y="18338"/>
                  </a:lnTo>
                  <a:lnTo>
                    <a:pt x="319747" y="15976"/>
                  </a:lnTo>
                  <a:lnTo>
                    <a:pt x="303034" y="4864"/>
                  </a:lnTo>
                  <a:lnTo>
                    <a:pt x="277431" y="0"/>
                  </a:lnTo>
                  <a:lnTo>
                    <a:pt x="251815" y="4864"/>
                  </a:lnTo>
                  <a:lnTo>
                    <a:pt x="231495" y="18338"/>
                  </a:lnTo>
                  <a:lnTo>
                    <a:pt x="218109" y="38709"/>
                  </a:lnTo>
                  <a:lnTo>
                    <a:pt x="213283" y="64287"/>
                  </a:lnTo>
                  <a:lnTo>
                    <a:pt x="216966" y="83591"/>
                  </a:lnTo>
                  <a:lnTo>
                    <a:pt x="252069" y="123736"/>
                  </a:lnTo>
                  <a:lnTo>
                    <a:pt x="277431" y="128587"/>
                  </a:lnTo>
                  <a:lnTo>
                    <a:pt x="302869" y="123736"/>
                  </a:lnTo>
                  <a:lnTo>
                    <a:pt x="319633" y="112598"/>
                  </a:lnTo>
                  <a:lnTo>
                    <a:pt x="323088" y="110312"/>
                  </a:lnTo>
                  <a:lnTo>
                    <a:pt x="336435" y="89941"/>
                  </a:lnTo>
                  <a:lnTo>
                    <a:pt x="341261" y="64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48183" y="362153"/>
            <a:ext cx="1042987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384">
              <a:spcBef>
                <a:spcPts val="95"/>
              </a:spcBef>
            </a:pPr>
            <a:r>
              <a:rPr lang="ru-RU" sz="2400" b="1" dirty="0">
                <a:solidFill>
                  <a:srgbClr val="434754"/>
                </a:solidFill>
                <a:latin typeface="Segoe UI"/>
                <a:ea typeface="Segoe UI Symbol" panose="020B0502040204020203" pitchFamily="34" charset="0"/>
                <a:cs typeface="Segoe UI"/>
              </a:rPr>
              <a:t>Дорожная карта – детальная</a:t>
            </a:r>
            <a:endParaRPr b="0" spc="-755" dirty="0">
              <a:latin typeface="Segoe UI Symbol"/>
              <a:cs typeface="Segoe UI Symbo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24056" y="1031650"/>
            <a:ext cx="11139344" cy="223422"/>
          </a:xfrm>
          <a:custGeom>
            <a:avLst/>
            <a:gdLst/>
            <a:ahLst/>
            <a:cxnLst/>
            <a:rect l="l" t="t" r="r" b="b"/>
            <a:pathLst>
              <a:path w="6278880" h="55245">
                <a:moveTo>
                  <a:pt x="0" y="0"/>
                </a:moveTo>
                <a:lnTo>
                  <a:pt x="6278880" y="0"/>
                </a:lnTo>
              </a:path>
              <a:path w="6278880" h="55245">
                <a:moveTo>
                  <a:pt x="0" y="0"/>
                </a:moveTo>
                <a:lnTo>
                  <a:pt x="0" y="54863"/>
                </a:lnTo>
              </a:path>
              <a:path w="6278880" h="55245">
                <a:moveTo>
                  <a:pt x="3139440" y="0"/>
                </a:moveTo>
                <a:lnTo>
                  <a:pt x="3139440" y="54863"/>
                </a:lnTo>
              </a:path>
              <a:path w="6278880" h="55245">
                <a:moveTo>
                  <a:pt x="6278880" y="0"/>
                </a:moveTo>
                <a:lnTo>
                  <a:pt x="6278880" y="54863"/>
                </a:lnTo>
              </a:path>
            </a:pathLst>
          </a:custGeom>
          <a:ln w="6096">
            <a:solidFill>
              <a:srgbClr val="9294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529736" y="1043122"/>
            <a:ext cx="5232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b="1" spc="-10" dirty="0">
                <a:solidFill>
                  <a:srgbClr val="434754"/>
                </a:solidFill>
                <a:latin typeface="Segoe UI Semibold"/>
                <a:cs typeface="Segoe UI Semibold"/>
              </a:rPr>
              <a:t>2026</a:t>
            </a:r>
            <a:endParaRPr sz="1400" b="1" dirty="0">
              <a:latin typeface="Segoe UI Semibold"/>
              <a:cs typeface="Segoe UI Semibold"/>
            </a:endParaRPr>
          </a:p>
        </p:txBody>
      </p:sp>
      <p:sp>
        <p:nvSpPr>
          <p:cNvPr id="40" name="object 16">
            <a:extLst>
              <a:ext uri="{FF2B5EF4-FFF2-40B4-BE49-F238E27FC236}">
                <a16:creationId xmlns:a16="http://schemas.microsoft.com/office/drawing/2014/main" id="{8880E06A-9ED8-7DA1-A30D-ADF40D36A92D}"/>
              </a:ext>
            </a:extLst>
          </p:cNvPr>
          <p:cNvSpPr txBox="1"/>
          <p:nvPr/>
        </p:nvSpPr>
        <p:spPr>
          <a:xfrm>
            <a:off x="7517893" y="410019"/>
            <a:ext cx="2393315" cy="7816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</p:txBody>
      </p:sp>
      <p:sp>
        <p:nvSpPr>
          <p:cNvPr id="42" name="object 16">
            <a:extLst>
              <a:ext uri="{FF2B5EF4-FFF2-40B4-BE49-F238E27FC236}">
                <a16:creationId xmlns:a16="http://schemas.microsoft.com/office/drawing/2014/main" id="{908C9705-2267-175D-407C-8F3C59A20CE7}"/>
              </a:ext>
            </a:extLst>
          </p:cNvPr>
          <p:cNvSpPr txBox="1"/>
          <p:nvPr/>
        </p:nvSpPr>
        <p:spPr>
          <a:xfrm>
            <a:off x="5124578" y="129878"/>
            <a:ext cx="2393315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</p:txBody>
      </p:sp>
      <p:sp>
        <p:nvSpPr>
          <p:cNvPr id="43" name="object 33">
            <a:extLst>
              <a:ext uri="{FF2B5EF4-FFF2-40B4-BE49-F238E27FC236}">
                <a16:creationId xmlns:a16="http://schemas.microsoft.com/office/drawing/2014/main" id="{A8E1900E-C8CB-4FCE-DFCA-B0C5F1E1D66E}"/>
              </a:ext>
            </a:extLst>
          </p:cNvPr>
          <p:cNvSpPr txBox="1"/>
          <p:nvPr/>
        </p:nvSpPr>
        <p:spPr>
          <a:xfrm>
            <a:off x="5914723" y="1036343"/>
            <a:ext cx="5232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b="1" spc="-10" dirty="0">
                <a:solidFill>
                  <a:srgbClr val="434754"/>
                </a:solidFill>
                <a:latin typeface="Segoe UI Semibold"/>
                <a:cs typeface="Segoe UI Semibold"/>
              </a:rPr>
              <a:t>2027</a:t>
            </a:r>
            <a:endParaRPr sz="1400" b="1" dirty="0">
              <a:latin typeface="Segoe UI Semibold"/>
              <a:cs typeface="Segoe UI Semibold"/>
            </a:endParaRPr>
          </a:p>
        </p:txBody>
      </p:sp>
      <p:sp>
        <p:nvSpPr>
          <p:cNvPr id="44" name="object 33">
            <a:extLst>
              <a:ext uri="{FF2B5EF4-FFF2-40B4-BE49-F238E27FC236}">
                <a16:creationId xmlns:a16="http://schemas.microsoft.com/office/drawing/2014/main" id="{AA673040-2BB0-4E5B-5CF8-B54093C0176A}"/>
              </a:ext>
            </a:extLst>
          </p:cNvPr>
          <p:cNvSpPr txBox="1"/>
          <p:nvPr/>
        </p:nvSpPr>
        <p:spPr>
          <a:xfrm>
            <a:off x="9852393" y="1040043"/>
            <a:ext cx="5232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b="1" spc="-10" dirty="0">
                <a:solidFill>
                  <a:srgbClr val="434754"/>
                </a:solidFill>
                <a:latin typeface="Segoe UI Semibold"/>
                <a:cs typeface="Segoe UI Semibold"/>
              </a:rPr>
              <a:t>2028</a:t>
            </a:r>
            <a:endParaRPr sz="1400" b="1" dirty="0">
              <a:latin typeface="Segoe UI Semibold"/>
              <a:cs typeface="Segoe UI Semibold"/>
            </a:endParaRPr>
          </a:p>
        </p:txBody>
      </p:sp>
      <p:sp>
        <p:nvSpPr>
          <p:cNvPr id="46" name="object 16">
            <a:extLst>
              <a:ext uri="{FF2B5EF4-FFF2-40B4-BE49-F238E27FC236}">
                <a16:creationId xmlns:a16="http://schemas.microsoft.com/office/drawing/2014/main" id="{55A81DF7-6393-8251-BFEE-498F9B4D3EFC}"/>
              </a:ext>
            </a:extLst>
          </p:cNvPr>
          <p:cNvSpPr txBox="1"/>
          <p:nvPr/>
        </p:nvSpPr>
        <p:spPr>
          <a:xfrm>
            <a:off x="33118" y="4983779"/>
            <a:ext cx="1425298" cy="243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84480">
              <a:lnSpc>
                <a:spcPct val="100000"/>
              </a:lnSpc>
              <a:spcBef>
                <a:spcPts val="95"/>
              </a:spcBef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Маркетинг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:</a:t>
            </a:r>
            <a:endParaRPr sz="1250" dirty="0">
              <a:latin typeface="Segoe UI"/>
              <a:cs typeface="Segoe UI"/>
            </a:endParaRPr>
          </a:p>
        </p:txBody>
      </p:sp>
      <p:sp>
        <p:nvSpPr>
          <p:cNvPr id="48" name="object 16">
            <a:extLst>
              <a:ext uri="{FF2B5EF4-FFF2-40B4-BE49-F238E27FC236}">
                <a16:creationId xmlns:a16="http://schemas.microsoft.com/office/drawing/2014/main" id="{EE3D99C3-ECB3-6781-9875-410ED9F9C2B4}"/>
              </a:ext>
            </a:extLst>
          </p:cNvPr>
          <p:cNvSpPr txBox="1"/>
          <p:nvPr/>
        </p:nvSpPr>
        <p:spPr>
          <a:xfrm>
            <a:off x="58518" y="1611792"/>
            <a:ext cx="1425298" cy="243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84480">
              <a:lnSpc>
                <a:spcPct val="100000"/>
              </a:lnSpc>
              <a:spcBef>
                <a:spcPts val="95"/>
              </a:spcBef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Продукт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:</a:t>
            </a:r>
            <a:endParaRPr sz="1250" dirty="0">
              <a:latin typeface="Segoe UI"/>
              <a:cs typeface="Segoe UI"/>
            </a:endParaRPr>
          </a:p>
        </p:txBody>
      </p:sp>
      <p:sp>
        <p:nvSpPr>
          <p:cNvPr id="49" name="object 16">
            <a:extLst>
              <a:ext uri="{FF2B5EF4-FFF2-40B4-BE49-F238E27FC236}">
                <a16:creationId xmlns:a16="http://schemas.microsoft.com/office/drawing/2014/main" id="{596296F4-2937-D05E-FCC6-32D84058ED8F}"/>
              </a:ext>
            </a:extLst>
          </p:cNvPr>
          <p:cNvSpPr txBox="1"/>
          <p:nvPr/>
        </p:nvSpPr>
        <p:spPr>
          <a:xfrm>
            <a:off x="33118" y="3645073"/>
            <a:ext cx="1425298" cy="243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84480">
              <a:lnSpc>
                <a:spcPct val="100000"/>
              </a:lnSpc>
              <a:spcBef>
                <a:spcPts val="95"/>
              </a:spcBef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Продажи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:</a:t>
            </a:r>
            <a:endParaRPr sz="1250" dirty="0">
              <a:latin typeface="Segoe UI"/>
              <a:cs typeface="Segoe UI"/>
            </a:endParaRPr>
          </a:p>
        </p:txBody>
      </p:sp>
      <p:sp>
        <p:nvSpPr>
          <p:cNvPr id="50" name="object 3">
            <a:extLst>
              <a:ext uri="{FF2B5EF4-FFF2-40B4-BE49-F238E27FC236}">
                <a16:creationId xmlns:a16="http://schemas.microsoft.com/office/drawing/2014/main" id="{D22418FE-0386-D71C-7B8B-08579E396AA5}"/>
              </a:ext>
            </a:extLst>
          </p:cNvPr>
          <p:cNvSpPr/>
          <p:nvPr/>
        </p:nvSpPr>
        <p:spPr>
          <a:xfrm>
            <a:off x="1146538" y="1624362"/>
            <a:ext cx="3886201" cy="1855233"/>
          </a:xfrm>
          <a:custGeom>
            <a:avLst/>
            <a:gdLst/>
            <a:ahLst/>
            <a:cxnLst/>
            <a:rect l="l" t="t" r="r" b="b"/>
            <a:pathLst>
              <a:path w="4084320" h="5369560">
                <a:moveTo>
                  <a:pt x="4048457" y="0"/>
                </a:moveTo>
                <a:lnTo>
                  <a:pt x="35394" y="0"/>
                </a:lnTo>
                <a:lnTo>
                  <a:pt x="21617" y="4425"/>
                </a:lnTo>
                <a:lnTo>
                  <a:pt x="10366" y="16493"/>
                </a:lnTo>
                <a:lnTo>
                  <a:pt x="2781" y="34388"/>
                </a:lnTo>
                <a:lnTo>
                  <a:pt x="0" y="56297"/>
                </a:lnTo>
                <a:lnTo>
                  <a:pt x="0" y="5313069"/>
                </a:lnTo>
                <a:lnTo>
                  <a:pt x="2782" y="5334983"/>
                </a:lnTo>
                <a:lnTo>
                  <a:pt x="10367" y="5352878"/>
                </a:lnTo>
                <a:lnTo>
                  <a:pt x="21618" y="5364943"/>
                </a:lnTo>
                <a:lnTo>
                  <a:pt x="35395" y="5369367"/>
                </a:lnTo>
                <a:lnTo>
                  <a:pt x="4048457" y="5369367"/>
                </a:lnTo>
                <a:lnTo>
                  <a:pt x="4062232" y="5364943"/>
                </a:lnTo>
                <a:lnTo>
                  <a:pt x="4073483" y="5352878"/>
                </a:lnTo>
                <a:lnTo>
                  <a:pt x="4081070" y="5334984"/>
                </a:lnTo>
                <a:lnTo>
                  <a:pt x="4083852" y="5313070"/>
                </a:lnTo>
                <a:lnTo>
                  <a:pt x="4083852" y="56297"/>
                </a:lnTo>
                <a:lnTo>
                  <a:pt x="4081069" y="34388"/>
                </a:lnTo>
                <a:lnTo>
                  <a:pt x="4073482" y="16493"/>
                </a:lnTo>
                <a:lnTo>
                  <a:pt x="4062231" y="4425"/>
                </a:lnTo>
                <a:lnTo>
                  <a:pt x="4048457" y="0"/>
                </a:lnTo>
                <a:close/>
              </a:path>
            </a:pathLst>
          </a:custGeom>
          <a:solidFill>
            <a:srgbClr val="FFFFFF">
              <a:alpha val="5960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16">
            <a:extLst>
              <a:ext uri="{FF2B5EF4-FFF2-40B4-BE49-F238E27FC236}">
                <a16:creationId xmlns:a16="http://schemas.microsoft.com/office/drawing/2014/main" id="{6F97D825-7F3F-CB1D-FE31-54E46462E022}"/>
              </a:ext>
            </a:extLst>
          </p:cNvPr>
          <p:cNvSpPr txBox="1"/>
          <p:nvPr/>
        </p:nvSpPr>
        <p:spPr>
          <a:xfrm>
            <a:off x="1395576" y="1703075"/>
            <a:ext cx="2900165" cy="15510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Расширение 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IaaS-</a:t>
            </a: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инфраструктуры (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GPU, </a:t>
            </a:r>
            <a:r>
              <a:rPr lang="ru-RU" sz="1250" spc="-10" dirty="0" err="1">
                <a:solidFill>
                  <a:srgbClr val="434754"/>
                </a:solidFill>
                <a:latin typeface="Segoe UI"/>
                <a:cs typeface="Segoe UI"/>
              </a:rPr>
              <a:t>мультизональность</a:t>
            </a: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, отказоустойчивость)</a:t>
            </a:r>
            <a:r>
              <a:rPr lang="en-US" sz="1250" spc="-10" dirty="0">
                <a:solidFill>
                  <a:srgbClr val="434754"/>
                </a:solidFill>
                <a:latin typeface="Segoe UI"/>
                <a:cs typeface="Segoe UI"/>
              </a:rPr>
              <a:t>;</a:t>
            </a:r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Запуск контейнерных сервисов (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Kubernetes as a Service</a:t>
            </a: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, </a:t>
            </a:r>
            <a:r>
              <a:rPr lang="en-US" sz="1250" spc="-10" dirty="0">
                <a:solidFill>
                  <a:srgbClr val="434754"/>
                </a:solidFill>
                <a:latin typeface="Segoe UI"/>
                <a:cs typeface="Segoe UI"/>
              </a:rPr>
              <a:t>Registry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);</a:t>
            </a:r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Развитие управляемых сервисов (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DBaaS, Monitoring, Backup);</a:t>
            </a:r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Портал самообслуживания</a:t>
            </a:r>
            <a:r>
              <a:rPr lang="en-US" sz="1250" spc="-10" dirty="0">
                <a:solidFill>
                  <a:srgbClr val="434754"/>
                </a:solidFill>
                <a:latin typeface="Segoe UI"/>
                <a:cs typeface="Segoe UI"/>
              </a:rPr>
              <a:t>.</a:t>
            </a:r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</p:txBody>
      </p:sp>
      <p:sp>
        <p:nvSpPr>
          <p:cNvPr id="57" name="object 3">
            <a:extLst>
              <a:ext uri="{FF2B5EF4-FFF2-40B4-BE49-F238E27FC236}">
                <a16:creationId xmlns:a16="http://schemas.microsoft.com/office/drawing/2014/main" id="{D28BC9BB-8547-AFFA-FA76-339D848AB56D}"/>
              </a:ext>
            </a:extLst>
          </p:cNvPr>
          <p:cNvSpPr/>
          <p:nvPr/>
        </p:nvSpPr>
        <p:spPr>
          <a:xfrm>
            <a:off x="1146539" y="3538270"/>
            <a:ext cx="3886199" cy="1431067"/>
          </a:xfrm>
          <a:custGeom>
            <a:avLst/>
            <a:gdLst/>
            <a:ahLst/>
            <a:cxnLst/>
            <a:rect l="l" t="t" r="r" b="b"/>
            <a:pathLst>
              <a:path w="4084320" h="5369560">
                <a:moveTo>
                  <a:pt x="4048457" y="0"/>
                </a:moveTo>
                <a:lnTo>
                  <a:pt x="35394" y="0"/>
                </a:lnTo>
                <a:lnTo>
                  <a:pt x="21617" y="4425"/>
                </a:lnTo>
                <a:lnTo>
                  <a:pt x="10366" y="16493"/>
                </a:lnTo>
                <a:lnTo>
                  <a:pt x="2781" y="34388"/>
                </a:lnTo>
                <a:lnTo>
                  <a:pt x="0" y="56297"/>
                </a:lnTo>
                <a:lnTo>
                  <a:pt x="0" y="5313069"/>
                </a:lnTo>
                <a:lnTo>
                  <a:pt x="2782" y="5334983"/>
                </a:lnTo>
                <a:lnTo>
                  <a:pt x="10367" y="5352878"/>
                </a:lnTo>
                <a:lnTo>
                  <a:pt x="21618" y="5364943"/>
                </a:lnTo>
                <a:lnTo>
                  <a:pt x="35395" y="5369367"/>
                </a:lnTo>
                <a:lnTo>
                  <a:pt x="4048457" y="5369367"/>
                </a:lnTo>
                <a:lnTo>
                  <a:pt x="4062232" y="5364943"/>
                </a:lnTo>
                <a:lnTo>
                  <a:pt x="4073483" y="5352878"/>
                </a:lnTo>
                <a:lnTo>
                  <a:pt x="4081070" y="5334984"/>
                </a:lnTo>
                <a:lnTo>
                  <a:pt x="4083852" y="5313070"/>
                </a:lnTo>
                <a:lnTo>
                  <a:pt x="4083852" y="56297"/>
                </a:lnTo>
                <a:lnTo>
                  <a:pt x="4081069" y="34388"/>
                </a:lnTo>
                <a:lnTo>
                  <a:pt x="4073482" y="16493"/>
                </a:lnTo>
                <a:lnTo>
                  <a:pt x="4062231" y="4425"/>
                </a:lnTo>
                <a:lnTo>
                  <a:pt x="4048457" y="0"/>
                </a:lnTo>
                <a:close/>
              </a:path>
            </a:pathLst>
          </a:custGeom>
          <a:solidFill>
            <a:srgbClr val="FFFFFF">
              <a:alpha val="5960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3">
            <a:extLst>
              <a:ext uri="{FF2B5EF4-FFF2-40B4-BE49-F238E27FC236}">
                <a16:creationId xmlns:a16="http://schemas.microsoft.com/office/drawing/2014/main" id="{5CF3A717-946F-6982-FEFA-2DA7957DF44C}"/>
              </a:ext>
            </a:extLst>
          </p:cNvPr>
          <p:cNvSpPr/>
          <p:nvPr/>
        </p:nvSpPr>
        <p:spPr>
          <a:xfrm>
            <a:off x="1146540" y="5026220"/>
            <a:ext cx="3886198" cy="804402"/>
          </a:xfrm>
          <a:custGeom>
            <a:avLst/>
            <a:gdLst/>
            <a:ahLst/>
            <a:cxnLst/>
            <a:rect l="l" t="t" r="r" b="b"/>
            <a:pathLst>
              <a:path w="4084320" h="5369560">
                <a:moveTo>
                  <a:pt x="4048457" y="0"/>
                </a:moveTo>
                <a:lnTo>
                  <a:pt x="35394" y="0"/>
                </a:lnTo>
                <a:lnTo>
                  <a:pt x="21617" y="4425"/>
                </a:lnTo>
                <a:lnTo>
                  <a:pt x="10366" y="16493"/>
                </a:lnTo>
                <a:lnTo>
                  <a:pt x="2781" y="34388"/>
                </a:lnTo>
                <a:lnTo>
                  <a:pt x="0" y="56297"/>
                </a:lnTo>
                <a:lnTo>
                  <a:pt x="0" y="5313069"/>
                </a:lnTo>
                <a:lnTo>
                  <a:pt x="2782" y="5334983"/>
                </a:lnTo>
                <a:lnTo>
                  <a:pt x="10367" y="5352878"/>
                </a:lnTo>
                <a:lnTo>
                  <a:pt x="21618" y="5364943"/>
                </a:lnTo>
                <a:lnTo>
                  <a:pt x="35395" y="5369367"/>
                </a:lnTo>
                <a:lnTo>
                  <a:pt x="4048457" y="5369367"/>
                </a:lnTo>
                <a:lnTo>
                  <a:pt x="4062232" y="5364943"/>
                </a:lnTo>
                <a:lnTo>
                  <a:pt x="4073483" y="5352878"/>
                </a:lnTo>
                <a:lnTo>
                  <a:pt x="4081070" y="5334984"/>
                </a:lnTo>
                <a:lnTo>
                  <a:pt x="4083852" y="5313070"/>
                </a:lnTo>
                <a:lnTo>
                  <a:pt x="4083852" y="56297"/>
                </a:lnTo>
                <a:lnTo>
                  <a:pt x="4081069" y="34388"/>
                </a:lnTo>
                <a:lnTo>
                  <a:pt x="4073482" y="16493"/>
                </a:lnTo>
                <a:lnTo>
                  <a:pt x="4062231" y="4425"/>
                </a:lnTo>
                <a:lnTo>
                  <a:pt x="4048457" y="0"/>
                </a:lnTo>
                <a:close/>
              </a:path>
            </a:pathLst>
          </a:custGeom>
          <a:solidFill>
            <a:srgbClr val="FFFFFF">
              <a:alpha val="5960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16">
            <a:extLst>
              <a:ext uri="{FF2B5EF4-FFF2-40B4-BE49-F238E27FC236}">
                <a16:creationId xmlns:a16="http://schemas.microsoft.com/office/drawing/2014/main" id="{EE2B1397-BE7B-E5D8-E425-F4F3D00A5164}"/>
              </a:ext>
            </a:extLst>
          </p:cNvPr>
          <p:cNvSpPr txBox="1"/>
          <p:nvPr/>
        </p:nvSpPr>
        <p:spPr>
          <a:xfrm>
            <a:off x="1329905" y="5009167"/>
            <a:ext cx="3553978" cy="7816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Перезапуск маркетингового позиционирования 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Softline Cloud</a:t>
            </a:r>
            <a:r>
              <a:rPr lang="en-US" sz="1250" spc="-10" dirty="0">
                <a:solidFill>
                  <a:srgbClr val="434754"/>
                </a:solidFill>
                <a:latin typeface="Segoe UI"/>
                <a:cs typeface="Segoe UI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Запуск разогрева -— формирование экспертизы и контента под 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IaaS/PaaS.</a:t>
            </a:r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</p:txBody>
      </p:sp>
      <p:sp>
        <p:nvSpPr>
          <p:cNvPr id="67" name="object 3">
            <a:extLst>
              <a:ext uri="{FF2B5EF4-FFF2-40B4-BE49-F238E27FC236}">
                <a16:creationId xmlns:a16="http://schemas.microsoft.com/office/drawing/2014/main" id="{BBC1684C-E81B-FDB1-AA89-E638FF1B781D}"/>
              </a:ext>
            </a:extLst>
          </p:cNvPr>
          <p:cNvSpPr/>
          <p:nvPr/>
        </p:nvSpPr>
        <p:spPr>
          <a:xfrm>
            <a:off x="5125438" y="1623982"/>
            <a:ext cx="3422802" cy="1855233"/>
          </a:xfrm>
          <a:custGeom>
            <a:avLst/>
            <a:gdLst/>
            <a:ahLst/>
            <a:cxnLst/>
            <a:rect l="l" t="t" r="r" b="b"/>
            <a:pathLst>
              <a:path w="4084320" h="5369560">
                <a:moveTo>
                  <a:pt x="4048457" y="0"/>
                </a:moveTo>
                <a:lnTo>
                  <a:pt x="35394" y="0"/>
                </a:lnTo>
                <a:lnTo>
                  <a:pt x="21617" y="4425"/>
                </a:lnTo>
                <a:lnTo>
                  <a:pt x="10366" y="16493"/>
                </a:lnTo>
                <a:lnTo>
                  <a:pt x="2781" y="34388"/>
                </a:lnTo>
                <a:lnTo>
                  <a:pt x="0" y="56297"/>
                </a:lnTo>
                <a:lnTo>
                  <a:pt x="0" y="5313069"/>
                </a:lnTo>
                <a:lnTo>
                  <a:pt x="2782" y="5334983"/>
                </a:lnTo>
                <a:lnTo>
                  <a:pt x="10367" y="5352878"/>
                </a:lnTo>
                <a:lnTo>
                  <a:pt x="21618" y="5364943"/>
                </a:lnTo>
                <a:lnTo>
                  <a:pt x="35395" y="5369367"/>
                </a:lnTo>
                <a:lnTo>
                  <a:pt x="4048457" y="5369367"/>
                </a:lnTo>
                <a:lnTo>
                  <a:pt x="4062232" y="5364943"/>
                </a:lnTo>
                <a:lnTo>
                  <a:pt x="4073483" y="5352878"/>
                </a:lnTo>
                <a:lnTo>
                  <a:pt x="4081070" y="5334984"/>
                </a:lnTo>
                <a:lnTo>
                  <a:pt x="4083852" y="5313070"/>
                </a:lnTo>
                <a:lnTo>
                  <a:pt x="4083852" y="56297"/>
                </a:lnTo>
                <a:lnTo>
                  <a:pt x="4081069" y="34388"/>
                </a:lnTo>
                <a:lnTo>
                  <a:pt x="4073482" y="16493"/>
                </a:lnTo>
                <a:lnTo>
                  <a:pt x="4062231" y="4425"/>
                </a:lnTo>
                <a:lnTo>
                  <a:pt x="4048457" y="0"/>
                </a:lnTo>
                <a:close/>
              </a:path>
            </a:pathLst>
          </a:custGeom>
          <a:solidFill>
            <a:srgbClr val="FFFFFF">
              <a:alpha val="5960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3">
            <a:extLst>
              <a:ext uri="{FF2B5EF4-FFF2-40B4-BE49-F238E27FC236}">
                <a16:creationId xmlns:a16="http://schemas.microsoft.com/office/drawing/2014/main" id="{03F7EF69-691A-4A70-E830-A948A4CF91F7}"/>
              </a:ext>
            </a:extLst>
          </p:cNvPr>
          <p:cNvSpPr/>
          <p:nvPr/>
        </p:nvSpPr>
        <p:spPr>
          <a:xfrm>
            <a:off x="5125438" y="3518156"/>
            <a:ext cx="3422802" cy="1420491"/>
          </a:xfrm>
          <a:custGeom>
            <a:avLst/>
            <a:gdLst/>
            <a:ahLst/>
            <a:cxnLst/>
            <a:rect l="l" t="t" r="r" b="b"/>
            <a:pathLst>
              <a:path w="4084320" h="5369560">
                <a:moveTo>
                  <a:pt x="4048457" y="0"/>
                </a:moveTo>
                <a:lnTo>
                  <a:pt x="35394" y="0"/>
                </a:lnTo>
                <a:lnTo>
                  <a:pt x="21617" y="4425"/>
                </a:lnTo>
                <a:lnTo>
                  <a:pt x="10366" y="16493"/>
                </a:lnTo>
                <a:lnTo>
                  <a:pt x="2781" y="34388"/>
                </a:lnTo>
                <a:lnTo>
                  <a:pt x="0" y="56297"/>
                </a:lnTo>
                <a:lnTo>
                  <a:pt x="0" y="5313069"/>
                </a:lnTo>
                <a:lnTo>
                  <a:pt x="2782" y="5334983"/>
                </a:lnTo>
                <a:lnTo>
                  <a:pt x="10367" y="5352878"/>
                </a:lnTo>
                <a:lnTo>
                  <a:pt x="21618" y="5364943"/>
                </a:lnTo>
                <a:lnTo>
                  <a:pt x="35395" y="5369367"/>
                </a:lnTo>
                <a:lnTo>
                  <a:pt x="4048457" y="5369367"/>
                </a:lnTo>
                <a:lnTo>
                  <a:pt x="4062232" y="5364943"/>
                </a:lnTo>
                <a:lnTo>
                  <a:pt x="4073483" y="5352878"/>
                </a:lnTo>
                <a:lnTo>
                  <a:pt x="4081070" y="5334984"/>
                </a:lnTo>
                <a:lnTo>
                  <a:pt x="4083852" y="5313070"/>
                </a:lnTo>
                <a:lnTo>
                  <a:pt x="4083852" y="56297"/>
                </a:lnTo>
                <a:lnTo>
                  <a:pt x="4081069" y="34388"/>
                </a:lnTo>
                <a:lnTo>
                  <a:pt x="4073482" y="16493"/>
                </a:lnTo>
                <a:lnTo>
                  <a:pt x="4062231" y="4425"/>
                </a:lnTo>
                <a:lnTo>
                  <a:pt x="4048457" y="0"/>
                </a:lnTo>
                <a:close/>
              </a:path>
            </a:pathLst>
          </a:custGeom>
          <a:solidFill>
            <a:srgbClr val="FFFFFF">
              <a:alpha val="5960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3">
            <a:extLst>
              <a:ext uri="{FF2B5EF4-FFF2-40B4-BE49-F238E27FC236}">
                <a16:creationId xmlns:a16="http://schemas.microsoft.com/office/drawing/2014/main" id="{AE8302AB-10C7-DC40-EACE-427466DB65EE}"/>
              </a:ext>
            </a:extLst>
          </p:cNvPr>
          <p:cNvSpPr/>
          <p:nvPr/>
        </p:nvSpPr>
        <p:spPr>
          <a:xfrm>
            <a:off x="5125438" y="5015097"/>
            <a:ext cx="3422802" cy="815525"/>
          </a:xfrm>
          <a:custGeom>
            <a:avLst/>
            <a:gdLst/>
            <a:ahLst/>
            <a:cxnLst/>
            <a:rect l="l" t="t" r="r" b="b"/>
            <a:pathLst>
              <a:path w="4084320" h="5369560">
                <a:moveTo>
                  <a:pt x="4048457" y="0"/>
                </a:moveTo>
                <a:lnTo>
                  <a:pt x="35394" y="0"/>
                </a:lnTo>
                <a:lnTo>
                  <a:pt x="21617" y="4425"/>
                </a:lnTo>
                <a:lnTo>
                  <a:pt x="10366" y="16493"/>
                </a:lnTo>
                <a:lnTo>
                  <a:pt x="2781" y="34388"/>
                </a:lnTo>
                <a:lnTo>
                  <a:pt x="0" y="56297"/>
                </a:lnTo>
                <a:lnTo>
                  <a:pt x="0" y="5313069"/>
                </a:lnTo>
                <a:lnTo>
                  <a:pt x="2782" y="5334983"/>
                </a:lnTo>
                <a:lnTo>
                  <a:pt x="10367" y="5352878"/>
                </a:lnTo>
                <a:lnTo>
                  <a:pt x="21618" y="5364943"/>
                </a:lnTo>
                <a:lnTo>
                  <a:pt x="35395" y="5369367"/>
                </a:lnTo>
                <a:lnTo>
                  <a:pt x="4048457" y="5369367"/>
                </a:lnTo>
                <a:lnTo>
                  <a:pt x="4062232" y="5364943"/>
                </a:lnTo>
                <a:lnTo>
                  <a:pt x="4073483" y="5352878"/>
                </a:lnTo>
                <a:lnTo>
                  <a:pt x="4081070" y="5334984"/>
                </a:lnTo>
                <a:lnTo>
                  <a:pt x="4083852" y="5313070"/>
                </a:lnTo>
                <a:lnTo>
                  <a:pt x="4083852" y="56297"/>
                </a:lnTo>
                <a:lnTo>
                  <a:pt x="4081069" y="34388"/>
                </a:lnTo>
                <a:lnTo>
                  <a:pt x="4073482" y="16493"/>
                </a:lnTo>
                <a:lnTo>
                  <a:pt x="4062231" y="4425"/>
                </a:lnTo>
                <a:lnTo>
                  <a:pt x="4048457" y="0"/>
                </a:lnTo>
                <a:close/>
              </a:path>
            </a:pathLst>
          </a:custGeom>
          <a:solidFill>
            <a:srgbClr val="FFFFFF">
              <a:alpha val="5960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16">
            <a:extLst>
              <a:ext uri="{FF2B5EF4-FFF2-40B4-BE49-F238E27FC236}">
                <a16:creationId xmlns:a16="http://schemas.microsoft.com/office/drawing/2014/main" id="{3BC8F71D-1800-914A-3C7E-FB0F56DDBDBC}"/>
              </a:ext>
            </a:extLst>
          </p:cNvPr>
          <p:cNvSpPr txBox="1"/>
          <p:nvPr/>
        </p:nvSpPr>
        <p:spPr>
          <a:xfrm>
            <a:off x="5210338" y="1644259"/>
            <a:ext cx="3019746" cy="15510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Масштабирование 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PaaS (</a:t>
            </a: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базы данных, 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API Gateway, Observability, CI/CD</a:t>
            </a: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, 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DevOps);</a:t>
            </a:r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Интеграция 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Dev-</a:t>
            </a: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инструментов 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Softline (</a:t>
            </a:r>
            <a:r>
              <a:rPr lang="en" sz="1250" spc="-10" dirty="0" err="1">
                <a:solidFill>
                  <a:srgbClr val="434754"/>
                </a:solidFill>
                <a:latin typeface="Segoe UI"/>
                <a:cs typeface="Segoe UI"/>
              </a:rPr>
              <a:t>TestIT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, </a:t>
            </a:r>
            <a:r>
              <a:rPr lang="en" sz="1250" spc="-10" dirty="0" err="1">
                <a:solidFill>
                  <a:srgbClr val="434754"/>
                </a:solidFill>
                <a:latin typeface="Segoe UI"/>
                <a:cs typeface="Segoe UI"/>
              </a:rPr>
              <a:t>Develonika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, </a:t>
            </a:r>
            <a:r>
              <a:rPr lang="en" sz="1250" spc="-10" dirty="0" err="1">
                <a:solidFill>
                  <a:srgbClr val="434754"/>
                </a:solidFill>
                <a:latin typeface="Segoe UI"/>
                <a:cs typeface="Segoe UI"/>
              </a:rPr>
              <a:t>etc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);</a:t>
            </a:r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Запуск отраслевых облаков (</a:t>
            </a:r>
            <a:r>
              <a:rPr lang="ru-RU" sz="1250" spc="-10" dirty="0" err="1">
                <a:solidFill>
                  <a:srgbClr val="434754"/>
                </a:solidFill>
                <a:latin typeface="Segoe UI"/>
                <a:cs typeface="Segoe UI"/>
              </a:rPr>
              <a:t>финтех</a:t>
            </a: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, ритейл, промышленность)</a:t>
            </a:r>
            <a:r>
              <a:rPr lang="en-US" sz="1250" spc="-10" dirty="0">
                <a:solidFill>
                  <a:srgbClr val="434754"/>
                </a:solidFill>
                <a:latin typeface="Segoe UI"/>
                <a:cs typeface="Segoe UI"/>
              </a:rPr>
              <a:t>;</a:t>
            </a:r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Создание 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Softline Cloud Marketplace. </a:t>
            </a:r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</p:txBody>
      </p:sp>
      <p:sp>
        <p:nvSpPr>
          <p:cNvPr id="80" name="object 16">
            <a:extLst>
              <a:ext uri="{FF2B5EF4-FFF2-40B4-BE49-F238E27FC236}">
                <a16:creationId xmlns:a16="http://schemas.microsoft.com/office/drawing/2014/main" id="{6F5FB951-DAD3-AFED-C864-035AC523DE45}"/>
              </a:ext>
            </a:extLst>
          </p:cNvPr>
          <p:cNvSpPr txBox="1"/>
          <p:nvPr/>
        </p:nvSpPr>
        <p:spPr>
          <a:xfrm>
            <a:off x="5180717" y="3497836"/>
            <a:ext cx="2770768" cy="7816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Развитие партнёрской сети и региональных каналов продаж</a:t>
            </a:r>
            <a:r>
              <a:rPr lang="en-US" sz="1250" spc="-10" dirty="0">
                <a:solidFill>
                  <a:srgbClr val="434754"/>
                </a:solidFill>
                <a:latin typeface="Segoe UI"/>
                <a:cs typeface="Segoe UI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Выделенный персональный </a:t>
            </a:r>
            <a:r>
              <a:rPr lang="en-US" sz="1250" spc="-10" dirty="0">
                <a:solidFill>
                  <a:srgbClr val="434754"/>
                </a:solidFill>
                <a:latin typeface="Segoe UI"/>
                <a:cs typeface="Segoe UI"/>
              </a:rPr>
              <a:t>TAM </a:t>
            </a: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под клиента.</a:t>
            </a:r>
          </a:p>
        </p:txBody>
      </p:sp>
      <p:sp>
        <p:nvSpPr>
          <p:cNvPr id="81" name="object 16">
            <a:extLst>
              <a:ext uri="{FF2B5EF4-FFF2-40B4-BE49-F238E27FC236}">
                <a16:creationId xmlns:a16="http://schemas.microsoft.com/office/drawing/2014/main" id="{CDFFADC2-E6BD-A1AA-A883-EFA2B7F9FD8B}"/>
              </a:ext>
            </a:extLst>
          </p:cNvPr>
          <p:cNvSpPr txBox="1"/>
          <p:nvPr/>
        </p:nvSpPr>
        <p:spPr>
          <a:xfrm>
            <a:off x="5180717" y="4998702"/>
            <a:ext cx="2770768" cy="5892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Активное продвижение бренда (кейсы, рейтинги, 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PR);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Участие в конференциях</a:t>
            </a:r>
            <a:r>
              <a:rPr lang="en-US" sz="1250" spc="-10" dirty="0">
                <a:solidFill>
                  <a:srgbClr val="434754"/>
                </a:solidFill>
                <a:latin typeface="Segoe UI"/>
                <a:cs typeface="Segoe UI"/>
              </a:rPr>
              <a:t>.</a:t>
            </a:r>
            <a:endParaRPr lang="en" sz="1250" spc="-10" dirty="0">
              <a:solidFill>
                <a:srgbClr val="434754"/>
              </a:solidFill>
              <a:latin typeface="Segoe UI"/>
              <a:cs typeface="Segoe UI"/>
            </a:endParaRPr>
          </a:p>
        </p:txBody>
      </p:sp>
      <p:sp>
        <p:nvSpPr>
          <p:cNvPr id="82" name="object 16">
            <a:extLst>
              <a:ext uri="{FF2B5EF4-FFF2-40B4-BE49-F238E27FC236}">
                <a16:creationId xmlns:a16="http://schemas.microsoft.com/office/drawing/2014/main" id="{E2514AB9-A82B-66ED-BD7D-DAC7B3E6F0B4}"/>
              </a:ext>
            </a:extLst>
          </p:cNvPr>
          <p:cNvSpPr txBox="1"/>
          <p:nvPr/>
        </p:nvSpPr>
        <p:spPr>
          <a:xfrm>
            <a:off x="1375466" y="3581645"/>
            <a:ext cx="3377308" cy="1358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Сегментация клиентской базы - подготовка ценностного предложения по сегментам</a:t>
            </a:r>
            <a:r>
              <a:rPr lang="en-US" sz="1250" spc="-10" dirty="0">
                <a:solidFill>
                  <a:srgbClr val="434754"/>
                </a:solidFill>
                <a:latin typeface="Segoe UI"/>
                <a:cs typeface="Segoe UI"/>
              </a:rPr>
              <a:t>;</a:t>
            </a:r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Подготовка </a:t>
            </a:r>
            <a:r>
              <a:rPr lang="en-US" sz="1250" spc="-10" dirty="0">
                <a:solidFill>
                  <a:srgbClr val="434754"/>
                </a:solidFill>
                <a:latin typeface="Segoe UI"/>
                <a:cs typeface="Segoe UI"/>
              </a:rPr>
              <a:t>sales-kit’</a:t>
            </a:r>
            <a:r>
              <a:rPr lang="ru-RU" sz="1250" spc="-10" dirty="0" err="1">
                <a:solidFill>
                  <a:srgbClr val="434754"/>
                </a:solidFill>
                <a:latin typeface="Segoe UI"/>
                <a:cs typeface="Segoe UI"/>
              </a:rPr>
              <a:t>ов</a:t>
            </a: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, обучение продаж</a:t>
            </a:r>
            <a:r>
              <a:rPr lang="en-US" sz="1250" spc="-10" dirty="0">
                <a:solidFill>
                  <a:srgbClr val="434754"/>
                </a:solidFill>
                <a:latin typeface="Segoe UI"/>
                <a:cs typeface="Segoe UI"/>
              </a:rPr>
              <a:t>;</a:t>
            </a:r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Выделение отдельных </a:t>
            </a:r>
            <a:r>
              <a:rPr lang="en-US" sz="1250" spc="-10" dirty="0">
                <a:solidFill>
                  <a:srgbClr val="434754"/>
                </a:solidFill>
                <a:latin typeface="Segoe UI"/>
                <a:cs typeface="Segoe UI"/>
              </a:rPr>
              <a:t>solutions sales;</a:t>
            </a:r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Пересмотреть 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KPI </a:t>
            </a: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и мотивацию отдела продаж</a:t>
            </a:r>
            <a:r>
              <a:rPr lang="en-US" sz="1250" spc="-10" dirty="0">
                <a:solidFill>
                  <a:srgbClr val="434754"/>
                </a:solidFill>
                <a:latin typeface="Segoe UI"/>
                <a:cs typeface="Segoe UI"/>
              </a:rPr>
              <a:t>.</a:t>
            </a:r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</p:txBody>
      </p:sp>
      <p:sp>
        <p:nvSpPr>
          <p:cNvPr id="84" name="object 3">
            <a:extLst>
              <a:ext uri="{FF2B5EF4-FFF2-40B4-BE49-F238E27FC236}">
                <a16:creationId xmlns:a16="http://schemas.microsoft.com/office/drawing/2014/main" id="{40DB40A3-6922-45BC-BF2E-803E3CCAE700}"/>
              </a:ext>
            </a:extLst>
          </p:cNvPr>
          <p:cNvSpPr/>
          <p:nvPr/>
        </p:nvSpPr>
        <p:spPr>
          <a:xfrm>
            <a:off x="8615265" y="1618767"/>
            <a:ext cx="3154005" cy="1855233"/>
          </a:xfrm>
          <a:custGeom>
            <a:avLst/>
            <a:gdLst/>
            <a:ahLst/>
            <a:cxnLst/>
            <a:rect l="l" t="t" r="r" b="b"/>
            <a:pathLst>
              <a:path w="4084320" h="5369560">
                <a:moveTo>
                  <a:pt x="4048457" y="0"/>
                </a:moveTo>
                <a:lnTo>
                  <a:pt x="35394" y="0"/>
                </a:lnTo>
                <a:lnTo>
                  <a:pt x="21617" y="4425"/>
                </a:lnTo>
                <a:lnTo>
                  <a:pt x="10366" y="16493"/>
                </a:lnTo>
                <a:lnTo>
                  <a:pt x="2781" y="34388"/>
                </a:lnTo>
                <a:lnTo>
                  <a:pt x="0" y="56297"/>
                </a:lnTo>
                <a:lnTo>
                  <a:pt x="0" y="5313069"/>
                </a:lnTo>
                <a:lnTo>
                  <a:pt x="2782" y="5334983"/>
                </a:lnTo>
                <a:lnTo>
                  <a:pt x="10367" y="5352878"/>
                </a:lnTo>
                <a:lnTo>
                  <a:pt x="21618" y="5364943"/>
                </a:lnTo>
                <a:lnTo>
                  <a:pt x="35395" y="5369367"/>
                </a:lnTo>
                <a:lnTo>
                  <a:pt x="4048457" y="5369367"/>
                </a:lnTo>
                <a:lnTo>
                  <a:pt x="4062232" y="5364943"/>
                </a:lnTo>
                <a:lnTo>
                  <a:pt x="4073483" y="5352878"/>
                </a:lnTo>
                <a:lnTo>
                  <a:pt x="4081070" y="5334984"/>
                </a:lnTo>
                <a:lnTo>
                  <a:pt x="4083852" y="5313070"/>
                </a:lnTo>
                <a:lnTo>
                  <a:pt x="4083852" y="56297"/>
                </a:lnTo>
                <a:lnTo>
                  <a:pt x="4081069" y="34388"/>
                </a:lnTo>
                <a:lnTo>
                  <a:pt x="4073482" y="16493"/>
                </a:lnTo>
                <a:lnTo>
                  <a:pt x="4062231" y="4425"/>
                </a:lnTo>
                <a:lnTo>
                  <a:pt x="4048457" y="0"/>
                </a:lnTo>
                <a:close/>
              </a:path>
            </a:pathLst>
          </a:custGeom>
          <a:solidFill>
            <a:srgbClr val="FFFFFF">
              <a:alpha val="5960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3">
            <a:extLst>
              <a:ext uri="{FF2B5EF4-FFF2-40B4-BE49-F238E27FC236}">
                <a16:creationId xmlns:a16="http://schemas.microsoft.com/office/drawing/2014/main" id="{EC4ADA40-9933-75A7-02C4-675407288098}"/>
              </a:ext>
            </a:extLst>
          </p:cNvPr>
          <p:cNvSpPr/>
          <p:nvPr/>
        </p:nvSpPr>
        <p:spPr>
          <a:xfrm>
            <a:off x="8608889" y="3526699"/>
            <a:ext cx="3161280" cy="1402839"/>
          </a:xfrm>
          <a:custGeom>
            <a:avLst/>
            <a:gdLst/>
            <a:ahLst/>
            <a:cxnLst/>
            <a:rect l="l" t="t" r="r" b="b"/>
            <a:pathLst>
              <a:path w="4084320" h="5369560">
                <a:moveTo>
                  <a:pt x="4048457" y="0"/>
                </a:moveTo>
                <a:lnTo>
                  <a:pt x="35394" y="0"/>
                </a:lnTo>
                <a:lnTo>
                  <a:pt x="21617" y="4425"/>
                </a:lnTo>
                <a:lnTo>
                  <a:pt x="10366" y="16493"/>
                </a:lnTo>
                <a:lnTo>
                  <a:pt x="2781" y="34388"/>
                </a:lnTo>
                <a:lnTo>
                  <a:pt x="0" y="56297"/>
                </a:lnTo>
                <a:lnTo>
                  <a:pt x="0" y="5313069"/>
                </a:lnTo>
                <a:lnTo>
                  <a:pt x="2782" y="5334983"/>
                </a:lnTo>
                <a:lnTo>
                  <a:pt x="10367" y="5352878"/>
                </a:lnTo>
                <a:lnTo>
                  <a:pt x="21618" y="5364943"/>
                </a:lnTo>
                <a:lnTo>
                  <a:pt x="35395" y="5369367"/>
                </a:lnTo>
                <a:lnTo>
                  <a:pt x="4048457" y="5369367"/>
                </a:lnTo>
                <a:lnTo>
                  <a:pt x="4062232" y="5364943"/>
                </a:lnTo>
                <a:lnTo>
                  <a:pt x="4073483" y="5352878"/>
                </a:lnTo>
                <a:lnTo>
                  <a:pt x="4081070" y="5334984"/>
                </a:lnTo>
                <a:lnTo>
                  <a:pt x="4083852" y="5313070"/>
                </a:lnTo>
                <a:lnTo>
                  <a:pt x="4083852" y="56297"/>
                </a:lnTo>
                <a:lnTo>
                  <a:pt x="4081069" y="34388"/>
                </a:lnTo>
                <a:lnTo>
                  <a:pt x="4073482" y="16493"/>
                </a:lnTo>
                <a:lnTo>
                  <a:pt x="4062231" y="4425"/>
                </a:lnTo>
                <a:lnTo>
                  <a:pt x="4048457" y="0"/>
                </a:lnTo>
                <a:close/>
              </a:path>
            </a:pathLst>
          </a:custGeom>
          <a:solidFill>
            <a:srgbClr val="FFFFFF">
              <a:alpha val="5960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3">
            <a:extLst>
              <a:ext uri="{FF2B5EF4-FFF2-40B4-BE49-F238E27FC236}">
                <a16:creationId xmlns:a16="http://schemas.microsoft.com/office/drawing/2014/main" id="{D6884A08-325E-136B-5BD3-98B70BCE9825}"/>
              </a:ext>
            </a:extLst>
          </p:cNvPr>
          <p:cNvSpPr/>
          <p:nvPr/>
        </p:nvSpPr>
        <p:spPr>
          <a:xfrm>
            <a:off x="8611628" y="4989251"/>
            <a:ext cx="3118685" cy="841371"/>
          </a:xfrm>
          <a:custGeom>
            <a:avLst/>
            <a:gdLst/>
            <a:ahLst/>
            <a:cxnLst/>
            <a:rect l="l" t="t" r="r" b="b"/>
            <a:pathLst>
              <a:path w="4084320" h="5369560">
                <a:moveTo>
                  <a:pt x="4048457" y="0"/>
                </a:moveTo>
                <a:lnTo>
                  <a:pt x="35394" y="0"/>
                </a:lnTo>
                <a:lnTo>
                  <a:pt x="21617" y="4425"/>
                </a:lnTo>
                <a:lnTo>
                  <a:pt x="10366" y="16493"/>
                </a:lnTo>
                <a:lnTo>
                  <a:pt x="2781" y="34388"/>
                </a:lnTo>
                <a:lnTo>
                  <a:pt x="0" y="56297"/>
                </a:lnTo>
                <a:lnTo>
                  <a:pt x="0" y="5313069"/>
                </a:lnTo>
                <a:lnTo>
                  <a:pt x="2782" y="5334983"/>
                </a:lnTo>
                <a:lnTo>
                  <a:pt x="10367" y="5352878"/>
                </a:lnTo>
                <a:lnTo>
                  <a:pt x="21618" y="5364943"/>
                </a:lnTo>
                <a:lnTo>
                  <a:pt x="35395" y="5369367"/>
                </a:lnTo>
                <a:lnTo>
                  <a:pt x="4048457" y="5369367"/>
                </a:lnTo>
                <a:lnTo>
                  <a:pt x="4062232" y="5364943"/>
                </a:lnTo>
                <a:lnTo>
                  <a:pt x="4073483" y="5352878"/>
                </a:lnTo>
                <a:lnTo>
                  <a:pt x="4081070" y="5334984"/>
                </a:lnTo>
                <a:lnTo>
                  <a:pt x="4083852" y="5313070"/>
                </a:lnTo>
                <a:lnTo>
                  <a:pt x="4083852" y="56297"/>
                </a:lnTo>
                <a:lnTo>
                  <a:pt x="4081069" y="34388"/>
                </a:lnTo>
                <a:lnTo>
                  <a:pt x="4073482" y="16493"/>
                </a:lnTo>
                <a:lnTo>
                  <a:pt x="4062231" y="4425"/>
                </a:lnTo>
                <a:lnTo>
                  <a:pt x="4048457" y="0"/>
                </a:lnTo>
                <a:close/>
              </a:path>
            </a:pathLst>
          </a:custGeom>
          <a:solidFill>
            <a:srgbClr val="FFFFFF">
              <a:alpha val="59606"/>
            </a:srgbClr>
          </a:solidFill>
        </p:spPr>
        <p:txBody>
          <a:bodyPr wrap="square" lIns="0" tIns="0" rIns="0" bIns="0" rtlCol="0"/>
          <a:lstStyle/>
          <a:p>
            <a:endParaRPr lang="ru-RU" dirty="0"/>
          </a:p>
        </p:txBody>
      </p:sp>
      <p:sp>
        <p:nvSpPr>
          <p:cNvPr id="88" name="object 16">
            <a:extLst>
              <a:ext uri="{FF2B5EF4-FFF2-40B4-BE49-F238E27FC236}">
                <a16:creationId xmlns:a16="http://schemas.microsoft.com/office/drawing/2014/main" id="{D3573B0F-6921-68BA-1A01-0624C703A865}"/>
              </a:ext>
            </a:extLst>
          </p:cNvPr>
          <p:cNvSpPr txBox="1"/>
          <p:nvPr/>
        </p:nvSpPr>
        <p:spPr>
          <a:xfrm>
            <a:off x="8662179" y="1661861"/>
            <a:ext cx="3019746" cy="7816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Масштабирование 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AI/ML </a:t>
            </a: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сервисов и 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Data-</a:t>
            </a: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платформы</a:t>
            </a:r>
            <a:r>
              <a:rPr lang="en-US" sz="1250" spc="-10" dirty="0">
                <a:solidFill>
                  <a:srgbClr val="434754"/>
                </a:solidFill>
                <a:latin typeface="Segoe UI"/>
                <a:cs typeface="Segoe UI"/>
              </a:rPr>
              <a:t>;</a:t>
            </a:r>
            <a:endParaRPr lang="ru-RU" sz="1250" spc="-10" dirty="0">
              <a:solidFill>
                <a:srgbClr val="434754"/>
              </a:solidFill>
              <a:latin typeface="Segoe UI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Расширение ЦОД и </a:t>
            </a:r>
            <a:r>
              <a:rPr lang="en" sz="1250" spc="-10" dirty="0">
                <a:solidFill>
                  <a:srgbClr val="434754"/>
                </a:solidFill>
                <a:latin typeface="Segoe UI"/>
                <a:cs typeface="Segoe UI"/>
              </a:rPr>
              <a:t>GPU-</a:t>
            </a: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инфраструктуры. </a:t>
            </a:r>
          </a:p>
        </p:txBody>
      </p:sp>
      <p:sp>
        <p:nvSpPr>
          <p:cNvPr id="89" name="object 16">
            <a:extLst>
              <a:ext uri="{FF2B5EF4-FFF2-40B4-BE49-F238E27FC236}">
                <a16:creationId xmlns:a16="http://schemas.microsoft.com/office/drawing/2014/main" id="{7D30C05A-310F-7A7A-94B7-344CA30C46AC}"/>
              </a:ext>
            </a:extLst>
          </p:cNvPr>
          <p:cNvSpPr txBox="1"/>
          <p:nvPr/>
        </p:nvSpPr>
        <p:spPr>
          <a:xfrm>
            <a:off x="8625844" y="3557179"/>
            <a:ext cx="3019746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Запуск программы сертификации партнёров и интеграторов. </a:t>
            </a:r>
          </a:p>
        </p:txBody>
      </p:sp>
      <p:sp>
        <p:nvSpPr>
          <p:cNvPr id="4" name="object 16">
            <a:extLst>
              <a:ext uri="{FF2B5EF4-FFF2-40B4-BE49-F238E27FC236}">
                <a16:creationId xmlns:a16="http://schemas.microsoft.com/office/drawing/2014/main" id="{A9D5B91F-8028-B581-4A17-8EA5876C930F}"/>
              </a:ext>
            </a:extLst>
          </p:cNvPr>
          <p:cNvSpPr txBox="1"/>
          <p:nvPr/>
        </p:nvSpPr>
        <p:spPr>
          <a:xfrm>
            <a:off x="8662711" y="5041699"/>
            <a:ext cx="2770768" cy="2045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50" spc="-10" dirty="0">
                <a:solidFill>
                  <a:srgbClr val="434754"/>
                </a:solidFill>
                <a:latin typeface="Segoe UI"/>
                <a:cs typeface="Segoe UI"/>
              </a:rPr>
              <a:t>Удержание лидерства</a:t>
            </a:r>
            <a:r>
              <a:rPr lang="en-US" sz="1250" spc="-10" dirty="0">
                <a:solidFill>
                  <a:srgbClr val="434754"/>
                </a:solidFill>
                <a:latin typeface="Segoe UI"/>
                <a:cs typeface="Segoe UI"/>
              </a:rPr>
              <a:t>.</a:t>
            </a:r>
            <a:endParaRPr lang="en" sz="1250" spc="-10" dirty="0">
              <a:solidFill>
                <a:srgbClr val="434754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046140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9"/>
          <p:cNvGrpSpPr/>
          <p:nvPr/>
        </p:nvGrpSpPr>
        <p:grpSpPr>
          <a:xfrm>
            <a:off x="11367189" y="367147"/>
            <a:ext cx="441325" cy="457200"/>
            <a:chOff x="11367189" y="367147"/>
            <a:chExt cx="441325" cy="457200"/>
          </a:xfrm>
        </p:grpSpPr>
        <p:sp>
          <p:nvSpPr>
            <p:cNvPr id="10" name="object 10"/>
            <p:cNvSpPr/>
            <p:nvPr/>
          </p:nvSpPr>
          <p:spPr>
            <a:xfrm>
              <a:off x="11367186" y="610031"/>
              <a:ext cx="441325" cy="214629"/>
            </a:xfrm>
            <a:custGeom>
              <a:avLst/>
              <a:gdLst/>
              <a:ahLst/>
              <a:cxnLst/>
              <a:rect l="l" t="t" r="r" b="b"/>
              <a:pathLst>
                <a:path w="441325" h="214630">
                  <a:moveTo>
                    <a:pt x="213283" y="0"/>
                  </a:moveTo>
                  <a:lnTo>
                    <a:pt x="0" y="0"/>
                  </a:lnTo>
                  <a:lnTo>
                    <a:pt x="0" y="214312"/>
                  </a:lnTo>
                  <a:lnTo>
                    <a:pt x="213283" y="214325"/>
                  </a:lnTo>
                  <a:lnTo>
                    <a:pt x="213283" y="0"/>
                  </a:lnTo>
                  <a:close/>
                </a:path>
                <a:path w="441325" h="214630">
                  <a:moveTo>
                    <a:pt x="440791" y="0"/>
                  </a:moveTo>
                  <a:lnTo>
                    <a:pt x="227495" y="0"/>
                  </a:lnTo>
                  <a:lnTo>
                    <a:pt x="227495" y="214325"/>
                  </a:lnTo>
                  <a:lnTo>
                    <a:pt x="440791" y="214325"/>
                  </a:lnTo>
                  <a:lnTo>
                    <a:pt x="440791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367189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A40D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594693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424057" y="410019"/>
              <a:ext cx="341630" cy="371475"/>
            </a:xfrm>
            <a:custGeom>
              <a:avLst/>
              <a:gdLst/>
              <a:ahLst/>
              <a:cxnLst/>
              <a:rect l="l" t="t" r="r" b="b"/>
              <a:pathLst>
                <a:path w="341629" h="371475">
                  <a:moveTo>
                    <a:pt x="85318" y="242887"/>
                  </a:moveTo>
                  <a:lnTo>
                    <a:pt x="0" y="242887"/>
                  </a:lnTo>
                  <a:lnTo>
                    <a:pt x="0" y="371475"/>
                  </a:lnTo>
                  <a:lnTo>
                    <a:pt x="17284" y="371475"/>
                  </a:lnTo>
                  <a:lnTo>
                    <a:pt x="17284" y="319481"/>
                  </a:lnTo>
                  <a:lnTo>
                    <a:pt x="77914" y="319481"/>
                  </a:lnTo>
                  <a:lnTo>
                    <a:pt x="77914" y="303682"/>
                  </a:lnTo>
                  <a:lnTo>
                    <a:pt x="17284" y="303682"/>
                  </a:lnTo>
                  <a:lnTo>
                    <a:pt x="17284" y="258851"/>
                  </a:lnTo>
                  <a:lnTo>
                    <a:pt x="85318" y="258851"/>
                  </a:lnTo>
                  <a:lnTo>
                    <a:pt x="85318" y="242887"/>
                  </a:lnTo>
                  <a:close/>
                </a:path>
                <a:path w="341629" h="371475">
                  <a:moveTo>
                    <a:pt x="85318" y="92837"/>
                  </a:moveTo>
                  <a:lnTo>
                    <a:pt x="74828" y="68681"/>
                  </a:lnTo>
                  <a:lnTo>
                    <a:pt x="51752" y="58229"/>
                  </a:lnTo>
                  <a:lnTo>
                    <a:pt x="28676" y="50673"/>
                  </a:lnTo>
                  <a:lnTo>
                    <a:pt x="18199" y="35217"/>
                  </a:lnTo>
                  <a:lnTo>
                    <a:pt x="19748" y="27482"/>
                  </a:lnTo>
                  <a:lnTo>
                    <a:pt x="24587" y="21145"/>
                  </a:lnTo>
                  <a:lnTo>
                    <a:pt x="32956" y="16852"/>
                  </a:lnTo>
                  <a:lnTo>
                    <a:pt x="45110" y="15278"/>
                  </a:lnTo>
                  <a:lnTo>
                    <a:pt x="52641" y="15887"/>
                  </a:lnTo>
                  <a:lnTo>
                    <a:pt x="60363" y="17754"/>
                  </a:lnTo>
                  <a:lnTo>
                    <a:pt x="68059" y="20942"/>
                  </a:lnTo>
                  <a:lnTo>
                    <a:pt x="75514" y="25488"/>
                  </a:lnTo>
                  <a:lnTo>
                    <a:pt x="80746" y="11112"/>
                  </a:lnTo>
                  <a:lnTo>
                    <a:pt x="73126" y="6350"/>
                  </a:lnTo>
                  <a:lnTo>
                    <a:pt x="64338" y="2870"/>
                  </a:lnTo>
                  <a:lnTo>
                    <a:pt x="54851" y="723"/>
                  </a:lnTo>
                  <a:lnTo>
                    <a:pt x="45110" y="0"/>
                  </a:lnTo>
                  <a:lnTo>
                    <a:pt x="26187" y="2882"/>
                  </a:lnTo>
                  <a:lnTo>
                    <a:pt x="12979" y="10680"/>
                  </a:lnTo>
                  <a:lnTo>
                    <a:pt x="5219" y="22110"/>
                  </a:lnTo>
                  <a:lnTo>
                    <a:pt x="2692" y="35915"/>
                  </a:lnTo>
                  <a:lnTo>
                    <a:pt x="13182" y="60337"/>
                  </a:lnTo>
                  <a:lnTo>
                    <a:pt x="36245" y="70904"/>
                  </a:lnTo>
                  <a:lnTo>
                    <a:pt x="59321" y="78460"/>
                  </a:lnTo>
                  <a:lnTo>
                    <a:pt x="69811" y="93891"/>
                  </a:lnTo>
                  <a:lnTo>
                    <a:pt x="68224" y="101549"/>
                  </a:lnTo>
                  <a:lnTo>
                    <a:pt x="63296" y="107708"/>
                  </a:lnTo>
                  <a:lnTo>
                    <a:pt x="54775" y="111810"/>
                  </a:lnTo>
                  <a:lnTo>
                    <a:pt x="42418" y="113296"/>
                  </a:lnTo>
                  <a:lnTo>
                    <a:pt x="31864" y="112217"/>
                  </a:lnTo>
                  <a:lnTo>
                    <a:pt x="21894" y="109194"/>
                  </a:lnTo>
                  <a:lnTo>
                    <a:pt x="13042" y="104597"/>
                  </a:lnTo>
                  <a:lnTo>
                    <a:pt x="5842" y="98755"/>
                  </a:lnTo>
                  <a:lnTo>
                    <a:pt x="0" y="112763"/>
                  </a:lnTo>
                  <a:lnTo>
                    <a:pt x="7988" y="119176"/>
                  </a:lnTo>
                  <a:lnTo>
                    <a:pt x="18186" y="124180"/>
                  </a:lnTo>
                  <a:lnTo>
                    <a:pt x="29908" y="127431"/>
                  </a:lnTo>
                  <a:lnTo>
                    <a:pt x="42418" y="128587"/>
                  </a:lnTo>
                  <a:lnTo>
                    <a:pt x="61468" y="125691"/>
                  </a:lnTo>
                  <a:lnTo>
                    <a:pt x="74841" y="117906"/>
                  </a:lnTo>
                  <a:lnTo>
                    <a:pt x="82727" y="106514"/>
                  </a:lnTo>
                  <a:lnTo>
                    <a:pt x="85318" y="92837"/>
                  </a:lnTo>
                  <a:close/>
                </a:path>
                <a:path w="341629" h="371475">
                  <a:moveTo>
                    <a:pt x="327037" y="355511"/>
                  </a:moveTo>
                  <a:lnTo>
                    <a:pt x="259549" y="355511"/>
                  </a:lnTo>
                  <a:lnTo>
                    <a:pt x="259549" y="242938"/>
                  </a:lnTo>
                  <a:lnTo>
                    <a:pt x="241731" y="242938"/>
                  </a:lnTo>
                  <a:lnTo>
                    <a:pt x="241731" y="371475"/>
                  </a:lnTo>
                  <a:lnTo>
                    <a:pt x="327037" y="371475"/>
                  </a:lnTo>
                  <a:lnTo>
                    <a:pt x="327037" y="355511"/>
                  </a:lnTo>
                  <a:close/>
                </a:path>
                <a:path w="341629" h="371475">
                  <a:moveTo>
                    <a:pt x="341261" y="64287"/>
                  </a:moveTo>
                  <a:lnTo>
                    <a:pt x="336499" y="38709"/>
                  </a:lnTo>
                  <a:lnTo>
                    <a:pt x="324065" y="19596"/>
                  </a:lnTo>
                  <a:lnTo>
                    <a:pt x="324065" y="64287"/>
                  </a:lnTo>
                  <a:lnTo>
                    <a:pt x="320573" y="83591"/>
                  </a:lnTo>
                  <a:lnTo>
                    <a:pt x="310870" y="98894"/>
                  </a:lnTo>
                  <a:lnTo>
                    <a:pt x="296100" y="108966"/>
                  </a:lnTo>
                  <a:lnTo>
                    <a:pt x="277431" y="112598"/>
                  </a:lnTo>
                  <a:lnTo>
                    <a:pt x="258724" y="108966"/>
                  </a:lnTo>
                  <a:lnTo>
                    <a:pt x="243852" y="98894"/>
                  </a:lnTo>
                  <a:lnTo>
                    <a:pt x="234035" y="83591"/>
                  </a:lnTo>
                  <a:lnTo>
                    <a:pt x="230492" y="64287"/>
                  </a:lnTo>
                  <a:lnTo>
                    <a:pt x="234073" y="44996"/>
                  </a:lnTo>
                  <a:lnTo>
                    <a:pt x="243967" y="29692"/>
                  </a:lnTo>
                  <a:lnTo>
                    <a:pt x="258851" y="19608"/>
                  </a:lnTo>
                  <a:lnTo>
                    <a:pt x="277431" y="15976"/>
                  </a:lnTo>
                  <a:lnTo>
                    <a:pt x="295960" y="19608"/>
                  </a:lnTo>
                  <a:lnTo>
                    <a:pt x="310743" y="29692"/>
                  </a:lnTo>
                  <a:lnTo>
                    <a:pt x="320522" y="44996"/>
                  </a:lnTo>
                  <a:lnTo>
                    <a:pt x="324065" y="64287"/>
                  </a:lnTo>
                  <a:lnTo>
                    <a:pt x="324065" y="19596"/>
                  </a:lnTo>
                  <a:lnTo>
                    <a:pt x="323253" y="18338"/>
                  </a:lnTo>
                  <a:lnTo>
                    <a:pt x="319747" y="15976"/>
                  </a:lnTo>
                  <a:lnTo>
                    <a:pt x="303034" y="4864"/>
                  </a:lnTo>
                  <a:lnTo>
                    <a:pt x="277431" y="0"/>
                  </a:lnTo>
                  <a:lnTo>
                    <a:pt x="251815" y="4864"/>
                  </a:lnTo>
                  <a:lnTo>
                    <a:pt x="231495" y="18338"/>
                  </a:lnTo>
                  <a:lnTo>
                    <a:pt x="218109" y="38709"/>
                  </a:lnTo>
                  <a:lnTo>
                    <a:pt x="213283" y="64287"/>
                  </a:lnTo>
                  <a:lnTo>
                    <a:pt x="216966" y="83591"/>
                  </a:lnTo>
                  <a:lnTo>
                    <a:pt x="252069" y="123736"/>
                  </a:lnTo>
                  <a:lnTo>
                    <a:pt x="277431" y="128587"/>
                  </a:lnTo>
                  <a:lnTo>
                    <a:pt x="302869" y="123736"/>
                  </a:lnTo>
                  <a:lnTo>
                    <a:pt x="319633" y="112598"/>
                  </a:lnTo>
                  <a:lnTo>
                    <a:pt x="323088" y="110312"/>
                  </a:lnTo>
                  <a:lnTo>
                    <a:pt x="336435" y="89941"/>
                  </a:lnTo>
                  <a:lnTo>
                    <a:pt x="341261" y="64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48183" y="362153"/>
            <a:ext cx="10429875" cy="720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384" algn="l">
              <a:spcBef>
                <a:spcPts val="95"/>
              </a:spcBef>
            </a:pPr>
            <a:r>
              <a:rPr lang="ru-RU" sz="2400" dirty="0">
                <a:ea typeface="Segoe UI Symbol" panose="020B0502040204020203" pitchFamily="34" charset="0"/>
              </a:rPr>
              <a:t>Необходимые ресурсы</a:t>
            </a:r>
            <a:br>
              <a:rPr lang="ru-RU" sz="2400" dirty="0">
                <a:ea typeface="Segoe UI Symbol" panose="020B0502040204020203" pitchFamily="34" charset="0"/>
              </a:rPr>
            </a:br>
            <a:endParaRPr b="0" spc="-755" dirty="0">
              <a:latin typeface="Segoe UI Symbol"/>
              <a:cs typeface="Segoe UI Symbol"/>
            </a:endParaRPr>
          </a:p>
        </p:txBody>
      </p:sp>
      <p:sp>
        <p:nvSpPr>
          <p:cNvPr id="2" name="object 16">
            <a:extLst>
              <a:ext uri="{FF2B5EF4-FFF2-40B4-BE49-F238E27FC236}">
                <a16:creationId xmlns:a16="http://schemas.microsoft.com/office/drawing/2014/main" id="{728F5081-62B0-A052-F08C-2E22273AFC99}"/>
              </a:ext>
            </a:extLst>
          </p:cNvPr>
          <p:cNvSpPr txBox="1"/>
          <p:nvPr/>
        </p:nvSpPr>
        <p:spPr>
          <a:xfrm>
            <a:off x="348182" y="1322666"/>
            <a:ext cx="11615217" cy="409022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28448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Сильные и замотивированные продавцы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;</a:t>
            </a: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98450" marR="28448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98450" marR="28448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Экспертная техническая команда в том числе в домене ИИ и ИБ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;</a:t>
            </a: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98450" marR="28448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98450" marR="284480" indent="-285750"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R&amp;D (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новые платформенные сервисы)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;</a:t>
            </a: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98450" marR="28448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endParaRPr lang="en-US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98450" marR="28448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Бюджет на маркетинг и продвижение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;</a:t>
            </a: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98450" marR="28448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98450" marR="28448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Возможность использовать ресурсы других компаний из ГК для реализации совместных решений/</a:t>
            </a:r>
            <a:r>
              <a:rPr lang="ru-RU" sz="1500" b="1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бандлов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/ценностного предложения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;</a:t>
            </a: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98450" marR="28448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98450" marR="284480" indent="-285750"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Возможность включать решения в портфель (например </a:t>
            </a:r>
            <a:r>
              <a:rPr lang="en-US" sz="1500" b="1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TeamStorm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входит в холдинг 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Y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о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onion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, частью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которого уже владеет 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Softline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. 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Task tracker 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– понятное и востребованное решение с помощью которого можно  «заходить» во многих клиентов и далее 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up-sale’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ить другие продуты облака. Также 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SaaS 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версия может стать сильным </a:t>
            </a:r>
            <a:r>
              <a:rPr lang="ru-RU" sz="1500" b="1" dirty="0" err="1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дифферинциатором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)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.</a:t>
            </a:r>
            <a:endParaRPr lang="en" sz="1600" dirty="0"/>
          </a:p>
          <a:p>
            <a:pPr marL="298450" marR="284480" indent="-285750">
              <a:spcBef>
                <a:spcPts val="95"/>
              </a:spcBef>
              <a:buFont typeface="Arial" panose="020B0604020202020204" pitchFamily="34" charset="0"/>
              <a:buChar char="•"/>
            </a:pP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12700" marR="284480">
              <a:spcBef>
                <a:spcPts val="95"/>
              </a:spcBef>
            </a:pP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68456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9"/>
          <p:cNvGrpSpPr/>
          <p:nvPr/>
        </p:nvGrpSpPr>
        <p:grpSpPr>
          <a:xfrm>
            <a:off x="11367189" y="367147"/>
            <a:ext cx="441325" cy="457200"/>
            <a:chOff x="11367189" y="367147"/>
            <a:chExt cx="441325" cy="457200"/>
          </a:xfrm>
        </p:grpSpPr>
        <p:sp>
          <p:nvSpPr>
            <p:cNvPr id="10" name="object 10"/>
            <p:cNvSpPr/>
            <p:nvPr/>
          </p:nvSpPr>
          <p:spPr>
            <a:xfrm>
              <a:off x="11367186" y="610031"/>
              <a:ext cx="441325" cy="214629"/>
            </a:xfrm>
            <a:custGeom>
              <a:avLst/>
              <a:gdLst/>
              <a:ahLst/>
              <a:cxnLst/>
              <a:rect l="l" t="t" r="r" b="b"/>
              <a:pathLst>
                <a:path w="441325" h="214630">
                  <a:moveTo>
                    <a:pt x="213283" y="0"/>
                  </a:moveTo>
                  <a:lnTo>
                    <a:pt x="0" y="0"/>
                  </a:lnTo>
                  <a:lnTo>
                    <a:pt x="0" y="214312"/>
                  </a:lnTo>
                  <a:lnTo>
                    <a:pt x="213283" y="214325"/>
                  </a:lnTo>
                  <a:lnTo>
                    <a:pt x="213283" y="0"/>
                  </a:lnTo>
                  <a:close/>
                </a:path>
                <a:path w="441325" h="214630">
                  <a:moveTo>
                    <a:pt x="440791" y="0"/>
                  </a:moveTo>
                  <a:lnTo>
                    <a:pt x="227495" y="0"/>
                  </a:lnTo>
                  <a:lnTo>
                    <a:pt x="227495" y="214325"/>
                  </a:lnTo>
                  <a:lnTo>
                    <a:pt x="440791" y="214325"/>
                  </a:lnTo>
                  <a:lnTo>
                    <a:pt x="440791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367189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A40D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594693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424057" y="410019"/>
              <a:ext cx="341630" cy="371475"/>
            </a:xfrm>
            <a:custGeom>
              <a:avLst/>
              <a:gdLst/>
              <a:ahLst/>
              <a:cxnLst/>
              <a:rect l="l" t="t" r="r" b="b"/>
              <a:pathLst>
                <a:path w="341629" h="371475">
                  <a:moveTo>
                    <a:pt x="85318" y="242887"/>
                  </a:moveTo>
                  <a:lnTo>
                    <a:pt x="0" y="242887"/>
                  </a:lnTo>
                  <a:lnTo>
                    <a:pt x="0" y="371475"/>
                  </a:lnTo>
                  <a:lnTo>
                    <a:pt x="17284" y="371475"/>
                  </a:lnTo>
                  <a:lnTo>
                    <a:pt x="17284" y="319481"/>
                  </a:lnTo>
                  <a:lnTo>
                    <a:pt x="77914" y="319481"/>
                  </a:lnTo>
                  <a:lnTo>
                    <a:pt x="77914" y="303682"/>
                  </a:lnTo>
                  <a:lnTo>
                    <a:pt x="17284" y="303682"/>
                  </a:lnTo>
                  <a:lnTo>
                    <a:pt x="17284" y="258851"/>
                  </a:lnTo>
                  <a:lnTo>
                    <a:pt x="85318" y="258851"/>
                  </a:lnTo>
                  <a:lnTo>
                    <a:pt x="85318" y="242887"/>
                  </a:lnTo>
                  <a:close/>
                </a:path>
                <a:path w="341629" h="371475">
                  <a:moveTo>
                    <a:pt x="85318" y="92837"/>
                  </a:moveTo>
                  <a:lnTo>
                    <a:pt x="74828" y="68681"/>
                  </a:lnTo>
                  <a:lnTo>
                    <a:pt x="51752" y="58229"/>
                  </a:lnTo>
                  <a:lnTo>
                    <a:pt x="28676" y="50673"/>
                  </a:lnTo>
                  <a:lnTo>
                    <a:pt x="18199" y="35217"/>
                  </a:lnTo>
                  <a:lnTo>
                    <a:pt x="19748" y="27482"/>
                  </a:lnTo>
                  <a:lnTo>
                    <a:pt x="24587" y="21145"/>
                  </a:lnTo>
                  <a:lnTo>
                    <a:pt x="32956" y="16852"/>
                  </a:lnTo>
                  <a:lnTo>
                    <a:pt x="45110" y="15278"/>
                  </a:lnTo>
                  <a:lnTo>
                    <a:pt x="52641" y="15887"/>
                  </a:lnTo>
                  <a:lnTo>
                    <a:pt x="60363" y="17754"/>
                  </a:lnTo>
                  <a:lnTo>
                    <a:pt x="68059" y="20942"/>
                  </a:lnTo>
                  <a:lnTo>
                    <a:pt x="75514" y="25488"/>
                  </a:lnTo>
                  <a:lnTo>
                    <a:pt x="80746" y="11112"/>
                  </a:lnTo>
                  <a:lnTo>
                    <a:pt x="73126" y="6350"/>
                  </a:lnTo>
                  <a:lnTo>
                    <a:pt x="64338" y="2870"/>
                  </a:lnTo>
                  <a:lnTo>
                    <a:pt x="54851" y="723"/>
                  </a:lnTo>
                  <a:lnTo>
                    <a:pt x="45110" y="0"/>
                  </a:lnTo>
                  <a:lnTo>
                    <a:pt x="26187" y="2882"/>
                  </a:lnTo>
                  <a:lnTo>
                    <a:pt x="12979" y="10680"/>
                  </a:lnTo>
                  <a:lnTo>
                    <a:pt x="5219" y="22110"/>
                  </a:lnTo>
                  <a:lnTo>
                    <a:pt x="2692" y="35915"/>
                  </a:lnTo>
                  <a:lnTo>
                    <a:pt x="13182" y="60337"/>
                  </a:lnTo>
                  <a:lnTo>
                    <a:pt x="36245" y="70904"/>
                  </a:lnTo>
                  <a:lnTo>
                    <a:pt x="59321" y="78460"/>
                  </a:lnTo>
                  <a:lnTo>
                    <a:pt x="69811" y="93891"/>
                  </a:lnTo>
                  <a:lnTo>
                    <a:pt x="68224" y="101549"/>
                  </a:lnTo>
                  <a:lnTo>
                    <a:pt x="63296" y="107708"/>
                  </a:lnTo>
                  <a:lnTo>
                    <a:pt x="54775" y="111810"/>
                  </a:lnTo>
                  <a:lnTo>
                    <a:pt x="42418" y="113296"/>
                  </a:lnTo>
                  <a:lnTo>
                    <a:pt x="31864" y="112217"/>
                  </a:lnTo>
                  <a:lnTo>
                    <a:pt x="21894" y="109194"/>
                  </a:lnTo>
                  <a:lnTo>
                    <a:pt x="13042" y="104597"/>
                  </a:lnTo>
                  <a:lnTo>
                    <a:pt x="5842" y="98755"/>
                  </a:lnTo>
                  <a:lnTo>
                    <a:pt x="0" y="112763"/>
                  </a:lnTo>
                  <a:lnTo>
                    <a:pt x="7988" y="119176"/>
                  </a:lnTo>
                  <a:lnTo>
                    <a:pt x="18186" y="124180"/>
                  </a:lnTo>
                  <a:lnTo>
                    <a:pt x="29908" y="127431"/>
                  </a:lnTo>
                  <a:lnTo>
                    <a:pt x="42418" y="128587"/>
                  </a:lnTo>
                  <a:lnTo>
                    <a:pt x="61468" y="125691"/>
                  </a:lnTo>
                  <a:lnTo>
                    <a:pt x="74841" y="117906"/>
                  </a:lnTo>
                  <a:lnTo>
                    <a:pt x="82727" y="106514"/>
                  </a:lnTo>
                  <a:lnTo>
                    <a:pt x="85318" y="92837"/>
                  </a:lnTo>
                  <a:close/>
                </a:path>
                <a:path w="341629" h="371475">
                  <a:moveTo>
                    <a:pt x="327037" y="355511"/>
                  </a:moveTo>
                  <a:lnTo>
                    <a:pt x="259549" y="355511"/>
                  </a:lnTo>
                  <a:lnTo>
                    <a:pt x="259549" y="242938"/>
                  </a:lnTo>
                  <a:lnTo>
                    <a:pt x="241731" y="242938"/>
                  </a:lnTo>
                  <a:lnTo>
                    <a:pt x="241731" y="371475"/>
                  </a:lnTo>
                  <a:lnTo>
                    <a:pt x="327037" y="371475"/>
                  </a:lnTo>
                  <a:lnTo>
                    <a:pt x="327037" y="355511"/>
                  </a:lnTo>
                  <a:close/>
                </a:path>
                <a:path w="341629" h="371475">
                  <a:moveTo>
                    <a:pt x="341261" y="64287"/>
                  </a:moveTo>
                  <a:lnTo>
                    <a:pt x="336499" y="38709"/>
                  </a:lnTo>
                  <a:lnTo>
                    <a:pt x="324065" y="19596"/>
                  </a:lnTo>
                  <a:lnTo>
                    <a:pt x="324065" y="64287"/>
                  </a:lnTo>
                  <a:lnTo>
                    <a:pt x="320573" y="83591"/>
                  </a:lnTo>
                  <a:lnTo>
                    <a:pt x="310870" y="98894"/>
                  </a:lnTo>
                  <a:lnTo>
                    <a:pt x="296100" y="108966"/>
                  </a:lnTo>
                  <a:lnTo>
                    <a:pt x="277431" y="112598"/>
                  </a:lnTo>
                  <a:lnTo>
                    <a:pt x="258724" y="108966"/>
                  </a:lnTo>
                  <a:lnTo>
                    <a:pt x="243852" y="98894"/>
                  </a:lnTo>
                  <a:lnTo>
                    <a:pt x="234035" y="83591"/>
                  </a:lnTo>
                  <a:lnTo>
                    <a:pt x="230492" y="64287"/>
                  </a:lnTo>
                  <a:lnTo>
                    <a:pt x="234073" y="44996"/>
                  </a:lnTo>
                  <a:lnTo>
                    <a:pt x="243967" y="29692"/>
                  </a:lnTo>
                  <a:lnTo>
                    <a:pt x="258851" y="19608"/>
                  </a:lnTo>
                  <a:lnTo>
                    <a:pt x="277431" y="15976"/>
                  </a:lnTo>
                  <a:lnTo>
                    <a:pt x="295960" y="19608"/>
                  </a:lnTo>
                  <a:lnTo>
                    <a:pt x="310743" y="29692"/>
                  </a:lnTo>
                  <a:lnTo>
                    <a:pt x="320522" y="44996"/>
                  </a:lnTo>
                  <a:lnTo>
                    <a:pt x="324065" y="64287"/>
                  </a:lnTo>
                  <a:lnTo>
                    <a:pt x="324065" y="19596"/>
                  </a:lnTo>
                  <a:lnTo>
                    <a:pt x="323253" y="18338"/>
                  </a:lnTo>
                  <a:lnTo>
                    <a:pt x="319747" y="15976"/>
                  </a:lnTo>
                  <a:lnTo>
                    <a:pt x="303034" y="4864"/>
                  </a:lnTo>
                  <a:lnTo>
                    <a:pt x="277431" y="0"/>
                  </a:lnTo>
                  <a:lnTo>
                    <a:pt x="251815" y="4864"/>
                  </a:lnTo>
                  <a:lnTo>
                    <a:pt x="231495" y="18338"/>
                  </a:lnTo>
                  <a:lnTo>
                    <a:pt x="218109" y="38709"/>
                  </a:lnTo>
                  <a:lnTo>
                    <a:pt x="213283" y="64287"/>
                  </a:lnTo>
                  <a:lnTo>
                    <a:pt x="216966" y="83591"/>
                  </a:lnTo>
                  <a:lnTo>
                    <a:pt x="252069" y="123736"/>
                  </a:lnTo>
                  <a:lnTo>
                    <a:pt x="277431" y="128587"/>
                  </a:lnTo>
                  <a:lnTo>
                    <a:pt x="302869" y="123736"/>
                  </a:lnTo>
                  <a:lnTo>
                    <a:pt x="319633" y="112598"/>
                  </a:lnTo>
                  <a:lnTo>
                    <a:pt x="323088" y="110312"/>
                  </a:lnTo>
                  <a:lnTo>
                    <a:pt x="336435" y="89941"/>
                  </a:lnTo>
                  <a:lnTo>
                    <a:pt x="341261" y="64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48183" y="362153"/>
            <a:ext cx="1042987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384" algn="l">
              <a:spcBef>
                <a:spcPts val="95"/>
              </a:spcBef>
            </a:pPr>
            <a:r>
              <a:rPr lang="ru-RU" sz="2400" dirty="0">
                <a:ea typeface="Segoe UI Symbol" panose="020B0502040204020203" pitchFamily="34" charset="0"/>
              </a:rPr>
              <a:t>Управление рисками</a:t>
            </a:r>
            <a:endParaRPr b="0" spc="-755" dirty="0">
              <a:latin typeface="Segoe UI Symbol"/>
              <a:cs typeface="Segoe UI Symbol"/>
            </a:endParaRPr>
          </a:p>
        </p:txBody>
      </p:sp>
      <p:graphicFrame>
        <p:nvGraphicFramePr>
          <p:cNvPr id="3" name="Таблица 36">
            <a:extLst>
              <a:ext uri="{FF2B5EF4-FFF2-40B4-BE49-F238E27FC236}">
                <a16:creationId xmlns:a16="http://schemas.microsoft.com/office/drawing/2014/main" id="{3A31C78B-8E8D-8718-CDD7-7279BFE2F5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360162"/>
              </p:ext>
            </p:extLst>
          </p:nvPr>
        </p:nvGraphicFramePr>
        <p:xfrm>
          <a:off x="259487" y="1143000"/>
          <a:ext cx="115062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200">
                  <a:extLst>
                    <a:ext uri="{9D8B030D-6E8A-4147-A177-3AD203B41FA5}">
                      <a16:colId xmlns:a16="http://schemas.microsoft.com/office/drawing/2014/main" val="2599521132"/>
                    </a:ext>
                  </a:extLst>
                </a:gridCol>
                <a:gridCol w="2178913">
                  <a:extLst>
                    <a:ext uri="{9D8B030D-6E8A-4147-A177-3AD203B41FA5}">
                      <a16:colId xmlns:a16="http://schemas.microsoft.com/office/drawing/2014/main" val="4252568920"/>
                    </a:ext>
                  </a:extLst>
                </a:gridCol>
                <a:gridCol w="6203087">
                  <a:extLst>
                    <a:ext uri="{9D8B030D-6E8A-4147-A177-3AD203B41FA5}">
                      <a16:colId xmlns:a16="http://schemas.microsoft.com/office/drawing/2014/main" val="4155395826"/>
                    </a:ext>
                  </a:extLst>
                </a:gridCol>
              </a:tblGrid>
              <a:tr h="34672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Риск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Влияние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Меры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539649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 err="1">
                          <a:effectLst/>
                          <a:latin typeface="quote-cjk-patch"/>
                        </a:rPr>
                        <a:t>Тех.отставание</a:t>
                      </a:r>
                      <a:endParaRPr lang="ru-RU" b="1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Высокое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Усилить </a:t>
                      </a:r>
                      <a:r>
                        <a:rPr lang="en" dirty="0"/>
                        <a:t>R&amp;D </a:t>
                      </a:r>
                      <a:r>
                        <a:rPr lang="ru-RU" dirty="0"/>
                        <a:t>через партнёрства (</a:t>
                      </a:r>
                      <a:r>
                        <a:rPr lang="en" dirty="0" err="1"/>
                        <a:t>Develonika</a:t>
                      </a:r>
                      <a:r>
                        <a:rPr lang="en" dirty="0"/>
                        <a:t>, </a:t>
                      </a:r>
                      <a:r>
                        <a:rPr lang="en" dirty="0" err="1"/>
                        <a:t>TestIT</a:t>
                      </a:r>
                      <a:r>
                        <a:rPr lang="ru-RU" dirty="0"/>
                        <a:t>, </a:t>
                      </a:r>
                      <a:r>
                        <a:rPr lang="en-US" dirty="0" err="1"/>
                        <a:t>etc</a:t>
                      </a:r>
                      <a:r>
                        <a:rPr lang="en-US" dirty="0"/>
                        <a:t>)</a:t>
                      </a:r>
                      <a:endParaRPr lang="en" dirty="0"/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619399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  <a:latin typeface="quote-cjk-patch"/>
                        </a:rPr>
                        <a:t>Усиление агрессивных игроков (</a:t>
                      </a:r>
                      <a:r>
                        <a:rPr lang="en" b="1" dirty="0">
                          <a:effectLst/>
                          <a:latin typeface="quote-cjk-patch"/>
                        </a:rPr>
                        <a:t>K2, </a:t>
                      </a:r>
                      <a:r>
                        <a:rPr lang="ru-RU" b="1" dirty="0" err="1">
                          <a:effectLst/>
                          <a:latin typeface="quote-cjk-patch"/>
                        </a:rPr>
                        <a:t>Онланта</a:t>
                      </a:r>
                      <a:r>
                        <a:rPr lang="ru-RU" b="1" dirty="0">
                          <a:effectLst/>
                          <a:latin typeface="quote-cjk-patch"/>
                        </a:rPr>
                        <a:t>, </a:t>
                      </a:r>
                      <a:r>
                        <a:rPr lang="en" b="1" dirty="0">
                          <a:effectLst/>
                          <a:latin typeface="quote-cjk-patch"/>
                        </a:rPr>
                        <a:t>ITG) </a:t>
                      </a:r>
                      <a:r>
                        <a:rPr lang="ru-RU" b="1" dirty="0">
                          <a:effectLst/>
                          <a:latin typeface="quote-cjk-patch"/>
                        </a:rPr>
                        <a:t>с готовыми отраслевыми решениями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Высокое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Дифференциация через </a:t>
                      </a:r>
                      <a:r>
                        <a:rPr lang="en" dirty="0"/>
                        <a:t>FinOps / </a:t>
                      </a:r>
                      <a:r>
                        <a:rPr lang="en" dirty="0" err="1"/>
                        <a:t>CloudMaster</a:t>
                      </a:r>
                      <a:r>
                        <a:rPr lang="en" dirty="0"/>
                        <a:t>- </a:t>
                      </a:r>
                      <a:r>
                        <a:rPr lang="ru-RU" dirty="0"/>
                        <a:t>Акцент на сервисную составляющую (“</a:t>
                      </a:r>
                      <a:r>
                        <a:rPr lang="en" dirty="0"/>
                        <a:t>trusted advisor”)- </a:t>
                      </a:r>
                      <a:r>
                        <a:rPr lang="ru-RU" dirty="0"/>
                        <a:t>Сотрудничество с интеграторами для расширения </a:t>
                      </a:r>
                      <a:r>
                        <a:rPr lang="ru-RU" dirty="0" err="1"/>
                        <a:t>вендорской</a:t>
                      </a:r>
                      <a:r>
                        <a:rPr lang="ru-RU" dirty="0"/>
                        <a:t> экосистемы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10838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Регуляторное давление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Высокое/Среднее</a:t>
                      </a:r>
                      <a:endParaRPr lang="en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 err="1">
                          <a:effectLst/>
                          <a:latin typeface="quote-cjk-patch"/>
                        </a:rPr>
                        <a:t>Проактивное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 получение аттестатов ФСТЭК/ФСБ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89863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  <a:latin typeface="quote-cjk-patch"/>
                        </a:rPr>
                        <a:t>Недостаток маркетинга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dk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Среднее</a:t>
                      </a:r>
                      <a:endParaRPr lang="en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Фокус на </a:t>
                      </a:r>
                      <a:r>
                        <a:rPr lang="en" dirty="0"/>
                        <a:t>digital-</a:t>
                      </a:r>
                      <a:r>
                        <a:rPr lang="ru-RU" dirty="0"/>
                        <a:t>каналах и контент-маркетинге- Пул кросс-промо с другими компаниями ГК </a:t>
                      </a:r>
                      <a:r>
                        <a:rPr lang="en" dirty="0"/>
                        <a:t>Softline- </a:t>
                      </a:r>
                      <a:r>
                        <a:rPr lang="ru-RU" dirty="0"/>
                        <a:t>Поэтапное перераспределение бюджета с </a:t>
                      </a:r>
                      <a:r>
                        <a:rPr lang="en" dirty="0"/>
                        <a:t>IaaS </a:t>
                      </a:r>
                      <a:r>
                        <a:rPr lang="ru-RU" dirty="0"/>
                        <a:t>в маркетинг </a:t>
                      </a:r>
                      <a:r>
                        <a:rPr lang="en" dirty="0"/>
                        <a:t>PaaS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466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Конкуренция между бизнес-направлениями </a:t>
                      </a:r>
                      <a:r>
                        <a:rPr lang="en-US" b="1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Softline</a:t>
                      </a:r>
                      <a:endParaRPr lang="ru-RU" b="1" i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Средняя</a:t>
                      </a:r>
                      <a:endParaRPr lang="en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Регулярные стратегические сессии с ГК. Совместные </a:t>
                      </a:r>
                      <a:r>
                        <a:rPr lang="en" dirty="0"/>
                        <a:t>KPI </a:t>
                      </a:r>
                      <a:r>
                        <a:rPr lang="ru-RU" dirty="0"/>
                        <a:t>по выручке и кросс-продажам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643611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3537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4631" y="367030"/>
            <a:ext cx="12192000" cy="6490970"/>
            <a:chOff x="0" y="367147"/>
            <a:chExt cx="12192000" cy="64909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87095"/>
              <a:ext cx="12191999" cy="64709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367186" y="610031"/>
              <a:ext cx="441325" cy="214629"/>
            </a:xfrm>
            <a:custGeom>
              <a:avLst/>
              <a:gdLst/>
              <a:ahLst/>
              <a:cxnLst/>
              <a:rect l="l" t="t" r="r" b="b"/>
              <a:pathLst>
                <a:path w="441325" h="214630">
                  <a:moveTo>
                    <a:pt x="213283" y="0"/>
                  </a:moveTo>
                  <a:lnTo>
                    <a:pt x="0" y="0"/>
                  </a:lnTo>
                  <a:lnTo>
                    <a:pt x="0" y="214312"/>
                  </a:lnTo>
                  <a:lnTo>
                    <a:pt x="213283" y="214325"/>
                  </a:lnTo>
                  <a:lnTo>
                    <a:pt x="213283" y="0"/>
                  </a:lnTo>
                  <a:close/>
                </a:path>
                <a:path w="441325" h="214630">
                  <a:moveTo>
                    <a:pt x="440791" y="0"/>
                  </a:moveTo>
                  <a:lnTo>
                    <a:pt x="227495" y="0"/>
                  </a:lnTo>
                  <a:lnTo>
                    <a:pt x="227495" y="214325"/>
                  </a:lnTo>
                  <a:lnTo>
                    <a:pt x="440791" y="214325"/>
                  </a:lnTo>
                  <a:lnTo>
                    <a:pt x="440791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367188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A40D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594693" y="367147"/>
              <a:ext cx="213360" cy="214629"/>
            </a:xfrm>
            <a:custGeom>
              <a:avLst/>
              <a:gdLst/>
              <a:ahLst/>
              <a:cxnLst/>
              <a:rect l="l" t="t" r="r" b="b"/>
              <a:pathLst>
                <a:path w="213359" h="214629">
                  <a:moveTo>
                    <a:pt x="213287" y="0"/>
                  </a:moveTo>
                  <a:lnTo>
                    <a:pt x="0" y="0"/>
                  </a:lnTo>
                  <a:lnTo>
                    <a:pt x="0" y="214313"/>
                  </a:lnTo>
                  <a:lnTo>
                    <a:pt x="213287" y="214313"/>
                  </a:lnTo>
                  <a:lnTo>
                    <a:pt x="213287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24057" y="410019"/>
              <a:ext cx="341630" cy="371475"/>
            </a:xfrm>
            <a:custGeom>
              <a:avLst/>
              <a:gdLst/>
              <a:ahLst/>
              <a:cxnLst/>
              <a:rect l="l" t="t" r="r" b="b"/>
              <a:pathLst>
                <a:path w="341629" h="371475">
                  <a:moveTo>
                    <a:pt x="85318" y="242887"/>
                  </a:moveTo>
                  <a:lnTo>
                    <a:pt x="0" y="242887"/>
                  </a:lnTo>
                  <a:lnTo>
                    <a:pt x="0" y="371475"/>
                  </a:lnTo>
                  <a:lnTo>
                    <a:pt x="17284" y="371475"/>
                  </a:lnTo>
                  <a:lnTo>
                    <a:pt x="17284" y="319481"/>
                  </a:lnTo>
                  <a:lnTo>
                    <a:pt x="77914" y="319481"/>
                  </a:lnTo>
                  <a:lnTo>
                    <a:pt x="77914" y="303682"/>
                  </a:lnTo>
                  <a:lnTo>
                    <a:pt x="17284" y="303682"/>
                  </a:lnTo>
                  <a:lnTo>
                    <a:pt x="17284" y="258851"/>
                  </a:lnTo>
                  <a:lnTo>
                    <a:pt x="85318" y="258851"/>
                  </a:lnTo>
                  <a:lnTo>
                    <a:pt x="85318" y="242887"/>
                  </a:lnTo>
                  <a:close/>
                </a:path>
                <a:path w="341629" h="371475">
                  <a:moveTo>
                    <a:pt x="85318" y="92837"/>
                  </a:moveTo>
                  <a:lnTo>
                    <a:pt x="74828" y="68681"/>
                  </a:lnTo>
                  <a:lnTo>
                    <a:pt x="51752" y="58229"/>
                  </a:lnTo>
                  <a:lnTo>
                    <a:pt x="28676" y="50673"/>
                  </a:lnTo>
                  <a:lnTo>
                    <a:pt x="18199" y="35217"/>
                  </a:lnTo>
                  <a:lnTo>
                    <a:pt x="19748" y="27482"/>
                  </a:lnTo>
                  <a:lnTo>
                    <a:pt x="24587" y="21145"/>
                  </a:lnTo>
                  <a:lnTo>
                    <a:pt x="32956" y="16852"/>
                  </a:lnTo>
                  <a:lnTo>
                    <a:pt x="45110" y="15278"/>
                  </a:lnTo>
                  <a:lnTo>
                    <a:pt x="52641" y="15887"/>
                  </a:lnTo>
                  <a:lnTo>
                    <a:pt x="60363" y="17754"/>
                  </a:lnTo>
                  <a:lnTo>
                    <a:pt x="68059" y="20942"/>
                  </a:lnTo>
                  <a:lnTo>
                    <a:pt x="75514" y="25488"/>
                  </a:lnTo>
                  <a:lnTo>
                    <a:pt x="80746" y="11112"/>
                  </a:lnTo>
                  <a:lnTo>
                    <a:pt x="73126" y="6350"/>
                  </a:lnTo>
                  <a:lnTo>
                    <a:pt x="64338" y="2870"/>
                  </a:lnTo>
                  <a:lnTo>
                    <a:pt x="54851" y="723"/>
                  </a:lnTo>
                  <a:lnTo>
                    <a:pt x="45110" y="0"/>
                  </a:lnTo>
                  <a:lnTo>
                    <a:pt x="26187" y="2882"/>
                  </a:lnTo>
                  <a:lnTo>
                    <a:pt x="12979" y="10680"/>
                  </a:lnTo>
                  <a:lnTo>
                    <a:pt x="5219" y="22110"/>
                  </a:lnTo>
                  <a:lnTo>
                    <a:pt x="2692" y="35915"/>
                  </a:lnTo>
                  <a:lnTo>
                    <a:pt x="13182" y="60337"/>
                  </a:lnTo>
                  <a:lnTo>
                    <a:pt x="36245" y="70904"/>
                  </a:lnTo>
                  <a:lnTo>
                    <a:pt x="59321" y="78460"/>
                  </a:lnTo>
                  <a:lnTo>
                    <a:pt x="69811" y="93891"/>
                  </a:lnTo>
                  <a:lnTo>
                    <a:pt x="68224" y="101549"/>
                  </a:lnTo>
                  <a:lnTo>
                    <a:pt x="63296" y="107708"/>
                  </a:lnTo>
                  <a:lnTo>
                    <a:pt x="54775" y="111810"/>
                  </a:lnTo>
                  <a:lnTo>
                    <a:pt x="42418" y="113296"/>
                  </a:lnTo>
                  <a:lnTo>
                    <a:pt x="31864" y="112217"/>
                  </a:lnTo>
                  <a:lnTo>
                    <a:pt x="21894" y="109194"/>
                  </a:lnTo>
                  <a:lnTo>
                    <a:pt x="13042" y="104597"/>
                  </a:lnTo>
                  <a:lnTo>
                    <a:pt x="5842" y="98755"/>
                  </a:lnTo>
                  <a:lnTo>
                    <a:pt x="0" y="112763"/>
                  </a:lnTo>
                  <a:lnTo>
                    <a:pt x="7988" y="119176"/>
                  </a:lnTo>
                  <a:lnTo>
                    <a:pt x="18186" y="124180"/>
                  </a:lnTo>
                  <a:lnTo>
                    <a:pt x="29908" y="127431"/>
                  </a:lnTo>
                  <a:lnTo>
                    <a:pt x="42418" y="128587"/>
                  </a:lnTo>
                  <a:lnTo>
                    <a:pt x="61468" y="125691"/>
                  </a:lnTo>
                  <a:lnTo>
                    <a:pt x="74841" y="117906"/>
                  </a:lnTo>
                  <a:lnTo>
                    <a:pt x="82727" y="106514"/>
                  </a:lnTo>
                  <a:lnTo>
                    <a:pt x="85318" y="92837"/>
                  </a:lnTo>
                  <a:close/>
                </a:path>
                <a:path w="341629" h="371475">
                  <a:moveTo>
                    <a:pt x="327037" y="355511"/>
                  </a:moveTo>
                  <a:lnTo>
                    <a:pt x="259549" y="355511"/>
                  </a:lnTo>
                  <a:lnTo>
                    <a:pt x="259549" y="242938"/>
                  </a:lnTo>
                  <a:lnTo>
                    <a:pt x="241731" y="242938"/>
                  </a:lnTo>
                  <a:lnTo>
                    <a:pt x="241731" y="371475"/>
                  </a:lnTo>
                  <a:lnTo>
                    <a:pt x="327037" y="371475"/>
                  </a:lnTo>
                  <a:lnTo>
                    <a:pt x="327037" y="355511"/>
                  </a:lnTo>
                  <a:close/>
                </a:path>
                <a:path w="341629" h="371475">
                  <a:moveTo>
                    <a:pt x="341261" y="64287"/>
                  </a:moveTo>
                  <a:lnTo>
                    <a:pt x="336499" y="38709"/>
                  </a:lnTo>
                  <a:lnTo>
                    <a:pt x="324065" y="19596"/>
                  </a:lnTo>
                  <a:lnTo>
                    <a:pt x="324065" y="64287"/>
                  </a:lnTo>
                  <a:lnTo>
                    <a:pt x="320573" y="83591"/>
                  </a:lnTo>
                  <a:lnTo>
                    <a:pt x="310870" y="98894"/>
                  </a:lnTo>
                  <a:lnTo>
                    <a:pt x="296100" y="108966"/>
                  </a:lnTo>
                  <a:lnTo>
                    <a:pt x="277431" y="112598"/>
                  </a:lnTo>
                  <a:lnTo>
                    <a:pt x="258724" y="108966"/>
                  </a:lnTo>
                  <a:lnTo>
                    <a:pt x="243852" y="98894"/>
                  </a:lnTo>
                  <a:lnTo>
                    <a:pt x="234035" y="83591"/>
                  </a:lnTo>
                  <a:lnTo>
                    <a:pt x="230492" y="64287"/>
                  </a:lnTo>
                  <a:lnTo>
                    <a:pt x="234073" y="44996"/>
                  </a:lnTo>
                  <a:lnTo>
                    <a:pt x="243967" y="29692"/>
                  </a:lnTo>
                  <a:lnTo>
                    <a:pt x="258851" y="19608"/>
                  </a:lnTo>
                  <a:lnTo>
                    <a:pt x="277431" y="15976"/>
                  </a:lnTo>
                  <a:lnTo>
                    <a:pt x="295960" y="19608"/>
                  </a:lnTo>
                  <a:lnTo>
                    <a:pt x="310743" y="29692"/>
                  </a:lnTo>
                  <a:lnTo>
                    <a:pt x="320522" y="44996"/>
                  </a:lnTo>
                  <a:lnTo>
                    <a:pt x="324065" y="64287"/>
                  </a:lnTo>
                  <a:lnTo>
                    <a:pt x="324065" y="19596"/>
                  </a:lnTo>
                  <a:lnTo>
                    <a:pt x="323253" y="18338"/>
                  </a:lnTo>
                  <a:lnTo>
                    <a:pt x="319747" y="15976"/>
                  </a:lnTo>
                  <a:lnTo>
                    <a:pt x="303034" y="4864"/>
                  </a:lnTo>
                  <a:lnTo>
                    <a:pt x="277431" y="0"/>
                  </a:lnTo>
                  <a:lnTo>
                    <a:pt x="251815" y="4864"/>
                  </a:lnTo>
                  <a:lnTo>
                    <a:pt x="231495" y="18338"/>
                  </a:lnTo>
                  <a:lnTo>
                    <a:pt x="218109" y="38709"/>
                  </a:lnTo>
                  <a:lnTo>
                    <a:pt x="213283" y="64287"/>
                  </a:lnTo>
                  <a:lnTo>
                    <a:pt x="216966" y="83591"/>
                  </a:lnTo>
                  <a:lnTo>
                    <a:pt x="252069" y="123736"/>
                  </a:lnTo>
                  <a:lnTo>
                    <a:pt x="277431" y="128587"/>
                  </a:lnTo>
                  <a:lnTo>
                    <a:pt x="302869" y="123736"/>
                  </a:lnTo>
                  <a:lnTo>
                    <a:pt x="319633" y="112598"/>
                  </a:lnTo>
                  <a:lnTo>
                    <a:pt x="323088" y="110312"/>
                  </a:lnTo>
                  <a:lnTo>
                    <a:pt x="336435" y="89941"/>
                  </a:lnTo>
                  <a:lnTo>
                    <a:pt x="341261" y="64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55803" y="362153"/>
            <a:ext cx="515302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400" b="1" dirty="0">
                <a:solidFill>
                  <a:srgbClr val="434754"/>
                </a:solidFill>
                <a:latin typeface="Segoe UI"/>
                <a:ea typeface="Segoe UI Symbol" panose="020B0502040204020203" pitchFamily="34" charset="0"/>
                <a:cs typeface="Segoe UI"/>
              </a:rPr>
              <a:t>Заключение</a:t>
            </a:r>
            <a:endParaRPr sz="2400" b="1" dirty="0">
              <a:solidFill>
                <a:srgbClr val="434754"/>
              </a:solidFill>
              <a:latin typeface="Segoe UI"/>
              <a:ea typeface="Segoe UI Symbol" panose="020B0502040204020203" pitchFamily="34" charset="0"/>
              <a:cs typeface="Segoe UI"/>
            </a:endParaRPr>
          </a:p>
        </p:txBody>
      </p:sp>
      <p:sp>
        <p:nvSpPr>
          <p:cNvPr id="9" name="object 16">
            <a:extLst>
              <a:ext uri="{FF2B5EF4-FFF2-40B4-BE49-F238E27FC236}">
                <a16:creationId xmlns:a16="http://schemas.microsoft.com/office/drawing/2014/main" id="{C2C992C8-D98E-79D8-2596-381750E5E66D}"/>
              </a:ext>
            </a:extLst>
          </p:cNvPr>
          <p:cNvSpPr txBox="1"/>
          <p:nvPr/>
        </p:nvSpPr>
        <p:spPr>
          <a:xfrm>
            <a:off x="348183" y="1322666"/>
            <a:ext cx="11075874" cy="34874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Softline Cloud 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в 2026–2028 гг.:</a:t>
            </a:r>
          </a:p>
          <a:p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Эволюция от инфраструктурного игрока к стратегическому партнёру бизнеса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;</a:t>
            </a: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Фокус на высокий уровень сервиса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 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и кастомизации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;</a:t>
            </a: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Рост через </a:t>
            </a:r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PaaS, FinOps </a:t>
            </a: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и отраслевые решения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;</a:t>
            </a: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Мы объединяем технологии и экспертизу группы </a:t>
            </a:r>
            <a:r>
              <a:rPr lang="en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Softline;</a:t>
            </a: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Отраслевые решения и вертикальная экспертиза</a:t>
            </a:r>
            <a:r>
              <a:rPr lang="en-US" sz="1500" b="1" dirty="0">
                <a:solidFill>
                  <a:srgbClr val="434754"/>
                </a:solidFill>
                <a:latin typeface="Segoe UI"/>
                <a:ea typeface="+mn-ea"/>
                <a:cs typeface="Segoe UI"/>
              </a:rPr>
              <a:t>.</a:t>
            </a: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endParaRPr lang="ru-RU" sz="1500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endParaRPr lang="ru-RU" sz="1500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endParaRPr lang="ru-RU" sz="1500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  <a:p>
            <a:pPr marL="12700" marR="284480">
              <a:lnSpc>
                <a:spcPct val="100000"/>
              </a:lnSpc>
              <a:spcBef>
                <a:spcPts val="95"/>
              </a:spcBef>
            </a:pPr>
            <a:endParaRPr lang="ru-RU" sz="1500" b="1" dirty="0">
              <a:solidFill>
                <a:srgbClr val="434754"/>
              </a:solidFill>
              <a:latin typeface="Segoe UI"/>
              <a:ea typeface="+mn-e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139979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70469" y="5441507"/>
              <a:ext cx="1203960" cy="219710"/>
            </a:xfrm>
            <a:custGeom>
              <a:avLst/>
              <a:gdLst/>
              <a:ahLst/>
              <a:cxnLst/>
              <a:rect l="l" t="t" r="r" b="b"/>
              <a:pathLst>
                <a:path w="1203959" h="219710">
                  <a:moveTo>
                    <a:pt x="62484" y="168909"/>
                  </a:moveTo>
                  <a:lnTo>
                    <a:pt x="0" y="173989"/>
                  </a:lnTo>
                  <a:lnTo>
                    <a:pt x="3571" y="184149"/>
                  </a:lnTo>
                  <a:lnTo>
                    <a:pt x="8833" y="193039"/>
                  </a:lnTo>
                  <a:lnTo>
                    <a:pt x="50022" y="217169"/>
                  </a:lnTo>
                  <a:lnTo>
                    <a:pt x="103521" y="219709"/>
                  </a:lnTo>
                  <a:lnTo>
                    <a:pt x="116924" y="218439"/>
                  </a:lnTo>
                  <a:lnTo>
                    <a:pt x="128655" y="215899"/>
                  </a:lnTo>
                  <a:lnTo>
                    <a:pt x="138711" y="213359"/>
                  </a:lnTo>
                  <a:lnTo>
                    <a:pt x="147310" y="208279"/>
                  </a:lnTo>
                  <a:lnTo>
                    <a:pt x="154674" y="204469"/>
                  </a:lnTo>
                  <a:lnTo>
                    <a:pt x="165710" y="193039"/>
                  </a:lnTo>
                  <a:lnTo>
                    <a:pt x="168713" y="187959"/>
                  </a:lnTo>
                  <a:lnTo>
                    <a:pt x="84108" y="187959"/>
                  </a:lnTo>
                  <a:lnTo>
                    <a:pt x="77926" y="186689"/>
                  </a:lnTo>
                  <a:lnTo>
                    <a:pt x="73299" y="184149"/>
                  </a:lnTo>
                  <a:lnTo>
                    <a:pt x="68650" y="180339"/>
                  </a:lnTo>
                  <a:lnTo>
                    <a:pt x="65054" y="175259"/>
                  </a:lnTo>
                  <a:lnTo>
                    <a:pt x="62484" y="168909"/>
                  </a:lnTo>
                  <a:close/>
                </a:path>
                <a:path w="1203959" h="219710">
                  <a:moveTo>
                    <a:pt x="274653" y="58419"/>
                  </a:moveTo>
                  <a:lnTo>
                    <a:pt x="235956" y="64769"/>
                  </a:lnTo>
                  <a:lnTo>
                    <a:pt x="195084" y="93979"/>
                  </a:lnTo>
                  <a:lnTo>
                    <a:pt x="181049" y="137159"/>
                  </a:lnTo>
                  <a:lnTo>
                    <a:pt x="181055" y="142239"/>
                  </a:lnTo>
                  <a:lnTo>
                    <a:pt x="182055" y="152399"/>
                  </a:lnTo>
                  <a:lnTo>
                    <a:pt x="182180" y="153669"/>
                  </a:lnTo>
                  <a:lnTo>
                    <a:pt x="182305" y="154939"/>
                  </a:lnTo>
                  <a:lnTo>
                    <a:pt x="182430" y="156209"/>
                  </a:lnTo>
                  <a:lnTo>
                    <a:pt x="182555" y="157479"/>
                  </a:lnTo>
                  <a:lnTo>
                    <a:pt x="210794" y="201929"/>
                  </a:lnTo>
                  <a:lnTo>
                    <a:pt x="255957" y="219709"/>
                  </a:lnTo>
                  <a:lnTo>
                    <a:pt x="274817" y="219709"/>
                  </a:lnTo>
                  <a:lnTo>
                    <a:pt x="295785" y="218439"/>
                  </a:lnTo>
                  <a:lnTo>
                    <a:pt x="344294" y="198119"/>
                  </a:lnTo>
                  <a:lnTo>
                    <a:pt x="358144" y="180339"/>
                  </a:lnTo>
                  <a:lnTo>
                    <a:pt x="266108" y="180339"/>
                  </a:lnTo>
                  <a:lnTo>
                    <a:pt x="258732" y="176529"/>
                  </a:lnTo>
                  <a:lnTo>
                    <a:pt x="244018" y="142239"/>
                  </a:lnTo>
                  <a:lnTo>
                    <a:pt x="244020" y="137159"/>
                  </a:lnTo>
                  <a:lnTo>
                    <a:pt x="258832" y="101599"/>
                  </a:lnTo>
                  <a:lnTo>
                    <a:pt x="266450" y="99059"/>
                  </a:lnTo>
                  <a:lnTo>
                    <a:pt x="358680" y="99059"/>
                  </a:lnTo>
                  <a:lnTo>
                    <a:pt x="358047" y="97789"/>
                  </a:lnTo>
                  <a:lnTo>
                    <a:pt x="349206" y="86359"/>
                  </a:lnTo>
                  <a:lnTo>
                    <a:pt x="335086" y="73659"/>
                  </a:lnTo>
                  <a:lnTo>
                    <a:pt x="317953" y="66039"/>
                  </a:lnTo>
                  <a:lnTo>
                    <a:pt x="297808" y="60959"/>
                  </a:lnTo>
                  <a:lnTo>
                    <a:pt x="274653" y="58419"/>
                  </a:lnTo>
                  <a:close/>
                </a:path>
                <a:path w="1203959" h="219710">
                  <a:moveTo>
                    <a:pt x="503823" y="113030"/>
                  </a:moveTo>
                  <a:lnTo>
                    <a:pt x="503860" y="161290"/>
                  </a:lnTo>
                  <a:lnTo>
                    <a:pt x="512710" y="204470"/>
                  </a:lnTo>
                  <a:lnTo>
                    <a:pt x="549241" y="219710"/>
                  </a:lnTo>
                  <a:lnTo>
                    <a:pt x="570511" y="219710"/>
                  </a:lnTo>
                  <a:lnTo>
                    <a:pt x="592287" y="217170"/>
                  </a:lnTo>
                  <a:lnTo>
                    <a:pt x="603748" y="214630"/>
                  </a:lnTo>
                  <a:lnTo>
                    <a:pt x="599596" y="177800"/>
                  </a:lnTo>
                  <a:lnTo>
                    <a:pt x="574579" y="177800"/>
                  </a:lnTo>
                  <a:lnTo>
                    <a:pt x="570947" y="176530"/>
                  </a:lnTo>
                  <a:lnTo>
                    <a:pt x="567577" y="171450"/>
                  </a:lnTo>
                  <a:lnTo>
                    <a:pt x="566893" y="166370"/>
                  </a:lnTo>
                  <a:lnTo>
                    <a:pt x="566892" y="115570"/>
                  </a:lnTo>
                  <a:lnTo>
                    <a:pt x="537014" y="115570"/>
                  </a:lnTo>
                  <a:lnTo>
                    <a:pt x="503823" y="113030"/>
                  </a:lnTo>
                  <a:close/>
                </a:path>
                <a:path w="1203959" h="219710">
                  <a:moveTo>
                    <a:pt x="453884" y="105410"/>
                  </a:moveTo>
                  <a:lnTo>
                    <a:pt x="390815" y="105409"/>
                  </a:lnTo>
                  <a:lnTo>
                    <a:pt x="390815" y="215899"/>
                  </a:lnTo>
                  <a:lnTo>
                    <a:pt x="453885" y="215900"/>
                  </a:lnTo>
                  <a:lnTo>
                    <a:pt x="453884" y="105410"/>
                  </a:lnTo>
                  <a:close/>
                </a:path>
                <a:path w="1203959" h="219710">
                  <a:moveTo>
                    <a:pt x="112021" y="59689"/>
                  </a:moveTo>
                  <a:lnTo>
                    <a:pt x="61573" y="59689"/>
                  </a:lnTo>
                  <a:lnTo>
                    <a:pt x="21470" y="76199"/>
                  </a:lnTo>
                  <a:lnTo>
                    <a:pt x="7028" y="105409"/>
                  </a:lnTo>
                  <a:lnTo>
                    <a:pt x="7092" y="109219"/>
                  </a:lnTo>
                  <a:lnTo>
                    <a:pt x="7182" y="110489"/>
                  </a:lnTo>
                  <a:lnTo>
                    <a:pt x="7273" y="111759"/>
                  </a:lnTo>
                  <a:lnTo>
                    <a:pt x="30967" y="144779"/>
                  </a:lnTo>
                  <a:lnTo>
                    <a:pt x="92476" y="158749"/>
                  </a:lnTo>
                  <a:lnTo>
                    <a:pt x="100299" y="161289"/>
                  </a:lnTo>
                  <a:lnTo>
                    <a:pt x="116824" y="177799"/>
                  </a:lnTo>
                  <a:lnTo>
                    <a:pt x="115045" y="180339"/>
                  </a:lnTo>
                  <a:lnTo>
                    <a:pt x="111449" y="182879"/>
                  </a:lnTo>
                  <a:lnTo>
                    <a:pt x="106821" y="186689"/>
                  </a:lnTo>
                  <a:lnTo>
                    <a:pt x="100276" y="187959"/>
                  </a:lnTo>
                  <a:lnTo>
                    <a:pt x="168713" y="187959"/>
                  </a:lnTo>
                  <a:lnTo>
                    <a:pt x="169464" y="186689"/>
                  </a:lnTo>
                  <a:lnTo>
                    <a:pt x="172148" y="180339"/>
                  </a:lnTo>
                  <a:lnTo>
                    <a:pt x="173759" y="172719"/>
                  </a:lnTo>
                  <a:lnTo>
                    <a:pt x="173789" y="160019"/>
                  </a:lnTo>
                  <a:lnTo>
                    <a:pt x="172265" y="153669"/>
                  </a:lnTo>
                  <a:lnTo>
                    <a:pt x="142754" y="125729"/>
                  </a:lnTo>
                  <a:lnTo>
                    <a:pt x="96170" y="115569"/>
                  </a:lnTo>
                  <a:lnTo>
                    <a:pt x="86738" y="114299"/>
                  </a:lnTo>
                  <a:lnTo>
                    <a:pt x="79112" y="113029"/>
                  </a:lnTo>
                  <a:lnTo>
                    <a:pt x="73297" y="111759"/>
                  </a:lnTo>
                  <a:lnTo>
                    <a:pt x="69297" y="110489"/>
                  </a:lnTo>
                  <a:lnTo>
                    <a:pt x="65153" y="109219"/>
                  </a:lnTo>
                  <a:lnTo>
                    <a:pt x="63111" y="106679"/>
                  </a:lnTo>
                  <a:lnTo>
                    <a:pt x="63111" y="99059"/>
                  </a:lnTo>
                  <a:lnTo>
                    <a:pt x="64727" y="96519"/>
                  </a:lnTo>
                  <a:lnTo>
                    <a:pt x="71156" y="91439"/>
                  </a:lnTo>
                  <a:lnTo>
                    <a:pt x="76410" y="90169"/>
                  </a:lnTo>
                  <a:lnTo>
                    <a:pt x="163905" y="90169"/>
                  </a:lnTo>
                  <a:lnTo>
                    <a:pt x="161696" y="86359"/>
                  </a:lnTo>
                  <a:lnTo>
                    <a:pt x="129839" y="63499"/>
                  </a:lnTo>
                  <a:lnTo>
                    <a:pt x="121891" y="60959"/>
                  </a:lnTo>
                  <a:lnTo>
                    <a:pt x="112021" y="59689"/>
                  </a:lnTo>
                  <a:close/>
                </a:path>
                <a:path w="1203959" h="219710">
                  <a:moveTo>
                    <a:pt x="358680" y="99059"/>
                  </a:moveTo>
                  <a:lnTo>
                    <a:pt x="284293" y="99059"/>
                  </a:lnTo>
                  <a:lnTo>
                    <a:pt x="291628" y="101599"/>
                  </a:lnTo>
                  <a:lnTo>
                    <a:pt x="297509" y="109219"/>
                  </a:lnTo>
                  <a:lnTo>
                    <a:pt x="301361" y="114299"/>
                  </a:lnTo>
                  <a:lnTo>
                    <a:pt x="304123" y="120649"/>
                  </a:lnTo>
                  <a:lnTo>
                    <a:pt x="305787" y="129539"/>
                  </a:lnTo>
                  <a:lnTo>
                    <a:pt x="306264" y="137159"/>
                  </a:lnTo>
                  <a:lnTo>
                    <a:pt x="306137" y="142239"/>
                  </a:lnTo>
                  <a:lnTo>
                    <a:pt x="305863" y="147319"/>
                  </a:lnTo>
                  <a:lnTo>
                    <a:pt x="305794" y="148589"/>
                  </a:lnTo>
                  <a:lnTo>
                    <a:pt x="284257" y="180339"/>
                  </a:lnTo>
                  <a:lnTo>
                    <a:pt x="358144" y="180339"/>
                  </a:lnTo>
                  <a:lnTo>
                    <a:pt x="363149" y="171449"/>
                  </a:lnTo>
                  <a:lnTo>
                    <a:pt x="367876" y="156209"/>
                  </a:lnTo>
                  <a:lnTo>
                    <a:pt x="369212" y="142239"/>
                  </a:lnTo>
                  <a:lnTo>
                    <a:pt x="369243" y="137159"/>
                  </a:lnTo>
                  <a:lnTo>
                    <a:pt x="368289" y="125729"/>
                  </a:lnTo>
                  <a:lnTo>
                    <a:pt x="368183" y="124459"/>
                  </a:lnTo>
                  <a:lnTo>
                    <a:pt x="364377" y="110489"/>
                  </a:lnTo>
                  <a:lnTo>
                    <a:pt x="358680" y="99059"/>
                  </a:lnTo>
                  <a:close/>
                </a:path>
                <a:path w="1203959" h="219710">
                  <a:moveTo>
                    <a:pt x="599167" y="173990"/>
                  </a:moveTo>
                  <a:lnTo>
                    <a:pt x="590796" y="176530"/>
                  </a:lnTo>
                  <a:lnTo>
                    <a:pt x="584320" y="177800"/>
                  </a:lnTo>
                  <a:lnTo>
                    <a:pt x="599596" y="177800"/>
                  </a:lnTo>
                  <a:lnTo>
                    <a:pt x="599167" y="173990"/>
                  </a:lnTo>
                  <a:close/>
                </a:path>
                <a:path w="1203959" h="219710">
                  <a:moveTo>
                    <a:pt x="374924" y="35559"/>
                  </a:moveTo>
                  <a:lnTo>
                    <a:pt x="142668" y="35559"/>
                  </a:lnTo>
                  <a:lnTo>
                    <a:pt x="204955" y="36829"/>
                  </a:lnTo>
                  <a:lnTo>
                    <a:pt x="240498" y="39369"/>
                  </a:lnTo>
                  <a:lnTo>
                    <a:pt x="277219" y="45719"/>
                  </a:lnTo>
                  <a:lnTo>
                    <a:pt x="318516" y="54609"/>
                  </a:lnTo>
                  <a:lnTo>
                    <a:pt x="367785" y="67309"/>
                  </a:lnTo>
                  <a:lnTo>
                    <a:pt x="428423" y="87629"/>
                  </a:lnTo>
                  <a:lnTo>
                    <a:pt x="477118" y="100330"/>
                  </a:lnTo>
                  <a:lnTo>
                    <a:pt x="525564" y="106680"/>
                  </a:lnTo>
                  <a:lnTo>
                    <a:pt x="568757" y="107950"/>
                  </a:lnTo>
                  <a:lnTo>
                    <a:pt x="601694" y="105410"/>
                  </a:lnTo>
                  <a:lnTo>
                    <a:pt x="601694" y="63500"/>
                  </a:lnTo>
                  <a:lnTo>
                    <a:pt x="550249" y="63500"/>
                  </a:lnTo>
                  <a:lnTo>
                    <a:pt x="503094" y="62230"/>
                  </a:lnTo>
                  <a:lnTo>
                    <a:pt x="456896" y="54610"/>
                  </a:lnTo>
                  <a:lnTo>
                    <a:pt x="412547" y="43179"/>
                  </a:lnTo>
                  <a:lnTo>
                    <a:pt x="374924" y="35559"/>
                  </a:lnTo>
                  <a:close/>
                </a:path>
                <a:path w="1203959" h="219710">
                  <a:moveTo>
                    <a:pt x="163905" y="90169"/>
                  </a:moveTo>
                  <a:lnTo>
                    <a:pt x="90231" y="90169"/>
                  </a:lnTo>
                  <a:lnTo>
                    <a:pt x="96170" y="91439"/>
                  </a:lnTo>
                  <a:lnTo>
                    <a:pt x="101045" y="95249"/>
                  </a:lnTo>
                  <a:lnTo>
                    <a:pt x="104620" y="96519"/>
                  </a:lnTo>
                  <a:lnTo>
                    <a:pt x="107163" y="100329"/>
                  </a:lnTo>
                  <a:lnTo>
                    <a:pt x="108721" y="105409"/>
                  </a:lnTo>
                  <a:lnTo>
                    <a:pt x="168658" y="100329"/>
                  </a:lnTo>
                  <a:lnTo>
                    <a:pt x="165379" y="92709"/>
                  </a:lnTo>
                  <a:lnTo>
                    <a:pt x="163905" y="90169"/>
                  </a:lnTo>
                  <a:close/>
                </a:path>
                <a:path w="1203959" h="219710">
                  <a:moveTo>
                    <a:pt x="367049" y="76199"/>
                  </a:moveTo>
                  <a:lnTo>
                    <a:pt x="367070" y="105409"/>
                  </a:lnTo>
                  <a:lnTo>
                    <a:pt x="462698" y="105410"/>
                  </a:lnTo>
                  <a:lnTo>
                    <a:pt x="424827" y="95249"/>
                  </a:lnTo>
                  <a:lnTo>
                    <a:pt x="409253" y="90169"/>
                  </a:lnTo>
                  <a:lnTo>
                    <a:pt x="394475" y="85089"/>
                  </a:lnTo>
                  <a:lnTo>
                    <a:pt x="380428" y="80009"/>
                  </a:lnTo>
                  <a:lnTo>
                    <a:pt x="367049" y="76199"/>
                  </a:lnTo>
                  <a:close/>
                </a:path>
                <a:path w="1203959" h="219710">
                  <a:moveTo>
                    <a:pt x="601694" y="62230"/>
                  </a:moveTo>
                  <a:lnTo>
                    <a:pt x="586927" y="63500"/>
                  </a:lnTo>
                  <a:lnTo>
                    <a:pt x="601694" y="63500"/>
                  </a:lnTo>
                  <a:lnTo>
                    <a:pt x="601694" y="62230"/>
                  </a:lnTo>
                  <a:close/>
                </a:path>
                <a:path w="1203959" h="219710">
                  <a:moveTo>
                    <a:pt x="86535" y="58419"/>
                  </a:moveTo>
                  <a:lnTo>
                    <a:pt x="73352" y="59689"/>
                  </a:lnTo>
                  <a:lnTo>
                    <a:pt x="100234" y="59689"/>
                  </a:lnTo>
                  <a:lnTo>
                    <a:pt x="86535" y="58419"/>
                  </a:lnTo>
                  <a:close/>
                </a:path>
                <a:path w="1203959" h="219710">
                  <a:moveTo>
                    <a:pt x="566892" y="2540"/>
                  </a:moveTo>
                  <a:lnTo>
                    <a:pt x="503823" y="33020"/>
                  </a:lnTo>
                  <a:lnTo>
                    <a:pt x="503823" y="52070"/>
                  </a:lnTo>
                  <a:lnTo>
                    <a:pt x="537073" y="54610"/>
                  </a:lnTo>
                  <a:lnTo>
                    <a:pt x="566892" y="54610"/>
                  </a:lnTo>
                  <a:lnTo>
                    <a:pt x="566892" y="2540"/>
                  </a:lnTo>
                  <a:close/>
                </a:path>
                <a:path w="1203959" h="219710">
                  <a:moveTo>
                    <a:pt x="469758" y="0"/>
                  </a:moveTo>
                  <a:lnTo>
                    <a:pt x="431138" y="1269"/>
                  </a:lnTo>
                  <a:lnTo>
                    <a:pt x="395806" y="24129"/>
                  </a:lnTo>
                  <a:lnTo>
                    <a:pt x="394269" y="30479"/>
                  </a:lnTo>
                  <a:lnTo>
                    <a:pt x="408205" y="33019"/>
                  </a:lnTo>
                  <a:lnTo>
                    <a:pt x="422954" y="36829"/>
                  </a:lnTo>
                  <a:lnTo>
                    <a:pt x="438849" y="40639"/>
                  </a:lnTo>
                  <a:lnTo>
                    <a:pt x="456227" y="44450"/>
                  </a:lnTo>
                  <a:lnTo>
                    <a:pt x="457238" y="43180"/>
                  </a:lnTo>
                  <a:lnTo>
                    <a:pt x="458412" y="40640"/>
                  </a:lnTo>
                  <a:lnTo>
                    <a:pt x="462435" y="38100"/>
                  </a:lnTo>
                  <a:lnTo>
                    <a:pt x="466536" y="36830"/>
                  </a:lnTo>
                  <a:lnTo>
                    <a:pt x="491010" y="36830"/>
                  </a:lnTo>
                  <a:lnTo>
                    <a:pt x="497615" y="3810"/>
                  </a:lnTo>
                  <a:lnTo>
                    <a:pt x="482753" y="1270"/>
                  </a:lnTo>
                  <a:lnTo>
                    <a:pt x="469758" y="0"/>
                  </a:lnTo>
                  <a:close/>
                </a:path>
                <a:path w="1203959" h="219710">
                  <a:moveTo>
                    <a:pt x="196040" y="20319"/>
                  </a:moveTo>
                  <a:lnTo>
                    <a:pt x="111104" y="25399"/>
                  </a:lnTo>
                  <a:lnTo>
                    <a:pt x="49293" y="31749"/>
                  </a:lnTo>
                  <a:lnTo>
                    <a:pt x="25402" y="35559"/>
                  </a:lnTo>
                  <a:lnTo>
                    <a:pt x="26371" y="43179"/>
                  </a:lnTo>
                  <a:lnTo>
                    <a:pt x="42814" y="41909"/>
                  </a:lnTo>
                  <a:lnTo>
                    <a:pt x="85100" y="38099"/>
                  </a:lnTo>
                  <a:lnTo>
                    <a:pt x="142668" y="35559"/>
                  </a:lnTo>
                  <a:lnTo>
                    <a:pt x="374924" y="35559"/>
                  </a:lnTo>
                  <a:lnTo>
                    <a:pt x="336385" y="29209"/>
                  </a:lnTo>
                  <a:lnTo>
                    <a:pt x="289285" y="24129"/>
                  </a:lnTo>
                  <a:lnTo>
                    <a:pt x="196040" y="20319"/>
                  </a:lnTo>
                  <a:close/>
                </a:path>
                <a:path w="1203959" h="219710">
                  <a:moveTo>
                    <a:pt x="491010" y="36830"/>
                  </a:moveTo>
                  <a:lnTo>
                    <a:pt x="476861" y="36830"/>
                  </a:lnTo>
                  <a:lnTo>
                    <a:pt x="482947" y="38100"/>
                  </a:lnTo>
                  <a:lnTo>
                    <a:pt x="490502" y="39370"/>
                  </a:lnTo>
                  <a:lnTo>
                    <a:pt x="491010" y="36830"/>
                  </a:lnTo>
                  <a:close/>
                </a:path>
                <a:path w="1203959" h="219710">
                  <a:moveTo>
                    <a:pt x="681459" y="3091"/>
                  </a:moveTo>
                  <a:lnTo>
                    <a:pt x="618384" y="3091"/>
                  </a:lnTo>
                  <a:lnTo>
                    <a:pt x="618384" y="216197"/>
                  </a:lnTo>
                  <a:lnTo>
                    <a:pt x="681459" y="216197"/>
                  </a:lnTo>
                  <a:lnTo>
                    <a:pt x="681459" y="3091"/>
                  </a:lnTo>
                  <a:close/>
                </a:path>
                <a:path w="1203959" h="219710">
                  <a:moveTo>
                    <a:pt x="771069" y="61780"/>
                  </a:moveTo>
                  <a:lnTo>
                    <a:pt x="707942" y="61780"/>
                  </a:lnTo>
                  <a:lnTo>
                    <a:pt x="707942" y="216197"/>
                  </a:lnTo>
                  <a:lnTo>
                    <a:pt x="771069" y="216197"/>
                  </a:lnTo>
                  <a:lnTo>
                    <a:pt x="771069" y="61780"/>
                  </a:lnTo>
                  <a:close/>
                </a:path>
                <a:path w="1203959" h="219710">
                  <a:moveTo>
                    <a:pt x="771069" y="3070"/>
                  </a:moveTo>
                  <a:lnTo>
                    <a:pt x="707942" y="3070"/>
                  </a:lnTo>
                  <a:lnTo>
                    <a:pt x="707942" y="43624"/>
                  </a:lnTo>
                  <a:lnTo>
                    <a:pt x="771069" y="43624"/>
                  </a:lnTo>
                  <a:lnTo>
                    <a:pt x="771069" y="3070"/>
                  </a:lnTo>
                  <a:close/>
                </a:path>
                <a:path w="1203959" h="219710">
                  <a:moveTo>
                    <a:pt x="853888" y="61795"/>
                  </a:moveTo>
                  <a:lnTo>
                    <a:pt x="795130" y="61795"/>
                  </a:lnTo>
                  <a:lnTo>
                    <a:pt x="795131" y="216216"/>
                  </a:lnTo>
                  <a:lnTo>
                    <a:pt x="858205" y="216216"/>
                  </a:lnTo>
                  <a:lnTo>
                    <a:pt x="858205" y="142041"/>
                  </a:lnTo>
                  <a:lnTo>
                    <a:pt x="858649" y="132323"/>
                  </a:lnTo>
                  <a:lnTo>
                    <a:pt x="859982" y="124213"/>
                  </a:lnTo>
                  <a:lnTo>
                    <a:pt x="862090" y="118042"/>
                  </a:lnTo>
                  <a:lnTo>
                    <a:pt x="862203" y="117711"/>
                  </a:lnTo>
                  <a:lnTo>
                    <a:pt x="865313" y="112815"/>
                  </a:lnTo>
                  <a:lnTo>
                    <a:pt x="870051" y="107392"/>
                  </a:lnTo>
                  <a:lnTo>
                    <a:pt x="876211" y="104678"/>
                  </a:lnTo>
                  <a:lnTo>
                    <a:pt x="967909" y="104678"/>
                  </a:lnTo>
                  <a:lnTo>
                    <a:pt x="967851" y="103782"/>
                  </a:lnTo>
                  <a:lnTo>
                    <a:pt x="965091" y="91502"/>
                  </a:lnTo>
                  <a:lnTo>
                    <a:pt x="963051" y="86943"/>
                  </a:lnTo>
                  <a:lnTo>
                    <a:pt x="853888" y="86943"/>
                  </a:lnTo>
                  <a:lnTo>
                    <a:pt x="853888" y="61795"/>
                  </a:lnTo>
                  <a:close/>
                </a:path>
                <a:path w="1203959" h="219710">
                  <a:moveTo>
                    <a:pt x="967909" y="104678"/>
                  </a:moveTo>
                  <a:lnTo>
                    <a:pt x="890795" y="104678"/>
                  </a:lnTo>
                  <a:lnTo>
                    <a:pt x="896166" y="106705"/>
                  </a:lnTo>
                  <a:lnTo>
                    <a:pt x="899957" y="110711"/>
                  </a:lnTo>
                  <a:lnTo>
                    <a:pt x="903747" y="114759"/>
                  </a:lnTo>
                  <a:lnTo>
                    <a:pt x="905695" y="121592"/>
                  </a:lnTo>
                  <a:lnTo>
                    <a:pt x="905696" y="216216"/>
                  </a:lnTo>
                  <a:lnTo>
                    <a:pt x="968770" y="216216"/>
                  </a:lnTo>
                  <a:lnTo>
                    <a:pt x="968749" y="117711"/>
                  </a:lnTo>
                  <a:lnTo>
                    <a:pt x="967909" y="104678"/>
                  </a:lnTo>
                  <a:close/>
                </a:path>
                <a:path w="1203959" h="219710">
                  <a:moveTo>
                    <a:pt x="913172" y="58286"/>
                  </a:moveTo>
                  <a:lnTo>
                    <a:pt x="873730" y="68769"/>
                  </a:lnTo>
                  <a:lnTo>
                    <a:pt x="853888" y="86943"/>
                  </a:lnTo>
                  <a:lnTo>
                    <a:pt x="963051" y="86943"/>
                  </a:lnTo>
                  <a:lnTo>
                    <a:pt x="960485" y="81208"/>
                  </a:lnTo>
                  <a:lnTo>
                    <a:pt x="954028" y="72907"/>
                  </a:lnTo>
                  <a:lnTo>
                    <a:pt x="945934" y="66515"/>
                  </a:lnTo>
                  <a:lnTo>
                    <a:pt x="936582" y="62022"/>
                  </a:lnTo>
                  <a:lnTo>
                    <a:pt x="936728" y="62022"/>
                  </a:lnTo>
                  <a:lnTo>
                    <a:pt x="925501" y="59201"/>
                  </a:lnTo>
                  <a:lnTo>
                    <a:pt x="913172" y="58286"/>
                  </a:lnTo>
                  <a:close/>
                </a:path>
                <a:path w="1203959" h="219710">
                  <a:moveTo>
                    <a:pt x="1078648" y="58379"/>
                  </a:moveTo>
                  <a:lnTo>
                    <a:pt x="1073985" y="58379"/>
                  </a:lnTo>
                  <a:lnTo>
                    <a:pt x="1055137" y="59668"/>
                  </a:lnTo>
                  <a:lnTo>
                    <a:pt x="1036616" y="63953"/>
                  </a:lnTo>
                  <a:lnTo>
                    <a:pt x="1036779" y="63953"/>
                  </a:lnTo>
                  <a:lnTo>
                    <a:pt x="1021120" y="70879"/>
                  </a:lnTo>
                  <a:lnTo>
                    <a:pt x="989192" y="106544"/>
                  </a:lnTo>
                  <a:lnTo>
                    <a:pt x="983038" y="139291"/>
                  </a:lnTo>
                  <a:lnTo>
                    <a:pt x="983808" y="151608"/>
                  </a:lnTo>
                  <a:lnTo>
                    <a:pt x="1001853" y="192380"/>
                  </a:lnTo>
                  <a:lnTo>
                    <a:pt x="1036399" y="214861"/>
                  </a:lnTo>
                  <a:lnTo>
                    <a:pt x="1077387" y="219710"/>
                  </a:lnTo>
                  <a:lnTo>
                    <a:pt x="1092450" y="219172"/>
                  </a:lnTo>
                  <a:lnTo>
                    <a:pt x="1094291" y="219172"/>
                  </a:lnTo>
                  <a:lnTo>
                    <a:pt x="1134934" y="209610"/>
                  </a:lnTo>
                  <a:lnTo>
                    <a:pt x="1163121" y="185077"/>
                  </a:lnTo>
                  <a:lnTo>
                    <a:pt x="1079072" y="185077"/>
                  </a:lnTo>
                  <a:lnTo>
                    <a:pt x="1072121" y="184453"/>
                  </a:lnTo>
                  <a:lnTo>
                    <a:pt x="1047377" y="153974"/>
                  </a:lnTo>
                  <a:lnTo>
                    <a:pt x="1172947" y="153974"/>
                  </a:lnTo>
                  <a:lnTo>
                    <a:pt x="1172947" y="147253"/>
                  </a:lnTo>
                  <a:lnTo>
                    <a:pt x="1172277" y="132658"/>
                  </a:lnTo>
                  <a:lnTo>
                    <a:pt x="1171231" y="125814"/>
                  </a:lnTo>
                  <a:lnTo>
                    <a:pt x="1047532" y="125814"/>
                  </a:lnTo>
                  <a:lnTo>
                    <a:pt x="1048588" y="116498"/>
                  </a:lnTo>
                  <a:lnTo>
                    <a:pt x="1078598" y="93510"/>
                  </a:lnTo>
                  <a:lnTo>
                    <a:pt x="1159597" y="93510"/>
                  </a:lnTo>
                  <a:lnTo>
                    <a:pt x="1156318" y="88550"/>
                  </a:lnTo>
                  <a:lnTo>
                    <a:pt x="1120132" y="63953"/>
                  </a:lnTo>
                  <a:lnTo>
                    <a:pt x="1092333" y="58899"/>
                  </a:lnTo>
                  <a:lnTo>
                    <a:pt x="1078648" y="58379"/>
                  </a:lnTo>
                  <a:close/>
                </a:path>
                <a:path w="1203959" h="219710">
                  <a:moveTo>
                    <a:pt x="1107345" y="170986"/>
                  </a:moveTo>
                  <a:lnTo>
                    <a:pt x="1085179" y="185077"/>
                  </a:lnTo>
                  <a:lnTo>
                    <a:pt x="1163121" y="185077"/>
                  </a:lnTo>
                  <a:lnTo>
                    <a:pt x="1169209" y="176275"/>
                  </a:lnTo>
                  <a:lnTo>
                    <a:pt x="1107345" y="170986"/>
                  </a:lnTo>
                  <a:close/>
                </a:path>
                <a:path w="1203959" h="219710">
                  <a:moveTo>
                    <a:pt x="1159597" y="93510"/>
                  </a:moveTo>
                  <a:lnTo>
                    <a:pt x="1087233" y="93510"/>
                  </a:lnTo>
                  <a:lnTo>
                    <a:pt x="1094130" y="95993"/>
                  </a:lnTo>
                  <a:lnTo>
                    <a:pt x="1099448" y="100995"/>
                  </a:lnTo>
                  <a:lnTo>
                    <a:pt x="1103020" y="105350"/>
                  </a:lnTo>
                  <a:lnTo>
                    <a:pt x="1105838" y="110940"/>
                  </a:lnTo>
                  <a:lnTo>
                    <a:pt x="1107895" y="117763"/>
                  </a:lnTo>
                  <a:lnTo>
                    <a:pt x="1109188" y="125814"/>
                  </a:lnTo>
                  <a:lnTo>
                    <a:pt x="1171231" y="125814"/>
                  </a:lnTo>
                  <a:lnTo>
                    <a:pt x="1170268" y="119511"/>
                  </a:lnTo>
                  <a:lnTo>
                    <a:pt x="1166928" y="107806"/>
                  </a:lnTo>
                  <a:lnTo>
                    <a:pt x="1162259" y="97537"/>
                  </a:lnTo>
                  <a:lnTo>
                    <a:pt x="1159597" y="93510"/>
                  </a:lnTo>
                  <a:close/>
                </a:path>
                <a:path w="1203959" h="219710">
                  <a:moveTo>
                    <a:pt x="1175316" y="7364"/>
                  </a:moveTo>
                  <a:lnTo>
                    <a:pt x="1164332" y="9449"/>
                  </a:lnTo>
                  <a:lnTo>
                    <a:pt x="1155362" y="15138"/>
                  </a:lnTo>
                  <a:lnTo>
                    <a:pt x="1149314" y="23579"/>
                  </a:lnTo>
                  <a:lnTo>
                    <a:pt x="1147162" y="33615"/>
                  </a:lnTo>
                  <a:lnTo>
                    <a:pt x="1147255" y="34667"/>
                  </a:lnTo>
                  <a:lnTo>
                    <a:pt x="1175316" y="60461"/>
                  </a:lnTo>
                  <a:lnTo>
                    <a:pt x="1186322" y="58379"/>
                  </a:lnTo>
                  <a:lnTo>
                    <a:pt x="1192648" y="54372"/>
                  </a:lnTo>
                  <a:lnTo>
                    <a:pt x="1175316" y="54372"/>
                  </a:lnTo>
                  <a:lnTo>
                    <a:pt x="1166877" y="52763"/>
                  </a:lnTo>
                  <a:lnTo>
                    <a:pt x="1159962" y="48378"/>
                  </a:lnTo>
                  <a:lnTo>
                    <a:pt x="1155289" y="41877"/>
                  </a:lnTo>
                  <a:lnTo>
                    <a:pt x="1153732" y="34667"/>
                  </a:lnTo>
                  <a:lnTo>
                    <a:pt x="1153638" y="33615"/>
                  </a:lnTo>
                  <a:lnTo>
                    <a:pt x="1155280" y="25969"/>
                  </a:lnTo>
                  <a:lnTo>
                    <a:pt x="1159938" y="19456"/>
                  </a:lnTo>
                  <a:lnTo>
                    <a:pt x="1166721" y="15138"/>
                  </a:lnTo>
                  <a:lnTo>
                    <a:pt x="1166408" y="15138"/>
                  </a:lnTo>
                  <a:lnTo>
                    <a:pt x="1175316" y="13438"/>
                  </a:lnTo>
                  <a:lnTo>
                    <a:pt x="1192611" y="13438"/>
                  </a:lnTo>
                  <a:lnTo>
                    <a:pt x="1186322" y="9449"/>
                  </a:lnTo>
                  <a:lnTo>
                    <a:pt x="1175316" y="7364"/>
                  </a:lnTo>
                  <a:close/>
                </a:path>
                <a:path w="1203959" h="219710">
                  <a:moveTo>
                    <a:pt x="1192611" y="13438"/>
                  </a:moveTo>
                  <a:lnTo>
                    <a:pt x="1175316" y="13438"/>
                  </a:lnTo>
                  <a:lnTo>
                    <a:pt x="1184220" y="15138"/>
                  </a:lnTo>
                  <a:lnTo>
                    <a:pt x="1183917" y="15138"/>
                  </a:lnTo>
                  <a:lnTo>
                    <a:pt x="1190716" y="19456"/>
                  </a:lnTo>
                  <a:lnTo>
                    <a:pt x="1195396" y="25969"/>
                  </a:lnTo>
                  <a:lnTo>
                    <a:pt x="1197047" y="33615"/>
                  </a:lnTo>
                  <a:lnTo>
                    <a:pt x="1196952" y="34667"/>
                  </a:lnTo>
                  <a:lnTo>
                    <a:pt x="1195391" y="41877"/>
                  </a:lnTo>
                  <a:lnTo>
                    <a:pt x="1190707" y="48378"/>
                  </a:lnTo>
                  <a:lnTo>
                    <a:pt x="1183775" y="52763"/>
                  </a:lnTo>
                  <a:lnTo>
                    <a:pt x="1175316" y="54372"/>
                  </a:lnTo>
                  <a:lnTo>
                    <a:pt x="1192648" y="54372"/>
                  </a:lnTo>
                  <a:lnTo>
                    <a:pt x="1203471" y="33615"/>
                  </a:lnTo>
                  <a:lnTo>
                    <a:pt x="1201354" y="23709"/>
                  </a:lnTo>
                  <a:lnTo>
                    <a:pt x="1201326" y="23579"/>
                  </a:lnTo>
                  <a:lnTo>
                    <a:pt x="1195290" y="15138"/>
                  </a:lnTo>
                  <a:lnTo>
                    <a:pt x="1192611" y="13438"/>
                  </a:lnTo>
                  <a:close/>
                </a:path>
                <a:path w="1203959" h="219710">
                  <a:moveTo>
                    <a:pt x="1183598" y="20518"/>
                  </a:moveTo>
                  <a:lnTo>
                    <a:pt x="1164681" y="20518"/>
                  </a:lnTo>
                  <a:lnTo>
                    <a:pt x="1164681" y="47595"/>
                  </a:lnTo>
                  <a:lnTo>
                    <a:pt x="1171683" y="47595"/>
                  </a:lnTo>
                  <a:lnTo>
                    <a:pt x="1171683" y="36806"/>
                  </a:lnTo>
                  <a:lnTo>
                    <a:pt x="1184237" y="36806"/>
                  </a:lnTo>
                  <a:lnTo>
                    <a:pt x="1184161" y="36596"/>
                  </a:lnTo>
                  <a:lnTo>
                    <a:pt x="1183056" y="34667"/>
                  </a:lnTo>
                  <a:lnTo>
                    <a:pt x="1181371" y="34154"/>
                  </a:lnTo>
                  <a:lnTo>
                    <a:pt x="1184003" y="33615"/>
                  </a:lnTo>
                  <a:lnTo>
                    <a:pt x="1186809" y="31691"/>
                  </a:lnTo>
                  <a:lnTo>
                    <a:pt x="1171683" y="31691"/>
                  </a:lnTo>
                  <a:lnTo>
                    <a:pt x="1171683" y="25617"/>
                  </a:lnTo>
                  <a:lnTo>
                    <a:pt x="1186899" y="25617"/>
                  </a:lnTo>
                  <a:lnTo>
                    <a:pt x="1186899" y="23709"/>
                  </a:lnTo>
                  <a:lnTo>
                    <a:pt x="1183598" y="20518"/>
                  </a:lnTo>
                  <a:close/>
                </a:path>
                <a:path w="1203959" h="219710">
                  <a:moveTo>
                    <a:pt x="1184237" y="36806"/>
                  </a:moveTo>
                  <a:lnTo>
                    <a:pt x="1176527" y="36806"/>
                  </a:lnTo>
                  <a:lnTo>
                    <a:pt x="1177475" y="38602"/>
                  </a:lnTo>
                  <a:lnTo>
                    <a:pt x="1181371" y="47595"/>
                  </a:lnTo>
                  <a:lnTo>
                    <a:pt x="1188952" y="47595"/>
                  </a:lnTo>
                  <a:lnTo>
                    <a:pt x="1184319" y="37037"/>
                  </a:lnTo>
                  <a:lnTo>
                    <a:pt x="1184237" y="36806"/>
                  </a:lnTo>
                  <a:close/>
                </a:path>
                <a:path w="1203959" h="219710">
                  <a:moveTo>
                    <a:pt x="1186899" y="25617"/>
                  </a:moveTo>
                  <a:lnTo>
                    <a:pt x="1179686" y="25617"/>
                  </a:lnTo>
                  <a:lnTo>
                    <a:pt x="1179686" y="29552"/>
                  </a:lnTo>
                  <a:lnTo>
                    <a:pt x="1179265" y="31691"/>
                  </a:lnTo>
                  <a:lnTo>
                    <a:pt x="1186899" y="31691"/>
                  </a:lnTo>
                  <a:lnTo>
                    <a:pt x="1186899" y="256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52348" y="5500229"/>
              <a:ext cx="171270" cy="16186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65124" y="3231642"/>
            <a:ext cx="1046734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ru-RU" sz="2800" b="1" dirty="0">
                <a:solidFill>
                  <a:srgbClr val="FFFFFF"/>
                </a:solidFill>
                <a:latin typeface="Segoe UI"/>
                <a:cs typeface="Segoe UI"/>
              </a:rPr>
              <a:t>ОБЛАКО </a:t>
            </a:r>
            <a:r>
              <a:rPr lang="en" sz="2800" b="1" dirty="0">
                <a:solidFill>
                  <a:srgbClr val="FFFFFF"/>
                </a:solidFill>
                <a:latin typeface="Segoe UI"/>
                <a:cs typeface="Segoe UI"/>
              </a:rPr>
              <a:t>SOFTLINE</a:t>
            </a:r>
            <a:r>
              <a:rPr lang="en" sz="2800" b="1" spc="-10" dirty="0">
                <a:solidFill>
                  <a:srgbClr val="FFFFFF"/>
                </a:solidFill>
                <a:latin typeface="Segoe UI"/>
                <a:cs typeface="Segoe UI"/>
              </a:rPr>
              <a:t>:</a:t>
            </a:r>
            <a:r>
              <a:rPr lang="en" sz="2800" b="1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lang="ru-RU" sz="2800" b="0" spc="-10" dirty="0">
                <a:solidFill>
                  <a:srgbClr val="FFFFFF"/>
                </a:solidFill>
                <a:latin typeface="Bahnschrift"/>
              </a:rPr>
              <a:t>УСПЕШНОЕ. ЭФФЕКТИВНОЕ.</a:t>
            </a:r>
            <a:endParaRPr lang="ru-RU" sz="2800" dirty="0">
              <a:latin typeface="Bahnschrift"/>
              <a:cs typeface="Bahnschrif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3983</TotalTime>
  <Words>2941</Words>
  <Application>Microsoft Macintosh PowerPoint</Application>
  <PresentationFormat>Широкоэкранный</PresentationFormat>
  <Paragraphs>354</Paragraphs>
  <Slides>20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30" baseType="lpstr">
      <vt:lpstr>Arial</vt:lpstr>
      <vt:lpstr>Bahnschrift</vt:lpstr>
      <vt:lpstr>Calibri</vt:lpstr>
      <vt:lpstr>Montserrat</vt:lpstr>
      <vt:lpstr>Montserrat SemiBold</vt:lpstr>
      <vt:lpstr>quote-cjk-patch</vt:lpstr>
      <vt:lpstr>Segoe UI</vt:lpstr>
      <vt:lpstr>Segoe UI Semibold</vt:lpstr>
      <vt:lpstr>Segoe UI Symbol</vt:lpstr>
      <vt:lpstr>Office Theme</vt:lpstr>
      <vt:lpstr>Стратегия развития Softline Cloud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Multi-Cloud</vt:lpstr>
      <vt:lpstr>Вертикальная экспертиза </vt:lpstr>
      <vt:lpstr>Дорожная карта</vt:lpstr>
      <vt:lpstr>Дорожная карта – детальная</vt:lpstr>
      <vt:lpstr>Необходимые ресурсы </vt:lpstr>
      <vt:lpstr>Управление рисками</vt:lpstr>
      <vt:lpstr>Презентация PowerPoint</vt:lpstr>
      <vt:lpstr>ОБЛАКО SOFTLINE: УСПЕШНОЕ. ЭФФЕКТИВНОЕ.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Melnikova, Alexandra</dc:creator>
  <cp:lastModifiedBy>Microsoft Office User</cp:lastModifiedBy>
  <cp:revision>15</cp:revision>
  <dcterms:created xsi:type="dcterms:W3CDTF">2025-10-05T14:52:09Z</dcterms:created>
  <dcterms:modified xsi:type="dcterms:W3CDTF">2025-10-14T12:45:57Z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2025-10-05T00:00:00Z</vt:filetime>
  </property>
  <property fmtid="{D5CDD505-2E9C-101B-9397-08002B2CF9AE}" pid="5" name="Producer">
    <vt:lpwstr>Microsoft® PowerPoint® 2019</vt:lpwstr>
  </property>
</Properties>
</file>